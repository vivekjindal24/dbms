
<file path=[Content_Types].xml><?xml version="1.0" encoding="utf-8"?>
<Types xmlns="http://schemas.openxmlformats.org/package/2006/content-types">
  <Default Extension="bin" ContentType="image/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60" r:id="rId3"/>
    <p:sldId id="257" r:id="rId4"/>
    <p:sldId id="258" r:id="rId5"/>
    <p:sldId id="259" r:id="rId6"/>
    <p:sldId id="806" r:id="rId7"/>
    <p:sldId id="261" r:id="rId8"/>
    <p:sldId id="262" r:id="rId9"/>
    <p:sldId id="263" r:id="rId10"/>
    <p:sldId id="264" r:id="rId11"/>
    <p:sldId id="265" r:id="rId12"/>
    <p:sldId id="804" r:id="rId13"/>
    <p:sldId id="268" r:id="rId14"/>
    <p:sldId id="805" r:id="rId15"/>
    <p:sldId id="803" r:id="rId16"/>
    <p:sldId id="388" r:id="rId17"/>
    <p:sldId id="352" r:id="rId18"/>
    <p:sldId id="438" r:id="rId19"/>
    <p:sldId id="390" r:id="rId20"/>
    <p:sldId id="389" r:id="rId21"/>
    <p:sldId id="391" r:id="rId22"/>
    <p:sldId id="392" r:id="rId23"/>
    <p:sldId id="393" r:id="rId24"/>
    <p:sldId id="439" r:id="rId25"/>
    <p:sldId id="345" r:id="rId26"/>
    <p:sldId id="347" r:id="rId27"/>
    <p:sldId id="349" r:id="rId28"/>
    <p:sldId id="318" r:id="rId29"/>
    <p:sldId id="336" r:id="rId30"/>
    <p:sldId id="337" r:id="rId31"/>
    <p:sldId id="340" r:id="rId32"/>
    <p:sldId id="338" r:id="rId33"/>
    <p:sldId id="358" r:id="rId34"/>
    <p:sldId id="339" r:id="rId35"/>
    <p:sldId id="341" r:id="rId36"/>
    <p:sldId id="385" r:id="rId37"/>
    <p:sldId id="350" r:id="rId38"/>
    <p:sldId id="359" r:id="rId39"/>
    <p:sldId id="360" r:id="rId40"/>
    <p:sldId id="379" r:id="rId41"/>
    <p:sldId id="380" r:id="rId42"/>
    <p:sldId id="381" r:id="rId43"/>
    <p:sldId id="382" r:id="rId44"/>
    <p:sldId id="383" r:id="rId45"/>
    <p:sldId id="387" r:id="rId46"/>
    <p:sldId id="440" r:id="rId47"/>
    <p:sldId id="441" r:id="rId48"/>
    <p:sldId id="442" r:id="rId49"/>
    <p:sldId id="699" r:id="rId50"/>
    <p:sldId id="700" r:id="rId51"/>
    <p:sldId id="751" r:id="rId52"/>
    <p:sldId id="752" r:id="rId53"/>
    <p:sldId id="701" r:id="rId54"/>
    <p:sldId id="753" r:id="rId55"/>
    <p:sldId id="704" r:id="rId56"/>
    <p:sldId id="754" r:id="rId57"/>
    <p:sldId id="702" r:id="rId58"/>
    <p:sldId id="703" r:id="rId59"/>
    <p:sldId id="787" r:id="rId60"/>
    <p:sldId id="788" r:id="rId61"/>
    <p:sldId id="789" r:id="rId62"/>
    <p:sldId id="790" r:id="rId63"/>
    <p:sldId id="791" r:id="rId64"/>
    <p:sldId id="745" r:id="rId65"/>
    <p:sldId id="747" r:id="rId66"/>
    <p:sldId id="792" r:id="rId67"/>
    <p:sldId id="793" r:id="rId68"/>
    <p:sldId id="794" r:id="rId69"/>
    <p:sldId id="795" r:id="rId70"/>
    <p:sldId id="796" r:id="rId71"/>
    <p:sldId id="797" r:id="rId72"/>
    <p:sldId id="798" r:id="rId73"/>
    <p:sldId id="799" r:id="rId74"/>
    <p:sldId id="800" r:id="rId75"/>
    <p:sldId id="748" r:id="rId76"/>
    <p:sldId id="749" r:id="rId77"/>
    <p:sldId id="750" r:id="rId78"/>
    <p:sldId id="777" r:id="rId79"/>
    <p:sldId id="801" r:id="rId80"/>
    <p:sldId id="778" r:id="rId81"/>
    <p:sldId id="779" r:id="rId82"/>
    <p:sldId id="780" r:id="rId83"/>
    <p:sldId id="781" r:id="rId84"/>
    <p:sldId id="782" r:id="rId85"/>
    <p:sldId id="783" r:id="rId86"/>
    <p:sldId id="802" r:id="rId87"/>
    <p:sldId id="784" r:id="rId88"/>
    <p:sldId id="785" r:id="rId89"/>
    <p:sldId id="786" r:id="rId90"/>
    <p:sldId id="272"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3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CA9EA7-9788-4D27-9758-2F79EF3ADDE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9F9508-A70F-4939-87C2-6C9FC5C9F254}" type="slidenum">
              <a:rPr lang="en-US" smtClean="0"/>
              <a:t>‹#›</a:t>
            </a:fld>
            <a:endParaRPr lang="en-US"/>
          </a:p>
        </p:txBody>
      </p:sp>
    </p:spTree>
    <p:extLst>
      <p:ext uri="{BB962C8B-B14F-4D97-AF65-F5344CB8AC3E}">
        <p14:creationId xmlns:p14="http://schemas.microsoft.com/office/powerpoint/2010/main" val="3796544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B19B9DFD-DF31-43CC-8BBB-94C6B775DF6A}" type="slidenum">
              <a:rPr lang="en-US" altLang="en-US" sz="1200"/>
              <a:t>16</a:t>
            </a:fld>
            <a:endParaRPr lang="en-US" altLang="en-US" sz="1200" dirty="0"/>
          </a:p>
        </p:txBody>
      </p:sp>
      <p:sp>
        <p:nvSpPr>
          <p:cNvPr id="50178" name="Rectangle 2"/>
          <p:cNvSpPr>
            <a:spLocks noGrp="1" noRot="1" noChangeAspect="1" noChangeArrowheads="1" noTextEdit="1"/>
          </p:cNvSpPr>
          <p:nvPr>
            <p:ph type="sldImg"/>
          </p:nvPr>
        </p:nvSpPr>
        <p:spPr>
          <a:xfrm>
            <a:off x="381000" y="685800"/>
            <a:ext cx="6096000" cy="3429000"/>
          </a:xfrm>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B19B9DFD-DF31-43CC-8BBB-94C6B775DF6A}" type="slidenum">
              <a:rPr lang="en-US" altLang="en-US" sz="1200"/>
              <a:t>19</a:t>
            </a:fld>
            <a:endParaRPr lang="en-US" altLang="en-US" sz="1200" dirty="0"/>
          </a:p>
        </p:txBody>
      </p:sp>
      <p:sp>
        <p:nvSpPr>
          <p:cNvPr id="50178" name="Rectangle 2"/>
          <p:cNvSpPr>
            <a:spLocks noGrp="1" noRot="1" noChangeAspect="1" noChangeArrowheads="1" noTextEdit="1"/>
          </p:cNvSpPr>
          <p:nvPr>
            <p:ph type="sldImg"/>
          </p:nvPr>
        </p:nvSpPr>
        <p:spPr>
          <a:xfrm>
            <a:off x="381000" y="685800"/>
            <a:ext cx="6096000" cy="3429000"/>
          </a:xfrm>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B19B9DFD-DF31-43CC-8BBB-94C6B775DF6A}" type="slidenum">
              <a:rPr lang="en-US" altLang="en-US" sz="1200"/>
              <a:t>20</a:t>
            </a:fld>
            <a:endParaRPr lang="en-US" altLang="en-US" sz="1200" dirty="0"/>
          </a:p>
        </p:txBody>
      </p:sp>
      <p:sp>
        <p:nvSpPr>
          <p:cNvPr id="50178" name="Rectangle 2"/>
          <p:cNvSpPr>
            <a:spLocks noGrp="1" noRot="1" noChangeAspect="1" noChangeArrowheads="1" noTextEdit="1"/>
          </p:cNvSpPr>
          <p:nvPr>
            <p:ph type="sldImg"/>
          </p:nvPr>
        </p:nvSpPr>
        <p:spPr>
          <a:xfrm>
            <a:off x="381000" y="685800"/>
            <a:ext cx="6096000" cy="3429000"/>
          </a:xfrm>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2CA03AE4-EA27-469C-8E49-6A6D2386542F}" type="slidenum">
              <a:rPr lang="en-US" altLang="en-US" sz="1200"/>
              <a:t>21</a:t>
            </a:fld>
            <a:endParaRPr lang="en-US" altLang="en-US" sz="1200" dirty="0"/>
          </a:p>
        </p:txBody>
      </p:sp>
      <p:sp>
        <p:nvSpPr>
          <p:cNvPr id="54274" name="Rectangle 2"/>
          <p:cNvSpPr>
            <a:spLocks noGrp="1" noRot="1" noChangeAspect="1" noChangeArrowheads="1" noTextEdit="1"/>
          </p:cNvSpPr>
          <p:nvPr>
            <p:ph type="sldImg"/>
          </p:nvPr>
        </p:nvSpPr>
        <p:spPr>
          <a:xfrm>
            <a:off x="381000" y="685800"/>
            <a:ext cx="6096000" cy="3429000"/>
          </a:xfrm>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8F692E26-C62E-47DD-B019-6402D6B97215}" type="slidenum">
              <a:rPr lang="en-US" altLang="en-US" sz="1200"/>
              <a:t>22</a:t>
            </a:fld>
            <a:endParaRPr lang="en-US" altLang="en-US" sz="1200" dirty="0"/>
          </a:p>
        </p:txBody>
      </p:sp>
      <p:sp>
        <p:nvSpPr>
          <p:cNvPr id="52226" name="Rectangle 2"/>
          <p:cNvSpPr>
            <a:spLocks noGrp="1" noRot="1" noChangeAspect="1" noChangeArrowheads="1" noTextEdit="1"/>
          </p:cNvSpPr>
          <p:nvPr>
            <p:ph type="sldImg"/>
          </p:nvPr>
        </p:nvSpPr>
        <p:spPr>
          <a:xfrm>
            <a:off x="381000" y="685800"/>
            <a:ext cx="6096000" cy="3429000"/>
          </a:xfrm>
        </p:spPr>
      </p:sp>
      <p:sp>
        <p:nvSpPr>
          <p:cNvPr id="522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A9C50108-5EFA-4F84-9892-157B948F69F3}" type="slidenum">
              <a:rPr lang="en-US" altLang="en-US" sz="1200"/>
              <a:t>23</a:t>
            </a:fld>
            <a:endParaRPr lang="en-US" altLang="en-US" sz="1200" dirty="0"/>
          </a:p>
        </p:txBody>
      </p:sp>
      <p:sp>
        <p:nvSpPr>
          <p:cNvPr id="56322" name="Rectangle 2"/>
          <p:cNvSpPr>
            <a:spLocks noGrp="1" noRot="1" noChangeAspect="1" noChangeArrowheads="1" noTextEdit="1"/>
          </p:cNvSpPr>
          <p:nvPr>
            <p:ph type="sldImg"/>
          </p:nvPr>
        </p:nvSpPr>
        <p:spPr>
          <a:xfrm>
            <a:off x="381000" y="685800"/>
            <a:ext cx="6096000" cy="3429000"/>
          </a:xfrm>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A9C50108-5EFA-4F84-9892-157B948F69F3}" type="slidenum">
              <a:rPr lang="en-US" altLang="en-US" sz="1200"/>
              <a:t>24</a:t>
            </a:fld>
            <a:endParaRPr lang="en-US" altLang="en-US" sz="1200" dirty="0"/>
          </a:p>
        </p:txBody>
      </p:sp>
      <p:sp>
        <p:nvSpPr>
          <p:cNvPr id="56322" name="Rectangle 2"/>
          <p:cNvSpPr>
            <a:spLocks noGrp="1" noRot="1" noChangeAspect="1" noChangeArrowheads="1" noTextEdit="1"/>
          </p:cNvSpPr>
          <p:nvPr>
            <p:ph type="sldImg"/>
          </p:nvPr>
        </p:nvSpPr>
        <p:spPr>
          <a:xfrm>
            <a:off x="381000" y="685800"/>
            <a:ext cx="6096000" cy="3429000"/>
          </a:xfrm>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8F9A1746-BC92-49CA-A120-ACAD23E13744}" type="slidenum">
              <a:rPr lang="en-US" altLang="en-US" sz="1200"/>
              <a:t>25</a:t>
            </a:fld>
            <a:endParaRPr lang="en-US" altLang="en-US" sz="1200" dirty="0"/>
          </a:p>
        </p:txBody>
      </p:sp>
      <p:sp>
        <p:nvSpPr>
          <p:cNvPr id="18434" name="Rectangle 2"/>
          <p:cNvSpPr>
            <a:spLocks noGrp="1" noRot="1" noChangeAspect="1" noChangeArrowheads="1" noTextEdit="1"/>
          </p:cNvSpPr>
          <p:nvPr>
            <p:ph type="sldImg"/>
          </p:nvPr>
        </p:nvSpPr>
        <p:spPr>
          <a:xfrm>
            <a:off x="381000" y="685800"/>
            <a:ext cx="6096000" cy="3429000"/>
          </a:xfrm>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8F9A1746-BC92-49CA-A120-ACAD23E13744}" type="slidenum">
              <a:rPr lang="en-US" altLang="en-US" sz="1200"/>
              <a:t>26</a:t>
            </a:fld>
            <a:endParaRPr lang="en-US" altLang="en-US" sz="1200" dirty="0"/>
          </a:p>
        </p:txBody>
      </p:sp>
      <p:sp>
        <p:nvSpPr>
          <p:cNvPr id="18434" name="Rectangle 2"/>
          <p:cNvSpPr>
            <a:spLocks noGrp="1" noRot="1" noChangeAspect="1" noChangeArrowheads="1" noTextEdit="1"/>
          </p:cNvSpPr>
          <p:nvPr>
            <p:ph type="sldImg"/>
          </p:nvPr>
        </p:nvSpPr>
        <p:spPr>
          <a:xfrm>
            <a:off x="381000" y="685800"/>
            <a:ext cx="6096000" cy="3429000"/>
          </a:xfrm>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A1771A0E-559D-43D5-85C1-2D375155CEF8}" type="slidenum">
              <a:rPr lang="en-US" altLang="en-US" sz="1200"/>
              <a:t>27</a:t>
            </a:fld>
            <a:endParaRPr lang="en-US" altLang="en-US" sz="1200" dirty="0"/>
          </a:p>
        </p:txBody>
      </p:sp>
      <p:sp>
        <p:nvSpPr>
          <p:cNvPr id="22530" name="Rectangle 2"/>
          <p:cNvSpPr>
            <a:spLocks noGrp="1" noRot="1" noChangeAspect="1" noChangeArrowheads="1" noTextEdit="1"/>
          </p:cNvSpPr>
          <p:nvPr>
            <p:ph type="sldImg"/>
          </p:nvPr>
        </p:nvSpPr>
        <p:spPr>
          <a:xfrm>
            <a:off x="381000" y="685800"/>
            <a:ext cx="6096000" cy="3429000"/>
          </a:xfrm>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C2F2B756-9213-4637-9F3D-8CD40917EA0A}" type="slidenum">
              <a:rPr lang="en-US" altLang="en-US" sz="1200"/>
              <a:t>29</a:t>
            </a:fld>
            <a:endParaRPr lang="en-US" altLang="en-US" sz="1200" dirty="0"/>
          </a:p>
        </p:txBody>
      </p:sp>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C2F2B756-9213-4637-9F3D-8CD40917EA0A}" type="slidenum">
              <a:rPr lang="en-US" altLang="en-US" sz="1200"/>
              <a:t>31</a:t>
            </a:fld>
            <a:endParaRPr lang="en-US" altLang="en-US" sz="1200" dirty="0"/>
          </a:p>
        </p:txBody>
      </p:sp>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C2F2B756-9213-4637-9F3D-8CD40917EA0A}" type="slidenum">
              <a:rPr lang="en-US" altLang="en-US" sz="1200"/>
              <a:t>32</a:t>
            </a:fld>
            <a:endParaRPr lang="en-US" altLang="en-US" sz="1200" dirty="0"/>
          </a:p>
        </p:txBody>
      </p:sp>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E8F6CFE8-F4B8-4635-B9A3-190ADFF2F8A1}" type="slidenum">
              <a:rPr lang="en-US" altLang="en-US" sz="1200"/>
              <a:t>34</a:t>
            </a:fld>
            <a:endParaRPr lang="en-US" altLang="en-US" sz="1200" dirty="0"/>
          </a:p>
        </p:txBody>
      </p:sp>
      <p:sp>
        <p:nvSpPr>
          <p:cNvPr id="60418" name="Rectangle 2"/>
          <p:cNvSpPr>
            <a:spLocks noGrp="1" noRot="1" noChangeAspect="1" noChangeArrowheads="1" noTextEdit="1"/>
          </p:cNvSpPr>
          <p:nvPr>
            <p:ph type="sldImg"/>
          </p:nvPr>
        </p:nvSpPr>
        <p:spPr>
          <a:xfrm>
            <a:off x="381000" y="685800"/>
            <a:ext cx="6096000" cy="3429000"/>
          </a:xfrm>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C2F2B756-9213-4637-9F3D-8CD40917EA0A}" type="slidenum">
              <a:rPr lang="en-US" altLang="en-US" sz="1200"/>
              <a:t>35</a:t>
            </a:fld>
            <a:endParaRPr lang="en-US" altLang="en-US" sz="1200" dirty="0"/>
          </a:p>
        </p:txBody>
      </p:sp>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noChangeArrowheads="1"/>
          </p:cNvSpPr>
          <p:nvPr/>
        </p:nvSpPr>
        <p:spPr bwMode="auto">
          <a:xfrm>
            <a:off x="3887133" y="8688049"/>
            <a:ext cx="2970867" cy="45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nchor="b"/>
          <a:lstStyle>
            <a:lvl1pPr defTabSz="930275">
              <a:defRPr sz="1600">
                <a:solidFill>
                  <a:schemeClr val="tx1"/>
                </a:solidFill>
                <a:latin typeface="Helvetica" panose="020B0604020202020204" pitchFamily="34" charset="0"/>
                <a:ea typeface="MS PGothic" panose="020B0600070205080204" charset="-128"/>
              </a:defRPr>
            </a:lvl1pPr>
            <a:lvl2pPr marL="742950" indent="-285750" defTabSz="930275">
              <a:defRPr sz="1600">
                <a:solidFill>
                  <a:schemeClr val="tx1"/>
                </a:solidFill>
                <a:latin typeface="Helvetica" panose="020B0604020202020204" pitchFamily="34" charset="0"/>
                <a:ea typeface="MS PGothic" panose="020B0600070205080204" charset="-128"/>
              </a:defRPr>
            </a:lvl2pPr>
            <a:lvl3pPr marL="1143000" indent="-228600" defTabSz="930275">
              <a:defRPr sz="1600">
                <a:solidFill>
                  <a:schemeClr val="tx1"/>
                </a:solidFill>
                <a:latin typeface="Helvetica" panose="020B0604020202020204" pitchFamily="34" charset="0"/>
                <a:ea typeface="MS PGothic" panose="020B0600070205080204" charset="-128"/>
              </a:defRPr>
            </a:lvl3pPr>
            <a:lvl4pPr marL="1600200" indent="-228600" defTabSz="930275">
              <a:defRPr sz="1600">
                <a:solidFill>
                  <a:schemeClr val="tx1"/>
                </a:solidFill>
                <a:latin typeface="Helvetica" panose="020B0604020202020204" pitchFamily="34" charset="0"/>
                <a:ea typeface="MS PGothic" panose="020B0600070205080204" charset="-128"/>
              </a:defRPr>
            </a:lvl4pPr>
            <a:lvl5pPr marL="2057400" indent="-228600" defTabSz="930275">
              <a:defRPr sz="1600">
                <a:solidFill>
                  <a:schemeClr val="tx1"/>
                </a:solidFill>
                <a:latin typeface="Helvetica" panose="020B0604020202020204" pitchFamily="34" charset="0"/>
                <a:ea typeface="MS PGothic" panose="020B060007020508020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charset="-128"/>
              </a:defRPr>
            </a:lvl9pPr>
          </a:lstStyle>
          <a:p>
            <a:pPr algn="r"/>
            <a:fld id="{A1771A0E-559D-43D5-85C1-2D375155CEF8}" type="slidenum">
              <a:rPr lang="en-US" altLang="en-US" sz="1200"/>
              <a:t>37</a:t>
            </a:fld>
            <a:endParaRPr lang="en-US" altLang="en-US" sz="1200" dirty="0"/>
          </a:p>
        </p:txBody>
      </p:sp>
      <p:sp>
        <p:nvSpPr>
          <p:cNvPr id="22530" name="Rectangle 2"/>
          <p:cNvSpPr>
            <a:spLocks noGrp="1" noRot="1" noChangeAspect="1" noChangeArrowheads="1" noTextEdit="1"/>
          </p:cNvSpPr>
          <p:nvPr>
            <p:ph type="sldImg"/>
          </p:nvPr>
        </p:nvSpPr>
        <p:spPr>
          <a:xfrm>
            <a:off x="1154410" y="686426"/>
            <a:ext cx="4549181" cy="3429000"/>
          </a:xfrm>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0c4b90466a_7_19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3" name="Google Shape;653;g10c4b90466a_7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0c4b90466a_7_19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g10c4b90466a_7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0c4b90466a_7_17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9" name="Google Shape;629;g10c4b90466a_7_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0c4b90466a_7_1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g10c4b90466a_7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0c4b90466a_7_18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1" name="Google Shape;641;g10c4b90466a_7_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0c4b90466a_7_20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5" name="Google Shape;665;g10c4b90466a_7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0c4b90466a_7_20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1" name="Google Shape;671;g10c4b90466a_7_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0c4b90466a_7_21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7" name="Google Shape;677;g10c4b90466a_7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10c4b90466a_7_23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7" name="Google Shape;707;g10c4b90466a_7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10c4b90466a_7_24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9" name="Google Shape;719;g10c4b90466a_7_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10c4b90466a_7_24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3" name="Google Shape;713;g10c4b90466a_7_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10c4b90466a_7_21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3" name="Google Shape;683;g10c4b90466a_7_2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10c4b90466a_7_22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9" name="Google Shape;689;g10c4b90466a_7_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0c4b90466a_7_22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5" name="Google Shape;695;g10c4b90466a_7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10c4b90466a_7_23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1" name="Google Shape;701;g10c4b90466a_7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0c4b90466a_7_17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9" name="Google Shape;629;g10c4b90466a_7_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0c4b90466a_7_1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g10c4b90466a_7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0c4b90466a_7_18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1" name="Google Shape;641;g10c4b90466a_7_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0c4b90466a_7_18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7" name="Google Shape;647;g10c4b90466a_7_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0c4b90466a_7_19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3" name="Google Shape;653;g10c4b90466a_7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0c4b90466a_7_19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g10c4b90466a_7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9F9508-A70F-4939-87C2-6C9FC5C9F254}" type="slidenum">
              <a:rPr lang="en-US" smtClean="0"/>
              <a:t>90</a:t>
            </a:fld>
            <a:endParaRPr lang="en-US"/>
          </a:p>
        </p:txBody>
      </p:sp>
    </p:spTree>
    <p:extLst>
      <p:ext uri="{BB962C8B-B14F-4D97-AF65-F5344CB8AC3E}">
        <p14:creationId xmlns:p14="http://schemas.microsoft.com/office/powerpoint/2010/main" val="229252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24518-273A-D339-2DE6-C874F5AB6D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83616-E6C3-E934-576A-D27149E32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AF0AA4-D8F1-9E32-3DC9-9CD546F95ED6}"/>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0FB396A0-1930-16E9-6A68-619EEB524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DCD8F-E681-9317-0C22-979814CD5B2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844179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A8BB3-587C-8153-5727-E3B71E7373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F674F-40F1-81F6-82A0-EE4B172CF3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24451-3CE1-920E-C29E-232F5EDE95F8}"/>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E1F374AA-34FE-B2DA-5A56-A9B12B4B6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34A9A-C5B2-ACB1-9AA2-41DCF98FEF1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80775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AF05-57E3-B879-6271-478566F559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D9B230-2D49-F825-574F-D89DD84AF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6EC556-08C0-2C24-0D6B-4AD7F83E1C70}"/>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8DD85801-5904-7DCD-1CD1-72D14ACF4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F5DA4-5187-542A-79F0-1F96AF09E49B}"/>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61310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5CC8-C0B6-C410-7E84-D29065FEA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6769C-832B-B49E-8597-8902555BCA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9E60C5-80ED-506D-B6C0-B63E4FB4A4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699D9A-44F1-1EBE-8397-A93206BF34A9}"/>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6" name="Footer Placeholder 5">
            <a:extLst>
              <a:ext uri="{FF2B5EF4-FFF2-40B4-BE49-F238E27FC236}">
                <a16:creationId xmlns:a16="http://schemas.microsoft.com/office/drawing/2014/main" id="{367D5374-91E7-E206-EC56-0B96F1C69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1E34C-A30E-EEF2-F73C-5DE82E2B49E6}"/>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02786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3AD6-C5C8-9E28-4193-D8840F5506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840FB0-DD42-CF0E-8DEA-926DA2E64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03151-5307-36E0-E8F3-C72A04D3B5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095541-D98B-03C5-8DCA-9699EE552E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813B1B-5161-7A9B-857D-4353C8046E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8A41C-426C-3463-3959-5A32D200C13E}"/>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8" name="Footer Placeholder 7">
            <a:extLst>
              <a:ext uri="{FF2B5EF4-FFF2-40B4-BE49-F238E27FC236}">
                <a16:creationId xmlns:a16="http://schemas.microsoft.com/office/drawing/2014/main" id="{0658EAC7-7A4C-375C-5342-BECC46DF88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62AEC6-55D5-6C01-6F5D-653777FACFBA}"/>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37687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70A8-1AB3-43E3-7730-85AFFF034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398A5A-9B6E-802F-7437-3B3CDB58E510}"/>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4" name="Footer Placeholder 3">
            <a:extLst>
              <a:ext uri="{FF2B5EF4-FFF2-40B4-BE49-F238E27FC236}">
                <a16:creationId xmlns:a16="http://schemas.microsoft.com/office/drawing/2014/main" id="{6E10FECE-23E9-F8FC-DC9A-4D9D7162B3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401324-CD8E-5EC4-A744-425698346CA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56837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5BCEA1-EB4A-20B6-8D4A-970F1A27C021}"/>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3" name="Footer Placeholder 2">
            <a:extLst>
              <a:ext uri="{FF2B5EF4-FFF2-40B4-BE49-F238E27FC236}">
                <a16:creationId xmlns:a16="http://schemas.microsoft.com/office/drawing/2014/main" id="{ECF8FE1A-E10B-0203-262C-49FD8130FB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FDB4DE-5428-6C42-FF02-CE856E1A390C}"/>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085135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23E8-9A60-AF3E-7B27-0DEAF66154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15685F-21F6-CF43-178F-DF3F51490C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C62EF1-F48B-92BC-091D-10788370A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D21B6-656F-71E9-6CD9-D283AEAE3B73}"/>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6" name="Footer Placeholder 5">
            <a:extLst>
              <a:ext uri="{FF2B5EF4-FFF2-40B4-BE49-F238E27FC236}">
                <a16:creationId xmlns:a16="http://schemas.microsoft.com/office/drawing/2014/main" id="{E4199327-11FF-E1EA-17AB-2AB0752BF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EE707C-B6B6-AFAE-D013-A8E64D4383AF}"/>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4216641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534F-6488-A0EC-BCB2-B1375692E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AE65F-3823-CDFF-1099-04299F240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D88B8-98B8-7E0D-19E4-63E5C0520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2C7DD-9E5F-52D2-87E0-13864FCDE95A}"/>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6" name="Footer Placeholder 5">
            <a:extLst>
              <a:ext uri="{FF2B5EF4-FFF2-40B4-BE49-F238E27FC236}">
                <a16:creationId xmlns:a16="http://schemas.microsoft.com/office/drawing/2014/main" id="{1DA5A718-F91A-47BB-A5D3-CBF89BE8F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55577A-12A3-0098-9A5B-8E1AAC609948}"/>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67078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264AD-5BDD-3D31-06AA-6D221FC26A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0FF561-40DA-6F9B-80EE-5B48C16218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F0176-4C69-D048-7892-653728E67E7F}"/>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099EDEDD-10AD-8C62-78AD-10692184C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21766-3DE8-9797-7472-E8E4F129576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9658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E44FC-2D48-A0D9-6E74-1A2CCDF91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9E33D5-97EC-C03D-7560-5A3C6C32C3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E95F8-2826-7CFA-2618-543DCD0C9FBF}"/>
              </a:ext>
            </a:extLst>
          </p:cNvPr>
          <p:cNvSpPr>
            <a:spLocks noGrp="1"/>
          </p:cNvSpPr>
          <p:nvPr>
            <p:ph type="dt" sz="half" idx="10"/>
          </p:nvPr>
        </p:nvSpPr>
        <p:spPr/>
        <p:txBody>
          <a:body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4F608033-542B-D2CF-2FC2-28153BEF5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ADFE01-52F0-5E4A-FCF0-6B67F792079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16786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44813-A230-BFFC-AD63-C2760CDFB8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6F1074-FA5A-F22A-250B-DEFD70B0C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AFA96-F659-CBAB-22E6-1A5616278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9B398-F8A7-4298-B988-E725DF5AFFB9}" type="datetimeFigureOut">
              <a:rPr lang="en-US" smtClean="0"/>
              <a:t>1/24/2025</a:t>
            </a:fld>
            <a:endParaRPr lang="en-US"/>
          </a:p>
        </p:txBody>
      </p:sp>
      <p:sp>
        <p:nvSpPr>
          <p:cNvPr id="5" name="Footer Placeholder 4">
            <a:extLst>
              <a:ext uri="{FF2B5EF4-FFF2-40B4-BE49-F238E27FC236}">
                <a16:creationId xmlns:a16="http://schemas.microsoft.com/office/drawing/2014/main" id="{977CCD87-7BDE-5D9C-EDC6-21BEB9D0E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B8E5D0-A5F3-4849-122C-39F92CAB9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0B328A-63D2-4322-B205-6DE7E58DE922}" type="slidenum">
              <a:rPr lang="en-US" smtClean="0"/>
              <a:t>‹#›</a:t>
            </a:fld>
            <a:endParaRPr lang="en-US"/>
          </a:p>
        </p:txBody>
      </p:sp>
    </p:spTree>
    <p:extLst>
      <p:ext uri="{BB962C8B-B14F-4D97-AF65-F5344CB8AC3E}">
        <p14:creationId xmlns:p14="http://schemas.microsoft.com/office/powerpoint/2010/main" val="136225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58FE94C-E5C1-CD6B-6091-87485E7F9AC4}"/>
              </a:ext>
            </a:extLst>
          </p:cNvPr>
          <p:cNvSpPr>
            <a:spLocks noGrp="1"/>
          </p:cNvSpPr>
          <p:nvPr>
            <p:ph type="ctrTitle"/>
          </p:nvPr>
        </p:nvSpPr>
        <p:spPr>
          <a:xfrm>
            <a:off x="838201" y="3998018"/>
            <a:ext cx="3981854" cy="2216513"/>
          </a:xfrm>
        </p:spPr>
        <p:txBody>
          <a:bodyPr vert="horz" lIns="91440" tIns="45720" rIns="91440" bIns="45720" rtlCol="0" anchor="ctr">
            <a:normAutofit/>
          </a:bodyPr>
          <a:lstStyle/>
          <a:p>
            <a:pPr algn="l"/>
            <a:r>
              <a:rPr lang="en-US" sz="3100" kern="1200">
                <a:solidFill>
                  <a:schemeClr val="tx1"/>
                </a:solidFill>
                <a:latin typeface="+mj-lt"/>
                <a:ea typeface="+mj-ea"/>
                <a:cs typeface="+mj-cs"/>
              </a:rPr>
              <a:t>Course Code: CS3CO39 </a:t>
            </a:r>
            <a:br>
              <a:rPr lang="en-US" sz="3100" kern="1200">
                <a:solidFill>
                  <a:schemeClr val="tx1"/>
                </a:solidFill>
                <a:latin typeface="+mj-lt"/>
                <a:ea typeface="+mj-ea"/>
                <a:cs typeface="+mj-cs"/>
              </a:rPr>
            </a:br>
            <a:r>
              <a:rPr lang="en-US" sz="3100" kern="1200">
                <a:solidFill>
                  <a:schemeClr val="tx1"/>
                </a:solidFill>
                <a:latin typeface="+mj-lt"/>
                <a:ea typeface="+mj-ea"/>
                <a:cs typeface="+mj-cs"/>
              </a:rPr>
              <a:t>Course Name: Database Management System</a:t>
            </a:r>
            <a:br>
              <a:rPr lang="en-US" sz="3100" kern="1200">
                <a:solidFill>
                  <a:schemeClr val="tx1"/>
                </a:solidFill>
                <a:latin typeface="+mj-lt"/>
                <a:ea typeface="+mj-ea"/>
                <a:cs typeface="+mj-cs"/>
              </a:rPr>
            </a:br>
            <a:endParaRPr lang="en-US" sz="3100" kern="1200">
              <a:solidFill>
                <a:schemeClr val="tx1"/>
              </a:solidFill>
              <a:latin typeface="+mj-lt"/>
              <a:ea typeface="+mj-ea"/>
              <a:cs typeface="+mj-cs"/>
            </a:endParaRPr>
          </a:p>
        </p:txBody>
      </p:sp>
      <p:sp>
        <p:nvSpPr>
          <p:cNvPr id="33" name="Arc 3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age1.png">
            <a:extLst>
              <a:ext uri="{FF2B5EF4-FFF2-40B4-BE49-F238E27FC236}">
                <a16:creationId xmlns:a16="http://schemas.microsoft.com/office/drawing/2014/main" id="{06DEDAB6-AD6B-82C1-2790-FA9F090429B2}"/>
              </a:ext>
            </a:extLst>
          </p:cNvPr>
          <p:cNvPicPr>
            <a:picLocks noChangeAspect="1"/>
          </p:cNvPicPr>
          <p:nvPr/>
        </p:nvPicPr>
        <p:blipFill>
          <a:blip r:embed="rId2" cstate="print"/>
          <a:stretch>
            <a:fillRect/>
          </a:stretch>
        </p:blipFill>
        <p:spPr>
          <a:xfrm>
            <a:off x="659914" y="715496"/>
            <a:ext cx="10872172" cy="2935487"/>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Subtitle 2">
            <a:extLst>
              <a:ext uri="{FF2B5EF4-FFF2-40B4-BE49-F238E27FC236}">
                <a16:creationId xmlns:a16="http://schemas.microsoft.com/office/drawing/2014/main" id="{8DDB46C1-5CF4-E91D-782D-F6A0E0927947}"/>
              </a:ext>
            </a:extLst>
          </p:cNvPr>
          <p:cNvSpPr>
            <a:spLocks noGrp="1"/>
          </p:cNvSpPr>
          <p:nvPr>
            <p:ph type="subTitle" idx="1"/>
          </p:nvPr>
        </p:nvSpPr>
        <p:spPr>
          <a:xfrm>
            <a:off x="4970835" y="3998019"/>
            <a:ext cx="6382966" cy="2216512"/>
          </a:xfrm>
        </p:spPr>
        <p:txBody>
          <a:bodyPr vert="horz" lIns="91440" tIns="45720" rIns="91440" bIns="45720" rtlCol="0">
            <a:normAutofit/>
          </a:bodyPr>
          <a:lstStyle/>
          <a:p>
            <a:pPr indent="-228600" algn="l">
              <a:buFont typeface="Arial" panose="020B0604020202020204" pitchFamily="34" charset="0"/>
              <a:buChar char="•"/>
            </a:pPr>
            <a:endParaRPr lang="en-US" sz="1300"/>
          </a:p>
          <a:p>
            <a:pPr indent="-228600" algn="l">
              <a:buFont typeface="Arial" panose="020B0604020202020204" pitchFamily="34" charset="0"/>
              <a:buChar char="•"/>
            </a:pPr>
            <a:r>
              <a:rPr lang="en-US" sz="1300"/>
              <a:t>Text Books:</a:t>
            </a:r>
          </a:p>
          <a:p>
            <a:pPr indent="-228600" algn="l">
              <a:buFont typeface="Arial" panose="020B0604020202020204" pitchFamily="34" charset="0"/>
              <a:buChar char="•"/>
            </a:pPr>
            <a:r>
              <a:rPr lang="en-US" sz="1300"/>
              <a:t> F.R. Mcfadden, J. Hoffer, M.Prescott, Modern Database Management, Addison Wesley.</a:t>
            </a:r>
          </a:p>
          <a:p>
            <a:pPr indent="-228600" algn="l">
              <a:buFont typeface="Arial" panose="020B0604020202020204" pitchFamily="34" charset="0"/>
              <a:buChar char="•"/>
            </a:pPr>
            <a:r>
              <a:rPr lang="en-US" sz="1300"/>
              <a:t>Elmasri, Navathe, Fundamentals of Database System, Pearson Education Asia.</a:t>
            </a:r>
          </a:p>
          <a:p>
            <a:pPr indent="-228600" algn="l">
              <a:buFont typeface="Arial" panose="020B0604020202020204" pitchFamily="34" charset="0"/>
              <a:buChar char="•"/>
            </a:pPr>
            <a:r>
              <a:rPr lang="en-US" sz="1300"/>
              <a:t>Reference Books:</a:t>
            </a:r>
          </a:p>
          <a:p>
            <a:pPr indent="-228600" algn="l">
              <a:buFont typeface="Arial" panose="020B0604020202020204" pitchFamily="34" charset="0"/>
              <a:buChar char="•"/>
            </a:pPr>
            <a:r>
              <a:rPr lang="en-US" sz="1300"/>
              <a:t>C.J. Date, An Introduction to Database Systems, Pearson Education Asia.</a:t>
            </a:r>
          </a:p>
          <a:p>
            <a:pPr indent="-228600" algn="l">
              <a:buFont typeface="Arial" panose="020B0604020202020204" pitchFamily="34" charset="0"/>
              <a:buChar char="•"/>
            </a:pPr>
            <a:r>
              <a:rPr lang="en-US" sz="1300"/>
              <a:t>Henry F Korth, Abraham Silbershatz, Database System Concepts, Mc Graw Hill.</a:t>
            </a:r>
          </a:p>
          <a:p>
            <a:pPr indent="-228600" algn="l">
              <a:buFont typeface="Arial" panose="020B0604020202020204" pitchFamily="34" charset="0"/>
              <a:buChar char="•"/>
            </a:pPr>
            <a:endParaRPr lang="en-US" sz="1300"/>
          </a:p>
        </p:txBody>
      </p:sp>
    </p:spTree>
    <p:extLst>
      <p:ext uri="{BB962C8B-B14F-4D97-AF65-F5344CB8AC3E}">
        <p14:creationId xmlns:p14="http://schemas.microsoft.com/office/powerpoint/2010/main" val="413200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8" name="Rectangle 17">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579D29E-5EF3-C351-C594-10A544EF16A8}"/>
              </a:ext>
            </a:extLst>
          </p:cNvPr>
          <p:cNvSpPr>
            <a:spLocks noGrp="1"/>
          </p:cNvSpPr>
          <p:nvPr>
            <p:ph type="title"/>
          </p:nvPr>
        </p:nvSpPr>
        <p:spPr>
          <a:xfrm>
            <a:off x="876691" y="301843"/>
            <a:ext cx="10477109" cy="1003532"/>
          </a:xfrm>
        </p:spPr>
        <p:txBody>
          <a:bodyPr anchor="ctr">
            <a:normAutofit fontScale="90000"/>
          </a:bodyPr>
          <a:lstStyle/>
          <a:p>
            <a:br>
              <a:rPr lang="en-US" sz="3200" b="1" dirty="0">
                <a:solidFill>
                  <a:srgbClr val="FFFFFF"/>
                </a:solidFill>
                <a:effectLst/>
                <a:latin typeface="Times New Roman" panose="02020603050405020304" pitchFamily="18" charset="0"/>
                <a:ea typeface="Times New Roman" panose="02020603050405020304" pitchFamily="18" charset="0"/>
              </a:rPr>
            </a:br>
            <a:br>
              <a:rPr lang="en-US" sz="3200" b="1" dirty="0">
                <a:solidFill>
                  <a:srgbClr val="FFFFFF"/>
                </a:solidFill>
                <a:effectLst/>
                <a:latin typeface="Times New Roman" panose="02020603050405020304" pitchFamily="18" charset="0"/>
                <a:ea typeface="Times New Roman" panose="02020603050405020304" pitchFamily="18" charset="0"/>
              </a:rPr>
            </a:br>
            <a:r>
              <a:rPr lang="en-US" sz="3200" b="1" dirty="0">
                <a:solidFill>
                  <a:srgbClr val="FFFFFF"/>
                </a:solidFill>
                <a:effectLst/>
                <a:latin typeface="Times New Roman" panose="02020603050405020304" pitchFamily="18" charset="0"/>
                <a:ea typeface="Times New Roman" panose="02020603050405020304" pitchFamily="18" charset="0"/>
              </a:rPr>
              <a:t>Unit-1 Basic Concepts </a:t>
            </a:r>
            <a:br>
              <a:rPr lang="en-US" sz="3200" b="1" dirty="0">
                <a:solidFill>
                  <a:srgbClr val="FFFFFF"/>
                </a:solidFill>
                <a:effectLst/>
                <a:latin typeface="Times New Roman" panose="02020603050405020304" pitchFamily="18" charset="0"/>
                <a:ea typeface="Times New Roman" panose="02020603050405020304" pitchFamily="18" charset="0"/>
              </a:rPr>
            </a:br>
            <a:br>
              <a:rPr lang="en-US" sz="3200" dirty="0">
                <a:solidFill>
                  <a:srgbClr val="FFFFFF"/>
                </a:solidFill>
                <a:effectLst/>
                <a:latin typeface="Times New Roman" panose="02020603050405020304" pitchFamily="18" charset="0"/>
                <a:ea typeface="Times New Roman" panose="02020603050405020304" pitchFamily="18" charset="0"/>
              </a:rPr>
            </a:br>
            <a:endParaRPr lang="en-US" sz="3200" dirty="0">
              <a:solidFill>
                <a:srgbClr val="FFFFFF"/>
              </a:solidFill>
            </a:endParaRPr>
          </a:p>
        </p:txBody>
      </p:sp>
      <p:sp>
        <p:nvSpPr>
          <p:cNvPr id="3" name="Content Placeholder 2">
            <a:extLst>
              <a:ext uri="{FF2B5EF4-FFF2-40B4-BE49-F238E27FC236}">
                <a16:creationId xmlns:a16="http://schemas.microsoft.com/office/drawing/2014/main" id="{1B05C76A-DCDA-E0E7-95B8-271415393825}"/>
              </a:ext>
            </a:extLst>
          </p:cNvPr>
          <p:cNvSpPr>
            <a:spLocks noGrp="1"/>
          </p:cNvSpPr>
          <p:nvPr>
            <p:ph idx="1"/>
          </p:nvPr>
        </p:nvSpPr>
        <p:spPr>
          <a:xfrm>
            <a:off x="876301" y="2308124"/>
            <a:ext cx="5025735" cy="3673576"/>
          </a:xfrm>
        </p:spPr>
        <p:txBody>
          <a:bodyPr>
            <a:normAutofit/>
          </a:bodyPr>
          <a:lstStyle/>
          <a:p>
            <a:pPr marL="201295" marR="579755">
              <a:spcBef>
                <a:spcPts val="0"/>
              </a:spcBef>
              <a:spcAft>
                <a:spcPts val="0"/>
              </a:spcAft>
            </a:pPr>
            <a:endParaRPr lang="en-US" sz="1700" dirty="0">
              <a:effectLst/>
              <a:latin typeface="Times New Roman" panose="02020603050405020304" pitchFamily="18" charset="0"/>
              <a:ea typeface="Times New Roman" panose="02020603050405020304" pitchFamily="18" charset="0"/>
            </a:endParaRP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Data Vs Information</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Definition of Database</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Advantages of Database Systems</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Components of DBMS</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DBMS </a:t>
            </a:r>
            <a:r>
              <a:rPr lang="en-US" sz="1700">
                <a:effectLst/>
                <a:latin typeface="Times New Roman" panose="02020603050405020304" pitchFamily="18" charset="0"/>
                <a:ea typeface="Times New Roman" panose="02020603050405020304" pitchFamily="18" charset="0"/>
              </a:rPr>
              <a:t>Architecture </a:t>
            </a:r>
            <a:endParaRPr lang="en-US" sz="1700">
              <a:latin typeface="Times New Roman" panose="02020603050405020304" pitchFamily="18" charset="0"/>
              <a:ea typeface="Times New Roman" panose="02020603050405020304" pitchFamily="18" charset="0"/>
            </a:endParaRPr>
          </a:p>
          <a:p>
            <a:pPr marL="201295" marR="579755">
              <a:spcBef>
                <a:spcPts val="0"/>
              </a:spcBef>
              <a:spcAft>
                <a:spcPts val="0"/>
              </a:spcAft>
            </a:pPr>
            <a:r>
              <a:rPr lang="en-US" sz="1700">
                <a:effectLst/>
                <a:latin typeface="Times New Roman" panose="02020603050405020304" pitchFamily="18" charset="0"/>
                <a:ea typeface="Times New Roman" panose="02020603050405020304" pitchFamily="18" charset="0"/>
              </a:rPr>
              <a:t>Data </a:t>
            </a:r>
            <a:r>
              <a:rPr lang="en-US" sz="1700" dirty="0">
                <a:effectLst/>
                <a:latin typeface="Times New Roman" panose="02020603050405020304" pitchFamily="18" charset="0"/>
                <a:ea typeface="Times New Roman" panose="02020603050405020304" pitchFamily="18" charset="0"/>
              </a:rPr>
              <a:t>Independence</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Data modelling</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Entity</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Relationship</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Model</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Relational,</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Network</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Hierarchical</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and</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Object-Oriented</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Models</a:t>
            </a:r>
          </a:p>
          <a:p>
            <a:pPr marL="201295" marR="579755">
              <a:spcBef>
                <a:spcPts val="0"/>
              </a:spcBef>
              <a:spcAft>
                <a:spcPts val="0"/>
              </a:spcAft>
            </a:pPr>
            <a:r>
              <a:rPr lang="en-US" sz="1700" dirty="0">
                <a:effectLst/>
                <a:latin typeface="Times New Roman" panose="02020603050405020304" pitchFamily="18" charset="0"/>
                <a:ea typeface="Times New Roman" panose="02020603050405020304" pitchFamily="18" charset="0"/>
              </a:rPr>
              <a:t>Data</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Modelling</a:t>
            </a:r>
            <a:r>
              <a:rPr lang="en-US" sz="1700" spc="-5" dirty="0">
                <a:effectLst/>
                <a:latin typeface="Times New Roman" panose="02020603050405020304" pitchFamily="18" charset="0"/>
                <a:ea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rPr>
              <a:t>Using the Entity Relationship Model.</a:t>
            </a:r>
          </a:p>
          <a:p>
            <a:endParaRPr lang="en-US" sz="1700" dirty="0"/>
          </a:p>
        </p:txBody>
      </p:sp>
      <p:graphicFrame>
        <p:nvGraphicFramePr>
          <p:cNvPr id="5" name="Table 4">
            <a:extLst>
              <a:ext uri="{FF2B5EF4-FFF2-40B4-BE49-F238E27FC236}">
                <a16:creationId xmlns:a16="http://schemas.microsoft.com/office/drawing/2014/main" id="{F77B8FF4-85CF-08CE-6A10-AA9320F09F43}"/>
              </a:ext>
            </a:extLst>
          </p:cNvPr>
          <p:cNvGraphicFramePr>
            <a:graphicFrameLocks noGrp="1"/>
          </p:cNvGraphicFramePr>
          <p:nvPr>
            <p:extLst>
              <p:ext uri="{D42A27DB-BD31-4B8C-83A1-F6EECF244321}">
                <p14:modId xmlns:p14="http://schemas.microsoft.com/office/powerpoint/2010/main" val="3055698863"/>
              </p:ext>
            </p:extLst>
          </p:nvPr>
        </p:nvGraphicFramePr>
        <p:xfrm>
          <a:off x="6784258" y="3061699"/>
          <a:ext cx="5277603" cy="2332233"/>
        </p:xfrm>
        <a:graphic>
          <a:graphicData uri="http://schemas.openxmlformats.org/drawingml/2006/table">
            <a:tbl>
              <a:tblPr firstRow="1" firstCol="1" lastRow="1" lastCol="1" bandRow="1" bandCol="1">
                <a:solidFill>
                  <a:schemeClr val="bg1">
                    <a:lumMod val="95000"/>
                  </a:schemeClr>
                </a:solidFill>
              </a:tblPr>
              <a:tblGrid>
                <a:gridCol w="952751">
                  <a:extLst>
                    <a:ext uri="{9D8B030D-6E8A-4147-A177-3AD203B41FA5}">
                      <a16:colId xmlns:a16="http://schemas.microsoft.com/office/drawing/2014/main" val="3061052767"/>
                    </a:ext>
                  </a:extLst>
                </a:gridCol>
                <a:gridCol w="4324852">
                  <a:extLst>
                    <a:ext uri="{9D8B030D-6E8A-4147-A177-3AD203B41FA5}">
                      <a16:colId xmlns:a16="http://schemas.microsoft.com/office/drawing/2014/main" val="2943072356"/>
                    </a:ext>
                  </a:extLst>
                </a:gridCol>
              </a:tblGrid>
              <a:tr h="2332233">
                <a:tc>
                  <a:txBody>
                    <a:bodyPr/>
                    <a:lstStyle/>
                    <a:p>
                      <a:pPr marL="0" marR="54864" algn="r" fontAlgn="t">
                        <a:lnSpc>
                          <a:spcPts val="1325"/>
                        </a:lnSpc>
                        <a:spcBef>
                          <a:spcPts val="0"/>
                        </a:spcBef>
                        <a:spcAft>
                          <a:spcPts val="0"/>
                        </a:spcAft>
                      </a:pPr>
                      <a:r>
                        <a:rPr lang="en-US" sz="2200" b="0" i="0" u="none" strike="noStrike"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CO1</a:t>
                      </a:r>
                      <a:endParaRPr lang="en-US" sz="2200" b="0" i="0" u="none" strike="noStrike" cap="none" spc="0" dirty="0">
                        <a:solidFill>
                          <a:schemeClr val="bg1"/>
                        </a:solidFill>
                        <a:effectLst/>
                        <a:latin typeface="Arial" panose="020B0604020202020204" pitchFamily="34" charset="0"/>
                      </a:endParaRPr>
                    </a:p>
                  </a:txBody>
                  <a:tcPr marL="15215" marR="15215" marT="123079" marB="0" anchor="ctr">
                    <a:lnL w="12700" cmpd="sng">
                      <a:noFill/>
                    </a:lnL>
                    <a:lnR w="12700" cmpd="sng">
                      <a:noFill/>
                    </a:lnR>
                    <a:lnT w="19050" cap="flat" cmpd="sng" algn="ctr">
                      <a:noFill/>
                      <a:prstDash val="solid"/>
                    </a:lnT>
                    <a:lnB w="38100" cmpd="sng">
                      <a:noFill/>
                    </a:lnB>
                    <a:solidFill>
                      <a:schemeClr val="accent2"/>
                    </a:solidFill>
                  </a:tcPr>
                </a:tc>
                <a:tc>
                  <a:txBody>
                    <a:bodyPr/>
                    <a:lstStyle/>
                    <a:p>
                      <a:pPr marL="54864" marR="0" algn="l" fontAlgn="t">
                        <a:lnSpc>
                          <a:spcPts val="1330"/>
                        </a:lnSpc>
                        <a:spcBef>
                          <a:spcPts val="0"/>
                        </a:spcBef>
                        <a:spcAft>
                          <a:spcPts val="0"/>
                        </a:spcAft>
                      </a:pPr>
                      <a:r>
                        <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Have a broad understanding of</a:t>
                      </a:r>
                    </a:p>
                    <a:p>
                      <a:pPr marL="54864" marR="0" algn="l" fontAlgn="t">
                        <a:lnSpc>
                          <a:spcPts val="1330"/>
                        </a:lnSpc>
                        <a:spcBef>
                          <a:spcPts val="0"/>
                        </a:spcBef>
                        <a:spcAft>
                          <a:spcPts val="0"/>
                        </a:spcAft>
                      </a:pPr>
                      <a:endPar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54864" marR="0" algn="l" fontAlgn="t">
                        <a:lnSpc>
                          <a:spcPts val="1330"/>
                        </a:lnSpc>
                        <a:spcBef>
                          <a:spcPts val="0"/>
                        </a:spcBef>
                        <a:spcAft>
                          <a:spcPts val="0"/>
                        </a:spcAft>
                      </a:pPr>
                      <a:r>
                        <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database concepts and database</a:t>
                      </a:r>
                    </a:p>
                    <a:p>
                      <a:pPr marL="54864" marR="0" algn="l" fontAlgn="t">
                        <a:lnSpc>
                          <a:spcPts val="1330"/>
                        </a:lnSpc>
                        <a:spcBef>
                          <a:spcPts val="0"/>
                        </a:spcBef>
                        <a:spcAft>
                          <a:spcPts val="0"/>
                        </a:spcAft>
                      </a:pPr>
                      <a:endPar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54864" marR="0" algn="l" fontAlgn="t">
                        <a:lnSpc>
                          <a:spcPts val="1330"/>
                        </a:lnSpc>
                        <a:spcBef>
                          <a:spcPts val="0"/>
                        </a:spcBef>
                        <a:spcAft>
                          <a:spcPts val="0"/>
                        </a:spcAft>
                      </a:pPr>
                      <a:r>
                        <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management system software</a:t>
                      </a:r>
                      <a:endParaRPr lang="en-US" sz="2200" b="0" i="0" u="none" strike="noStrike" cap="none" spc="0" dirty="0">
                        <a:solidFill>
                          <a:schemeClr val="bg1"/>
                        </a:solidFill>
                        <a:effectLst/>
                        <a:latin typeface="Arial" panose="020B0604020202020204" pitchFamily="34" charset="0"/>
                      </a:endParaRPr>
                    </a:p>
                  </a:txBody>
                  <a:tcPr marL="15215" marR="15215" marT="123079"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342026641"/>
                  </a:ext>
                </a:extLst>
              </a:tr>
            </a:tbl>
          </a:graphicData>
        </a:graphic>
      </p:graphicFrame>
    </p:spTree>
    <p:extLst>
      <p:ext uri="{BB962C8B-B14F-4D97-AF65-F5344CB8AC3E}">
        <p14:creationId xmlns:p14="http://schemas.microsoft.com/office/powerpoint/2010/main" val="303246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4B68-936E-A02D-051E-CA4F6036BEEF}"/>
              </a:ext>
            </a:extLst>
          </p:cNvPr>
          <p:cNvSpPr>
            <a:spLocks noGrp="1"/>
          </p:cNvSpPr>
          <p:nvPr>
            <p:ph type="title"/>
          </p:nvPr>
        </p:nvSpPr>
        <p:spPr/>
        <p:txBody>
          <a:bodyPr>
            <a:normAutofit/>
          </a:bodyPr>
          <a:lstStyle/>
          <a:p>
            <a:r>
              <a:rPr lang="en-US" sz="3600" b="1" dirty="0"/>
              <a:t>Database System Architecture: From Software to Data</a:t>
            </a:r>
          </a:p>
        </p:txBody>
      </p:sp>
      <p:pic>
        <p:nvPicPr>
          <p:cNvPr id="5" name="Content Placeholder 4">
            <a:extLst>
              <a:ext uri="{FF2B5EF4-FFF2-40B4-BE49-F238E27FC236}">
                <a16:creationId xmlns:a16="http://schemas.microsoft.com/office/drawing/2014/main" id="{25683AA1-74B7-B11B-DC0D-9F501CDE4138}"/>
              </a:ext>
            </a:extLst>
          </p:cNvPr>
          <p:cNvPicPr>
            <a:picLocks noGrp="1" noChangeAspect="1"/>
          </p:cNvPicPr>
          <p:nvPr>
            <p:ph idx="1"/>
          </p:nvPr>
        </p:nvPicPr>
        <p:blipFill>
          <a:blip r:embed="rId2"/>
          <a:stretch>
            <a:fillRect/>
          </a:stretch>
        </p:blipFill>
        <p:spPr>
          <a:xfrm>
            <a:off x="1540753" y="1763980"/>
            <a:ext cx="8452947" cy="4351338"/>
          </a:xfrm>
        </p:spPr>
      </p:pic>
    </p:spTree>
    <p:extLst>
      <p:ext uri="{BB962C8B-B14F-4D97-AF65-F5344CB8AC3E}">
        <p14:creationId xmlns:p14="http://schemas.microsoft.com/office/powerpoint/2010/main" val="2168620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02DAC-B1CC-7C0F-384B-00F48C22AA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B7E6AB-2F20-F2D2-4F09-792760412F23}"/>
              </a:ext>
            </a:extLst>
          </p:cNvPr>
          <p:cNvSpPr>
            <a:spLocks noGrp="1"/>
          </p:cNvSpPr>
          <p:nvPr>
            <p:ph idx="1"/>
          </p:nvPr>
        </p:nvSpPr>
        <p:spPr/>
        <p:txBody>
          <a:bodyPr/>
          <a:lstStyle/>
          <a:p>
            <a:r>
              <a:rPr lang="en-US" dirty="0"/>
              <a:t>Database Software: It can be regarded as common database software, such as MySQL, </a:t>
            </a:r>
            <a:r>
              <a:rPr lang="en-US" dirty="0" err="1"/>
              <a:t>Postgre</a:t>
            </a:r>
            <a:r>
              <a:rPr lang="en-US" dirty="0"/>
              <a:t> SQL, </a:t>
            </a:r>
            <a:r>
              <a:rPr lang="en-US" dirty="0" err="1"/>
              <a:t>MsSQL</a:t>
            </a:r>
            <a:r>
              <a:rPr lang="en-US" dirty="0"/>
              <a:t>, etc. We will use MySQL/Oracle here because it's one of the most widely used database software in the world.</a:t>
            </a:r>
          </a:p>
          <a:p>
            <a:r>
              <a:rPr lang="en-US" dirty="0"/>
              <a:t>Database: Represents individual databases created within the DBMS. Each database is a logical collection of data organized for specific purposes.</a:t>
            </a:r>
          </a:p>
        </p:txBody>
      </p:sp>
    </p:spTree>
    <p:extLst>
      <p:ext uri="{BB962C8B-B14F-4D97-AF65-F5344CB8AC3E}">
        <p14:creationId xmlns:p14="http://schemas.microsoft.com/office/powerpoint/2010/main" val="419031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35F5F-1D27-B275-C3C5-4543E10D3E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3264E8-5985-94A7-CC48-3D199696BF82}"/>
              </a:ext>
            </a:extLst>
          </p:cNvPr>
          <p:cNvSpPr>
            <a:spLocks noGrp="1"/>
          </p:cNvSpPr>
          <p:nvPr>
            <p:ph idx="1"/>
          </p:nvPr>
        </p:nvSpPr>
        <p:spPr/>
        <p:txBody>
          <a:bodyPr/>
          <a:lstStyle/>
          <a:p>
            <a:r>
              <a:rPr lang="en-US" dirty="0"/>
              <a:t>Schema: A schema defines the structure of the data within a database. It specifies how the data is organized, including tables, relationships, constraints, and more. But in some database software, such as MySQL, Schema and Database are integrated into one.</a:t>
            </a:r>
          </a:p>
          <a:p>
            <a:r>
              <a:rPr lang="en-US" dirty="0"/>
              <a:t>Table: The key section of the database. Tables record different data entities, such as users, products, etc. Each table is responsible for recording the column size, type, and default value... of each row data in the database.</a:t>
            </a:r>
          </a:p>
          <a:p>
            <a:r>
              <a:rPr lang="en-US" dirty="0"/>
              <a:t>Data: The most valuable part of the database is the data itself. Different types of data can be stored.</a:t>
            </a:r>
          </a:p>
          <a:p>
            <a:endParaRPr lang="en-US" dirty="0"/>
          </a:p>
          <a:p>
            <a:endParaRPr lang="en-US" dirty="0"/>
          </a:p>
        </p:txBody>
      </p:sp>
    </p:spTree>
    <p:extLst>
      <p:ext uri="{BB962C8B-B14F-4D97-AF65-F5344CB8AC3E}">
        <p14:creationId xmlns:p14="http://schemas.microsoft.com/office/powerpoint/2010/main" val="2240687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801B77D-E720-DE9C-0491-3B919B477E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18716" y="1329430"/>
            <a:ext cx="5299641" cy="423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689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AD0F-7F7D-6B71-8685-A0480F2FD09D}"/>
              </a:ext>
            </a:extLst>
          </p:cNvPr>
          <p:cNvSpPr>
            <a:spLocks noGrp="1"/>
          </p:cNvSpPr>
          <p:nvPr>
            <p:ph type="title"/>
          </p:nvPr>
        </p:nvSpPr>
        <p:spPr/>
        <p:txBody>
          <a:bodyPr/>
          <a:lstStyle/>
          <a:p>
            <a:r>
              <a:rPr lang="en-US" b="1" i="0" dirty="0">
                <a:solidFill>
                  <a:srgbClr val="444444"/>
                </a:solidFill>
                <a:effectLst/>
                <a:latin typeface="inherit"/>
              </a:rPr>
              <a:t>Data and Information</a:t>
            </a:r>
            <a:endParaRPr lang="en-US" dirty="0"/>
          </a:p>
        </p:txBody>
      </p:sp>
      <p:sp>
        <p:nvSpPr>
          <p:cNvPr id="3" name="Content Placeholder 2">
            <a:extLst>
              <a:ext uri="{FF2B5EF4-FFF2-40B4-BE49-F238E27FC236}">
                <a16:creationId xmlns:a16="http://schemas.microsoft.com/office/drawing/2014/main" id="{FEF72859-0475-6073-886F-778315320B11}"/>
              </a:ext>
            </a:extLst>
          </p:cNvPr>
          <p:cNvSpPr>
            <a:spLocks noGrp="1"/>
          </p:cNvSpPr>
          <p:nvPr>
            <p:ph idx="1"/>
          </p:nvPr>
        </p:nvSpPr>
        <p:spPr/>
        <p:txBody>
          <a:bodyPr>
            <a:normAutofit fontScale="92500" lnSpcReduction="10000"/>
          </a:bodyPr>
          <a:lstStyle/>
          <a:p>
            <a:pPr algn="l"/>
            <a:r>
              <a:rPr lang="en-US" b="0" i="0" dirty="0">
                <a:solidFill>
                  <a:srgbClr val="444444"/>
                </a:solidFill>
                <a:effectLst/>
                <a:latin typeface="Poppins" panose="020B0502040204020203" pitchFamily="2" charset="0"/>
              </a:rPr>
              <a:t>Usually, the terms “</a:t>
            </a:r>
            <a:r>
              <a:rPr lang="en-US" b="0" i="1" dirty="0">
                <a:solidFill>
                  <a:srgbClr val="444444"/>
                </a:solidFill>
                <a:effectLst/>
                <a:latin typeface="Poppins" panose="020B0502040204020203" pitchFamily="2" charset="0"/>
              </a:rPr>
              <a:t>data</a:t>
            </a:r>
            <a:r>
              <a:rPr lang="en-US" b="0" i="0" dirty="0">
                <a:solidFill>
                  <a:srgbClr val="444444"/>
                </a:solidFill>
                <a:effectLst/>
                <a:latin typeface="Poppins" panose="020B0502040204020203" pitchFamily="2" charset="0"/>
              </a:rPr>
              <a:t>” and “</a:t>
            </a:r>
            <a:r>
              <a:rPr lang="en-US" b="0" i="1" dirty="0">
                <a:solidFill>
                  <a:srgbClr val="444444"/>
                </a:solidFill>
                <a:effectLst/>
                <a:latin typeface="Poppins" panose="020B0502040204020203" pitchFamily="2" charset="0"/>
              </a:rPr>
              <a:t>information</a:t>
            </a:r>
            <a:r>
              <a:rPr lang="en-US" b="0" i="0" dirty="0">
                <a:solidFill>
                  <a:srgbClr val="444444"/>
                </a:solidFill>
                <a:effectLst/>
                <a:latin typeface="Poppins" panose="020B0502040204020203" pitchFamily="2" charset="0"/>
              </a:rPr>
              <a:t>”  are used interchangeably. However, there is a subtle difference between the two.</a:t>
            </a:r>
          </a:p>
          <a:p>
            <a:pPr algn="l"/>
            <a:r>
              <a:rPr lang="en-US" b="0" i="0" dirty="0">
                <a:solidFill>
                  <a:srgbClr val="444444"/>
                </a:solidFill>
                <a:effectLst/>
                <a:latin typeface="Poppins" panose="020B0502040204020203" pitchFamily="2" charset="0"/>
              </a:rPr>
              <a:t>In a nutshell, data can be a number, symbol, character, word, codes, graphs, etc. On the other hand, information is data put into context. Information is </a:t>
            </a:r>
            <a:r>
              <a:rPr lang="en-US" b="0" i="0" dirty="0" err="1">
                <a:solidFill>
                  <a:srgbClr val="444444"/>
                </a:solidFill>
                <a:effectLst/>
                <a:latin typeface="Poppins" panose="020B0502040204020203" pitchFamily="2" charset="0"/>
              </a:rPr>
              <a:t>utilised</a:t>
            </a:r>
            <a:r>
              <a:rPr lang="en-US" b="0" i="0" dirty="0">
                <a:solidFill>
                  <a:srgbClr val="444444"/>
                </a:solidFill>
                <a:effectLst/>
                <a:latin typeface="Poppins" panose="020B0502040204020203" pitchFamily="2" charset="0"/>
              </a:rPr>
              <a:t> by humans in some significant way (such as to make decisions, forecasts </a:t>
            </a:r>
            <a:r>
              <a:rPr lang="en-US" b="0" i="0" dirty="0" err="1">
                <a:solidFill>
                  <a:srgbClr val="444444"/>
                </a:solidFill>
                <a:effectLst/>
                <a:latin typeface="Poppins" panose="020B0502040204020203" pitchFamily="2" charset="0"/>
              </a:rPr>
              <a:t>etc</a:t>
            </a:r>
            <a:r>
              <a:rPr lang="en-US" b="0" i="0" dirty="0">
                <a:solidFill>
                  <a:srgbClr val="444444"/>
                </a:solidFill>
                <a:effectLst/>
                <a:latin typeface="Poppins" panose="020B0502040204020203" pitchFamily="2" charset="0"/>
              </a:rPr>
              <a:t>).</a:t>
            </a:r>
          </a:p>
          <a:p>
            <a:pPr algn="l"/>
            <a:r>
              <a:rPr lang="en-US" b="0" i="0" dirty="0">
                <a:solidFill>
                  <a:srgbClr val="444444"/>
                </a:solidFill>
                <a:effectLst/>
                <a:latin typeface="Poppins" panose="020B0502040204020203" pitchFamily="2" charset="0"/>
              </a:rPr>
              <a:t>A basic example of information would be a computer. A computer uses programming scripts, formulas, or software applications to turn data into information.</a:t>
            </a:r>
          </a:p>
          <a:p>
            <a:pPr algn="l"/>
            <a:r>
              <a:rPr lang="en-US" b="0" i="0" dirty="0">
                <a:solidFill>
                  <a:srgbClr val="444444"/>
                </a:solidFill>
                <a:effectLst/>
                <a:latin typeface="Poppins" panose="020B0502040204020203" pitchFamily="2" charset="0"/>
              </a:rPr>
              <a:t>Let us have a detailed look at the difference between data and information in a tabular column below:</a:t>
            </a:r>
          </a:p>
          <a:p>
            <a:endParaRPr lang="en-US" dirty="0"/>
          </a:p>
        </p:txBody>
      </p:sp>
    </p:spTree>
    <p:extLst>
      <p:ext uri="{BB962C8B-B14F-4D97-AF65-F5344CB8AC3E}">
        <p14:creationId xmlns:p14="http://schemas.microsoft.com/office/powerpoint/2010/main" val="20756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71A-F422-4079-C20E-58FE31F6A61D}"/>
              </a:ext>
            </a:extLst>
          </p:cNvPr>
          <p:cNvSpPr>
            <a:spLocks noGrp="1"/>
          </p:cNvSpPr>
          <p:nvPr>
            <p:ph type="title"/>
          </p:nvPr>
        </p:nvSpPr>
        <p:spPr/>
        <p:txBody>
          <a:bodyPr>
            <a:normAutofit/>
          </a:bodyPr>
          <a:lstStyle/>
          <a:p>
            <a:r>
              <a:rPr lang="en-US" sz="3200" b="1" i="0" dirty="0">
                <a:solidFill>
                  <a:srgbClr val="444444"/>
                </a:solidFill>
                <a:effectLst/>
                <a:latin typeface="Poppins" panose="020B0502040204020203" pitchFamily="2" charset="0"/>
              </a:rPr>
              <a:t>Difference between Data and Information</a:t>
            </a:r>
            <a:endParaRPr lang="en-US" sz="3200" dirty="0"/>
          </a:p>
        </p:txBody>
      </p:sp>
      <p:pic>
        <p:nvPicPr>
          <p:cNvPr id="5" name="Content Placeholder 4">
            <a:extLst>
              <a:ext uri="{FF2B5EF4-FFF2-40B4-BE49-F238E27FC236}">
                <a16:creationId xmlns:a16="http://schemas.microsoft.com/office/drawing/2014/main" id="{2DA3DDF2-C75F-250B-D701-3C243AB0A4E3}"/>
              </a:ext>
            </a:extLst>
          </p:cNvPr>
          <p:cNvPicPr>
            <a:picLocks noGrp="1" noChangeAspect="1"/>
          </p:cNvPicPr>
          <p:nvPr>
            <p:ph idx="1"/>
          </p:nvPr>
        </p:nvPicPr>
        <p:blipFill>
          <a:blip r:embed="rId2"/>
          <a:stretch>
            <a:fillRect/>
          </a:stretch>
        </p:blipFill>
        <p:spPr>
          <a:xfrm>
            <a:off x="1831689" y="1825625"/>
            <a:ext cx="8528622" cy="4351338"/>
          </a:xfrm>
        </p:spPr>
      </p:pic>
    </p:spTree>
    <p:extLst>
      <p:ext uri="{BB962C8B-B14F-4D97-AF65-F5344CB8AC3E}">
        <p14:creationId xmlns:p14="http://schemas.microsoft.com/office/powerpoint/2010/main" val="3180250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7646C-80BB-72EE-3191-EE27BF5DC7E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27420E5-75F7-8D6B-20E2-5463A4C97919}"/>
              </a:ext>
            </a:extLst>
          </p:cNvPr>
          <p:cNvPicPr>
            <a:picLocks noGrp="1" noChangeAspect="1"/>
          </p:cNvPicPr>
          <p:nvPr>
            <p:ph idx="1"/>
          </p:nvPr>
        </p:nvPicPr>
        <p:blipFill>
          <a:blip r:embed="rId2"/>
          <a:stretch>
            <a:fillRect/>
          </a:stretch>
        </p:blipFill>
        <p:spPr>
          <a:xfrm>
            <a:off x="-1" y="0"/>
            <a:ext cx="12113231" cy="6857999"/>
          </a:xfrm>
        </p:spPr>
      </p:pic>
    </p:spTree>
    <p:extLst>
      <p:ext uri="{BB962C8B-B14F-4D97-AF65-F5344CB8AC3E}">
        <p14:creationId xmlns:p14="http://schemas.microsoft.com/office/powerpoint/2010/main" val="2733330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9B61-8FAE-87A6-371C-F9E3254DCAFD}"/>
              </a:ext>
            </a:extLst>
          </p:cNvPr>
          <p:cNvSpPr>
            <a:spLocks noGrp="1"/>
          </p:cNvSpPr>
          <p:nvPr>
            <p:ph type="title"/>
          </p:nvPr>
        </p:nvSpPr>
        <p:spPr/>
        <p:txBody>
          <a:bodyPr/>
          <a:lstStyle/>
          <a:p>
            <a:r>
              <a:rPr lang="en-US" sz="4400" dirty="0">
                <a:effectLst/>
                <a:latin typeface="Times New Roman" panose="02020603050405020304" pitchFamily="18" charset="0"/>
                <a:ea typeface="Times New Roman" panose="02020603050405020304" pitchFamily="18" charset="0"/>
              </a:rPr>
              <a:t>Definition of Database</a:t>
            </a:r>
            <a:br>
              <a:rPr lang="en-US" sz="44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C254FF2-30FB-A97C-6D1F-099FADA8CCFA}"/>
              </a:ext>
            </a:extLst>
          </p:cNvPr>
          <p:cNvSpPr>
            <a:spLocks noGrp="1"/>
          </p:cNvSpPr>
          <p:nvPr>
            <p:ph idx="1"/>
          </p:nvPr>
        </p:nvSpPr>
        <p:spPr/>
        <p:txBody>
          <a:bodyPr>
            <a:normAutofit/>
          </a:bodyPr>
          <a:lstStyle/>
          <a:p>
            <a:pPr marL="12700">
              <a:lnSpc>
                <a:spcPct val="100000"/>
              </a:lnSpc>
              <a:spcBef>
                <a:spcPts val="100"/>
              </a:spcBef>
            </a:pPr>
            <a:r>
              <a:rPr lang="en-US" sz="2800" spc="-5" dirty="0">
                <a:solidFill>
                  <a:srgbClr val="004C2B"/>
                </a:solidFill>
                <a:latin typeface="Times New Roman"/>
                <a:cs typeface="Times New Roman"/>
              </a:rPr>
              <a:t>What</a:t>
            </a:r>
            <a:r>
              <a:rPr lang="en-US" sz="2800" spc="-30" dirty="0">
                <a:solidFill>
                  <a:srgbClr val="004C2B"/>
                </a:solidFill>
                <a:latin typeface="Times New Roman"/>
                <a:cs typeface="Times New Roman"/>
              </a:rPr>
              <a:t> </a:t>
            </a:r>
            <a:r>
              <a:rPr lang="en-US" sz="2800" spc="-5" dirty="0">
                <a:solidFill>
                  <a:srgbClr val="004C2B"/>
                </a:solidFill>
                <a:latin typeface="Times New Roman"/>
                <a:cs typeface="Times New Roman"/>
              </a:rPr>
              <a:t>is</a:t>
            </a:r>
            <a:r>
              <a:rPr lang="en-US" sz="2800" spc="-25" dirty="0">
                <a:solidFill>
                  <a:srgbClr val="004C2B"/>
                </a:solidFill>
                <a:latin typeface="Times New Roman"/>
                <a:cs typeface="Times New Roman"/>
              </a:rPr>
              <a:t> </a:t>
            </a:r>
            <a:r>
              <a:rPr lang="en-US" sz="2800" dirty="0">
                <a:solidFill>
                  <a:srgbClr val="004C2B"/>
                </a:solidFill>
                <a:latin typeface="Times New Roman"/>
                <a:cs typeface="Times New Roman"/>
              </a:rPr>
              <a:t>a</a:t>
            </a:r>
            <a:r>
              <a:rPr lang="en-US" sz="2800" spc="-25" dirty="0">
                <a:solidFill>
                  <a:srgbClr val="004C2B"/>
                </a:solidFill>
                <a:latin typeface="Times New Roman"/>
                <a:cs typeface="Times New Roman"/>
              </a:rPr>
              <a:t> </a:t>
            </a:r>
            <a:r>
              <a:rPr lang="en-US" sz="2800" spc="-5" dirty="0">
                <a:solidFill>
                  <a:srgbClr val="004C2B"/>
                </a:solidFill>
                <a:latin typeface="Times New Roman"/>
                <a:cs typeface="Times New Roman"/>
              </a:rPr>
              <a:t>Database?</a:t>
            </a:r>
            <a:endParaRPr lang="en-US" sz="4000" dirty="0">
              <a:latin typeface="Times New Roman"/>
              <a:cs typeface="Times New Roman"/>
            </a:endParaRPr>
          </a:p>
          <a:p>
            <a:pPr marL="12700">
              <a:lnSpc>
                <a:spcPct val="100000"/>
              </a:lnSpc>
            </a:pPr>
            <a:r>
              <a:rPr lang="en-US" sz="2800" spc="-5" dirty="0">
                <a:solidFill>
                  <a:srgbClr val="333333"/>
                </a:solidFill>
                <a:latin typeface="Times New Roman"/>
                <a:cs typeface="Times New Roman"/>
              </a:rPr>
              <a:t>A</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collection</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of</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related</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pieces</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of</a:t>
            </a:r>
            <a:r>
              <a:rPr lang="en-US" sz="2800" spc="-15" dirty="0">
                <a:solidFill>
                  <a:srgbClr val="333333"/>
                </a:solidFill>
                <a:latin typeface="Times New Roman"/>
                <a:cs typeface="Times New Roman"/>
              </a:rPr>
              <a:t> </a:t>
            </a:r>
            <a:r>
              <a:rPr lang="en-US" sz="2800" spc="-5" dirty="0">
                <a:solidFill>
                  <a:srgbClr val="333333"/>
                </a:solidFill>
                <a:latin typeface="Times New Roman"/>
                <a:cs typeface="Times New Roman"/>
              </a:rPr>
              <a:t>data:</a:t>
            </a:r>
            <a:endParaRPr lang="en-US" sz="2800" dirty="0">
              <a:latin typeface="Times New Roman"/>
              <a:cs typeface="Times New Roman"/>
            </a:endParaRPr>
          </a:p>
          <a:p>
            <a:pPr marL="304165" marR="248920" indent="-304165">
              <a:lnSpc>
                <a:spcPct val="119800"/>
              </a:lnSpc>
              <a:buFont typeface="Wingdings"/>
              <a:buChar char=""/>
              <a:tabLst>
                <a:tab pos="304165" algn="l"/>
                <a:tab pos="304800" algn="l"/>
                <a:tab pos="6225540" algn="l"/>
              </a:tabLst>
            </a:pPr>
            <a:r>
              <a:rPr lang="en-US" sz="2800" spc="-5" dirty="0">
                <a:solidFill>
                  <a:srgbClr val="333333"/>
                </a:solidFill>
                <a:latin typeface="Times New Roman"/>
                <a:cs typeface="Times New Roman"/>
              </a:rPr>
              <a:t>Representing/capturin</a:t>
            </a:r>
            <a:r>
              <a:rPr lang="en-US" sz="2800" dirty="0">
                <a:solidFill>
                  <a:srgbClr val="333333"/>
                </a:solidFill>
                <a:latin typeface="Times New Roman"/>
                <a:cs typeface="Times New Roman"/>
              </a:rPr>
              <a:t>g</a:t>
            </a:r>
            <a:r>
              <a:rPr lang="en-US" sz="2800" spc="-5" dirty="0">
                <a:solidFill>
                  <a:srgbClr val="333333"/>
                </a:solidFill>
                <a:latin typeface="Times New Roman"/>
                <a:cs typeface="Times New Roman"/>
              </a:rPr>
              <a:t> th</a:t>
            </a:r>
            <a:r>
              <a:rPr lang="en-US" sz="2800" dirty="0">
                <a:solidFill>
                  <a:srgbClr val="333333"/>
                </a:solidFill>
                <a:latin typeface="Times New Roman"/>
                <a:cs typeface="Times New Roman"/>
              </a:rPr>
              <a:t>e</a:t>
            </a:r>
            <a:r>
              <a:rPr lang="en-US" sz="2800" spc="-5" dirty="0">
                <a:solidFill>
                  <a:srgbClr val="333333"/>
                </a:solidFill>
                <a:latin typeface="Times New Roman"/>
                <a:cs typeface="Times New Roman"/>
              </a:rPr>
              <a:t> informatio</a:t>
            </a:r>
            <a:r>
              <a:rPr lang="en-US" sz="2800" dirty="0">
                <a:solidFill>
                  <a:srgbClr val="333333"/>
                </a:solidFill>
                <a:latin typeface="Times New Roman"/>
                <a:cs typeface="Times New Roman"/>
              </a:rPr>
              <a:t>n</a:t>
            </a:r>
            <a:r>
              <a:rPr lang="en-US" sz="2800" spc="-5" dirty="0">
                <a:solidFill>
                  <a:srgbClr val="333333"/>
                </a:solidFill>
                <a:latin typeface="Times New Roman"/>
                <a:cs typeface="Times New Roman"/>
              </a:rPr>
              <a:t> abou</a:t>
            </a:r>
            <a:r>
              <a:rPr lang="en-US" sz="2800" dirty="0">
                <a:solidFill>
                  <a:srgbClr val="333333"/>
                </a:solidFill>
                <a:latin typeface="Times New Roman"/>
                <a:cs typeface="Times New Roman"/>
              </a:rPr>
              <a:t>t</a:t>
            </a:r>
            <a:r>
              <a:rPr lang="en-US" sz="2800" spc="-5" dirty="0">
                <a:solidFill>
                  <a:srgbClr val="333333"/>
                </a:solidFill>
                <a:latin typeface="Times New Roman"/>
                <a:cs typeface="Times New Roman"/>
              </a:rPr>
              <a:t> </a:t>
            </a:r>
            <a:r>
              <a:rPr lang="en-US" sz="2800" dirty="0">
                <a:solidFill>
                  <a:srgbClr val="333333"/>
                </a:solidFill>
                <a:latin typeface="Times New Roman"/>
                <a:cs typeface="Times New Roman"/>
              </a:rPr>
              <a:t>a </a:t>
            </a:r>
            <a:r>
              <a:rPr lang="en-US" sz="2800" spc="-5" dirty="0">
                <a:solidFill>
                  <a:srgbClr val="333333"/>
                </a:solidFill>
                <a:latin typeface="Times New Roman"/>
                <a:cs typeface="Times New Roman"/>
              </a:rPr>
              <a:t>real-world  enterprise</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or part</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of an enterprise.</a:t>
            </a:r>
            <a:endParaRPr lang="en-US" sz="2800" dirty="0">
              <a:latin typeface="Times New Roman"/>
              <a:cs typeface="Times New Roman"/>
            </a:endParaRPr>
          </a:p>
          <a:p>
            <a:pPr marL="304165" marR="59055" indent="-304165">
              <a:lnSpc>
                <a:spcPct val="119800"/>
              </a:lnSpc>
              <a:buFont typeface="Wingdings"/>
              <a:buChar char=""/>
              <a:tabLst>
                <a:tab pos="304165" algn="l"/>
                <a:tab pos="304800" algn="l"/>
              </a:tabLst>
            </a:pPr>
            <a:r>
              <a:rPr lang="en-US" sz="2800" spc="-5" dirty="0">
                <a:solidFill>
                  <a:srgbClr val="333333"/>
                </a:solidFill>
                <a:latin typeface="Times New Roman"/>
                <a:cs typeface="Times New Roman"/>
              </a:rPr>
              <a:t>Collected and maintained to </a:t>
            </a:r>
            <a:r>
              <a:rPr lang="en-US" sz="2800" spc="-10" dirty="0">
                <a:solidFill>
                  <a:srgbClr val="333333"/>
                </a:solidFill>
                <a:latin typeface="Times New Roman"/>
                <a:cs typeface="Times New Roman"/>
              </a:rPr>
              <a:t>serve </a:t>
            </a:r>
            <a:r>
              <a:rPr lang="en-US" sz="2800" spc="-5" dirty="0">
                <a:solidFill>
                  <a:srgbClr val="333333"/>
                </a:solidFill>
                <a:latin typeface="Times New Roman"/>
                <a:cs typeface="Times New Roman"/>
              </a:rPr>
              <a:t>specific data management </a:t>
            </a:r>
            <a:r>
              <a:rPr lang="en-US" sz="2800" spc="-585" dirty="0">
                <a:solidFill>
                  <a:srgbClr val="333333"/>
                </a:solidFill>
                <a:latin typeface="Times New Roman"/>
                <a:cs typeface="Times New Roman"/>
              </a:rPr>
              <a:t> </a:t>
            </a:r>
            <a:r>
              <a:rPr lang="en-US" sz="2800" dirty="0">
                <a:solidFill>
                  <a:srgbClr val="333333"/>
                </a:solidFill>
                <a:latin typeface="Times New Roman"/>
                <a:cs typeface="Times New Roman"/>
              </a:rPr>
              <a:t>needs</a:t>
            </a:r>
            <a:r>
              <a:rPr lang="en-US" sz="2800" spc="-10" dirty="0">
                <a:solidFill>
                  <a:srgbClr val="333333"/>
                </a:solidFill>
                <a:latin typeface="Times New Roman"/>
                <a:cs typeface="Times New Roman"/>
              </a:rPr>
              <a:t> </a:t>
            </a:r>
            <a:r>
              <a:rPr lang="en-US" sz="2800" dirty="0">
                <a:solidFill>
                  <a:srgbClr val="333333"/>
                </a:solidFill>
                <a:latin typeface="Times New Roman"/>
                <a:cs typeface="Times New Roman"/>
              </a:rPr>
              <a:t>of</a:t>
            </a:r>
            <a:r>
              <a:rPr lang="en-US" sz="2800" spc="-5" dirty="0">
                <a:solidFill>
                  <a:srgbClr val="333333"/>
                </a:solidFill>
                <a:latin typeface="Times New Roman"/>
                <a:cs typeface="Times New Roman"/>
              </a:rPr>
              <a:t> </a:t>
            </a:r>
            <a:r>
              <a:rPr lang="en-US" sz="2800" dirty="0">
                <a:solidFill>
                  <a:srgbClr val="333333"/>
                </a:solidFill>
                <a:latin typeface="Times New Roman"/>
                <a:cs typeface="Times New Roman"/>
              </a:rPr>
              <a:t>the</a:t>
            </a:r>
            <a:r>
              <a:rPr lang="en-US" sz="2800" spc="-10" dirty="0">
                <a:solidFill>
                  <a:srgbClr val="333333"/>
                </a:solidFill>
                <a:latin typeface="Times New Roman"/>
                <a:cs typeface="Times New Roman"/>
              </a:rPr>
              <a:t> </a:t>
            </a:r>
            <a:r>
              <a:rPr lang="en-US" sz="2800" dirty="0">
                <a:solidFill>
                  <a:srgbClr val="333333"/>
                </a:solidFill>
                <a:latin typeface="Times New Roman"/>
                <a:cs typeface="Times New Roman"/>
              </a:rPr>
              <a:t>enterprise.</a:t>
            </a:r>
            <a:endParaRPr lang="en-US" sz="2800" dirty="0">
              <a:latin typeface="Times New Roman"/>
              <a:cs typeface="Times New Roman"/>
            </a:endParaRPr>
          </a:p>
          <a:p>
            <a:pPr marL="304165" marR="5080" indent="-304165">
              <a:lnSpc>
                <a:spcPct val="100000"/>
              </a:lnSpc>
              <a:spcBef>
                <a:spcPts val="570"/>
              </a:spcBef>
              <a:buFont typeface="Wingdings"/>
              <a:buChar char=""/>
              <a:tabLst>
                <a:tab pos="304165" algn="l"/>
                <a:tab pos="304800" algn="l"/>
              </a:tabLst>
            </a:pPr>
            <a:r>
              <a:rPr lang="en-US" sz="2800" spc="-5" dirty="0">
                <a:solidFill>
                  <a:srgbClr val="333333"/>
                </a:solidFill>
                <a:latin typeface="Times New Roman"/>
                <a:cs typeface="Times New Roman"/>
              </a:rPr>
              <a:t>Activities of the enterprise are supported by the database and </a:t>
            </a:r>
            <a:r>
              <a:rPr lang="en-US" sz="2800" spc="-585" dirty="0">
                <a:solidFill>
                  <a:srgbClr val="333333"/>
                </a:solidFill>
                <a:latin typeface="Times New Roman"/>
                <a:cs typeface="Times New Roman"/>
              </a:rPr>
              <a:t> </a:t>
            </a:r>
            <a:r>
              <a:rPr lang="en-US" sz="2800" spc="-5" dirty="0">
                <a:solidFill>
                  <a:srgbClr val="333333"/>
                </a:solidFill>
                <a:latin typeface="Times New Roman"/>
                <a:cs typeface="Times New Roman"/>
              </a:rPr>
              <a:t>continually</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update the</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database.</a:t>
            </a:r>
            <a:endParaRPr lang="en-US" sz="2800" dirty="0">
              <a:latin typeface="Times New Roman"/>
              <a:cs typeface="Times New Roman"/>
            </a:endParaRPr>
          </a:p>
          <a:p>
            <a:endParaRPr lang="en-US" dirty="0"/>
          </a:p>
        </p:txBody>
      </p:sp>
    </p:spTree>
    <p:extLst>
      <p:ext uri="{BB962C8B-B14F-4D97-AF65-F5344CB8AC3E}">
        <p14:creationId xmlns:p14="http://schemas.microsoft.com/office/powerpoint/2010/main" val="1814691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CB9B-BC43-F366-572D-76CD61D7318E}"/>
              </a:ext>
            </a:extLst>
          </p:cNvPr>
          <p:cNvSpPr>
            <a:spLocks noGrp="1"/>
          </p:cNvSpPr>
          <p:nvPr>
            <p:ph type="title"/>
          </p:nvPr>
        </p:nvSpPr>
        <p:spPr/>
        <p:txBody>
          <a:bodyPr/>
          <a:lstStyle/>
          <a:p>
            <a:r>
              <a:rPr lang="en-US" spc="-5" dirty="0"/>
              <a:t>An</a:t>
            </a:r>
            <a:r>
              <a:rPr lang="en-US" spc="-75" dirty="0"/>
              <a:t> </a:t>
            </a:r>
            <a:r>
              <a:rPr lang="en-US" spc="-5" dirty="0"/>
              <a:t>Example</a:t>
            </a:r>
            <a:endParaRPr lang="en-US" dirty="0"/>
          </a:p>
        </p:txBody>
      </p:sp>
      <p:sp>
        <p:nvSpPr>
          <p:cNvPr id="3" name="Content Placeholder 2">
            <a:extLst>
              <a:ext uri="{FF2B5EF4-FFF2-40B4-BE49-F238E27FC236}">
                <a16:creationId xmlns:a16="http://schemas.microsoft.com/office/drawing/2014/main" id="{596B3F93-AFE7-65C5-966B-3FF60FB1E64F}"/>
              </a:ext>
            </a:extLst>
          </p:cNvPr>
          <p:cNvSpPr>
            <a:spLocks noGrp="1"/>
          </p:cNvSpPr>
          <p:nvPr>
            <p:ph idx="1"/>
          </p:nvPr>
        </p:nvSpPr>
        <p:spPr/>
        <p:txBody>
          <a:bodyPr>
            <a:normAutofit/>
          </a:bodyPr>
          <a:lstStyle/>
          <a:p>
            <a:pPr marL="12700">
              <a:lnSpc>
                <a:spcPct val="100000"/>
              </a:lnSpc>
              <a:spcBef>
                <a:spcPts val="100"/>
              </a:spcBef>
            </a:pPr>
            <a:r>
              <a:rPr lang="en-US" sz="2800" spc="-5" dirty="0">
                <a:solidFill>
                  <a:srgbClr val="333333"/>
                </a:solidFill>
                <a:latin typeface="Times New Roman"/>
                <a:cs typeface="Times New Roman"/>
              </a:rPr>
              <a:t>University</a:t>
            </a:r>
            <a:r>
              <a:rPr lang="en-US" sz="2800" spc="-35" dirty="0">
                <a:solidFill>
                  <a:srgbClr val="333333"/>
                </a:solidFill>
                <a:latin typeface="Times New Roman"/>
                <a:cs typeface="Times New Roman"/>
              </a:rPr>
              <a:t> </a:t>
            </a:r>
            <a:r>
              <a:rPr lang="en-US" sz="2800" spc="-10" dirty="0">
                <a:solidFill>
                  <a:srgbClr val="333333"/>
                </a:solidFill>
                <a:latin typeface="Times New Roman"/>
                <a:cs typeface="Times New Roman"/>
              </a:rPr>
              <a:t>Database:</a:t>
            </a:r>
            <a:endParaRPr lang="en-US" sz="2800" dirty="0">
              <a:latin typeface="Times New Roman"/>
              <a:cs typeface="Times New Roman"/>
            </a:endParaRPr>
          </a:p>
          <a:p>
            <a:pPr marL="927100" marR="939800" indent="-304800">
              <a:lnSpc>
                <a:spcPct val="119800"/>
              </a:lnSpc>
            </a:pPr>
            <a:r>
              <a:rPr lang="en-US" sz="2800" spc="-5" dirty="0">
                <a:solidFill>
                  <a:srgbClr val="333333"/>
                </a:solidFill>
                <a:latin typeface="Times New Roman"/>
                <a:cs typeface="Times New Roman"/>
              </a:rPr>
              <a:t>Data about students,</a:t>
            </a:r>
            <a:r>
              <a:rPr lang="en-US" sz="2800" dirty="0">
                <a:solidFill>
                  <a:srgbClr val="333333"/>
                </a:solidFill>
                <a:latin typeface="Times New Roman"/>
                <a:cs typeface="Times New Roman"/>
              </a:rPr>
              <a:t> </a:t>
            </a:r>
            <a:r>
              <a:rPr lang="en-US" sz="2800" spc="-5" dirty="0">
                <a:solidFill>
                  <a:srgbClr val="333333"/>
                </a:solidFill>
                <a:latin typeface="Times New Roman"/>
                <a:cs typeface="Times New Roman"/>
              </a:rPr>
              <a:t>faculty, courses,</a:t>
            </a:r>
            <a:r>
              <a:rPr lang="en-US" sz="2800" dirty="0">
                <a:solidFill>
                  <a:srgbClr val="333333"/>
                </a:solidFill>
                <a:latin typeface="Times New Roman"/>
                <a:cs typeface="Times New Roman"/>
              </a:rPr>
              <a:t> </a:t>
            </a:r>
            <a:r>
              <a:rPr lang="en-US" sz="2800" spc="-10" dirty="0">
                <a:solidFill>
                  <a:srgbClr val="333333"/>
                </a:solidFill>
                <a:latin typeface="Times New Roman"/>
                <a:cs typeface="Times New Roman"/>
              </a:rPr>
              <a:t>research- </a:t>
            </a:r>
            <a:r>
              <a:rPr lang="en-US" sz="2800" spc="-5" dirty="0">
                <a:solidFill>
                  <a:srgbClr val="333333"/>
                </a:solidFill>
                <a:latin typeface="Times New Roman"/>
                <a:cs typeface="Times New Roman"/>
              </a:rPr>
              <a:t> laboratories,</a:t>
            </a:r>
            <a:r>
              <a:rPr lang="en-US" sz="2800" spc="-30" dirty="0">
                <a:solidFill>
                  <a:srgbClr val="333333"/>
                </a:solidFill>
                <a:latin typeface="Times New Roman"/>
                <a:cs typeface="Times New Roman"/>
              </a:rPr>
              <a:t> </a:t>
            </a:r>
            <a:r>
              <a:rPr lang="en-US" sz="2800" spc="-5" dirty="0">
                <a:solidFill>
                  <a:srgbClr val="333333"/>
                </a:solidFill>
                <a:latin typeface="Times New Roman"/>
                <a:cs typeface="Times New Roman"/>
              </a:rPr>
              <a:t>course</a:t>
            </a:r>
            <a:r>
              <a:rPr lang="en-US" sz="2800" spc="-25" dirty="0">
                <a:solidFill>
                  <a:srgbClr val="333333"/>
                </a:solidFill>
                <a:latin typeface="Times New Roman"/>
                <a:cs typeface="Times New Roman"/>
              </a:rPr>
              <a:t> </a:t>
            </a:r>
            <a:r>
              <a:rPr lang="en-US" sz="2800" spc="-5" dirty="0">
                <a:solidFill>
                  <a:srgbClr val="333333"/>
                </a:solidFill>
                <a:latin typeface="Times New Roman"/>
                <a:cs typeface="Times New Roman"/>
              </a:rPr>
              <a:t>registration/enrollment</a:t>
            </a:r>
            <a:r>
              <a:rPr lang="en-US" sz="2800" spc="-25" dirty="0">
                <a:solidFill>
                  <a:srgbClr val="333333"/>
                </a:solidFill>
                <a:latin typeface="Times New Roman"/>
                <a:cs typeface="Times New Roman"/>
              </a:rPr>
              <a:t> </a:t>
            </a:r>
            <a:r>
              <a:rPr lang="en-US" sz="2800" spc="-10" dirty="0">
                <a:solidFill>
                  <a:srgbClr val="333333"/>
                </a:solidFill>
                <a:latin typeface="Times New Roman"/>
                <a:cs typeface="Times New Roman"/>
              </a:rPr>
              <a:t>etc.</a:t>
            </a:r>
            <a:endParaRPr lang="en-US" sz="2800" dirty="0">
              <a:latin typeface="Times New Roman"/>
              <a:cs typeface="Times New Roman"/>
            </a:endParaRPr>
          </a:p>
          <a:p>
            <a:pPr marL="927100" marR="5080" indent="-304800">
              <a:lnSpc>
                <a:spcPct val="100000"/>
              </a:lnSpc>
              <a:spcBef>
                <a:spcPts val="570"/>
              </a:spcBef>
            </a:pPr>
            <a:r>
              <a:rPr lang="en-US" sz="2800" spc="-5" dirty="0">
                <a:solidFill>
                  <a:srgbClr val="333333"/>
                </a:solidFill>
                <a:latin typeface="Times New Roman"/>
                <a:cs typeface="Times New Roman"/>
              </a:rPr>
              <a:t>Reflects the state of affairs of the academic aspects of the </a:t>
            </a:r>
            <a:r>
              <a:rPr lang="en-US" sz="2800" spc="-585" dirty="0">
                <a:solidFill>
                  <a:srgbClr val="333333"/>
                </a:solidFill>
                <a:latin typeface="Times New Roman"/>
                <a:cs typeface="Times New Roman"/>
              </a:rPr>
              <a:t> </a:t>
            </a:r>
            <a:r>
              <a:rPr lang="en-US" sz="2800" spc="-5" dirty="0">
                <a:solidFill>
                  <a:srgbClr val="333333"/>
                </a:solidFill>
                <a:latin typeface="Times New Roman"/>
                <a:cs typeface="Times New Roman"/>
              </a:rPr>
              <a:t>university.</a:t>
            </a:r>
            <a:endParaRPr lang="en-US" sz="2800" dirty="0">
              <a:latin typeface="Times New Roman"/>
              <a:cs typeface="Times New Roman"/>
            </a:endParaRPr>
          </a:p>
          <a:p>
            <a:pPr marL="927100" marR="620395" indent="-304800">
              <a:lnSpc>
                <a:spcPct val="100000"/>
              </a:lnSpc>
              <a:tabLst>
                <a:tab pos="1875155" algn="l"/>
              </a:tabLst>
            </a:pPr>
            <a:r>
              <a:rPr lang="en-US" sz="2800" i="1" spc="-5" dirty="0" err="1">
                <a:solidFill>
                  <a:srgbClr val="333333"/>
                </a:solidFill>
                <a:latin typeface="Times New Roman"/>
                <a:cs typeface="Times New Roman"/>
              </a:rPr>
              <a:t>Purpose</a:t>
            </a:r>
            <a:r>
              <a:rPr lang="en-US" sz="2800" spc="-5" dirty="0" err="1">
                <a:solidFill>
                  <a:srgbClr val="333333"/>
                </a:solidFill>
                <a:latin typeface="Times New Roman"/>
                <a:cs typeface="Times New Roman"/>
              </a:rPr>
              <a:t>:To</a:t>
            </a:r>
            <a:r>
              <a:rPr lang="en-US" sz="2800" spc="-5" dirty="0">
                <a:solidFill>
                  <a:srgbClr val="333333"/>
                </a:solidFill>
                <a:latin typeface="Times New Roman"/>
                <a:cs typeface="Times New Roman"/>
              </a:rPr>
              <a:t> keep an accurate track of the academic </a:t>
            </a:r>
            <a:r>
              <a:rPr lang="en-US" sz="2800" spc="-585" dirty="0">
                <a:solidFill>
                  <a:srgbClr val="333333"/>
                </a:solidFill>
                <a:latin typeface="Times New Roman"/>
                <a:cs typeface="Times New Roman"/>
              </a:rPr>
              <a:t> </a:t>
            </a:r>
            <a:r>
              <a:rPr lang="en-US" sz="2800" spc="-5" dirty="0">
                <a:solidFill>
                  <a:srgbClr val="333333"/>
                </a:solidFill>
                <a:latin typeface="Times New Roman"/>
                <a:cs typeface="Times New Roman"/>
              </a:rPr>
              <a:t>activities</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of the</a:t>
            </a:r>
            <a:r>
              <a:rPr lang="en-US" sz="2800" spc="-10" dirty="0">
                <a:solidFill>
                  <a:srgbClr val="333333"/>
                </a:solidFill>
                <a:latin typeface="Times New Roman"/>
                <a:cs typeface="Times New Roman"/>
              </a:rPr>
              <a:t> </a:t>
            </a:r>
            <a:r>
              <a:rPr lang="en-US" sz="2800" spc="-5" dirty="0">
                <a:solidFill>
                  <a:srgbClr val="333333"/>
                </a:solidFill>
                <a:latin typeface="Times New Roman"/>
                <a:cs typeface="Times New Roman"/>
              </a:rPr>
              <a:t>university.</a:t>
            </a:r>
            <a:endParaRPr lang="en-US" sz="2800" dirty="0">
              <a:latin typeface="Times New Roman"/>
              <a:cs typeface="Times New Roman"/>
            </a:endParaRPr>
          </a:p>
          <a:p>
            <a:endParaRPr lang="en-US" dirty="0"/>
          </a:p>
        </p:txBody>
      </p:sp>
    </p:spTree>
    <p:extLst>
      <p:ext uri="{BB962C8B-B14F-4D97-AF65-F5344CB8AC3E}">
        <p14:creationId xmlns:p14="http://schemas.microsoft.com/office/powerpoint/2010/main" val="2926948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30B53-A2B8-7926-3930-9177D6D669B5}"/>
              </a:ext>
            </a:extLst>
          </p:cNvPr>
          <p:cNvSpPr>
            <a:spLocks noGrp="1"/>
          </p:cNvSpPr>
          <p:nvPr>
            <p:ph type="title"/>
          </p:nvPr>
        </p:nvSpPr>
        <p:spPr/>
        <p:txBody>
          <a:bodyPr/>
          <a:lstStyle/>
          <a:p>
            <a:r>
              <a:rPr lang="en-US" sz="4400" dirty="0">
                <a:effectLst/>
                <a:latin typeface="Times New Roman" panose="02020603050405020304" pitchFamily="18" charset="0"/>
                <a:ea typeface="Times New Roman" panose="02020603050405020304" pitchFamily="18" charset="0"/>
              </a:rPr>
              <a:t>Advantages of Database Systems</a:t>
            </a:r>
            <a:br>
              <a:rPr lang="en-US" sz="4400" dirty="0">
                <a:effectLst/>
                <a:latin typeface="Times New Roman" panose="02020603050405020304" pitchFamily="18" charset="0"/>
                <a:ea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FD6E37FC-A76B-AC84-AD7B-D96275EBF479}"/>
              </a:ext>
            </a:extLst>
          </p:cNvPr>
          <p:cNvPicPr>
            <a:picLocks noGrp="1" noChangeAspect="1"/>
          </p:cNvPicPr>
          <p:nvPr>
            <p:ph idx="1"/>
          </p:nvPr>
        </p:nvPicPr>
        <p:blipFill>
          <a:blip r:embed="rId2"/>
          <a:stretch>
            <a:fillRect/>
          </a:stretch>
        </p:blipFill>
        <p:spPr>
          <a:xfrm>
            <a:off x="957532" y="1069674"/>
            <a:ext cx="8997351" cy="5546785"/>
          </a:xfrm>
        </p:spPr>
      </p:pic>
    </p:spTree>
    <p:extLst>
      <p:ext uri="{BB962C8B-B14F-4D97-AF65-F5344CB8AC3E}">
        <p14:creationId xmlns:p14="http://schemas.microsoft.com/office/powerpoint/2010/main" val="110519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16AE7-E1F0-18E0-E58A-6200E9AA9D80}"/>
              </a:ext>
            </a:extLst>
          </p:cNvPr>
          <p:cNvSpPr>
            <a:spLocks noGrp="1"/>
          </p:cNvSpPr>
          <p:nvPr>
            <p:ph type="title"/>
          </p:nvPr>
        </p:nvSpPr>
        <p:spPr>
          <a:xfrm>
            <a:off x="838199" y="1078787"/>
            <a:ext cx="11275031" cy="611901"/>
          </a:xfrm>
        </p:spPr>
        <p:txBody>
          <a:bodyPr>
            <a:normAutofit fontScale="90000"/>
          </a:bodyPr>
          <a:lstStyle/>
          <a:p>
            <a:r>
              <a:rPr lang="en-US" sz="4400" kern="100" dirty="0">
                <a:effectLst/>
                <a:latin typeface="Calibri" panose="020F0502020204030204" pitchFamily="34" charset="0"/>
                <a:ea typeface="Calibri" panose="020F0502020204030204" pitchFamily="34" charset="0"/>
                <a:cs typeface="Times New Roman" panose="02020603050405020304" pitchFamily="18" charset="0"/>
              </a:rPr>
              <a:t>Advantages of Database Management System over Traditional File System</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4E50A8B-BE1C-7C5A-A7D9-0C6CF203FB1F}"/>
              </a:ext>
            </a:extLst>
          </p:cNvPr>
          <p:cNvSpPr>
            <a:spLocks noGrp="1"/>
          </p:cNvSpPr>
          <p:nvPr>
            <p:ph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Data Integrity and Security: DBMS provides a centralized approach to data management that ensures data integrity and security. DBMS allows defining constraints and rules to ensure that data is consistent and accurate.</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Reduced Data Redundancy: DBMS eliminates data redundancy by storing data in a structured way. It allows sharing data across different applications and users, reducing the need for duplicating data.</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Improved Data Consistency: DBMS ensures data consistency by enforcing data validation rules and constraints. This ensures that data is accurate and consistent across different applications and users.</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Improved Data Access and Availability: DBMS provides efficient data access and retrieval mechanisms that enable quick and easy data access. It allows multiple users to access the data simultaneously, ensuring data availability.</a:t>
            </a:r>
          </a:p>
          <a:p>
            <a:endParaRPr lang="en-US" dirty="0"/>
          </a:p>
        </p:txBody>
      </p:sp>
    </p:spTree>
    <p:extLst>
      <p:ext uri="{BB962C8B-B14F-4D97-AF65-F5344CB8AC3E}">
        <p14:creationId xmlns:p14="http://schemas.microsoft.com/office/powerpoint/2010/main" val="2154800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BE7E6-4474-3C7B-4721-02461A4E4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5B151-D768-36F4-511E-1CD417C24BC3}"/>
              </a:ext>
            </a:extLst>
          </p:cNvPr>
          <p:cNvSpPr>
            <a:spLocks noGrp="1"/>
          </p:cNvSpPr>
          <p:nvPr>
            <p:ph type="title"/>
          </p:nvPr>
        </p:nvSpPr>
        <p:spPr>
          <a:xfrm>
            <a:off x="838199" y="1078787"/>
            <a:ext cx="11275031" cy="611901"/>
          </a:xfrm>
        </p:spPr>
        <p:txBody>
          <a:bodyPr>
            <a:normAutofit fontScale="90000"/>
          </a:bodyPr>
          <a:lstStyle/>
          <a:p>
            <a:r>
              <a:rPr lang="en-US" sz="4400" kern="100" dirty="0">
                <a:effectLst/>
                <a:latin typeface="Calibri" panose="020F0502020204030204" pitchFamily="34" charset="0"/>
                <a:ea typeface="Calibri" panose="020F0502020204030204" pitchFamily="34" charset="0"/>
                <a:cs typeface="Times New Roman" panose="02020603050405020304" pitchFamily="18" charset="0"/>
              </a:rPr>
              <a:t>Advantages of Database Management System over Traditional File System</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BF2A89A-9477-E068-9961-B17DA8460B57}"/>
              </a:ext>
            </a:extLst>
          </p:cNvPr>
          <p:cNvSpPr>
            <a:spLocks noGrp="1"/>
          </p:cNvSpPr>
          <p:nvPr>
            <p:ph idx="1"/>
          </p:nvPr>
        </p:nvSpPr>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Data Integrity and Security: DBMS provides a centralized approach to data management that ensures data integrity and security. DBMS allows defining constraints and rules to ensure that data is consistent and accurate.</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Reduced Data Redundancy: DBMS eliminates data redundancy by storing data in a structured way. It allows sharing data across different applications and users, reducing the need for duplicating data.</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Improved Data Consistency: DBMS ensures data consistency by enforcing data validation rules and constraints. This ensures that data is accurate and consistent across different applications and users.</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Improved Data Access and Availability: DBMS provides efficient data access and retrieval mechanisms that enable quick and easy data access. It allows multiple users to access the data simultaneously, ensuring data availability.</a:t>
            </a:r>
          </a:p>
          <a:p>
            <a:endParaRPr lang="en-US" dirty="0"/>
          </a:p>
        </p:txBody>
      </p:sp>
    </p:spTree>
    <p:extLst>
      <p:ext uri="{BB962C8B-B14F-4D97-AF65-F5344CB8AC3E}">
        <p14:creationId xmlns:p14="http://schemas.microsoft.com/office/powerpoint/2010/main" val="54967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D1B7-061F-008A-9DBE-4D9D5CE9A27D}"/>
              </a:ext>
            </a:extLst>
          </p:cNvPr>
          <p:cNvSpPr>
            <a:spLocks noGrp="1"/>
          </p:cNvSpPr>
          <p:nvPr>
            <p:ph type="title"/>
          </p:nvPr>
        </p:nvSpPr>
        <p:spPr>
          <a:xfrm>
            <a:off x="838200" y="94891"/>
            <a:ext cx="10515600" cy="1104181"/>
          </a:xfrm>
        </p:spPr>
        <p:txBody>
          <a:bodyPr>
            <a:normAutofit fontScale="90000"/>
          </a:bodyPr>
          <a:lstStyle/>
          <a:p>
            <a:r>
              <a:rPr lang="en-US" altLang="en-US" sz="4400" b="1" dirty="0">
                <a:solidFill>
                  <a:srgbClr val="7030A0"/>
                </a:solidFill>
                <a:latin typeface="Times New Roman" panose="02020603050405020304" pitchFamily="18" charset="0"/>
                <a:cs typeface="Times New Roman" panose="02020603050405020304" pitchFamily="18" charset="0"/>
              </a:rPr>
              <a:t>Drawbacks of using file systems to store data</a:t>
            </a:r>
            <a:br>
              <a:rPr lang="en-US" altLang="en-US" sz="4400" b="1" dirty="0">
                <a:solidFill>
                  <a:srgbClr val="7030A0"/>
                </a:solidFill>
                <a:latin typeface="Times New Roman" panose="02020603050405020304" pitchFamily="18" charset="0"/>
                <a:cs typeface="Times New Roman" panose="02020603050405020304" pitchFamily="18" charset="0"/>
              </a:rPr>
            </a:br>
            <a:endParaRPr lang="en-US" dirty="0"/>
          </a:p>
        </p:txBody>
      </p:sp>
      <p:pic>
        <p:nvPicPr>
          <p:cNvPr id="7" name="Content Placeholder 6">
            <a:extLst>
              <a:ext uri="{FF2B5EF4-FFF2-40B4-BE49-F238E27FC236}">
                <a16:creationId xmlns:a16="http://schemas.microsoft.com/office/drawing/2014/main" id="{7B3AD995-5EE5-CF8C-6D79-E48E5FFABBFD}"/>
              </a:ext>
            </a:extLst>
          </p:cNvPr>
          <p:cNvPicPr>
            <a:picLocks noGrp="1" noChangeAspect="1"/>
          </p:cNvPicPr>
          <p:nvPr>
            <p:ph idx="1"/>
          </p:nvPr>
        </p:nvPicPr>
        <p:blipFill>
          <a:blip r:embed="rId2"/>
          <a:stretch>
            <a:fillRect/>
          </a:stretch>
        </p:blipFill>
        <p:spPr>
          <a:xfrm>
            <a:off x="631371" y="838200"/>
            <a:ext cx="10167258" cy="6019800"/>
          </a:xfrm>
        </p:spPr>
      </p:pic>
    </p:spTree>
    <p:extLst>
      <p:ext uri="{BB962C8B-B14F-4D97-AF65-F5344CB8AC3E}">
        <p14:creationId xmlns:p14="http://schemas.microsoft.com/office/powerpoint/2010/main" val="103777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838200" y="365125"/>
            <a:ext cx="978528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GB" sz="3600" b="1" dirty="0">
                <a:solidFill>
                  <a:srgbClr val="C00000"/>
                </a:solidFill>
                <a:latin typeface="Calibri" panose="020F0502020204030204"/>
                <a:ea typeface="Calibri" panose="020F0502020204030204"/>
                <a:cs typeface="Calibri" panose="020F0502020204030204"/>
                <a:sym typeface="Calibri" panose="020F0502020204030204"/>
              </a:rPr>
              <a:t>Architecture of  Database Management System</a:t>
            </a:r>
            <a:r>
              <a:rPr lang="en-US" sz="3600" b="1" dirty="0">
                <a:solidFill>
                  <a:srgbClr val="C00000"/>
                </a:solidFill>
                <a:latin typeface="Calibri" panose="020F0502020204030204"/>
                <a:ea typeface="Calibri" panose="020F0502020204030204"/>
                <a:cs typeface="Calibri" panose="020F0502020204030204"/>
                <a:sym typeface="Calibri" panose="020F0502020204030204"/>
              </a:rPr>
              <a:t> </a:t>
            </a:r>
            <a:r>
              <a:rPr lang="en-US" sz="3600" b="1" dirty="0">
                <a:solidFill>
                  <a:srgbClr val="C00000"/>
                </a:solidFill>
              </a:rPr>
              <a:t>:</a:t>
            </a:r>
            <a:endParaRPr lang="en-US" altLang="en-US" sz="3600" b="1" dirty="0">
              <a:solidFill>
                <a:srgbClr val="C00000"/>
              </a:solidFill>
              <a:effectLst/>
            </a:endParaRPr>
          </a:p>
        </p:txBody>
      </p:sp>
      <p:sp>
        <p:nvSpPr>
          <p:cNvPr id="49154" name="Rectangle 3"/>
          <p:cNvSpPr>
            <a:spLocks noGrp="1" noChangeArrowheads="1"/>
          </p:cNvSpPr>
          <p:nvPr>
            <p:ph idx="1"/>
          </p:nvPr>
        </p:nvSpPr>
        <p:spPr>
          <a:xfrm>
            <a:off x="1024468" y="1690688"/>
            <a:ext cx="10066701" cy="4367849"/>
          </a:xfrm>
        </p:spPr>
        <p:txBody>
          <a:bodyPr/>
          <a:lstStyle/>
          <a:p>
            <a:pPr marL="0" algn="just">
              <a:spcBef>
                <a:spcPts val="0"/>
              </a:spcBef>
              <a:spcAft>
                <a:spcPts val="0"/>
              </a:spcAft>
              <a:buSzPts val="2100"/>
              <a:buNone/>
            </a:pPr>
            <a:r>
              <a:rPr lang="en-US" altLang="en-US" b="1" dirty="0">
                <a:solidFill>
                  <a:srgbClr val="C00000"/>
                </a:solidFill>
              </a:rPr>
              <a:t>Database Engine </a:t>
            </a:r>
          </a:p>
          <a:p>
            <a:pPr marL="0" algn="just">
              <a:spcBef>
                <a:spcPts val="0"/>
              </a:spcBef>
              <a:spcAft>
                <a:spcPts val="0"/>
              </a:spcAft>
              <a:buSzPts val="2100"/>
              <a:buFont typeface="Arial" panose="020B0604020202020204"/>
            </a:pPr>
            <a:r>
              <a:rPr lang="en-US" altLang="en-US" dirty="0">
                <a:solidFill>
                  <a:srgbClr val="000000"/>
                </a:solidFill>
                <a:latin typeface="Calibri" panose="020F0502020204030204"/>
                <a:ea typeface="Calibri" panose="020F0502020204030204"/>
                <a:cs typeface="Calibri" panose="020F0502020204030204"/>
                <a:sym typeface="Calibri" panose="020F0502020204030204"/>
              </a:rPr>
              <a:t>A database system is partitioned into modules that deal with each of the responsibilities of the overall system.  </a:t>
            </a:r>
          </a:p>
          <a:p>
            <a:pPr marL="0" algn="just">
              <a:spcBef>
                <a:spcPts val="0"/>
              </a:spcBef>
              <a:spcAft>
                <a:spcPts val="0"/>
              </a:spcAft>
              <a:buSzPts val="2100"/>
              <a:buFont typeface="Arial" panose="020B0604020202020204"/>
            </a:pPr>
            <a:r>
              <a:rPr lang="en-US" altLang="en-US" dirty="0">
                <a:solidFill>
                  <a:srgbClr val="000000"/>
                </a:solidFill>
                <a:latin typeface="Calibri" panose="020F0502020204030204"/>
                <a:ea typeface="Calibri" panose="020F0502020204030204"/>
                <a:cs typeface="Calibri" panose="020F0502020204030204"/>
                <a:sym typeface="Calibri" panose="020F0502020204030204"/>
              </a:rPr>
              <a:t>The functional components of a database system can be divided into</a:t>
            </a:r>
          </a:p>
          <a:p>
            <a:pPr marL="0" algn="just">
              <a:spcBef>
                <a:spcPts val="0"/>
              </a:spcBef>
              <a:spcAft>
                <a:spcPts val="0"/>
              </a:spcAft>
              <a:buSzPts val="2100"/>
              <a:buFont typeface="Arial" panose="020B0604020202020204"/>
            </a:pPr>
            <a:r>
              <a:rPr lang="en-US" altLang="en-US" b="1" dirty="0">
                <a:solidFill>
                  <a:srgbClr val="000000"/>
                </a:solidFill>
                <a:latin typeface="Calibri" panose="020F0502020204030204"/>
                <a:ea typeface="Calibri" panose="020F0502020204030204"/>
                <a:cs typeface="Calibri" panose="020F0502020204030204"/>
                <a:sym typeface="Calibri" panose="020F0502020204030204"/>
              </a:rPr>
              <a:t>The Disk Storage,</a:t>
            </a:r>
          </a:p>
          <a:p>
            <a:pPr marL="0" algn="just">
              <a:spcBef>
                <a:spcPts val="0"/>
              </a:spcBef>
              <a:spcAft>
                <a:spcPts val="0"/>
              </a:spcAft>
              <a:buSzPts val="2100"/>
              <a:buFont typeface="Arial" panose="020B0604020202020204"/>
            </a:pPr>
            <a:r>
              <a:rPr lang="en-US" altLang="en-US" b="1" dirty="0">
                <a:solidFill>
                  <a:srgbClr val="000000"/>
                </a:solidFill>
                <a:latin typeface="Calibri" panose="020F0502020204030204"/>
                <a:ea typeface="Calibri" panose="020F0502020204030204"/>
                <a:cs typeface="Calibri" panose="020F0502020204030204"/>
                <a:sym typeface="Calibri" panose="020F0502020204030204"/>
              </a:rPr>
              <a:t>The storage manager,</a:t>
            </a:r>
          </a:p>
          <a:p>
            <a:pPr marL="0" algn="just">
              <a:spcBef>
                <a:spcPts val="0"/>
              </a:spcBef>
              <a:spcAft>
                <a:spcPts val="0"/>
              </a:spcAft>
              <a:buSzPts val="2100"/>
              <a:buFont typeface="Arial" panose="020B0604020202020204"/>
            </a:pPr>
            <a:r>
              <a:rPr lang="en-US" altLang="en-US" b="1" dirty="0">
                <a:solidFill>
                  <a:srgbClr val="000000"/>
                </a:solidFill>
                <a:latin typeface="Calibri" panose="020F0502020204030204"/>
                <a:ea typeface="Calibri" panose="020F0502020204030204"/>
                <a:cs typeface="Calibri" panose="020F0502020204030204"/>
                <a:sym typeface="Calibri" panose="020F0502020204030204"/>
              </a:rPr>
              <a:t>The  query processor component, </a:t>
            </a:r>
          </a:p>
          <a:p>
            <a:pPr marL="0" algn="just">
              <a:spcBef>
                <a:spcPts val="0"/>
              </a:spcBef>
              <a:spcAft>
                <a:spcPts val="0"/>
              </a:spcAft>
              <a:buSzPts val="2100"/>
              <a:buFont typeface="Arial" panose="020B0604020202020204"/>
            </a:pPr>
            <a:r>
              <a:rPr lang="en-US" altLang="en-US" b="1" dirty="0">
                <a:solidFill>
                  <a:srgbClr val="000000"/>
                </a:solidFill>
                <a:latin typeface="Calibri" panose="020F0502020204030204"/>
                <a:ea typeface="Calibri" panose="020F0502020204030204"/>
                <a:cs typeface="Calibri" panose="020F0502020204030204"/>
                <a:sym typeface="Calibri" panose="020F0502020204030204"/>
              </a:rPr>
              <a:t>The Users and its interaction.</a:t>
            </a:r>
          </a:p>
          <a:p>
            <a:endParaRPr lang="en-US" altLang="en-US" sz="17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dministrator\Downloads\Structure of DBMS.jpg"/>
          <p:cNvPicPr>
            <a:picLocks noGrp="1" noChangeAspect="1" noChangeArrowheads="1"/>
          </p:cNvPicPr>
          <p:nvPr>
            <p:ph idx="1"/>
          </p:nvPr>
        </p:nvPicPr>
        <p:blipFill>
          <a:blip r:embed="rId2"/>
          <a:srcRect/>
          <a:stretch>
            <a:fillRect/>
          </a:stretch>
        </p:blipFill>
        <p:spPr bwMode="auto">
          <a:xfrm>
            <a:off x="5141342" y="1130061"/>
            <a:ext cx="6288658" cy="5460521"/>
          </a:xfrm>
          <a:prstGeom prst="rect">
            <a:avLst/>
          </a:prstGeom>
          <a:noFill/>
        </p:spPr>
      </p:pic>
      <p:sp>
        <p:nvSpPr>
          <p:cNvPr id="5" name="Rectangle 4"/>
          <p:cNvSpPr/>
          <p:nvPr/>
        </p:nvSpPr>
        <p:spPr>
          <a:xfrm>
            <a:off x="369372" y="490249"/>
            <a:ext cx="2199657" cy="1815882"/>
          </a:xfrm>
          <a:prstGeom prst="rect">
            <a:avLst/>
          </a:prstGeom>
        </p:spPr>
        <p:txBody>
          <a:bodyPr wrap="square">
            <a:spAutoFit/>
          </a:bodyPr>
          <a:lstStyle/>
          <a:p>
            <a:r>
              <a:rPr lang="en-GB" sz="2800" b="1" dirty="0">
                <a:solidFill>
                  <a:srgbClr val="C00000"/>
                </a:solidFill>
                <a:latin typeface="Calibri" panose="020F0502020204030204"/>
                <a:ea typeface="Calibri" panose="020F0502020204030204"/>
                <a:cs typeface="Calibri" panose="020F0502020204030204"/>
                <a:sym typeface="Calibri" panose="020F0502020204030204"/>
              </a:rPr>
              <a:t>Architecture of  Database Management System</a:t>
            </a:r>
            <a:endParaRPr lang="en-US" sz="28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The disk Storage</a:t>
            </a:r>
          </a:p>
        </p:txBody>
      </p:sp>
      <p:sp>
        <p:nvSpPr>
          <p:cNvPr id="3" name="Content Placeholder 2"/>
          <p:cNvSpPr>
            <a:spLocks noGrp="1"/>
          </p:cNvSpPr>
          <p:nvPr>
            <p:ph idx="1"/>
          </p:nvPr>
        </p:nvSpPr>
        <p:spPr/>
        <p:txBody>
          <a:bodyPr/>
          <a:lstStyle/>
          <a:p>
            <a:pPr algn="l">
              <a:lnSpc>
                <a:spcPct val="150000"/>
              </a:lnSpc>
              <a:buClrTx/>
              <a:buSzTx/>
              <a:buFontTx/>
            </a:pPr>
            <a:r>
              <a:rPr lang="en-US" altLang="en-US" sz="2400" dirty="0"/>
              <a:t>The disk storage or physical storage is use for storing the data. In many big enterprises,the database range in size from hundred of gigabytes to terabytes of data. The main memory is not so largeer that it holds that much information and data. so we needed a larger disk storage for the database.</a:t>
            </a:r>
          </a:p>
          <a:p>
            <a:pPr algn="l">
              <a:lnSpc>
                <a:spcPct val="150000"/>
              </a:lnSpc>
              <a:buClrTx/>
              <a:buSzTx/>
              <a:buFontTx/>
            </a:pPr>
            <a:r>
              <a:rPr lang="en-US" altLang="en-US" sz="2400" dirty="0"/>
              <a:t>It contains DATA , Statistical Dta,Data Dictionary and Indices.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2800">
                <a:sym typeface="+mn-ea"/>
              </a:rPr>
              <a:t>The disk Storage</a:t>
            </a:r>
            <a:r>
              <a:rPr lang="en-US" altLang="en-US" sz="2800" dirty="0">
                <a:effectLst/>
              </a:rPr>
              <a:t>(Cont.)</a:t>
            </a:r>
          </a:p>
        </p:txBody>
      </p:sp>
      <p:sp>
        <p:nvSpPr>
          <p:cNvPr id="49154" name="Rectangle 3"/>
          <p:cNvSpPr>
            <a:spLocks noGrp="1" noChangeArrowheads="1"/>
          </p:cNvSpPr>
          <p:nvPr>
            <p:ph idx="1"/>
          </p:nvPr>
        </p:nvSpPr>
        <p:spPr>
          <a:xfrm>
            <a:off x="1024467" y="1082239"/>
            <a:ext cx="10244256" cy="3270306"/>
          </a:xfrm>
        </p:spPr>
        <p:txBody>
          <a:bodyPr>
            <a:normAutofit fontScale="85000" lnSpcReduction="10000"/>
          </a:bodyPr>
          <a:lstStyle/>
          <a:p>
            <a:pPr>
              <a:lnSpc>
                <a:spcPct val="150000"/>
              </a:lnSpc>
            </a:pPr>
            <a:r>
              <a:rPr lang="en-US" altLang="en-US" sz="2400" dirty="0"/>
              <a:t>The storage manager implements several data structures as part of the physical system implementation:</a:t>
            </a:r>
          </a:p>
          <a:p>
            <a:pPr lvl="1">
              <a:lnSpc>
                <a:spcPct val="150000"/>
              </a:lnSpc>
            </a:pPr>
            <a:r>
              <a:rPr lang="en-US" altLang="en-US" sz="2400" dirty="0"/>
              <a:t>Data files -- store the database itself</a:t>
            </a:r>
          </a:p>
          <a:p>
            <a:pPr lvl="1">
              <a:lnSpc>
                <a:spcPct val="150000"/>
              </a:lnSpc>
            </a:pPr>
            <a:r>
              <a:rPr lang="en-US" altLang="en-US" sz="2400" dirty="0"/>
              <a:t>Data dictionary --  stores metadata about the structure of the database, in particular the schema of the database.</a:t>
            </a:r>
          </a:p>
          <a:p>
            <a:pPr lvl="1">
              <a:lnSpc>
                <a:spcPct val="150000"/>
              </a:lnSpc>
            </a:pPr>
            <a:r>
              <a:rPr lang="en-US" altLang="en-US" sz="2400" dirty="0"/>
              <a:t>Indices --  can provide fast access to data items.  A database index provides pointers to those data items that hold a particular value.  </a:t>
            </a:r>
          </a:p>
          <a:p>
            <a:endParaRPr lang="en-US" altLang="en-US" sz="1700" dirty="0"/>
          </a:p>
          <a:p>
            <a:pPr lvl="1">
              <a:buFont typeface="Monotype Sorts" charset="2"/>
              <a:buNone/>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2. Storage Manager</a:t>
            </a:r>
          </a:p>
        </p:txBody>
      </p:sp>
      <p:sp>
        <p:nvSpPr>
          <p:cNvPr id="49154" name="Rectangle 3"/>
          <p:cNvSpPr>
            <a:spLocks noGrp="1" noChangeArrowheads="1"/>
          </p:cNvSpPr>
          <p:nvPr>
            <p:ph idx="1"/>
          </p:nvPr>
        </p:nvSpPr>
        <p:spPr>
          <a:xfrm>
            <a:off x="1024466" y="1440611"/>
            <a:ext cx="10185071" cy="4509319"/>
          </a:xfrm>
        </p:spPr>
        <p:txBody>
          <a:bodyPr/>
          <a:lstStyle/>
          <a:p>
            <a:r>
              <a:rPr lang="en-US" altLang="en-US" sz="2400" dirty="0"/>
              <a:t>A program module that provides the interface between the low-level data stored in the database and the application programs and queries submitted to the system.</a:t>
            </a:r>
          </a:p>
          <a:p>
            <a:r>
              <a:rPr lang="en-US" altLang="en-US" sz="2400" dirty="0"/>
              <a:t>The storage manager is responsible to the following tasks: </a:t>
            </a:r>
          </a:p>
          <a:p>
            <a:pPr lvl="1"/>
            <a:r>
              <a:rPr lang="en-US" altLang="en-US" sz="2400" dirty="0"/>
              <a:t>Interaction with the OS file manager </a:t>
            </a:r>
          </a:p>
          <a:p>
            <a:pPr lvl="1"/>
            <a:r>
              <a:rPr lang="en-US" altLang="en-US" sz="2400" dirty="0"/>
              <a:t>Efficient storing, retrieving and updating of data</a:t>
            </a:r>
          </a:p>
          <a:p>
            <a:r>
              <a:rPr lang="en-US" altLang="en-US" sz="2400" dirty="0"/>
              <a:t>The storage manager components include:</a:t>
            </a:r>
          </a:p>
          <a:p>
            <a:pPr marL="0" lvl="1" indent="0">
              <a:buNone/>
            </a:pPr>
            <a:r>
              <a:rPr lang="en-US" altLang="en-US" sz="2400" dirty="0">
                <a:sym typeface="+mn-ea"/>
              </a:rPr>
              <a:t>       _Buffer manager</a:t>
            </a:r>
            <a:endParaRPr lang="en-US" altLang="en-US" sz="2400" dirty="0"/>
          </a:p>
          <a:p>
            <a:pPr lvl="1"/>
            <a:r>
              <a:rPr lang="en-US" altLang="en-US" sz="2400" dirty="0"/>
              <a:t>File manager</a:t>
            </a:r>
          </a:p>
          <a:p>
            <a:pPr lvl="1"/>
            <a:r>
              <a:rPr lang="en-US" altLang="en-US" sz="2400" dirty="0">
                <a:sym typeface="+mn-ea"/>
              </a:rPr>
              <a:t>Authorization and integrity manager</a:t>
            </a:r>
            <a:endParaRPr lang="en-US" altLang="en-US" sz="2400" dirty="0"/>
          </a:p>
          <a:p>
            <a:pPr lvl="1"/>
            <a:r>
              <a:rPr lang="en-US" altLang="en-US" sz="2400" dirty="0">
                <a:sym typeface="+mn-ea"/>
              </a:rPr>
              <a:t>Transaction manager</a:t>
            </a:r>
            <a:endParaRPr lang="en-US" altLang="en-US" sz="2400" dirty="0"/>
          </a:p>
          <a:p>
            <a:pPr lvl="1"/>
            <a:endParaRPr lang="en-US" altLang="en-US" sz="2400" dirty="0"/>
          </a:p>
          <a:p>
            <a:pPr lvl="1">
              <a:buFont typeface="Monotype Sorts" charset="2"/>
              <a:buNone/>
            </a:pP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3. Query Processor</a:t>
            </a:r>
          </a:p>
        </p:txBody>
      </p:sp>
      <p:sp>
        <p:nvSpPr>
          <p:cNvPr id="53250" name="Rectangle 3"/>
          <p:cNvSpPr>
            <a:spLocks noGrp="1" noChangeArrowheads="1"/>
          </p:cNvSpPr>
          <p:nvPr>
            <p:ph idx="1"/>
          </p:nvPr>
        </p:nvSpPr>
        <p:spPr>
          <a:xfrm>
            <a:off x="1024466" y="1932317"/>
            <a:ext cx="10137724" cy="4114509"/>
          </a:xfrm>
        </p:spPr>
        <p:txBody>
          <a:bodyPr/>
          <a:lstStyle/>
          <a:p>
            <a:r>
              <a:rPr lang="en-US" altLang="en-US" sz="2400" dirty="0"/>
              <a:t>The query processor components include:</a:t>
            </a:r>
          </a:p>
          <a:p>
            <a:pPr lvl="1"/>
            <a:r>
              <a:rPr lang="en-US" altLang="en-US" sz="2400" b="1" dirty="0"/>
              <a:t>DDL  interpreter</a:t>
            </a:r>
            <a:r>
              <a:rPr lang="en-US" altLang="en-US" sz="2400" dirty="0"/>
              <a:t> --  interprets DDL statements and records the definitions in the data dictionary.</a:t>
            </a:r>
          </a:p>
          <a:p>
            <a:pPr lvl="1"/>
            <a:r>
              <a:rPr lang="en-US" altLang="en-US" sz="2400" b="1" dirty="0"/>
              <a:t>DML compiler </a:t>
            </a:r>
            <a:r>
              <a:rPr lang="en-US" altLang="en-US" sz="2400" dirty="0"/>
              <a:t>-- translates DML statements in a query language into an evaluation plan consisting of low-level instructions that the query evaluation engine understands.</a:t>
            </a:r>
          </a:p>
          <a:p>
            <a:pPr lvl="2"/>
            <a:r>
              <a:rPr lang="en-US" altLang="en-US" dirty="0"/>
              <a:t>The DML compiler performs query optimization; that is, it picks the lowest cost evaluation plan from among the various alternatives.</a:t>
            </a:r>
          </a:p>
          <a:p>
            <a:pPr lvl="1"/>
            <a:r>
              <a:rPr lang="en-US" altLang="en-US" sz="2400" b="1" dirty="0"/>
              <a:t>Query evaluation engine</a:t>
            </a:r>
            <a:r>
              <a:rPr lang="en-US" altLang="en-US" sz="2400" dirty="0"/>
              <a:t> -- executes low-level instructions generated by the DML compiler.</a:t>
            </a:r>
          </a:p>
          <a:p>
            <a:pPr lvl="1"/>
            <a:endParaRPr lang="en-US" alt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Query Processing</a:t>
            </a:r>
          </a:p>
        </p:txBody>
      </p:sp>
      <p:sp>
        <p:nvSpPr>
          <p:cNvPr id="51202" name="Rectangle 3"/>
          <p:cNvSpPr>
            <a:spLocks noGrp="1" noChangeArrowheads="1"/>
          </p:cNvSpPr>
          <p:nvPr>
            <p:ph idx="1"/>
          </p:nvPr>
        </p:nvSpPr>
        <p:spPr>
          <a:xfrm>
            <a:off x="1024468" y="1380226"/>
            <a:ext cx="4323910" cy="1325563"/>
          </a:xfrm>
        </p:spPr>
        <p:txBody>
          <a:bodyPr>
            <a:normAutofit/>
          </a:bodyPr>
          <a:lstStyle/>
          <a:p>
            <a:pPr>
              <a:buFont typeface="Monotype Sorts" charset="2"/>
              <a:buNone/>
            </a:pPr>
            <a:r>
              <a:rPr lang="en-US" altLang="en-US" sz="1700" dirty="0"/>
              <a:t>1.	Parsing and translation</a:t>
            </a:r>
          </a:p>
          <a:p>
            <a:pPr>
              <a:buFont typeface="Monotype Sorts" charset="2"/>
              <a:buNone/>
            </a:pPr>
            <a:r>
              <a:rPr lang="en-US" altLang="en-US" sz="1700" dirty="0"/>
              <a:t>2.	Optimization</a:t>
            </a:r>
          </a:p>
          <a:p>
            <a:pPr>
              <a:buFont typeface="Monotype Sorts" charset="2"/>
              <a:buNone/>
            </a:pPr>
            <a:r>
              <a:rPr lang="en-US" altLang="en-US" sz="1700" dirty="0"/>
              <a:t>3.	Evaluation</a:t>
            </a:r>
          </a:p>
        </p:txBody>
      </p:sp>
      <p:pic>
        <p:nvPicPr>
          <p:cNvPr id="5120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56" y="2945948"/>
            <a:ext cx="6928238" cy="343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152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Transaction Management</a:t>
            </a:r>
            <a:r>
              <a:rPr lang="en-US" altLang="en-US" dirty="0">
                <a:effectLst/>
              </a:rPr>
              <a:t>	</a:t>
            </a:r>
          </a:p>
        </p:txBody>
      </p:sp>
      <p:sp>
        <p:nvSpPr>
          <p:cNvPr id="78851" name="Rectangle 3"/>
          <p:cNvSpPr>
            <a:spLocks noGrp="1" noChangeArrowheads="1"/>
          </p:cNvSpPr>
          <p:nvPr>
            <p:ph idx="1"/>
          </p:nvPr>
        </p:nvSpPr>
        <p:spPr>
          <a:xfrm>
            <a:off x="1024467" y="1621765"/>
            <a:ext cx="10090375" cy="3976778"/>
          </a:xfrm>
        </p:spPr>
        <p:txBody>
          <a:bodyPr>
            <a:normAutofit/>
          </a:bodyPr>
          <a:lstStyle/>
          <a:p>
            <a:pPr>
              <a:lnSpc>
                <a:spcPct val="150000"/>
              </a:lnSpc>
            </a:pPr>
            <a:r>
              <a:rPr lang="en-US" altLang="en-US" sz="2000" dirty="0">
                <a:sym typeface="Symbol" panose="05050102010706020507" pitchFamily="18" charset="2"/>
              </a:rPr>
              <a:t>A</a:t>
            </a:r>
            <a:r>
              <a:rPr lang="en-US" altLang="en-US" sz="2000" b="1" dirty="0">
                <a:solidFill>
                  <a:srgbClr val="002060"/>
                </a:solidFill>
                <a:sym typeface="Symbol" panose="05050102010706020507" pitchFamily="18" charset="2"/>
              </a:rPr>
              <a:t> transaction </a:t>
            </a:r>
            <a:r>
              <a:rPr lang="en-US" altLang="en-US" sz="2000" dirty="0"/>
              <a:t>is a collection of operations that performs a single logical function in a database application</a:t>
            </a:r>
          </a:p>
          <a:p>
            <a:pPr>
              <a:lnSpc>
                <a:spcPct val="150000"/>
              </a:lnSpc>
            </a:pPr>
            <a:r>
              <a:rPr lang="en-US" altLang="en-US" sz="2000" b="1" dirty="0">
                <a:solidFill>
                  <a:srgbClr val="002060"/>
                </a:solidFill>
                <a:sym typeface="Symbol" panose="05050102010706020507" pitchFamily="18" charset="2"/>
              </a:rPr>
              <a:t>Transaction-management component </a:t>
            </a:r>
            <a:r>
              <a:rPr lang="en-US" altLang="en-US" sz="2000" dirty="0"/>
              <a:t>ensures that the database remains in a consistent (correct) state despite system failures (e.g., power failures and operating system crashes) and transaction failures.</a:t>
            </a:r>
          </a:p>
          <a:p>
            <a:pPr>
              <a:lnSpc>
                <a:spcPct val="150000"/>
              </a:lnSpc>
            </a:pPr>
            <a:r>
              <a:rPr lang="en-US" altLang="en-US" sz="2000" b="1" dirty="0">
                <a:solidFill>
                  <a:srgbClr val="002060"/>
                </a:solidFill>
                <a:sym typeface="Symbol" panose="05050102010706020507" pitchFamily="18" charset="2"/>
              </a:rPr>
              <a:t>Concurrency-control manager </a:t>
            </a:r>
            <a:r>
              <a:rPr lang="en-US" altLang="en-US" sz="2000" dirty="0"/>
              <a:t>controls the interaction among the concurrent transactions, to ensure the consistency of the database.</a:t>
            </a:r>
            <a:r>
              <a:rPr lang="en-US" altLang="en-US" sz="2000" b="1" dirty="0">
                <a:solidFill>
                  <a:schemeClr val="tx2"/>
                </a:solidFill>
              </a:rPr>
              <a:t> </a:t>
            </a:r>
          </a:p>
          <a:p>
            <a:endParaRPr lang="en-US" altLang="en-US" b="1" dirty="0">
              <a:solidFill>
                <a:schemeClr val="tx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Transaction Management</a:t>
            </a:r>
            <a:r>
              <a:rPr lang="en-US" altLang="en-US" dirty="0">
                <a:effectLst/>
              </a:rPr>
              <a:t>	</a:t>
            </a:r>
          </a:p>
        </p:txBody>
      </p:sp>
      <p:sp>
        <p:nvSpPr>
          <p:cNvPr id="78851" name="Rectangle 3"/>
          <p:cNvSpPr>
            <a:spLocks noGrp="1" noChangeArrowheads="1"/>
          </p:cNvSpPr>
          <p:nvPr>
            <p:ph idx="1"/>
          </p:nvPr>
        </p:nvSpPr>
        <p:spPr>
          <a:xfrm>
            <a:off x="1024467" y="1759789"/>
            <a:ext cx="10090375" cy="4123426"/>
          </a:xfrm>
        </p:spPr>
        <p:txBody>
          <a:bodyPr/>
          <a:lstStyle/>
          <a:p>
            <a:pPr>
              <a:lnSpc>
                <a:spcPct val="150000"/>
              </a:lnSpc>
            </a:pPr>
            <a:r>
              <a:rPr lang="en-US" altLang="en-US" sz="2000" dirty="0">
                <a:sym typeface="Symbol" panose="05050102010706020507" pitchFamily="18" charset="2"/>
              </a:rPr>
              <a:t>A</a:t>
            </a:r>
            <a:r>
              <a:rPr lang="en-US" altLang="en-US" sz="2000" b="1" dirty="0">
                <a:solidFill>
                  <a:srgbClr val="002060"/>
                </a:solidFill>
                <a:sym typeface="Symbol" panose="05050102010706020507" pitchFamily="18" charset="2"/>
              </a:rPr>
              <a:t> transaction </a:t>
            </a:r>
            <a:r>
              <a:rPr lang="en-US" altLang="en-US" sz="2000" dirty="0"/>
              <a:t>is a collection of operations that performs a single logical function in a database application</a:t>
            </a:r>
          </a:p>
          <a:p>
            <a:pPr>
              <a:lnSpc>
                <a:spcPct val="150000"/>
              </a:lnSpc>
            </a:pPr>
            <a:r>
              <a:rPr lang="en-US" altLang="en-US" sz="2000" b="1" dirty="0">
                <a:solidFill>
                  <a:srgbClr val="002060"/>
                </a:solidFill>
                <a:sym typeface="Symbol" panose="05050102010706020507" pitchFamily="18" charset="2"/>
              </a:rPr>
              <a:t>Transaction-management component </a:t>
            </a:r>
            <a:r>
              <a:rPr lang="en-US" altLang="en-US" sz="2000" dirty="0"/>
              <a:t>ensures that the database remains in a consistent (correct) state despite system failures (e.g., power failures and operating system crashes) and transaction failures.</a:t>
            </a:r>
          </a:p>
          <a:p>
            <a:pPr>
              <a:lnSpc>
                <a:spcPct val="150000"/>
              </a:lnSpc>
            </a:pPr>
            <a:r>
              <a:rPr lang="en-US" altLang="en-US" sz="2000" b="1" dirty="0">
                <a:solidFill>
                  <a:srgbClr val="002060"/>
                </a:solidFill>
                <a:sym typeface="Symbol" panose="05050102010706020507" pitchFamily="18" charset="2"/>
              </a:rPr>
              <a:t>Concurrency-control manager </a:t>
            </a:r>
            <a:r>
              <a:rPr lang="en-US" altLang="en-US" sz="2000" dirty="0"/>
              <a:t>controls the interaction among the concurrent transactions, to ensure the consistency of the database.</a:t>
            </a:r>
            <a:r>
              <a:rPr lang="en-US" altLang="en-US" sz="2000" b="1" dirty="0">
                <a:solidFill>
                  <a:schemeClr val="tx2"/>
                </a:solidFill>
              </a:rPr>
              <a:t> </a:t>
            </a:r>
          </a:p>
          <a:p>
            <a:endParaRPr lang="en-US" altLang="en-US" b="1" dirty="0">
              <a:solidFill>
                <a:schemeClr val="tx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609600" y="93345"/>
            <a:ext cx="10972800" cy="5826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altLang="en-US" b="1" dirty="0">
                <a:solidFill>
                  <a:srgbClr val="C00000"/>
                </a:solidFill>
                <a:effectLst/>
              </a:rPr>
              <a:t>View of Data</a:t>
            </a:r>
          </a:p>
        </p:txBody>
      </p:sp>
      <p:sp>
        <p:nvSpPr>
          <p:cNvPr id="17410" name="Rectangle 3"/>
          <p:cNvSpPr>
            <a:spLocks noGrp="1" noChangeArrowheads="1"/>
          </p:cNvSpPr>
          <p:nvPr>
            <p:ph idx="1"/>
          </p:nvPr>
        </p:nvSpPr>
        <p:spPr>
          <a:xfrm>
            <a:off x="997798" y="1086928"/>
            <a:ext cx="10196907" cy="5279366"/>
          </a:xfrm>
        </p:spPr>
        <p:txBody>
          <a:bodyPr>
            <a:normAutofit/>
          </a:bodyPr>
          <a:lstStyle/>
          <a:p>
            <a:pPr>
              <a:tabLst>
                <a:tab pos="1365250" algn="l"/>
                <a:tab pos="2743835" algn="l"/>
                <a:tab pos="2957195" algn="l"/>
              </a:tabLst>
            </a:pPr>
            <a:r>
              <a:rPr lang="en-US" altLang="en-US" sz="2800" dirty="0"/>
              <a:t>A database system is a collection of interrelated data and a set of programs that allow users to access and modify these data. </a:t>
            </a:r>
          </a:p>
          <a:p>
            <a:pPr>
              <a:tabLst>
                <a:tab pos="1365250" algn="l"/>
                <a:tab pos="2743835" algn="l"/>
                <a:tab pos="2957195" algn="l"/>
              </a:tabLst>
            </a:pPr>
            <a:r>
              <a:rPr lang="en-US" altLang="en-US" sz="2800" dirty="0"/>
              <a:t>A major purpose of a database system is to provide users with an abstract view of the data.</a:t>
            </a:r>
          </a:p>
          <a:p>
            <a:pPr lvl="1">
              <a:tabLst>
                <a:tab pos="1365250" algn="l"/>
                <a:tab pos="2743835" algn="l"/>
                <a:tab pos="2957195" algn="l"/>
              </a:tabLst>
            </a:pPr>
            <a:r>
              <a:rPr lang="en-US" altLang="en-US" dirty="0"/>
              <a:t>Data models</a:t>
            </a:r>
          </a:p>
          <a:p>
            <a:pPr lvl="2">
              <a:tabLst>
                <a:tab pos="1365250" algn="l"/>
                <a:tab pos="2743835" algn="l"/>
                <a:tab pos="2957195" algn="l"/>
              </a:tabLst>
            </a:pPr>
            <a:r>
              <a:rPr lang="en-US" altLang="en-US" sz="2800" dirty="0"/>
              <a:t>A collection of conceptual tools for describing data, data relationships, data semantics, and consistency constraints.</a:t>
            </a:r>
          </a:p>
          <a:p>
            <a:pPr lvl="1">
              <a:tabLst>
                <a:tab pos="1365250" algn="l"/>
                <a:tab pos="2743835" algn="l"/>
                <a:tab pos="2957195" algn="l"/>
              </a:tabLst>
            </a:pPr>
            <a:r>
              <a:rPr lang="en-US" altLang="en-US" b="1" dirty="0"/>
              <a:t>Data abstraction</a:t>
            </a:r>
          </a:p>
          <a:p>
            <a:pPr lvl="2">
              <a:tabLst>
                <a:tab pos="1365250" algn="l"/>
                <a:tab pos="2743835" algn="l"/>
                <a:tab pos="2957195" algn="l"/>
              </a:tabLst>
            </a:pPr>
            <a:r>
              <a:rPr lang="en-US" altLang="en-US" sz="2800" dirty="0"/>
              <a:t>Hide the complexity  of data structures to represent data in the database from users through several levels of data abstraction.</a:t>
            </a:r>
          </a:p>
          <a:p>
            <a:pPr lvl="1">
              <a:tabLst>
                <a:tab pos="1365250" algn="l"/>
                <a:tab pos="2743835" algn="l"/>
                <a:tab pos="2957195" algn="l"/>
              </a:tabLst>
            </a:pPr>
            <a:endParaRPr lang="en-US" altLang="en-US" dirty="0"/>
          </a:p>
          <a:p>
            <a:pPr lvl="1">
              <a:tabLst>
                <a:tab pos="1365250" algn="l"/>
                <a:tab pos="2743835" algn="l"/>
                <a:tab pos="2957195" algn="l"/>
              </a:tabLst>
            </a:pPr>
            <a:endParaRPr lang="en-US" altLang="en-US"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Levels of Abstraction</a:t>
            </a:r>
          </a:p>
        </p:txBody>
      </p:sp>
      <p:sp>
        <p:nvSpPr>
          <p:cNvPr id="17410" name="Rectangle 3"/>
          <p:cNvSpPr>
            <a:spLocks noGrp="1" noChangeArrowheads="1"/>
          </p:cNvSpPr>
          <p:nvPr>
            <p:ph idx="1"/>
          </p:nvPr>
        </p:nvSpPr>
        <p:spPr>
          <a:xfrm>
            <a:off x="142504" y="1751162"/>
            <a:ext cx="6816436" cy="4851519"/>
          </a:xfrm>
        </p:spPr>
        <p:txBody>
          <a:bodyPr/>
          <a:lstStyle/>
          <a:p>
            <a:pPr>
              <a:lnSpc>
                <a:spcPct val="150000"/>
              </a:lnSpc>
              <a:tabLst>
                <a:tab pos="1365250" algn="l"/>
                <a:tab pos="2743835" algn="l"/>
                <a:tab pos="2957195" algn="l"/>
              </a:tabLst>
            </a:pPr>
            <a:r>
              <a:rPr lang="en-US" altLang="en-US" sz="2400" b="1" dirty="0">
                <a:solidFill>
                  <a:srgbClr val="002060"/>
                </a:solidFill>
              </a:rPr>
              <a:t>Physical level</a:t>
            </a:r>
            <a:r>
              <a:rPr lang="en-US" altLang="en-US" sz="2400" dirty="0">
                <a:solidFill>
                  <a:srgbClr val="002060"/>
                </a:solidFill>
              </a:rPr>
              <a:t>:</a:t>
            </a:r>
            <a:r>
              <a:rPr lang="en-US" altLang="en-US" sz="2400" b="1" dirty="0">
                <a:solidFill>
                  <a:srgbClr val="002060"/>
                </a:solidFill>
              </a:rPr>
              <a:t> </a:t>
            </a:r>
            <a:r>
              <a:rPr lang="en-US" altLang="en-US" sz="2400" dirty="0"/>
              <a:t>describes how a record (e.g., instructor) is stored.</a:t>
            </a:r>
          </a:p>
          <a:p>
            <a:pPr>
              <a:lnSpc>
                <a:spcPct val="150000"/>
              </a:lnSpc>
              <a:tabLst>
                <a:tab pos="1365250" algn="l"/>
                <a:tab pos="2743835" algn="l"/>
                <a:tab pos="2957195" algn="l"/>
              </a:tabLst>
            </a:pPr>
            <a:r>
              <a:rPr lang="en-US" altLang="en-US" sz="2400" b="1" dirty="0">
                <a:solidFill>
                  <a:srgbClr val="002060"/>
                </a:solidFill>
              </a:rPr>
              <a:t>Logical level</a:t>
            </a:r>
            <a:r>
              <a:rPr lang="en-US" altLang="en-US" sz="2400" dirty="0">
                <a:solidFill>
                  <a:srgbClr val="002060"/>
                </a:solidFill>
              </a:rPr>
              <a:t>:</a:t>
            </a:r>
            <a:r>
              <a:rPr lang="en-US" altLang="en-US" sz="2400" b="1" dirty="0">
                <a:solidFill>
                  <a:srgbClr val="002060"/>
                </a:solidFill>
              </a:rPr>
              <a:t> </a:t>
            </a:r>
            <a:r>
              <a:rPr lang="en-US" altLang="en-US" sz="2400" dirty="0"/>
              <a:t>describes What data stored in database, and the relationships among the data.</a:t>
            </a:r>
          </a:p>
          <a:p>
            <a:pPr>
              <a:lnSpc>
                <a:spcPct val="150000"/>
              </a:lnSpc>
              <a:tabLst>
                <a:tab pos="1365250" algn="l"/>
                <a:tab pos="2743835" algn="l"/>
                <a:tab pos="2957195" algn="l"/>
              </a:tabLst>
            </a:pPr>
            <a:r>
              <a:rPr lang="en-US" altLang="en-US" sz="2400" b="1" dirty="0">
                <a:solidFill>
                  <a:srgbClr val="002060"/>
                </a:solidFill>
              </a:rPr>
              <a:t>View  level</a:t>
            </a:r>
            <a:r>
              <a:rPr lang="en-US" altLang="en-US" sz="2400" dirty="0">
                <a:solidFill>
                  <a:srgbClr val="002060"/>
                </a:solidFill>
              </a:rPr>
              <a:t>:</a:t>
            </a:r>
            <a:r>
              <a:rPr lang="en-US" altLang="en-US" sz="2400" b="1" dirty="0">
                <a:solidFill>
                  <a:srgbClr val="002060"/>
                </a:solidFill>
              </a:rPr>
              <a:t> </a:t>
            </a:r>
            <a:r>
              <a:rPr lang="en-US" altLang="en-US" sz="2400" dirty="0"/>
              <a:t>application programs hide details of data types.  Views can also hide information (such as an employee</a:t>
            </a:r>
            <a:r>
              <a:rPr lang="ja-JP" altLang="en-US" sz="2400" dirty="0"/>
              <a:t>’</a:t>
            </a:r>
            <a:r>
              <a:rPr lang="en-US" altLang="ja-JP" sz="2400" dirty="0"/>
              <a:t>s salary) for security purposes.</a:t>
            </a:r>
            <a:r>
              <a:rPr lang="en-US" altLang="ja-JP" sz="1700" dirty="0"/>
              <a:t> </a:t>
            </a:r>
            <a:endParaRPr lang="en-US" altLang="en-US" sz="1700" dirty="0"/>
          </a:p>
        </p:txBody>
      </p:sp>
      <p:pic>
        <p:nvPicPr>
          <p:cNvPr id="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275" y="1049655"/>
            <a:ext cx="5292725" cy="5169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024467" y="178435"/>
            <a:ext cx="107696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b="1" dirty="0">
                <a:solidFill>
                  <a:srgbClr val="FF0000"/>
                </a:solidFill>
                <a:effectLst/>
              </a:rPr>
              <a:t>Instances and Schemas</a:t>
            </a:r>
          </a:p>
        </p:txBody>
      </p:sp>
      <p:sp>
        <p:nvSpPr>
          <p:cNvPr id="36867" name="Rectangle 3"/>
          <p:cNvSpPr>
            <a:spLocks noGrp="1" noChangeArrowheads="1"/>
          </p:cNvSpPr>
          <p:nvPr>
            <p:ph idx="1"/>
          </p:nvPr>
        </p:nvSpPr>
        <p:spPr>
          <a:xfrm>
            <a:off x="915248" y="787847"/>
            <a:ext cx="10185069" cy="5621579"/>
          </a:xfrm>
        </p:spPr>
        <p:txBody>
          <a:bodyPr/>
          <a:lstStyle/>
          <a:p>
            <a:r>
              <a:rPr lang="en-US" altLang="en-US" sz="2400" dirty="0"/>
              <a:t>A collection of information stored in the database at a particular moment is called an instance of database. And the overall design/structure of database is called the database schema.</a:t>
            </a:r>
          </a:p>
          <a:p>
            <a:endParaRPr lang="en-US" altLang="en-US" sz="2400" dirty="0"/>
          </a:p>
          <a:p>
            <a:r>
              <a:rPr lang="en-US" altLang="en-US" sz="2400" dirty="0"/>
              <a:t>Similar to types and variables in programming languages</a:t>
            </a:r>
          </a:p>
          <a:p>
            <a:r>
              <a:rPr lang="en-US" altLang="en-US" sz="2400" b="1" dirty="0">
                <a:solidFill>
                  <a:srgbClr val="002060"/>
                </a:solidFill>
              </a:rPr>
              <a:t>Logical Schema </a:t>
            </a:r>
            <a:r>
              <a:rPr lang="en-US" altLang="en-US" sz="2400" dirty="0"/>
              <a:t>– the overall logical structure of the database </a:t>
            </a:r>
          </a:p>
          <a:p>
            <a:pPr lvl="1"/>
            <a:r>
              <a:rPr lang="en-US" altLang="en-US" sz="2400" dirty="0"/>
              <a:t>Example: The database consists of information about a set of customers and accounts in a bank and the relationship between them</a:t>
            </a:r>
          </a:p>
          <a:p>
            <a:pPr lvl="2"/>
            <a:r>
              <a:rPr lang="en-US" altLang="en-US" dirty="0"/>
              <a:t>Analogous to type information of a variable in a program</a:t>
            </a:r>
          </a:p>
          <a:p>
            <a:r>
              <a:rPr lang="en-US" altLang="en-US" sz="2400" b="1" dirty="0">
                <a:solidFill>
                  <a:srgbClr val="002060"/>
                </a:solidFill>
              </a:rPr>
              <a:t>Physical schema </a:t>
            </a:r>
            <a:r>
              <a:rPr lang="en-US" altLang="en-US" sz="2400" dirty="0"/>
              <a:t>– the overall physical  structure of the database </a:t>
            </a:r>
          </a:p>
          <a:p>
            <a:r>
              <a:rPr lang="en-US" altLang="en-US" sz="2400" b="1" dirty="0">
                <a:solidFill>
                  <a:srgbClr val="002060"/>
                </a:solidFill>
              </a:rPr>
              <a:t>Instance</a:t>
            </a:r>
            <a:r>
              <a:rPr lang="en-US" altLang="en-US" sz="2400" dirty="0">
                <a:solidFill>
                  <a:srgbClr val="FF0000"/>
                </a:solidFill>
              </a:rPr>
              <a:t> </a:t>
            </a:r>
            <a:r>
              <a:rPr lang="en-US" altLang="en-US" sz="2400" dirty="0"/>
              <a:t>– the actual content of the database at a particular point in time </a:t>
            </a:r>
          </a:p>
          <a:p>
            <a:pPr lvl="1"/>
            <a:r>
              <a:rPr lang="en-US" altLang="en-US" sz="2400" dirty="0"/>
              <a:t>Analogous to the value of a variable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latin typeface="Calibri" panose="020F0502020204030204"/>
                <a:ea typeface="Calibri" panose="020F0502020204030204"/>
                <a:cs typeface="Calibri" panose="020F0502020204030204"/>
                <a:sym typeface="Calibri" panose="020F0502020204030204"/>
              </a:rPr>
              <a:t>Three Level Schema</a:t>
            </a:r>
            <a:r>
              <a:rPr lang="en-GB" dirty="0">
                <a:solidFill>
                  <a:srgbClr val="C00000"/>
                </a:solidFill>
                <a:latin typeface="Calibri" panose="020F0502020204030204"/>
                <a:ea typeface="Calibri" panose="020F0502020204030204"/>
                <a:cs typeface="Calibri" panose="020F0502020204030204"/>
                <a:sym typeface="Calibri" panose="020F0502020204030204"/>
              </a:rPr>
              <a:t> Architecture of  Database</a:t>
            </a:r>
            <a:endParaRPr lang="en-US" dirty="0"/>
          </a:p>
        </p:txBody>
      </p:sp>
      <p:pic>
        <p:nvPicPr>
          <p:cNvPr id="552" name="Google Shape;552;p64"/>
          <p:cNvPicPr preferRelativeResize="0"/>
          <p:nvPr/>
        </p:nvPicPr>
        <p:blipFill rotWithShape="1">
          <a:blip r:embed="rId2"/>
          <a:srcRect/>
          <a:stretch>
            <a:fillRect/>
          </a:stretch>
        </p:blipFill>
        <p:spPr>
          <a:xfrm>
            <a:off x="3562709" y="1009403"/>
            <a:ext cx="7392838" cy="568592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Database Architecture</a:t>
            </a:r>
          </a:p>
        </p:txBody>
      </p:sp>
      <p:sp>
        <p:nvSpPr>
          <p:cNvPr id="61442" name="Rectangle 3"/>
          <p:cNvSpPr>
            <a:spLocks noGrp="1" noChangeArrowheads="1"/>
          </p:cNvSpPr>
          <p:nvPr>
            <p:ph idx="1"/>
          </p:nvPr>
        </p:nvSpPr>
        <p:spPr>
          <a:xfrm>
            <a:off x="1024467" y="1621766"/>
            <a:ext cx="9806291" cy="4375810"/>
          </a:xfrm>
        </p:spPr>
        <p:txBody>
          <a:bodyPr/>
          <a:lstStyle/>
          <a:p>
            <a:r>
              <a:rPr lang="en-US" altLang="en-US" sz="2400" dirty="0"/>
              <a:t>Centralized databases</a:t>
            </a:r>
          </a:p>
          <a:p>
            <a:pPr lvl="1"/>
            <a:r>
              <a:rPr lang="en-US" altLang="en-US" sz="2000" dirty="0"/>
              <a:t>One to a few cores, shared memory</a:t>
            </a:r>
          </a:p>
          <a:p>
            <a:r>
              <a:rPr lang="en-US" altLang="en-US" sz="2400" dirty="0"/>
              <a:t>Client-server, </a:t>
            </a:r>
          </a:p>
          <a:p>
            <a:pPr lvl="1"/>
            <a:r>
              <a:rPr lang="en-US" altLang="en-US" sz="2000" dirty="0"/>
              <a:t>One server machine executes work on behalf of multiple client machines.</a:t>
            </a:r>
          </a:p>
          <a:p>
            <a:r>
              <a:rPr lang="en-US" altLang="en-US" sz="2400" dirty="0"/>
              <a:t>Parallel databases</a:t>
            </a:r>
          </a:p>
          <a:p>
            <a:pPr lvl="1"/>
            <a:r>
              <a:rPr lang="en-US" altLang="en-US" sz="2000" dirty="0"/>
              <a:t>Many core shared memory</a:t>
            </a:r>
          </a:p>
          <a:p>
            <a:pPr lvl="1"/>
            <a:r>
              <a:rPr lang="en-US" altLang="en-US" sz="2000" dirty="0"/>
              <a:t>Shared disk</a:t>
            </a:r>
          </a:p>
          <a:p>
            <a:pPr lvl="1"/>
            <a:r>
              <a:rPr lang="en-US" altLang="en-US" sz="2000" dirty="0"/>
              <a:t>Shared nothing</a:t>
            </a:r>
          </a:p>
          <a:p>
            <a:r>
              <a:rPr lang="en-US" altLang="en-US" sz="2400" dirty="0"/>
              <a:t>Distributed databases</a:t>
            </a:r>
          </a:p>
          <a:p>
            <a:pPr lvl="1"/>
            <a:r>
              <a:rPr lang="en-US" altLang="en-US" sz="2000" dirty="0">
                <a:sym typeface="Symbol" panose="05050102010706020507" pitchFamily="18" charset="2"/>
              </a:rPr>
              <a:t>Geographical distribution</a:t>
            </a:r>
          </a:p>
          <a:p>
            <a:pPr lvl="1"/>
            <a:r>
              <a:rPr lang="en-US" altLang="en-US" sz="2000" dirty="0">
                <a:sym typeface="Symbol" panose="05050102010706020507" pitchFamily="18" charset="2"/>
              </a:rPr>
              <a:t>Schema/data heterogeneity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005" y="0"/>
            <a:ext cx="12192000" cy="762139"/>
          </a:xfrm>
        </p:spPr>
        <p:txBody>
          <a:bodyPr/>
          <a:lstStyle/>
          <a:p>
            <a:r>
              <a:rPr lang="en-IN" sz="3200" dirty="0"/>
              <a:t>DBMS Architecture (Centralized/Shared-Memory)</a:t>
            </a:r>
          </a:p>
        </p:txBody>
      </p:sp>
      <p:pic>
        <p:nvPicPr>
          <p:cNvPr id="6" name="Graphic 5"/>
          <p:cNvPicPr>
            <a:picLocks noChangeAspect="1"/>
          </p:cNvPicPr>
          <p:nvPr/>
        </p:nvPicPr>
        <p:blipFill rotWithShape="1">
          <a:blip r:embed="rId2">
            <a:extLst>
              <a:ext uri="{96DAC541-7B7A-43D3-8B79-37D633B846F1}">
                <asvg:svgBlip xmlns:asvg="http://schemas.microsoft.com/office/drawing/2016/SVG/main" r:embed="rId3"/>
              </a:ext>
            </a:extLst>
          </a:blip>
          <a:srcRect t="28828" b="-1"/>
          <a:stretch>
            <a:fillRect/>
          </a:stretch>
        </p:blipFill>
        <p:spPr>
          <a:xfrm>
            <a:off x="2087593" y="1436914"/>
            <a:ext cx="7643004" cy="4720442"/>
          </a:xfrm>
          <a:prstGeom prst="rect">
            <a:avLst/>
          </a:prstGeom>
        </p:spPr>
      </p:pic>
      <p:sp>
        <p:nvSpPr>
          <p:cNvPr id="4" name="Rectangle 3"/>
          <p:cNvSpPr/>
          <p:nvPr/>
        </p:nvSpPr>
        <p:spPr bwMode="auto">
          <a:xfrm>
            <a:off x="5355771" y="700644"/>
            <a:ext cx="914400" cy="391886"/>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USER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Database Users</a:t>
            </a:r>
          </a:p>
        </p:txBody>
      </p:sp>
      <p:pic>
        <p:nvPicPr>
          <p:cNvPr id="5" name="Graphic 4"/>
          <p:cNvPicPr>
            <a:picLocks noChangeAspect="1"/>
          </p:cNvPicPr>
          <p:nvPr/>
        </p:nvPicPr>
        <p:blipFill rotWithShape="1">
          <a:blip r:embed="rId3">
            <a:extLst>
              <a:ext uri="{96DAC541-7B7A-43D3-8B79-37D633B846F1}">
                <asvg:svgBlip xmlns:asvg="http://schemas.microsoft.com/office/drawing/2016/SVG/main" r:embed="rId4"/>
              </a:ext>
            </a:extLst>
          </a:blip>
          <a:srcRect t="-1" b="46320"/>
          <a:stretch>
            <a:fillRect/>
          </a:stretch>
        </p:blipFill>
        <p:spPr>
          <a:xfrm>
            <a:off x="2147978" y="1422155"/>
            <a:ext cx="8117456" cy="475765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Database Applications</a:t>
            </a:r>
            <a:br>
              <a:rPr lang="en-US" altLang="en-US" sz="2800" dirty="0">
                <a:effectLst/>
              </a:rPr>
            </a:br>
            <a:endParaRPr lang="en-US" altLang="en-US" sz="2800" dirty="0">
              <a:effectLst/>
            </a:endParaRPr>
          </a:p>
        </p:txBody>
      </p:sp>
      <p:sp>
        <p:nvSpPr>
          <p:cNvPr id="61442" name="Rectangle 3"/>
          <p:cNvSpPr>
            <a:spLocks noGrp="1" noChangeArrowheads="1"/>
          </p:cNvSpPr>
          <p:nvPr>
            <p:ph idx="1"/>
          </p:nvPr>
        </p:nvSpPr>
        <p:spPr>
          <a:xfrm>
            <a:off x="1538796" y="2424023"/>
            <a:ext cx="9812784" cy="2477162"/>
          </a:xfrm>
        </p:spPr>
        <p:txBody>
          <a:bodyPr/>
          <a:lstStyle/>
          <a:p>
            <a:r>
              <a:rPr lang="en-US" altLang="en-US" sz="2000" dirty="0"/>
              <a:t>Two-tier architecture --  the application resides at the client machine, where it invokes database system functionality at the server machine</a:t>
            </a:r>
          </a:p>
          <a:p>
            <a:r>
              <a:rPr lang="en-US" altLang="en-US" sz="2000" dirty="0"/>
              <a:t>Three-tier architecture -- the client machine acts as a front end and does not contain any direct database calls.  </a:t>
            </a:r>
          </a:p>
          <a:p>
            <a:pPr lvl="1"/>
            <a:r>
              <a:rPr lang="en-US" altLang="en-US" sz="2000" dirty="0"/>
              <a:t>The client end communicates with an application server, usually through a forms interface.  </a:t>
            </a:r>
          </a:p>
          <a:p>
            <a:pPr lvl="1"/>
            <a:r>
              <a:rPr lang="en-US" altLang="en-US" sz="2000" dirty="0"/>
              <a:t>The application server in turn communicates with a database system to access data.  </a:t>
            </a:r>
          </a:p>
          <a:p>
            <a:endParaRPr lang="en-US" altLang="en-US" sz="4000" dirty="0"/>
          </a:p>
        </p:txBody>
      </p:sp>
      <p:sp>
        <p:nvSpPr>
          <p:cNvPr id="2" name="TextBox 1"/>
          <p:cNvSpPr txBox="1"/>
          <p:nvPr/>
        </p:nvSpPr>
        <p:spPr>
          <a:xfrm>
            <a:off x="1024468" y="1170433"/>
            <a:ext cx="8766514" cy="353943"/>
          </a:xfrm>
          <a:prstGeom prst="rect">
            <a:avLst/>
          </a:prstGeom>
          <a:noFill/>
        </p:spPr>
        <p:txBody>
          <a:bodyPr wrap="square" rtlCol="0">
            <a:spAutoFit/>
          </a:bodyPr>
          <a:lstStyle/>
          <a:p>
            <a:r>
              <a:rPr lang="en-US" altLang="en-US" sz="1700" dirty="0"/>
              <a:t>Database applications are usually partitioned into two or three parts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DBMS architectures</a:t>
            </a:r>
            <a:endParaRPr lang="en-US" dirty="0"/>
          </a:p>
        </p:txBody>
      </p:sp>
      <p:pic>
        <p:nvPicPr>
          <p:cNvPr id="111618" name="Picture 2" descr="C:\Users\Administrator\Downloads\dbms-architecture.png"/>
          <p:cNvPicPr>
            <a:picLocks noGrp="1" noChangeAspect="1" noChangeArrowheads="1"/>
          </p:cNvPicPr>
          <p:nvPr>
            <p:ph idx="1"/>
          </p:nvPr>
        </p:nvPicPr>
        <p:blipFill>
          <a:blip r:embed="rId2"/>
          <a:srcRect/>
          <a:stretch>
            <a:fillRect/>
          </a:stretch>
        </p:blipFill>
        <p:spPr bwMode="auto">
          <a:xfrm>
            <a:off x="636634" y="1865882"/>
            <a:ext cx="6729247" cy="4399457"/>
          </a:xfrm>
          <a:prstGeom prst="rect">
            <a:avLst/>
          </a:prstGeom>
          <a:noFill/>
        </p:spPr>
      </p:pic>
      <p:pic>
        <p:nvPicPr>
          <p:cNvPr id="5" name="Picture 1" descr="C:\Users\Administrator\Downloads\images.jpg"/>
          <p:cNvPicPr>
            <a:picLocks noChangeAspect="1" noChangeArrowheads="1"/>
          </p:cNvPicPr>
          <p:nvPr/>
        </p:nvPicPr>
        <p:blipFill>
          <a:blip r:embed="rId3"/>
          <a:srcRect/>
          <a:stretch>
            <a:fillRect/>
          </a:stretch>
        </p:blipFill>
        <p:spPr bwMode="auto">
          <a:xfrm>
            <a:off x="8288977" y="1388856"/>
            <a:ext cx="2838203" cy="3515653"/>
          </a:xfrm>
          <a:prstGeom prst="rect">
            <a:avLst/>
          </a:prstGeom>
          <a:noFill/>
        </p:spPr>
      </p:pic>
      <p:sp>
        <p:nvSpPr>
          <p:cNvPr id="6" name="Rectangle 5"/>
          <p:cNvSpPr/>
          <p:nvPr/>
        </p:nvSpPr>
        <p:spPr bwMode="auto">
          <a:xfrm>
            <a:off x="8645237" y="4845133"/>
            <a:ext cx="2339439" cy="522514"/>
          </a:xfrm>
          <a:prstGeom prst="rect">
            <a:avLst/>
          </a:prstGeom>
          <a:gradFill rotWithShape="0">
            <a:gsLst>
              <a:gs pos="0">
                <a:schemeClr val="accent1"/>
              </a:gs>
              <a:gs pos="100000">
                <a:schemeClr val="accent2"/>
              </a:gs>
            </a:gsLst>
            <a:lin ang="5400000" scaled="1"/>
          </a:gradFill>
          <a:ln w="9525" cap="flat" cmpd="sng" algn="ctr">
            <a:solidFill>
              <a:schemeClr val="bg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2"/>
                </a:solidFill>
                <a:effectLst/>
                <a:latin typeface="Arial" panose="020B0604020202020204" pitchFamily="34" charset="0"/>
                <a:ea typeface="SimSun" panose="02010600030101010101" pitchFamily="2" charset="-122"/>
              </a:rPr>
              <a:t>1-tier architecture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838200" y="365126"/>
            <a:ext cx="10515600" cy="8166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Two-tier and three-tier architectures</a:t>
            </a:r>
          </a:p>
        </p:txBody>
      </p:sp>
      <p:pic>
        <p:nvPicPr>
          <p:cNvPr id="3" name="Graphic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0088" y="1302036"/>
            <a:ext cx="8010131" cy="399474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838200" y="365125"/>
            <a:ext cx="10515600" cy="17483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Database Administrator</a:t>
            </a:r>
            <a:br>
              <a:rPr lang="en-US" altLang="en-US" sz="2800" dirty="0">
                <a:effectLst/>
              </a:rPr>
            </a:br>
            <a:br>
              <a:rPr lang="en-US" altLang="en-US" sz="2800" dirty="0">
                <a:effectLst/>
              </a:rPr>
            </a:br>
            <a:endParaRPr lang="en-US" altLang="en-US" sz="2800" dirty="0">
              <a:effectLst/>
            </a:endParaRPr>
          </a:p>
        </p:txBody>
      </p:sp>
      <p:sp>
        <p:nvSpPr>
          <p:cNvPr id="61442" name="Rectangle 3"/>
          <p:cNvSpPr>
            <a:spLocks noGrp="1" noChangeArrowheads="1"/>
          </p:cNvSpPr>
          <p:nvPr>
            <p:ph idx="1"/>
          </p:nvPr>
        </p:nvSpPr>
        <p:spPr>
          <a:xfrm>
            <a:off x="1302060" y="2613803"/>
            <a:ext cx="8488921" cy="3245229"/>
          </a:xfrm>
          <a:ln>
            <a:solidFill>
              <a:schemeClr val="accent1"/>
            </a:solidFill>
          </a:ln>
        </p:spPr>
        <p:txBody>
          <a:bodyPr/>
          <a:lstStyle/>
          <a:p>
            <a:r>
              <a:rPr lang="en-US" altLang="en-US" sz="1700" dirty="0"/>
              <a:t>Schema definition</a:t>
            </a:r>
          </a:p>
          <a:p>
            <a:r>
              <a:rPr lang="en-US" altLang="en-US" sz="1700" dirty="0"/>
              <a:t>Storage structure and access-method definition</a:t>
            </a:r>
          </a:p>
          <a:p>
            <a:r>
              <a:rPr lang="en-US" altLang="en-US" sz="1700" dirty="0"/>
              <a:t>Schema and physical-organization modification</a:t>
            </a:r>
          </a:p>
          <a:p>
            <a:r>
              <a:rPr lang="en-US" altLang="en-US" sz="1700" dirty="0"/>
              <a:t>Granting of authorization for data access</a:t>
            </a:r>
          </a:p>
          <a:p>
            <a:r>
              <a:rPr lang="en-US" altLang="en-US" sz="1700" dirty="0"/>
              <a:t>Routine maintenance</a:t>
            </a:r>
          </a:p>
          <a:p>
            <a:r>
              <a:rPr lang="en-US" altLang="en-US" sz="1700" dirty="0"/>
              <a:t>Periodically backing up the database</a:t>
            </a:r>
          </a:p>
          <a:p>
            <a:r>
              <a:rPr lang="en-US" altLang="en-US" sz="1700" dirty="0"/>
              <a:t>Ensuring that enough free disk space is available for normal operations, and upgrading disk space as required</a:t>
            </a:r>
          </a:p>
          <a:p>
            <a:r>
              <a:rPr lang="en-US" altLang="en-US" sz="1700" dirty="0"/>
              <a:t>Monitoring jobs running on the database</a:t>
            </a:r>
          </a:p>
        </p:txBody>
      </p:sp>
      <p:sp>
        <p:nvSpPr>
          <p:cNvPr id="5" name="Rectangle 4"/>
          <p:cNvSpPr/>
          <p:nvPr/>
        </p:nvSpPr>
        <p:spPr>
          <a:xfrm>
            <a:off x="1024468" y="1135534"/>
            <a:ext cx="10013357" cy="615553"/>
          </a:xfrm>
          <a:prstGeom prst="rect">
            <a:avLst/>
          </a:prstGeom>
        </p:spPr>
        <p:txBody>
          <a:bodyPr wrap="square">
            <a:spAutoFit/>
          </a:bodyPr>
          <a:lstStyle/>
          <a:p>
            <a:r>
              <a:rPr lang="en-US" sz="1700" dirty="0"/>
              <a:t>A person who has central control over the system is called a </a:t>
            </a:r>
            <a:r>
              <a:rPr lang="en-US" sz="1700" b="1" dirty="0">
                <a:solidFill>
                  <a:srgbClr val="002060"/>
                </a:solidFill>
              </a:rPr>
              <a:t>database administrator </a:t>
            </a:r>
            <a:r>
              <a:rPr lang="en-US" sz="1700" b="1" dirty="0"/>
              <a:t>(</a:t>
            </a:r>
            <a:r>
              <a:rPr lang="en-US" sz="1700" b="1" dirty="0">
                <a:solidFill>
                  <a:srgbClr val="002060"/>
                </a:solidFill>
              </a:rPr>
              <a:t>DBA</a:t>
            </a:r>
            <a:r>
              <a:rPr lang="en-US" sz="1700" b="1" dirty="0"/>
              <a:t>).  </a:t>
            </a:r>
            <a:r>
              <a:rPr lang="en-US" sz="1700" dirty="0"/>
              <a:t>Functions of a DBA include: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63" name="Google Shape;563;p65"/>
          <p:cNvPicPr preferRelativeResize="0">
            <a:picLocks noGrp="1" noChangeAspect="1"/>
          </p:cNvPicPr>
          <p:nvPr>
            <p:ph idx="1"/>
          </p:nvPr>
        </p:nvPicPr>
        <p:blipFill rotWithShape="1">
          <a:blip r:embed="rId2"/>
          <a:srcRect/>
          <a:stretch>
            <a:fillRect/>
          </a:stretch>
        </p:blipFill>
        <p:spPr>
          <a:xfrm>
            <a:off x="760561" y="209850"/>
            <a:ext cx="10850593" cy="600116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t>Physical Data Independence </a:t>
            </a:r>
            <a:endParaRPr lang="en-US" altLang="en-US" sz="2800" dirty="0">
              <a:effectLst/>
            </a:endParaRPr>
          </a:p>
        </p:txBody>
      </p:sp>
      <p:sp>
        <p:nvSpPr>
          <p:cNvPr id="36867" name="Rectangle 3"/>
          <p:cNvSpPr>
            <a:spLocks noGrp="1" noChangeArrowheads="1"/>
          </p:cNvSpPr>
          <p:nvPr>
            <p:ph idx="1"/>
          </p:nvPr>
        </p:nvSpPr>
        <p:spPr>
          <a:xfrm>
            <a:off x="1024467" y="1150545"/>
            <a:ext cx="10078539" cy="4903787"/>
          </a:xfrm>
        </p:spPr>
        <p:txBody>
          <a:bodyPr/>
          <a:lstStyle/>
          <a:p>
            <a:r>
              <a:rPr lang="en-US" altLang="en-US" sz="2400" b="1" dirty="0">
                <a:solidFill>
                  <a:srgbClr val="002060"/>
                </a:solidFill>
              </a:rPr>
              <a:t>Physical Data Independence </a:t>
            </a:r>
            <a:r>
              <a:rPr lang="en-US" altLang="en-US" sz="2400" dirty="0"/>
              <a:t>– the ability to modify the physical schema without changing the logical schema</a:t>
            </a:r>
          </a:p>
          <a:p>
            <a:pPr lvl="1"/>
            <a:r>
              <a:rPr lang="en-US" altLang="en-US" sz="2400" dirty="0"/>
              <a:t>Applications depend on the logical schema</a:t>
            </a:r>
          </a:p>
          <a:p>
            <a:pPr lvl="1"/>
            <a:r>
              <a:rPr lang="en-US" altLang="en-US" sz="2400" dirty="0"/>
              <a:t>In general, the interfaces between the various levels and components should be well defined so that changes in some parts do not seriously influence others.</a:t>
            </a:r>
          </a:p>
          <a:p>
            <a:endParaRPr lang="en-US"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48" y="261257"/>
            <a:ext cx="10972800" cy="439387"/>
          </a:xfrm>
        </p:spPr>
        <p:txBody>
          <a:bodyPr>
            <a:normAutofit fontScale="90000"/>
          </a:bodyPr>
          <a:lstStyle/>
          <a:p>
            <a:pPr algn="ctr"/>
            <a:r>
              <a:rPr lang="en-GB" b="1" dirty="0">
                <a:solidFill>
                  <a:srgbClr val="C00000"/>
                </a:solidFill>
                <a:latin typeface="Calibri" panose="020F0502020204030204"/>
                <a:ea typeface="Calibri" panose="020F0502020204030204"/>
                <a:cs typeface="Calibri" panose="020F0502020204030204"/>
                <a:sym typeface="Calibri" panose="020F0502020204030204"/>
              </a:rPr>
              <a:t>Data Models</a:t>
            </a:r>
            <a:br>
              <a:rPr b="0" i="0" u="none" strike="noStrike" cap="none" dirty="0">
                <a:solidFill>
                  <a:srgbClr val="C00000"/>
                </a:solidFill>
                <a:latin typeface="Calibri" panose="020F0502020204030204"/>
                <a:ea typeface="Calibri" panose="020F0502020204030204"/>
                <a:cs typeface="Calibri" panose="020F0502020204030204"/>
                <a:sym typeface="Calibri" panose="020F0502020204030204"/>
              </a:rPr>
            </a:br>
            <a:endParaRPr lang="en-US" dirty="0"/>
          </a:p>
        </p:txBody>
      </p:sp>
      <p:sp>
        <p:nvSpPr>
          <p:cNvPr id="3" name="Content Placeholder 2"/>
          <p:cNvSpPr>
            <a:spLocks noGrp="1"/>
          </p:cNvSpPr>
          <p:nvPr>
            <p:ph idx="1"/>
          </p:nvPr>
        </p:nvSpPr>
        <p:spPr>
          <a:xfrm>
            <a:off x="562098" y="735363"/>
            <a:ext cx="10972800" cy="4953000"/>
          </a:xfrm>
        </p:spPr>
        <p:txBody>
          <a:bodyPr/>
          <a:lstStyle/>
          <a:p>
            <a:pPr marL="0" marR="0" lvl="0" indent="0" algn="just" rtl="0">
              <a:spcBef>
                <a:spcPts val="0"/>
              </a:spcBef>
              <a:spcAft>
                <a:spcPts val="0"/>
              </a:spcAft>
              <a:buClr>
                <a:srgbClr val="A53010"/>
              </a:buClr>
              <a:buSzPts val="2100"/>
              <a:buFont typeface="Noto Sans Symbols"/>
              <a:buNone/>
            </a:pPr>
            <a:r>
              <a:rPr lang="en-GB" sz="3200" dirty="0">
                <a:solidFill>
                  <a:srgbClr val="000000"/>
                </a:solidFill>
                <a:latin typeface="Calibri" panose="020F0502020204030204"/>
                <a:ea typeface="Calibri" panose="020F0502020204030204"/>
                <a:cs typeface="Calibri" panose="020F0502020204030204"/>
                <a:sym typeface="Calibri" panose="020F0502020204030204"/>
              </a:rPr>
              <a:t>A</a:t>
            </a:r>
            <a:r>
              <a:rPr lang="en-GB" sz="3200" b="1" i="1" dirty="0">
                <a:solidFill>
                  <a:srgbClr val="000000"/>
                </a:solidFill>
                <a:latin typeface="Calibri" panose="020F0502020204030204"/>
                <a:ea typeface="Calibri" panose="020F0502020204030204"/>
                <a:cs typeface="Calibri" panose="020F0502020204030204"/>
                <a:sym typeface="Calibri" panose="020F0502020204030204"/>
              </a:rPr>
              <a:t> </a:t>
            </a:r>
            <a:r>
              <a:rPr lang="en-GB" sz="3200" b="1" dirty="0">
                <a:solidFill>
                  <a:srgbClr val="000000"/>
                </a:solidFill>
                <a:latin typeface="Calibri" panose="020F0502020204030204"/>
                <a:ea typeface="Calibri" panose="020F0502020204030204"/>
                <a:cs typeface="Calibri" panose="020F0502020204030204"/>
                <a:sym typeface="Calibri" panose="020F0502020204030204"/>
              </a:rPr>
              <a:t>data model</a:t>
            </a:r>
            <a:r>
              <a:rPr lang="en-GB" sz="3200" dirty="0">
                <a:solidFill>
                  <a:srgbClr val="000000"/>
                </a:solidFill>
                <a:latin typeface="Calibri" panose="020F0502020204030204"/>
                <a:ea typeface="Calibri" panose="020F0502020204030204"/>
                <a:cs typeface="Calibri" panose="020F0502020204030204"/>
                <a:sym typeface="Calibri" panose="020F0502020204030204"/>
              </a:rPr>
              <a:t> is a collection of concepts for describing data, its relationships, and its constraints</a:t>
            </a:r>
            <a:endParaRPr sz="3200" dirty="0"/>
          </a:p>
          <a:p>
            <a:pPr marL="685800" marR="0" lvl="1"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Provides a clearer and more accurate description and representation of data</a:t>
            </a:r>
            <a:endParaRPr sz="3200" dirty="0"/>
          </a:p>
          <a:p>
            <a:pPr marL="685800" marR="0" lvl="1"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Standard platform that enables database designers and end-users to communicate</a:t>
            </a:r>
            <a:endParaRPr sz="3200" dirty="0"/>
          </a:p>
          <a:p>
            <a:endParaRPr lang="en-US" b="1" dirty="0"/>
          </a:p>
        </p:txBody>
      </p:sp>
      <p:sp>
        <p:nvSpPr>
          <p:cNvPr id="477" name="Google Shape;477;p57"/>
          <p:cNvSpPr txBox="1"/>
          <p:nvPr/>
        </p:nvSpPr>
        <p:spPr>
          <a:xfrm>
            <a:off x="5636084" y="773349"/>
            <a:ext cx="1812113" cy="407887"/>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Clr>
                <a:srgbClr val="C00000"/>
              </a:buClr>
              <a:buSzPts val="2400"/>
              <a:buFont typeface="Calibri" panose="020F0502020204030204"/>
              <a:buNone/>
            </a:pPr>
            <a:endParaRPr sz="2400" b="0" i="0" u="none" strike="noStrike" cap="none" dirty="0">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478" name="Google Shape;478;p57"/>
          <p:cNvSpPr txBox="1"/>
          <p:nvPr/>
        </p:nvSpPr>
        <p:spPr>
          <a:xfrm>
            <a:off x="2119032" y="2288993"/>
            <a:ext cx="7953935" cy="394335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just" rtl="0">
              <a:spcBef>
                <a:spcPts val="0"/>
              </a:spcBef>
              <a:spcAft>
                <a:spcPts val="0"/>
              </a:spcAft>
              <a:buClr>
                <a:srgbClr val="A53010"/>
              </a:buClr>
              <a:buSzPts val="2100"/>
              <a:buFont typeface="Noto Sans Symbols"/>
              <a:buNone/>
            </a:pPr>
            <a:endParaRPr sz="21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Data Models</a:t>
            </a:r>
          </a:p>
        </p:txBody>
      </p:sp>
      <p:sp>
        <p:nvSpPr>
          <p:cNvPr id="3" name="Content Placeholder 2"/>
          <p:cNvSpPr>
            <a:spLocks noGrp="1"/>
          </p:cNvSpPr>
          <p:nvPr>
            <p:ph idx="1"/>
          </p:nvPr>
        </p:nvSpPr>
        <p:spPr/>
        <p:txBody>
          <a:bodyPr/>
          <a:lstStyle/>
          <a:p>
            <a:pPr marL="514350" indent="-514350">
              <a:buFont typeface="+mj-lt"/>
              <a:buAutoNum type="arabicPeriod"/>
            </a:pPr>
            <a:r>
              <a:rPr lang="en-US" dirty="0"/>
              <a:t>Structure Part: Consisting of set of rules according to which databases can be constructed.</a:t>
            </a:r>
          </a:p>
          <a:p>
            <a:pPr marL="514350" indent="-514350">
              <a:buFont typeface="+mj-lt"/>
              <a:buAutoNum type="arabicPeriod"/>
            </a:pPr>
            <a:endParaRPr lang="en-US" dirty="0"/>
          </a:p>
          <a:p>
            <a:pPr marL="514350" indent="-514350">
              <a:buFont typeface="+mj-lt"/>
              <a:buAutoNum type="arabicPeriod"/>
            </a:pPr>
            <a:r>
              <a:rPr lang="en-US" dirty="0"/>
              <a:t>Manipulative Part: Define the types of operation that are allowed on the data. </a:t>
            </a:r>
          </a:p>
          <a:p>
            <a:pPr marL="514350" indent="-514350">
              <a:buFont typeface="+mj-lt"/>
              <a:buAutoNum type="arabicPeriod"/>
            </a:pPr>
            <a:endParaRPr lang="en-US" dirty="0"/>
          </a:p>
          <a:p>
            <a:pPr marL="514350" indent="-514350">
              <a:buFont typeface="+mj-lt"/>
              <a:buAutoNum type="arabicPeriod"/>
            </a:pPr>
            <a:r>
              <a:rPr lang="en-US" dirty="0"/>
              <a:t>Set of Integrity Rules: Which ensures that data is accurate.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6"/>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a:t>NETWORK DATA MODEL</a:t>
            </a:r>
          </a:p>
        </p:txBody>
      </p:sp>
      <p:pic>
        <p:nvPicPr>
          <p:cNvPr id="656" name="Google Shape;656;p76"/>
          <p:cNvPicPr preferRelativeResize="0">
            <a:picLocks noGrp="1"/>
          </p:cNvPicPr>
          <p:nvPr>
            <p:ph type="body" idx="1"/>
          </p:nvPr>
        </p:nvPicPr>
        <p:blipFill rotWithShape="1">
          <a:blip r:embed="rId3"/>
          <a:srcRect/>
          <a:stretch>
            <a:fillRect/>
          </a:stretch>
        </p:blipFill>
        <p:spPr>
          <a:xfrm>
            <a:off x="2858109" y="1582616"/>
            <a:ext cx="6414843" cy="392723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7"/>
          <p:cNvSpPr txBox="1">
            <a:spLocks noGrp="1"/>
          </p:cNvSpPr>
          <p:nvPr>
            <p:ph type="title"/>
          </p:nvPr>
        </p:nvSpPr>
        <p:spPr>
          <a:xfrm>
            <a:off x="1536021" y="0"/>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dirty="0"/>
              <a:t>NETWORK DATA MODEL</a:t>
            </a:r>
          </a:p>
        </p:txBody>
      </p:sp>
      <p:sp>
        <p:nvSpPr>
          <p:cNvPr id="662" name="Google Shape;662;p77"/>
          <p:cNvSpPr txBox="1">
            <a:spLocks noGrp="1"/>
          </p:cNvSpPr>
          <p:nvPr>
            <p:ph type="body" idx="1"/>
          </p:nvPr>
        </p:nvSpPr>
        <p:spPr>
          <a:xfrm>
            <a:off x="1104405" y="653142"/>
            <a:ext cx="9963398" cy="5854535"/>
          </a:xfrm>
          <a:prstGeom prst="rect">
            <a:avLst/>
          </a:prstGeom>
          <a:noFill/>
          <a:ln>
            <a:noFill/>
          </a:ln>
        </p:spPr>
        <p:txBody>
          <a:bodyPr spcFirstLastPara="1" wrap="square" lIns="91433" tIns="45700" rIns="91433" bIns="45700" anchor="t" anchorCtr="0">
            <a:normAutofit fontScale="75000" lnSpcReduction="20000"/>
          </a:bodyPr>
          <a:lstStyle/>
          <a:p>
            <a:pPr marL="0" lvl="0" indent="0" algn="l" rtl="0">
              <a:lnSpc>
                <a:spcPct val="170000"/>
              </a:lnSpc>
              <a:spcBef>
                <a:spcPts val="0"/>
              </a:spcBef>
              <a:spcAft>
                <a:spcPts val="0"/>
              </a:spcAft>
              <a:buSzPts val="1400"/>
              <a:buNone/>
            </a:pPr>
            <a:r>
              <a:rPr lang="en-GB" b="1" dirty="0"/>
              <a:t>Advantages of Network Model</a:t>
            </a:r>
          </a:p>
          <a:p>
            <a:pPr marL="254000" lvl="0" indent="-254000" algn="l" rtl="0">
              <a:lnSpc>
                <a:spcPct val="170000"/>
              </a:lnSpc>
              <a:spcBef>
                <a:spcPts val="800"/>
              </a:spcBef>
              <a:spcAft>
                <a:spcPts val="0"/>
              </a:spcAft>
              <a:buSzPts val="1400"/>
            </a:pPr>
            <a:r>
              <a:rPr lang="en-GB" dirty="0"/>
              <a:t>The data can be accessed faster as compared to the hierarchical model. This is because the data is more related in the network model and there can be more than one path to reach a particular node. So the data can be accessed in many ways.</a:t>
            </a:r>
          </a:p>
          <a:p>
            <a:pPr marL="254000" lvl="0" indent="-254000" algn="l" rtl="0">
              <a:lnSpc>
                <a:spcPct val="170000"/>
              </a:lnSpc>
              <a:spcBef>
                <a:spcPts val="800"/>
              </a:spcBef>
              <a:spcAft>
                <a:spcPts val="0"/>
              </a:spcAft>
              <a:buSzPts val="1400"/>
            </a:pPr>
            <a:r>
              <a:rPr lang="en-GB" dirty="0"/>
              <a:t>As there is a parent-child relationship so data integrity is present. Any change in parent record is reflected in the child record.</a:t>
            </a:r>
          </a:p>
          <a:p>
            <a:pPr marL="0" lvl="0" indent="0" algn="l" rtl="0">
              <a:lnSpc>
                <a:spcPct val="170000"/>
              </a:lnSpc>
              <a:spcBef>
                <a:spcPts val="800"/>
              </a:spcBef>
              <a:spcAft>
                <a:spcPts val="0"/>
              </a:spcAft>
              <a:buSzPts val="1400"/>
              <a:buNone/>
            </a:pPr>
            <a:r>
              <a:rPr lang="en-GB" b="1" dirty="0"/>
              <a:t>Disadvantages of Network Model</a:t>
            </a:r>
          </a:p>
          <a:p>
            <a:pPr marL="254000" lvl="0" indent="-254000" algn="l" rtl="0">
              <a:lnSpc>
                <a:spcPct val="170000"/>
              </a:lnSpc>
              <a:spcBef>
                <a:spcPts val="800"/>
              </a:spcBef>
              <a:spcAft>
                <a:spcPts val="0"/>
              </a:spcAft>
              <a:buSzPts val="1400"/>
            </a:pPr>
            <a:r>
              <a:rPr lang="en-GB" dirty="0"/>
              <a:t>As more and more relationships need to be handled the system might get complex. So, a user must be having detailed knowledge of the model to work with the model.</a:t>
            </a:r>
          </a:p>
          <a:p>
            <a:pPr marL="254000" lvl="0" indent="-254000" algn="l" rtl="0">
              <a:lnSpc>
                <a:spcPct val="170000"/>
              </a:lnSpc>
              <a:spcBef>
                <a:spcPts val="800"/>
              </a:spcBef>
              <a:spcAft>
                <a:spcPts val="0"/>
              </a:spcAft>
              <a:buSzPts val="1400"/>
            </a:pPr>
            <a:r>
              <a:rPr lang="en-GB" dirty="0"/>
              <a:t>Any change like </a:t>
            </a:r>
            <a:r>
              <a:rPr lang="en-GB" dirty="0" err="1"/>
              <a:t>updation</a:t>
            </a:r>
            <a:r>
              <a:rPr lang="en-GB" dirty="0"/>
              <a:t>, deletion, insertion is very complex.</a:t>
            </a:r>
          </a:p>
          <a:p>
            <a:pPr marL="254000" lvl="0" indent="-165100" algn="l" rtl="0">
              <a:lnSpc>
                <a:spcPct val="170000"/>
              </a:lnSpc>
              <a:spcBef>
                <a:spcPts val="800"/>
              </a:spcBef>
              <a:spcAft>
                <a:spcPts val="0"/>
              </a:spcAft>
              <a:buSzPts val="1400"/>
              <a:buNone/>
            </a:pPr>
            <a:endParaRPr lang="en-GB"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2"/>
          <p:cNvSpPr txBox="1">
            <a:spLocks noGrp="1"/>
          </p:cNvSpPr>
          <p:nvPr>
            <p:ph type="title"/>
          </p:nvPr>
        </p:nvSpPr>
        <p:spPr>
          <a:xfrm>
            <a:off x="2604800" y="0"/>
            <a:ext cx="8911687" cy="581891"/>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c. Hierarchical Data Model</a:t>
            </a:r>
          </a:p>
        </p:txBody>
      </p:sp>
      <p:sp>
        <p:nvSpPr>
          <p:cNvPr id="632" name="Google Shape;632;p72"/>
          <p:cNvSpPr txBox="1">
            <a:spLocks noGrp="1"/>
          </p:cNvSpPr>
          <p:nvPr>
            <p:ph type="body" idx="1"/>
          </p:nvPr>
        </p:nvSpPr>
        <p:spPr>
          <a:xfrm>
            <a:off x="521073" y="590406"/>
            <a:ext cx="10876800" cy="4572600"/>
          </a:xfrm>
          <a:prstGeom prst="rect">
            <a:avLst/>
          </a:prstGeom>
          <a:noFill/>
          <a:ln>
            <a:noFill/>
          </a:ln>
        </p:spPr>
        <p:txBody>
          <a:bodyPr spcFirstLastPara="1" wrap="square" lIns="91433" tIns="45700" rIns="91433" bIns="45700" anchor="t" anchorCtr="0">
            <a:noAutofit/>
          </a:bodyPr>
          <a:lstStyle/>
          <a:p>
            <a:pPr marL="254000" lvl="0" indent="-273050" algn="l" rtl="0">
              <a:lnSpc>
                <a:spcPct val="150000"/>
              </a:lnSpc>
              <a:spcBef>
                <a:spcPts val="0"/>
              </a:spcBef>
              <a:spcAft>
                <a:spcPts val="0"/>
              </a:spcAft>
              <a:buSzPts val="1700"/>
            </a:pPr>
            <a:r>
              <a:rPr lang="en-GB" sz="2265" dirty="0"/>
              <a:t>This database model organizes data into a tree-like-structure, with a single root, to which all the other data is linked. The hierarchy starts from the Root data, and expands like a tree, adding child nodes to the parent nodes.</a:t>
            </a:r>
            <a:endParaRPr sz="2265"/>
          </a:p>
          <a:p>
            <a:pPr marL="254000" lvl="0" indent="-273050" algn="l" rtl="0">
              <a:lnSpc>
                <a:spcPct val="150000"/>
              </a:lnSpc>
              <a:spcBef>
                <a:spcPts val="800"/>
              </a:spcBef>
              <a:spcAft>
                <a:spcPts val="0"/>
              </a:spcAft>
              <a:buSzPts val="1700"/>
            </a:pPr>
            <a:r>
              <a:rPr lang="en-GB" sz="2265" dirty="0"/>
              <a:t>In this model, a child node will only have a single parent node.</a:t>
            </a:r>
            <a:endParaRPr sz="2265"/>
          </a:p>
          <a:p>
            <a:pPr marL="254000" lvl="0" indent="-273050" algn="l" rtl="0">
              <a:lnSpc>
                <a:spcPct val="150000"/>
              </a:lnSpc>
              <a:spcBef>
                <a:spcPts val="800"/>
              </a:spcBef>
              <a:spcAft>
                <a:spcPts val="0"/>
              </a:spcAft>
              <a:buSzPts val="1700"/>
            </a:pPr>
            <a:r>
              <a:rPr lang="en-GB" sz="2265" dirty="0"/>
              <a:t>This model efficiently describes many real-world relationships like index of a book, recipes etc.</a:t>
            </a:r>
            <a:endParaRPr sz="2265"/>
          </a:p>
          <a:p>
            <a:pPr marL="254000" lvl="0" indent="-273050" algn="l" rtl="0">
              <a:lnSpc>
                <a:spcPct val="150000"/>
              </a:lnSpc>
              <a:spcBef>
                <a:spcPts val="800"/>
              </a:spcBef>
              <a:spcAft>
                <a:spcPts val="0"/>
              </a:spcAft>
              <a:buSzPts val="1700"/>
            </a:pPr>
            <a:r>
              <a:rPr lang="en-GB" sz="2265" dirty="0"/>
              <a:t>In hierarchical model, data is organised into tree-like structure with one </a:t>
            </a:r>
            <a:r>
              <a:rPr lang="en-GB" sz="2265" dirty="0" err="1"/>
              <a:t>one</a:t>
            </a:r>
            <a:r>
              <a:rPr lang="en-GB" sz="2265" dirty="0"/>
              <a:t>-to-many relationship between two different types of data, for example, one department can have many courses, many professors and of-course many students.</a:t>
            </a:r>
            <a:endParaRPr sz="2265"/>
          </a:p>
          <a:p>
            <a:pPr marL="254000" lvl="0" indent="-165100" algn="l" rtl="0">
              <a:lnSpc>
                <a:spcPct val="150000"/>
              </a:lnSpc>
              <a:spcBef>
                <a:spcPts val="800"/>
              </a:spcBef>
              <a:spcAft>
                <a:spcPts val="0"/>
              </a:spcAft>
              <a:buSzPts val="1400"/>
              <a:buNone/>
            </a:pPr>
            <a:endParaRPr sz="2265"/>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3"/>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a:t>Hierarchical Data Model</a:t>
            </a:r>
          </a:p>
        </p:txBody>
      </p:sp>
      <p:pic>
        <p:nvPicPr>
          <p:cNvPr id="638" name="Google Shape;638;p73"/>
          <p:cNvPicPr preferRelativeResize="0">
            <a:picLocks noGrp="1"/>
          </p:cNvPicPr>
          <p:nvPr>
            <p:ph type="body" idx="1"/>
          </p:nvPr>
        </p:nvPicPr>
        <p:blipFill rotWithShape="1">
          <a:blip r:embed="rId3"/>
          <a:srcRect/>
          <a:stretch>
            <a:fillRect/>
          </a:stretch>
        </p:blipFill>
        <p:spPr>
          <a:xfrm>
            <a:off x="1748936" y="1852247"/>
            <a:ext cx="9306000" cy="3716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4"/>
          <p:cNvSpPr txBox="1">
            <a:spLocks noGrp="1"/>
          </p:cNvSpPr>
          <p:nvPr>
            <p:ph type="title"/>
          </p:nvPr>
        </p:nvSpPr>
        <p:spPr>
          <a:xfrm>
            <a:off x="989756" y="1"/>
            <a:ext cx="8911687" cy="605642"/>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Hierarchical Data Model</a:t>
            </a:r>
          </a:p>
        </p:txBody>
      </p:sp>
      <p:sp>
        <p:nvSpPr>
          <p:cNvPr id="644" name="Google Shape;644;p74"/>
          <p:cNvSpPr txBox="1">
            <a:spLocks noGrp="1"/>
          </p:cNvSpPr>
          <p:nvPr>
            <p:ph type="body" idx="1"/>
          </p:nvPr>
        </p:nvSpPr>
        <p:spPr>
          <a:xfrm>
            <a:off x="191832" y="577933"/>
            <a:ext cx="10730889" cy="4611584"/>
          </a:xfrm>
          <a:prstGeom prst="rect">
            <a:avLst/>
          </a:prstGeom>
          <a:noFill/>
          <a:ln>
            <a:noFill/>
          </a:ln>
        </p:spPr>
        <p:txBody>
          <a:bodyPr spcFirstLastPara="1" wrap="square" lIns="91433" tIns="45700" rIns="91433" bIns="45700" anchor="t" anchorCtr="0">
            <a:normAutofit fontScale="97500" lnSpcReduction="10000"/>
          </a:bodyPr>
          <a:lstStyle/>
          <a:p>
            <a:pPr marL="0" lvl="0" indent="0" algn="l" rtl="0">
              <a:spcBef>
                <a:spcPts val="0"/>
              </a:spcBef>
              <a:spcAft>
                <a:spcPts val="0"/>
              </a:spcAft>
              <a:buSzPts val="1400"/>
              <a:buNone/>
            </a:pPr>
            <a:r>
              <a:rPr lang="en-GB" b="1" dirty="0"/>
              <a:t>Advantages of Hierarchical Model</a:t>
            </a:r>
          </a:p>
          <a:p>
            <a:pPr marL="254000" lvl="0" indent="-254000" algn="l" rtl="0">
              <a:spcBef>
                <a:spcPts val="800"/>
              </a:spcBef>
              <a:spcAft>
                <a:spcPts val="0"/>
              </a:spcAft>
              <a:buSzPts val="1400"/>
            </a:pPr>
            <a:r>
              <a:rPr lang="en-GB" dirty="0"/>
              <a:t>It is very simple and fast to traverse through a tree-like structure.</a:t>
            </a:r>
          </a:p>
          <a:p>
            <a:pPr marL="254000" lvl="0" indent="-254000" algn="l" rtl="0">
              <a:spcBef>
                <a:spcPts val="800"/>
              </a:spcBef>
              <a:spcAft>
                <a:spcPts val="0"/>
              </a:spcAft>
              <a:buSzPts val="1400"/>
            </a:pPr>
            <a:r>
              <a:rPr lang="en-GB" dirty="0"/>
              <a:t>Any change in the parent node is automatically reflected in the child node so, the integrity of data is maintained.</a:t>
            </a:r>
          </a:p>
          <a:p>
            <a:pPr marL="254000" lvl="0" indent="-254000" algn="l" rtl="0">
              <a:spcBef>
                <a:spcPts val="800"/>
              </a:spcBef>
              <a:spcAft>
                <a:spcPts val="0"/>
              </a:spcAft>
              <a:buSzPts val="1400"/>
            </a:pPr>
            <a:endParaRPr lang="en-GB" dirty="0"/>
          </a:p>
          <a:p>
            <a:pPr marL="0" lvl="0" indent="0" algn="l" rtl="0">
              <a:spcBef>
                <a:spcPts val="800"/>
              </a:spcBef>
              <a:spcAft>
                <a:spcPts val="0"/>
              </a:spcAft>
              <a:buSzPts val="1400"/>
              <a:buNone/>
            </a:pPr>
            <a:r>
              <a:rPr lang="en-GB" b="1" dirty="0"/>
              <a:t>Disadvantages of Hierarchical Model</a:t>
            </a:r>
          </a:p>
          <a:p>
            <a:pPr marL="254000" lvl="0" indent="-254000" algn="l" rtl="0">
              <a:spcBef>
                <a:spcPts val="800"/>
              </a:spcBef>
              <a:spcAft>
                <a:spcPts val="0"/>
              </a:spcAft>
              <a:buSzPts val="1400"/>
            </a:pPr>
            <a:r>
              <a:rPr lang="en-GB" dirty="0"/>
              <a:t>Complex relationships are not supported.</a:t>
            </a:r>
          </a:p>
          <a:p>
            <a:pPr marL="254000" lvl="0" indent="-254000" algn="l" rtl="0">
              <a:spcBef>
                <a:spcPts val="800"/>
              </a:spcBef>
              <a:spcAft>
                <a:spcPts val="0"/>
              </a:spcAft>
              <a:buSzPts val="1400"/>
            </a:pPr>
            <a:r>
              <a:rPr lang="en-GB" dirty="0"/>
              <a:t>As it does not support more than one parent of the child node so if we have some complex relationship where a child node needs to have two parent node then that can't be represented using this model.</a:t>
            </a:r>
          </a:p>
          <a:p>
            <a:pPr marL="254000" lvl="0" indent="-254000" algn="l" rtl="0">
              <a:spcBef>
                <a:spcPts val="800"/>
              </a:spcBef>
              <a:spcAft>
                <a:spcPts val="0"/>
              </a:spcAft>
              <a:buSzPts val="1400"/>
            </a:pPr>
            <a:r>
              <a:rPr lang="en-GB" dirty="0"/>
              <a:t>If a parent node is deleted then the child node is automatically deleted.</a:t>
            </a:r>
          </a:p>
          <a:p>
            <a:pPr marL="254000" lvl="0" indent="-165100" algn="l" rtl="0">
              <a:spcBef>
                <a:spcPts val="800"/>
              </a:spcBef>
              <a:spcAft>
                <a:spcPts val="0"/>
              </a:spcAft>
              <a:buSzPts val="1400"/>
              <a:buNone/>
            </a:pP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209"/>
            <a:ext cx="9713360" cy="578221"/>
          </a:xfrm>
        </p:spPr>
        <p:txBody>
          <a:bodyPr>
            <a:normAutofit fontScale="90000"/>
          </a:bodyPr>
          <a:lstStyle/>
          <a:p>
            <a:r>
              <a:rPr lang="en-GB" dirty="0">
                <a:solidFill>
                  <a:srgbClr val="C00000"/>
                </a:solidFill>
                <a:latin typeface="Calibri" panose="020F0502020204030204"/>
                <a:ea typeface="Calibri" panose="020F0502020204030204"/>
                <a:cs typeface="Calibri" panose="020F0502020204030204"/>
                <a:sym typeface="Calibri" panose="020F0502020204030204"/>
              </a:rPr>
              <a:t>Database Administrator (DBA) </a:t>
            </a:r>
            <a:endParaRPr lang="en-US" dirty="0"/>
          </a:p>
        </p:txBody>
      </p:sp>
      <p:sp>
        <p:nvSpPr>
          <p:cNvPr id="3" name="Content Placeholder 2"/>
          <p:cNvSpPr>
            <a:spLocks noGrp="1"/>
          </p:cNvSpPr>
          <p:nvPr>
            <p:ph idx="1"/>
          </p:nvPr>
        </p:nvSpPr>
        <p:spPr>
          <a:xfrm>
            <a:off x="609600" y="773430"/>
            <a:ext cx="10972800" cy="4953000"/>
          </a:xfrm>
        </p:spPr>
        <p:txBody>
          <a:bodyPr/>
          <a:lstStyle/>
          <a:p>
            <a:endParaRPr lang="en-GB" dirty="0">
              <a:solidFill>
                <a:srgbClr val="000000"/>
              </a:solidFill>
              <a:latin typeface="Calibri" panose="020F0502020204030204"/>
              <a:ea typeface="Calibri" panose="020F0502020204030204"/>
              <a:cs typeface="Calibri" panose="020F0502020204030204"/>
              <a:sym typeface="Calibri" panose="020F0502020204030204"/>
            </a:endParaRPr>
          </a:p>
          <a:p>
            <a:r>
              <a:rPr lang="en-GB" dirty="0">
                <a:solidFill>
                  <a:srgbClr val="000000"/>
                </a:solidFill>
                <a:latin typeface="Calibri" panose="020F0502020204030204"/>
                <a:ea typeface="Calibri" panose="020F0502020204030204"/>
                <a:cs typeface="Calibri" panose="020F0502020204030204"/>
                <a:sym typeface="Calibri" panose="020F0502020204030204"/>
              </a:rPr>
              <a:t>A Database Administrator (DBA) in Database Management System (DBMS) is an IT professional who works on creating, maintaining, querying, and tuning the database of the organization.</a:t>
            </a:r>
          </a:p>
          <a:p>
            <a:endParaRPr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GB" dirty="0">
                <a:solidFill>
                  <a:srgbClr val="000000"/>
                </a:solidFill>
                <a:latin typeface="Calibri" panose="020F0502020204030204"/>
                <a:ea typeface="Calibri" panose="020F0502020204030204"/>
                <a:cs typeface="Calibri" panose="020F0502020204030204"/>
                <a:sym typeface="Calibri" panose="020F0502020204030204"/>
              </a:rPr>
              <a:t>Role and Duties of Database Administrator (DBA) :</a:t>
            </a:r>
            <a:endParaRPr dirty="0"/>
          </a:p>
          <a:p>
            <a:pPr marL="0" marR="0" lvl="0" indent="0" algn="l" rtl="0">
              <a:spcBef>
                <a:spcPts val="0"/>
              </a:spcBef>
              <a:spcAft>
                <a:spcPts val="0"/>
              </a:spcAft>
              <a:buNone/>
            </a:pPr>
            <a:r>
              <a:rPr lang="en-GB" dirty="0">
                <a:solidFill>
                  <a:srgbClr val="000000"/>
                </a:solidFill>
                <a:latin typeface="Calibri" panose="020F0502020204030204"/>
                <a:ea typeface="Calibri" panose="020F0502020204030204"/>
                <a:cs typeface="Calibri" panose="020F0502020204030204"/>
                <a:sym typeface="Calibri" panose="020F0502020204030204"/>
              </a:rPr>
              <a:t>Decides hardware</a:t>
            </a:r>
            <a:endParaRPr dirty="0"/>
          </a:p>
          <a:p>
            <a:pPr marL="342900" marR="0" lvl="0" indent="-336550" algn="l" rtl="0">
              <a:spcBef>
                <a:spcPts val="0"/>
              </a:spcBef>
              <a:spcAft>
                <a:spcPts val="0"/>
              </a:spcAft>
              <a:buClr>
                <a:srgbClr val="000000"/>
              </a:buClr>
              <a:buSzPts val="2100"/>
              <a:buFont typeface="Arial" panose="020B0604020202020204"/>
              <a:buChar char="•"/>
            </a:pPr>
            <a:r>
              <a:rPr lang="en-GB" dirty="0">
                <a:solidFill>
                  <a:srgbClr val="000000"/>
                </a:solidFill>
                <a:latin typeface="Calibri" panose="020F0502020204030204"/>
                <a:ea typeface="Calibri" panose="020F0502020204030204"/>
                <a:cs typeface="Calibri" panose="020F0502020204030204"/>
                <a:sym typeface="Calibri" panose="020F0502020204030204"/>
              </a:rPr>
              <a:t>Database design</a:t>
            </a:r>
            <a:endParaRPr dirty="0"/>
          </a:p>
          <a:p>
            <a:pPr marL="342900" marR="0" lvl="0" indent="-336550" algn="l" rtl="0">
              <a:spcBef>
                <a:spcPts val="0"/>
              </a:spcBef>
              <a:spcAft>
                <a:spcPts val="0"/>
              </a:spcAft>
              <a:buClr>
                <a:srgbClr val="000000"/>
              </a:buClr>
              <a:buSzPts val="2100"/>
              <a:buFont typeface="Arial" panose="020B0604020202020204"/>
              <a:buChar char="•"/>
            </a:pPr>
            <a:r>
              <a:rPr lang="en-GB" dirty="0">
                <a:solidFill>
                  <a:srgbClr val="000000"/>
                </a:solidFill>
                <a:latin typeface="Calibri" panose="020F0502020204030204"/>
                <a:ea typeface="Calibri" panose="020F0502020204030204"/>
                <a:cs typeface="Calibri" panose="020F0502020204030204"/>
                <a:sym typeface="Calibri" panose="020F0502020204030204"/>
              </a:rPr>
              <a:t>Manages data integrity and security</a:t>
            </a:r>
            <a:endParaRPr dirty="0"/>
          </a:p>
          <a:p>
            <a:pPr marL="342900" marR="0" lvl="0" indent="-336550" algn="l" rtl="0">
              <a:spcBef>
                <a:spcPts val="0"/>
              </a:spcBef>
              <a:spcAft>
                <a:spcPts val="0"/>
              </a:spcAft>
              <a:buClr>
                <a:srgbClr val="000000"/>
              </a:buClr>
              <a:buSzPts val="2100"/>
              <a:buFont typeface="Arial" panose="020B0604020202020204"/>
              <a:buChar char="•"/>
            </a:pPr>
            <a:r>
              <a:rPr lang="en-GB" dirty="0">
                <a:solidFill>
                  <a:srgbClr val="000000"/>
                </a:solidFill>
                <a:latin typeface="Calibri" panose="020F0502020204030204"/>
                <a:ea typeface="Calibri" panose="020F0502020204030204"/>
                <a:cs typeface="Calibri" panose="020F0502020204030204"/>
                <a:sym typeface="Calibri" panose="020F0502020204030204"/>
              </a:rPr>
              <a:t>Database implementation</a:t>
            </a:r>
            <a:endParaRPr dirty="0"/>
          </a:p>
          <a:p>
            <a:pPr marL="342900" marR="0" lvl="0" indent="-336550" algn="l" rtl="0">
              <a:spcBef>
                <a:spcPts val="0"/>
              </a:spcBef>
              <a:spcAft>
                <a:spcPts val="0"/>
              </a:spcAft>
              <a:buClr>
                <a:srgbClr val="000000"/>
              </a:buClr>
              <a:buSzPts val="2100"/>
              <a:buFont typeface="Arial" panose="020B0604020202020204"/>
              <a:buChar char="•"/>
            </a:pPr>
            <a:r>
              <a:rPr lang="en-GB" dirty="0">
                <a:solidFill>
                  <a:srgbClr val="000000"/>
                </a:solidFill>
                <a:latin typeface="Calibri" panose="020F0502020204030204"/>
                <a:ea typeface="Calibri" panose="020F0502020204030204"/>
                <a:cs typeface="Calibri" panose="020F0502020204030204"/>
                <a:sym typeface="Calibri" panose="020F0502020204030204"/>
              </a:rPr>
              <a:t>Query processing performance</a:t>
            </a:r>
            <a:endParaRPr dirty="0"/>
          </a:p>
          <a:p>
            <a:pPr marL="0" marR="0" lvl="0" indent="0" algn="l" rtl="0">
              <a:spcBef>
                <a:spcPts val="0"/>
              </a:spcBef>
              <a:spcAft>
                <a:spcPts val="0"/>
              </a:spcAft>
              <a:buNone/>
            </a:pPr>
            <a:endParaRPr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C00000"/>
                </a:solidFill>
              </a:rPr>
              <a:t>Types of Object Based Data Models</a:t>
            </a:r>
          </a:p>
        </p:txBody>
      </p:sp>
      <p:sp>
        <p:nvSpPr>
          <p:cNvPr id="3" name="Content Placeholder 2"/>
          <p:cNvSpPr>
            <a:spLocks noGrp="1"/>
          </p:cNvSpPr>
          <p:nvPr>
            <p:ph idx="1"/>
          </p:nvPr>
        </p:nvSpPr>
        <p:spPr>
          <a:xfrm>
            <a:off x="838200" y="1489753"/>
            <a:ext cx="10515600" cy="4623371"/>
          </a:xfrm>
        </p:spPr>
        <p:txBody>
          <a:bodyPr>
            <a:normAutofit/>
          </a:bodyPr>
          <a:lstStyle/>
          <a:p>
            <a:pPr marL="514350" indent="-514350">
              <a:buFont typeface="+mj-lt"/>
              <a:buAutoNum type="alphaLcParenR"/>
            </a:pPr>
            <a:r>
              <a:rPr lang="en-US" dirty="0"/>
              <a:t>Entity Relationship </a:t>
            </a:r>
          </a:p>
          <a:p>
            <a:pPr marL="514350" indent="-514350">
              <a:buFont typeface="+mj-lt"/>
              <a:buAutoNum type="alphaLcParenR"/>
            </a:pPr>
            <a:r>
              <a:rPr lang="en-US" dirty="0"/>
              <a:t>Object Oriented </a:t>
            </a:r>
          </a:p>
          <a:p>
            <a:pPr marL="514350" indent="-514350">
              <a:buFont typeface="+mj-lt"/>
              <a:buAutoNum type="alphaLcParenR"/>
            </a:pPr>
            <a:r>
              <a:rPr lang="en-US" dirty="0"/>
              <a:t>Semantic </a:t>
            </a:r>
          </a:p>
          <a:p>
            <a:pPr marL="514350" indent="-514350">
              <a:buFont typeface="+mj-lt"/>
              <a:buAutoNum type="alphaLcParenR"/>
            </a:pPr>
            <a:r>
              <a:rPr lang="en-US" dirty="0"/>
              <a:t>Functional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solidFill>
                  <a:srgbClr val="C00000"/>
                </a:solidFill>
                <a:latin typeface="Calibri" panose="020F0502020204030204"/>
                <a:ea typeface="Calibri" panose="020F0502020204030204"/>
                <a:cs typeface="Calibri" panose="020F0502020204030204"/>
                <a:sym typeface="Calibri" panose="020F0502020204030204"/>
              </a:rPr>
              <a:t>a. Entity-Relationship Data Model</a:t>
            </a:r>
            <a:br>
              <a:rPr b="0" i="0" u="none" strike="noStrike" cap="none" dirty="0">
                <a:solidFill>
                  <a:srgbClr val="C00000"/>
                </a:solidFill>
                <a:latin typeface="Calibri" panose="020F0502020204030204"/>
                <a:ea typeface="Calibri" panose="020F0502020204030204"/>
                <a:cs typeface="Calibri" panose="020F0502020204030204"/>
                <a:sym typeface="Calibri" panose="020F0502020204030204"/>
              </a:rPr>
            </a:br>
            <a:endParaRPr lang="en-US" dirty="0"/>
          </a:p>
        </p:txBody>
      </p:sp>
      <p:sp>
        <p:nvSpPr>
          <p:cNvPr id="3" name="Content Placeholder 2"/>
          <p:cNvSpPr>
            <a:spLocks noGrp="1"/>
          </p:cNvSpPr>
          <p:nvPr>
            <p:ph idx="1"/>
          </p:nvPr>
        </p:nvSpPr>
        <p:spPr/>
        <p:txBody>
          <a:bodyPr/>
          <a:lstStyle/>
          <a:p>
            <a:pPr marL="0" marR="0" lvl="0" indent="0" algn="just" rtl="0">
              <a:spcBef>
                <a:spcPts val="0"/>
              </a:spcBef>
              <a:spcAft>
                <a:spcPts val="0"/>
              </a:spcAft>
              <a:buClr>
                <a:srgbClr val="A53010"/>
              </a:buClr>
              <a:buSzPts val="2100"/>
              <a:buFont typeface="Noto Sans Symbols"/>
              <a:buNone/>
            </a:pPr>
            <a:r>
              <a:rPr lang="en-GB" sz="3200" dirty="0">
                <a:solidFill>
                  <a:srgbClr val="000000"/>
                </a:solidFill>
                <a:latin typeface="Calibri" panose="020F0502020204030204"/>
                <a:ea typeface="Calibri" panose="020F0502020204030204"/>
                <a:cs typeface="Calibri" panose="020F0502020204030204"/>
                <a:sym typeface="Calibri" panose="020F0502020204030204"/>
              </a:rPr>
              <a:t>The </a:t>
            </a:r>
            <a:r>
              <a:rPr lang="en-GB" sz="3200" b="1" dirty="0">
                <a:solidFill>
                  <a:srgbClr val="000000"/>
                </a:solidFill>
                <a:latin typeface="Calibri" panose="020F0502020204030204"/>
                <a:ea typeface="Calibri" panose="020F0502020204030204"/>
                <a:cs typeface="Calibri" panose="020F0502020204030204"/>
                <a:sym typeface="Calibri" panose="020F0502020204030204"/>
              </a:rPr>
              <a:t>entity-relationship model</a:t>
            </a:r>
            <a:r>
              <a:rPr lang="en-GB" sz="3200" dirty="0">
                <a:solidFill>
                  <a:srgbClr val="000000"/>
                </a:solidFill>
                <a:latin typeface="Calibri" panose="020F0502020204030204"/>
                <a:ea typeface="Calibri" panose="020F0502020204030204"/>
                <a:cs typeface="Calibri" panose="020F0502020204030204"/>
                <a:sym typeface="Calibri" panose="020F0502020204030204"/>
              </a:rPr>
              <a:t> has emerged as one of the most popular and widely used techniques in today's databases</a:t>
            </a:r>
            <a:endParaRPr sz="3200" dirty="0"/>
          </a:p>
          <a:p>
            <a:pPr marL="342900" marR="0" lvl="1" indent="0" algn="just" rtl="0">
              <a:spcBef>
                <a:spcPts val="800"/>
              </a:spcBef>
              <a:spcAft>
                <a:spcPts val="0"/>
              </a:spcAft>
              <a:buClr>
                <a:srgbClr val="A53010"/>
              </a:buClr>
              <a:buSzPts val="2100"/>
              <a:buFont typeface="Noto Sans Symbols"/>
              <a:buNone/>
            </a:pPr>
            <a:r>
              <a:rPr lang="en-GB" sz="3200" dirty="0">
                <a:solidFill>
                  <a:srgbClr val="000000"/>
                </a:solidFill>
                <a:latin typeface="Calibri" panose="020F0502020204030204"/>
                <a:ea typeface="Calibri" panose="020F0502020204030204"/>
                <a:cs typeface="Calibri" panose="020F0502020204030204"/>
                <a:sym typeface="Calibri" panose="020F0502020204030204"/>
              </a:rPr>
              <a:t>Describes data in the form of an E-R diagram:</a:t>
            </a:r>
            <a:endParaRPr sz="3200" dirty="0"/>
          </a:p>
          <a:p>
            <a:pPr marL="1028700" marR="0" lvl="2"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Entities are rectangles (“</a:t>
            </a:r>
            <a:r>
              <a:rPr lang="en-GB" sz="3200" i="1" dirty="0">
                <a:solidFill>
                  <a:srgbClr val="000000"/>
                </a:solidFill>
                <a:latin typeface="Calibri" panose="020F0502020204030204"/>
                <a:ea typeface="Calibri" panose="020F0502020204030204"/>
                <a:cs typeface="Calibri" panose="020F0502020204030204"/>
                <a:sym typeface="Calibri" panose="020F0502020204030204"/>
              </a:rPr>
              <a:t>Student</a:t>
            </a:r>
            <a:r>
              <a:rPr lang="en-GB" sz="3200" dirty="0">
                <a:solidFill>
                  <a:srgbClr val="000000"/>
                </a:solidFill>
                <a:latin typeface="Calibri" panose="020F0502020204030204"/>
                <a:ea typeface="Calibri" panose="020F0502020204030204"/>
                <a:cs typeface="Calibri" panose="020F0502020204030204"/>
                <a:sym typeface="Calibri" panose="020F0502020204030204"/>
              </a:rPr>
              <a:t>” and “</a:t>
            </a:r>
            <a:r>
              <a:rPr lang="en-GB" sz="3200" i="1" dirty="0">
                <a:solidFill>
                  <a:srgbClr val="000000"/>
                </a:solidFill>
                <a:latin typeface="Calibri" panose="020F0502020204030204"/>
                <a:ea typeface="Calibri" panose="020F0502020204030204"/>
                <a:cs typeface="Calibri" panose="020F0502020204030204"/>
                <a:sym typeface="Calibri" panose="020F0502020204030204"/>
              </a:rPr>
              <a:t>Department</a:t>
            </a:r>
            <a:r>
              <a:rPr lang="en-GB" sz="3200" dirty="0">
                <a:solidFill>
                  <a:srgbClr val="000000"/>
                </a:solidFill>
                <a:latin typeface="Calibri" panose="020F0502020204030204"/>
                <a:ea typeface="Calibri" panose="020F0502020204030204"/>
                <a:cs typeface="Calibri" panose="020F0502020204030204"/>
                <a:sym typeface="Calibri" panose="020F0502020204030204"/>
              </a:rPr>
              <a:t>”)</a:t>
            </a:r>
            <a:endParaRPr sz="3200" dirty="0"/>
          </a:p>
          <a:p>
            <a:pPr marL="1028700" marR="0" lvl="2"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Relationships are diamonds (“</a:t>
            </a:r>
            <a:r>
              <a:rPr lang="en-GB" sz="3200" i="1" dirty="0">
                <a:solidFill>
                  <a:srgbClr val="000000"/>
                </a:solidFill>
                <a:latin typeface="Calibri" panose="020F0502020204030204"/>
                <a:ea typeface="Calibri" panose="020F0502020204030204"/>
                <a:cs typeface="Calibri" panose="020F0502020204030204"/>
                <a:sym typeface="Calibri" panose="020F0502020204030204"/>
              </a:rPr>
              <a:t>Belongs to</a:t>
            </a:r>
            <a:r>
              <a:rPr lang="en-GB" sz="3200" dirty="0">
                <a:solidFill>
                  <a:srgbClr val="000000"/>
                </a:solidFill>
                <a:latin typeface="Calibri" panose="020F0502020204030204"/>
                <a:ea typeface="Calibri" panose="020F0502020204030204"/>
                <a:cs typeface="Calibri" panose="020F0502020204030204"/>
                <a:sym typeface="Calibri" panose="020F0502020204030204"/>
              </a:rPr>
              <a:t>”)</a:t>
            </a:r>
            <a:endParaRPr sz="3200" dirty="0"/>
          </a:p>
          <a:p>
            <a:pPr marL="1028700" marR="0" lvl="2"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Attributes are ovals (“</a:t>
            </a:r>
            <a:r>
              <a:rPr lang="en-GB" sz="3200" i="1" dirty="0">
                <a:solidFill>
                  <a:srgbClr val="000000"/>
                </a:solidFill>
                <a:latin typeface="Calibri" panose="020F0502020204030204"/>
                <a:ea typeface="Calibri" panose="020F0502020204030204"/>
                <a:cs typeface="Calibri" panose="020F0502020204030204"/>
                <a:sym typeface="Calibri" panose="020F0502020204030204"/>
              </a:rPr>
              <a:t>SSN</a:t>
            </a:r>
            <a:r>
              <a:rPr lang="en-GB" sz="3200" dirty="0">
                <a:solidFill>
                  <a:srgbClr val="000000"/>
                </a:solidFill>
                <a:latin typeface="Calibri" panose="020F0502020204030204"/>
                <a:ea typeface="Calibri" panose="020F0502020204030204"/>
                <a:cs typeface="Calibri" panose="020F0502020204030204"/>
                <a:sym typeface="Calibri" panose="020F0502020204030204"/>
              </a:rPr>
              <a:t>”, “</a:t>
            </a:r>
            <a:r>
              <a:rPr lang="en-GB" sz="3200" i="1" dirty="0">
                <a:solidFill>
                  <a:srgbClr val="000000"/>
                </a:solidFill>
                <a:latin typeface="Calibri" panose="020F0502020204030204"/>
                <a:ea typeface="Calibri" panose="020F0502020204030204"/>
                <a:cs typeface="Calibri" panose="020F0502020204030204"/>
                <a:sym typeface="Calibri" panose="020F0502020204030204"/>
              </a:rPr>
              <a:t>Name</a:t>
            </a:r>
            <a:r>
              <a:rPr lang="en-GB" sz="3200" dirty="0">
                <a:solidFill>
                  <a:srgbClr val="000000"/>
                </a:solidFill>
                <a:latin typeface="Calibri" panose="020F0502020204030204"/>
                <a:ea typeface="Calibri" panose="020F0502020204030204"/>
                <a:cs typeface="Calibri" panose="020F0502020204030204"/>
                <a:sym typeface="Calibri" panose="020F0502020204030204"/>
              </a:rPr>
              <a:t>”)</a:t>
            </a:r>
            <a:endParaRPr sz="3200" dirty="0"/>
          </a:p>
          <a:p>
            <a:pPr marL="1028700" marR="0" lvl="2" indent="-336550" algn="just" rtl="0">
              <a:spcBef>
                <a:spcPts val="800"/>
              </a:spcBef>
              <a:spcAft>
                <a:spcPts val="0"/>
              </a:spcAft>
              <a:buClr>
                <a:srgbClr val="A53010"/>
              </a:buClr>
              <a:buSzPts val="2100"/>
              <a:buFont typeface="Arial" panose="020B0604020202020204"/>
              <a:buChar char="•"/>
            </a:pPr>
            <a:r>
              <a:rPr lang="en-GB" sz="3200" dirty="0">
                <a:solidFill>
                  <a:srgbClr val="000000"/>
                </a:solidFill>
                <a:latin typeface="Calibri" panose="020F0502020204030204"/>
                <a:ea typeface="Calibri" panose="020F0502020204030204"/>
                <a:cs typeface="Calibri" panose="020F0502020204030204"/>
                <a:sym typeface="Calibri" panose="020F0502020204030204"/>
              </a:rPr>
              <a:t>Cardinalities are constraints on relationships (“&gt;” and “|”)</a:t>
            </a:r>
            <a:endParaRPr sz="32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endParaRPr lang="en-US"/>
          </a:p>
        </p:txBody>
      </p:sp>
      <p:sp>
        <p:nvSpPr>
          <p:cNvPr id="499" name="Google Shape;499;p59"/>
          <p:cNvSpPr txBox="1"/>
          <p:nvPr/>
        </p:nvSpPr>
        <p:spPr>
          <a:xfrm>
            <a:off x="3858585" y="366041"/>
            <a:ext cx="4046008" cy="407887"/>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Clr>
                <a:srgbClr val="C00000"/>
              </a:buClr>
              <a:buSzPts val="2400"/>
              <a:buFont typeface="Calibri" panose="020F0502020204030204"/>
              <a:buNone/>
            </a:pPr>
            <a:endParaRPr sz="2400" b="0" i="0" u="none" strike="noStrike" cap="none" dirty="0">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500" name="Google Shape;500;p59"/>
          <p:cNvSpPr txBox="1"/>
          <p:nvPr/>
        </p:nvSpPr>
        <p:spPr>
          <a:xfrm>
            <a:off x="2366123" y="1735192"/>
            <a:ext cx="7459755" cy="4080492"/>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just" rtl="0">
              <a:spcBef>
                <a:spcPts val="0"/>
              </a:spcBef>
              <a:spcAft>
                <a:spcPts val="0"/>
              </a:spcAft>
              <a:buClr>
                <a:srgbClr val="A53010"/>
              </a:buClr>
              <a:buSzPts val="2100"/>
              <a:buFont typeface="Noto Sans Symbols"/>
              <a:buNone/>
            </a:pPr>
            <a:endParaRPr sz="21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78"/>
          <p:cNvSpPr txBox="1">
            <a:spLocks noGrp="1"/>
          </p:cNvSpPr>
          <p:nvPr>
            <p:ph type="title"/>
          </p:nvPr>
        </p:nvSpPr>
        <p:spPr>
          <a:xfrm>
            <a:off x="1251014" y="0"/>
            <a:ext cx="8911687" cy="546265"/>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ER DATA MODEL</a:t>
            </a:r>
          </a:p>
        </p:txBody>
      </p:sp>
      <p:sp>
        <p:nvSpPr>
          <p:cNvPr id="668" name="Google Shape;668;p78"/>
          <p:cNvSpPr txBox="1">
            <a:spLocks noGrp="1"/>
          </p:cNvSpPr>
          <p:nvPr>
            <p:ph type="body" idx="1"/>
          </p:nvPr>
        </p:nvSpPr>
        <p:spPr>
          <a:xfrm>
            <a:off x="772286" y="815439"/>
            <a:ext cx="10521147" cy="5525984"/>
          </a:xfrm>
          <a:prstGeom prst="rect">
            <a:avLst/>
          </a:prstGeom>
          <a:noFill/>
          <a:ln>
            <a:noFill/>
          </a:ln>
        </p:spPr>
        <p:txBody>
          <a:bodyPr spcFirstLastPara="1" wrap="square" lIns="91433" tIns="45700" rIns="91433" bIns="45700" anchor="t" anchorCtr="0">
            <a:normAutofit fontScale="97500"/>
          </a:bodyPr>
          <a:lstStyle/>
          <a:p>
            <a:pPr marL="254000" lvl="0" indent="-259715" algn="l" rtl="0">
              <a:spcBef>
                <a:spcPts val="0"/>
              </a:spcBef>
              <a:spcAft>
                <a:spcPts val="0"/>
              </a:spcAft>
              <a:buSzPct val="100000"/>
            </a:pPr>
            <a:r>
              <a:rPr lang="en-GB" dirty="0"/>
              <a:t>In this database model, relationships are created by dividing object of interest into entity and its characteristics into attributes.</a:t>
            </a:r>
          </a:p>
          <a:p>
            <a:pPr marL="254000" lvl="0" indent="-259715" algn="l" rtl="0">
              <a:spcBef>
                <a:spcPts val="800"/>
              </a:spcBef>
              <a:spcAft>
                <a:spcPts val="0"/>
              </a:spcAft>
              <a:buSzPct val="100000"/>
            </a:pPr>
            <a:r>
              <a:rPr lang="en-GB" dirty="0"/>
              <a:t>Different entities are related using relationships.</a:t>
            </a:r>
          </a:p>
          <a:p>
            <a:pPr marL="254000" lvl="0" indent="-259715" algn="l" rtl="0">
              <a:spcBef>
                <a:spcPts val="800"/>
              </a:spcBef>
              <a:spcAft>
                <a:spcPts val="0"/>
              </a:spcAft>
              <a:buSzPct val="100000"/>
            </a:pPr>
            <a:r>
              <a:rPr lang="en-GB" dirty="0"/>
              <a:t>E-R Models are defined to represent the relationships into pictorial form to make it easier for different stakeholders to understand.</a:t>
            </a:r>
          </a:p>
          <a:p>
            <a:pPr marL="254000" lvl="0" indent="-259715" algn="l" rtl="0">
              <a:spcBef>
                <a:spcPts val="800"/>
              </a:spcBef>
              <a:spcAft>
                <a:spcPts val="0"/>
              </a:spcAft>
              <a:buSzPct val="100000"/>
            </a:pPr>
            <a:r>
              <a:rPr lang="en-GB" dirty="0"/>
              <a:t>This model is good to design a database, which can then be turned into tables in relational model.</a:t>
            </a:r>
          </a:p>
          <a:p>
            <a:pPr marL="254000" lvl="0" indent="-259715" algn="l" rtl="0">
              <a:spcBef>
                <a:spcPts val="800"/>
              </a:spcBef>
              <a:spcAft>
                <a:spcPts val="0"/>
              </a:spcAft>
              <a:buSzPct val="100000"/>
            </a:pPr>
            <a:r>
              <a:rPr lang="en-GB" dirty="0"/>
              <a:t>Let's take an example, If we have to design a School Database, then </a:t>
            </a:r>
            <a:r>
              <a:rPr lang="en-GB" b="1" dirty="0"/>
              <a:t>Student</a:t>
            </a:r>
            <a:r>
              <a:rPr lang="en-GB" dirty="0"/>
              <a:t> will be an </a:t>
            </a:r>
            <a:r>
              <a:rPr lang="en-GB" b="1" dirty="0"/>
              <a:t>entity</a:t>
            </a:r>
            <a:r>
              <a:rPr lang="en-GB" dirty="0"/>
              <a:t> with </a:t>
            </a:r>
            <a:r>
              <a:rPr lang="en-GB" b="1" dirty="0"/>
              <a:t>attributes</a:t>
            </a:r>
            <a:r>
              <a:rPr lang="en-GB" dirty="0"/>
              <a:t> name, age, address etc. As </a:t>
            </a:r>
            <a:r>
              <a:rPr lang="en-GB" b="1" dirty="0"/>
              <a:t>Address</a:t>
            </a:r>
            <a:r>
              <a:rPr lang="en-GB" dirty="0"/>
              <a:t> is generally complex, it can be another </a:t>
            </a:r>
            <a:r>
              <a:rPr lang="en-GB" b="1" dirty="0"/>
              <a:t>entity</a:t>
            </a:r>
            <a:r>
              <a:rPr lang="en-GB" dirty="0"/>
              <a:t> with </a:t>
            </a:r>
            <a:r>
              <a:rPr lang="en-GB" b="1" dirty="0"/>
              <a:t>attributes</a:t>
            </a:r>
            <a:r>
              <a:rPr lang="en-GB" dirty="0"/>
              <a:t> street name, </a:t>
            </a:r>
            <a:r>
              <a:rPr lang="en-GB" dirty="0" err="1"/>
              <a:t>pincode</a:t>
            </a:r>
            <a:r>
              <a:rPr lang="en-GB" dirty="0"/>
              <a:t>, city etc, and there will be a relationship between them.</a:t>
            </a:r>
          </a:p>
          <a:p>
            <a:pPr marL="254000" lvl="0" indent="-259715" algn="l" rtl="0">
              <a:spcBef>
                <a:spcPts val="800"/>
              </a:spcBef>
              <a:spcAft>
                <a:spcPts val="0"/>
              </a:spcAft>
              <a:buSzPct val="100000"/>
            </a:pPr>
            <a:r>
              <a:rPr lang="en-GB" dirty="0"/>
              <a:t>Relationships can also be of different types. </a:t>
            </a:r>
          </a:p>
          <a:p>
            <a:pPr marL="254000" lvl="0" indent="-177800" algn="l" rtl="0">
              <a:spcBef>
                <a:spcPts val="800"/>
              </a:spcBef>
              <a:spcAft>
                <a:spcPts val="0"/>
              </a:spcAft>
              <a:buSzPct val="100000"/>
              <a:buNone/>
            </a:pPr>
            <a:endParaRPr lang="en-GB"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0" name="Picture 99"/>
          <p:cNvPicPr/>
          <p:nvPr/>
        </p:nvPicPr>
        <p:blipFill>
          <a:blip r:embed="rId2"/>
          <a:stretch>
            <a:fillRect/>
          </a:stretch>
        </p:blipFill>
        <p:spPr>
          <a:xfrm>
            <a:off x="447040" y="117475"/>
            <a:ext cx="11410315" cy="6740525"/>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79"/>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dirty="0"/>
              <a:t>ER DATA MODEL</a:t>
            </a:r>
          </a:p>
        </p:txBody>
      </p:sp>
      <p:pic>
        <p:nvPicPr>
          <p:cNvPr id="674" name="Google Shape;674;p79"/>
          <p:cNvPicPr preferRelativeResize="0">
            <a:picLocks noGrp="1"/>
          </p:cNvPicPr>
          <p:nvPr>
            <p:ph type="body" idx="1"/>
          </p:nvPr>
        </p:nvPicPr>
        <p:blipFill rotWithShape="1">
          <a:blip r:embed="rId3"/>
          <a:srcRect/>
          <a:stretch>
            <a:fillRect/>
          </a:stretch>
        </p:blipFill>
        <p:spPr>
          <a:xfrm>
            <a:off x="2794367" y="2429852"/>
            <a:ext cx="7662617" cy="2857500"/>
          </a:xfrm>
          <a:prstGeom prst="rect">
            <a:avLst/>
          </a:prstGeom>
          <a:noFill/>
          <a:ln>
            <a:noFill/>
          </a:ln>
        </p:spPr>
      </p:pic>
      <p:cxnSp>
        <p:nvCxnSpPr>
          <p:cNvPr id="5" name="Elbow Connector 4"/>
          <p:cNvCxnSpPr/>
          <p:nvPr/>
        </p:nvCxnSpPr>
        <p:spPr bwMode="auto">
          <a:xfrm rot="5400000" flipH="1" flipV="1">
            <a:off x="6056416" y="2268187"/>
            <a:ext cx="1995054" cy="593766"/>
          </a:xfrm>
          <a:prstGeom prst="bentConnector3">
            <a:avLst>
              <a:gd name="adj1" fmla="val 50000"/>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a:ln>
        </p:spPr>
      </p:cxnSp>
      <p:sp>
        <p:nvSpPr>
          <p:cNvPr id="6" name="Rectangle 5"/>
          <p:cNvSpPr/>
          <p:nvPr/>
        </p:nvSpPr>
        <p:spPr bwMode="auto">
          <a:xfrm>
            <a:off x="7042068" y="1318161"/>
            <a:ext cx="1413163" cy="344384"/>
          </a:xfrm>
          <a:prstGeom prst="rect">
            <a:avLst/>
          </a:prstGeom>
          <a:no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Entity</a:t>
            </a:r>
          </a:p>
        </p:txBody>
      </p:sp>
      <p:cxnSp>
        <p:nvCxnSpPr>
          <p:cNvPr id="7" name="Elbow Connector 6"/>
          <p:cNvCxnSpPr/>
          <p:nvPr/>
        </p:nvCxnSpPr>
        <p:spPr bwMode="auto">
          <a:xfrm flipV="1">
            <a:off x="9557657" y="1971304"/>
            <a:ext cx="1047008" cy="912420"/>
          </a:xfrm>
          <a:prstGeom prst="bentConnector3">
            <a:avLst>
              <a:gd name="adj1" fmla="val 50000"/>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arrow"/>
          </a:ln>
        </p:spPr>
      </p:cxnSp>
      <p:sp>
        <p:nvSpPr>
          <p:cNvPr id="10" name="Oval 9"/>
          <p:cNvSpPr/>
          <p:nvPr/>
        </p:nvSpPr>
        <p:spPr bwMode="auto">
          <a:xfrm>
            <a:off x="10474035" y="1591294"/>
            <a:ext cx="1531917" cy="605641"/>
          </a:xfrm>
          <a:prstGeom prst="ellipse">
            <a:avLst/>
          </a:prstGeom>
          <a:no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dirty="0">
                <a:ln>
                  <a:noFill/>
                </a:ln>
                <a:solidFill>
                  <a:schemeClr val="tx1"/>
                </a:solidFill>
                <a:effectLst/>
                <a:latin typeface="Arial" panose="020B0604020202020204" pitchFamily="34" charset="0"/>
                <a:ea typeface="SimSun" panose="02010600030101010101" pitchFamily="2" charset="-122"/>
              </a:rPr>
              <a:t>Attribute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STUDENT TABLE</a:t>
            </a:r>
          </a:p>
        </p:txBody>
      </p:sp>
      <p:graphicFrame>
        <p:nvGraphicFramePr>
          <p:cNvPr id="4" name="Content Placeholder 3"/>
          <p:cNvGraphicFramePr>
            <a:graphicFrameLocks noGrp="1"/>
          </p:cNvGraphicFramePr>
          <p:nvPr>
            <p:ph idx="1"/>
          </p:nvPr>
        </p:nvGraphicFramePr>
        <p:xfrm>
          <a:off x="609600" y="1174750"/>
          <a:ext cx="10972800" cy="1905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81000">
                <a:tc>
                  <a:txBody>
                    <a:bodyPr/>
                    <a:lstStyle/>
                    <a:p>
                      <a:pPr>
                        <a:buNone/>
                      </a:pPr>
                      <a:r>
                        <a:rPr lang="en-IN" altLang="en-US"/>
                        <a:t>NAME</a:t>
                      </a:r>
                    </a:p>
                  </a:txBody>
                  <a:tcPr/>
                </a:tc>
                <a:tc>
                  <a:txBody>
                    <a:bodyPr/>
                    <a:lstStyle/>
                    <a:p>
                      <a:pPr>
                        <a:buNone/>
                      </a:pPr>
                      <a:r>
                        <a:rPr lang="en-IN" altLang="en-US"/>
                        <a:t>ID</a:t>
                      </a:r>
                    </a:p>
                  </a:txBody>
                  <a:tcPr/>
                </a:tc>
                <a:tc>
                  <a:txBody>
                    <a:bodyPr/>
                    <a:lstStyle/>
                    <a:p>
                      <a:pPr>
                        <a:buNone/>
                      </a:pPr>
                      <a:r>
                        <a:rPr lang="en-IN" altLang="en-US"/>
                        <a:t>AGE</a:t>
                      </a:r>
                    </a:p>
                  </a:txBody>
                  <a:tcPr/>
                </a:tc>
                <a:tc>
                  <a:txBody>
                    <a:bodyPr/>
                    <a:lstStyle/>
                    <a:p>
                      <a:pPr>
                        <a:buNone/>
                      </a:pPr>
                      <a:r>
                        <a:rPr lang="en-IN" altLang="en-US"/>
                        <a:t>ADRRESS</a:t>
                      </a:r>
                    </a:p>
                  </a:txBody>
                  <a:tcPr/>
                </a:tc>
                <a:extLst>
                  <a:ext uri="{0D108BD9-81ED-4DB2-BD59-A6C34878D82A}">
                    <a16:rowId xmlns:a16="http://schemas.microsoft.com/office/drawing/2014/main" val="10000"/>
                  </a:ext>
                </a:extLst>
              </a:tr>
              <a:tr h="381000">
                <a:tc>
                  <a:txBody>
                    <a:bodyPr/>
                    <a:lstStyle/>
                    <a:p>
                      <a:pPr>
                        <a:buNone/>
                      </a:pPr>
                      <a:r>
                        <a:rPr lang="en-IN" altLang="en-US"/>
                        <a:t>MANAS</a:t>
                      </a:r>
                    </a:p>
                  </a:txBody>
                  <a:tcPr/>
                </a:tc>
                <a:tc>
                  <a:txBody>
                    <a:bodyPr/>
                    <a:lstStyle/>
                    <a:p>
                      <a:pPr>
                        <a:buNone/>
                      </a:pPr>
                      <a:r>
                        <a:rPr lang="en-IN" altLang="en-US"/>
                        <a:t>123</a:t>
                      </a:r>
                    </a:p>
                  </a:txBody>
                  <a:tcPr/>
                </a:tc>
                <a:tc>
                  <a:txBody>
                    <a:bodyPr/>
                    <a:lstStyle/>
                    <a:p>
                      <a:pPr>
                        <a:buNone/>
                      </a:pPr>
                      <a:r>
                        <a:rPr lang="en-IN" altLang="en-US"/>
                        <a:t>22</a:t>
                      </a:r>
                    </a:p>
                  </a:txBody>
                  <a:tcPr/>
                </a:tc>
                <a:tc>
                  <a:txBody>
                    <a:bodyPr/>
                    <a:lstStyle/>
                    <a:p>
                      <a:pPr>
                        <a:buNone/>
                      </a:pPr>
                      <a:r>
                        <a:rPr lang="en-IN" altLang="en-US"/>
                        <a:t>INDORE</a:t>
                      </a:r>
                    </a:p>
                  </a:txBody>
                  <a:tcPr/>
                </a:tc>
                <a:extLst>
                  <a:ext uri="{0D108BD9-81ED-4DB2-BD59-A6C34878D82A}">
                    <a16:rowId xmlns:a16="http://schemas.microsoft.com/office/drawing/2014/main" val="10001"/>
                  </a:ext>
                </a:extLst>
              </a:tr>
              <a:tr h="381000">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extLst>
                  <a:ext uri="{0D108BD9-81ED-4DB2-BD59-A6C34878D82A}">
                    <a16:rowId xmlns:a16="http://schemas.microsoft.com/office/drawing/2014/main" val="10002"/>
                  </a:ext>
                </a:extLst>
              </a:tr>
              <a:tr h="381000">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extLst>
                  <a:ext uri="{0D108BD9-81ED-4DB2-BD59-A6C34878D82A}">
                    <a16:rowId xmlns:a16="http://schemas.microsoft.com/office/drawing/2014/main" val="10003"/>
                  </a:ext>
                </a:extLst>
              </a:tr>
              <a:tr h="381000">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tc>
                  <a:txBody>
                    <a:bodyPr/>
                    <a:lstStyle/>
                    <a:p>
                      <a:pPr>
                        <a:buNone/>
                      </a:pPr>
                      <a:endParaRPr lang="en-US"/>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1" name="Picture 100"/>
          <p:cNvPicPr/>
          <p:nvPr/>
        </p:nvPicPr>
        <p:blipFill>
          <a:blip r:embed="rId2"/>
          <a:stretch>
            <a:fillRect/>
          </a:stretch>
        </p:blipFill>
        <p:spPr>
          <a:xfrm>
            <a:off x="608965" y="190500"/>
            <a:ext cx="10973435" cy="659511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 name="Picture 101"/>
          <p:cNvPicPr/>
          <p:nvPr/>
        </p:nvPicPr>
        <p:blipFill>
          <a:blip r:embed="rId2"/>
          <a:stretch>
            <a:fillRect/>
          </a:stretch>
        </p:blipFill>
        <p:spPr>
          <a:xfrm>
            <a:off x="1117600" y="1153795"/>
            <a:ext cx="1221740" cy="678815"/>
          </a:xfrm>
          <a:prstGeom prst="rect">
            <a:avLst/>
          </a:prstGeom>
          <a:noFill/>
          <a:ln w="9525">
            <a:noFill/>
          </a:ln>
        </p:spPr>
      </p:pic>
      <p:sp>
        <p:nvSpPr>
          <p:cNvPr id="4" name="Text Box 3"/>
          <p:cNvSpPr txBox="1"/>
          <p:nvPr/>
        </p:nvSpPr>
        <p:spPr>
          <a:xfrm>
            <a:off x="3355975" y="1242060"/>
            <a:ext cx="2446020" cy="368300"/>
          </a:xfrm>
          <a:prstGeom prst="rect">
            <a:avLst/>
          </a:prstGeom>
          <a:noFill/>
        </p:spPr>
        <p:txBody>
          <a:bodyPr wrap="square" rtlCol="0">
            <a:spAutoFit/>
          </a:bodyPr>
          <a:lstStyle/>
          <a:p>
            <a:r>
              <a:rPr lang="en-IN" altLang="en-US"/>
              <a:t>KEY ATTRIBUTE</a:t>
            </a:r>
          </a:p>
        </p:txBody>
      </p:sp>
      <p:pic>
        <p:nvPicPr>
          <p:cNvPr id="103" name="Picture 102"/>
          <p:cNvPicPr/>
          <p:nvPr/>
        </p:nvPicPr>
        <p:blipFill>
          <a:blip r:embed="rId3"/>
          <a:stretch>
            <a:fillRect/>
          </a:stretch>
        </p:blipFill>
        <p:spPr>
          <a:xfrm>
            <a:off x="290195" y="2099310"/>
            <a:ext cx="2550160" cy="1473200"/>
          </a:xfrm>
          <a:prstGeom prst="rect">
            <a:avLst/>
          </a:prstGeom>
          <a:noFill/>
          <a:ln w="9525">
            <a:noFill/>
          </a:ln>
        </p:spPr>
      </p:pic>
      <p:sp>
        <p:nvSpPr>
          <p:cNvPr id="5" name="Text Box 4"/>
          <p:cNvSpPr txBox="1"/>
          <p:nvPr/>
        </p:nvSpPr>
        <p:spPr>
          <a:xfrm>
            <a:off x="3129280" y="2668905"/>
            <a:ext cx="3086735" cy="368300"/>
          </a:xfrm>
          <a:prstGeom prst="rect">
            <a:avLst/>
          </a:prstGeom>
          <a:noFill/>
        </p:spPr>
        <p:txBody>
          <a:bodyPr wrap="square" rtlCol="0">
            <a:spAutoFit/>
          </a:bodyPr>
          <a:lstStyle/>
          <a:p>
            <a:r>
              <a:rPr lang="en-IN" altLang="en-US"/>
              <a:t>COMPOSITE  ATTRIBUTE</a:t>
            </a:r>
          </a:p>
        </p:txBody>
      </p:sp>
      <p:pic>
        <p:nvPicPr>
          <p:cNvPr id="104" name="Picture 103"/>
          <p:cNvPicPr/>
          <p:nvPr/>
        </p:nvPicPr>
        <p:blipFill>
          <a:blip r:embed="rId4"/>
          <a:stretch>
            <a:fillRect/>
          </a:stretch>
        </p:blipFill>
        <p:spPr>
          <a:xfrm>
            <a:off x="673735" y="3927475"/>
            <a:ext cx="1247775" cy="889635"/>
          </a:xfrm>
          <a:prstGeom prst="rect">
            <a:avLst/>
          </a:prstGeom>
          <a:noFill/>
          <a:ln w="9525">
            <a:noFill/>
          </a:ln>
        </p:spPr>
      </p:pic>
      <p:pic>
        <p:nvPicPr>
          <p:cNvPr id="105" name="Picture 104"/>
          <p:cNvPicPr/>
          <p:nvPr/>
        </p:nvPicPr>
        <p:blipFill>
          <a:blip r:embed="rId5"/>
          <a:stretch>
            <a:fillRect/>
          </a:stretch>
        </p:blipFill>
        <p:spPr>
          <a:xfrm>
            <a:off x="673100" y="4898390"/>
            <a:ext cx="1248410" cy="1018540"/>
          </a:xfrm>
          <a:prstGeom prst="rect">
            <a:avLst/>
          </a:prstGeom>
          <a:noFill/>
          <a:ln w="9525">
            <a:noFill/>
          </a:ln>
        </p:spPr>
      </p:pic>
      <p:pic>
        <p:nvPicPr>
          <p:cNvPr id="106" name="Picture 105"/>
          <p:cNvPicPr/>
          <p:nvPr/>
        </p:nvPicPr>
        <p:blipFill>
          <a:blip r:embed="rId6"/>
          <a:stretch>
            <a:fillRect/>
          </a:stretch>
        </p:blipFill>
        <p:spPr>
          <a:xfrm>
            <a:off x="7075170" y="283210"/>
            <a:ext cx="5116830" cy="5890895"/>
          </a:xfrm>
          <a:prstGeom prst="rect">
            <a:avLst/>
          </a:prstGeom>
          <a:noFill/>
          <a:ln w="9525">
            <a:noFill/>
          </a:ln>
        </p:spPr>
      </p:pic>
      <p:sp>
        <p:nvSpPr>
          <p:cNvPr id="7" name="Text Box 6"/>
          <p:cNvSpPr txBox="1"/>
          <p:nvPr/>
        </p:nvSpPr>
        <p:spPr>
          <a:xfrm>
            <a:off x="3129280" y="4187825"/>
            <a:ext cx="3221355" cy="368300"/>
          </a:xfrm>
          <a:prstGeom prst="rect">
            <a:avLst/>
          </a:prstGeom>
          <a:noFill/>
        </p:spPr>
        <p:txBody>
          <a:bodyPr wrap="square" rtlCol="0">
            <a:spAutoFit/>
          </a:bodyPr>
          <a:lstStyle/>
          <a:p>
            <a:r>
              <a:rPr lang="en-IN" altLang="en-US"/>
              <a:t>MULTI VALUED  ATTRIBUTE</a:t>
            </a:r>
          </a:p>
        </p:txBody>
      </p:sp>
      <p:sp>
        <p:nvSpPr>
          <p:cNvPr id="8" name="Text Box 7"/>
          <p:cNvSpPr txBox="1"/>
          <p:nvPr/>
        </p:nvSpPr>
        <p:spPr>
          <a:xfrm>
            <a:off x="3129280" y="5295900"/>
            <a:ext cx="2860675" cy="368300"/>
          </a:xfrm>
          <a:prstGeom prst="rect">
            <a:avLst/>
          </a:prstGeom>
          <a:noFill/>
        </p:spPr>
        <p:txBody>
          <a:bodyPr wrap="square" rtlCol="0">
            <a:spAutoFit/>
          </a:bodyPr>
          <a:lstStyle/>
          <a:p>
            <a:r>
              <a:rPr lang="en-IN" altLang="en-US"/>
              <a:t>DERIVED ATTRIBUTE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80"/>
          <p:cNvSpPr txBox="1">
            <a:spLocks noGrp="1"/>
          </p:cNvSpPr>
          <p:nvPr>
            <p:ph type="title"/>
          </p:nvPr>
        </p:nvSpPr>
        <p:spPr>
          <a:xfrm>
            <a:off x="526619" y="0"/>
            <a:ext cx="8911687" cy="563421"/>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ER DATA MODEL</a:t>
            </a:r>
          </a:p>
        </p:txBody>
      </p:sp>
      <p:sp>
        <p:nvSpPr>
          <p:cNvPr id="680" name="Google Shape;680;p80"/>
          <p:cNvSpPr txBox="1">
            <a:spLocks noGrp="1"/>
          </p:cNvSpPr>
          <p:nvPr>
            <p:ph type="body" idx="1"/>
          </p:nvPr>
        </p:nvSpPr>
        <p:spPr>
          <a:xfrm>
            <a:off x="356651" y="767938"/>
            <a:ext cx="10212388" cy="5905994"/>
          </a:xfrm>
          <a:prstGeom prst="rect">
            <a:avLst/>
          </a:prstGeom>
          <a:noFill/>
          <a:ln>
            <a:noFill/>
          </a:ln>
        </p:spPr>
        <p:txBody>
          <a:bodyPr spcFirstLastPara="1" wrap="square" lIns="91433" tIns="45700" rIns="91433" bIns="45700" anchor="t" anchorCtr="0">
            <a:normAutofit fontScale="85000" lnSpcReduction="20000"/>
          </a:bodyPr>
          <a:lstStyle/>
          <a:p>
            <a:pPr marL="0" lvl="0" indent="0" algn="l" rtl="0">
              <a:spcBef>
                <a:spcPts val="0"/>
              </a:spcBef>
              <a:spcAft>
                <a:spcPts val="0"/>
              </a:spcAft>
              <a:buSzPct val="100000"/>
              <a:buNone/>
            </a:pPr>
            <a:r>
              <a:rPr lang="en-GB" sz="3600" b="1" dirty="0">
                <a:latin typeface="Times New Roman" panose="02020603050405020304" pitchFamily="18" charset="0"/>
                <a:cs typeface="Times New Roman" panose="02020603050405020304" pitchFamily="18" charset="0"/>
              </a:rPr>
              <a:t>Advantages of ER Mod</a:t>
            </a:r>
            <a:r>
              <a:rPr lang="en-GB" sz="4600" b="1" dirty="0">
                <a:latin typeface="Times New Roman" panose="02020603050405020304" pitchFamily="18" charset="0"/>
                <a:cs typeface="Times New Roman" panose="02020603050405020304" pitchFamily="18" charset="0"/>
              </a:rPr>
              <a:t>el</a:t>
            </a:r>
          </a:p>
          <a:p>
            <a:pPr marL="254000" lvl="0" indent="-253365" algn="l" rtl="0">
              <a:spcBef>
                <a:spcPts val="800"/>
              </a:spcBef>
              <a:spcAft>
                <a:spcPts val="0"/>
              </a:spcAft>
              <a:buSzPct val="100000"/>
            </a:pPr>
            <a:r>
              <a:rPr lang="en-GB" sz="2900" b="1" dirty="0">
                <a:latin typeface="Times New Roman" panose="02020603050405020304" pitchFamily="18" charset="0"/>
                <a:cs typeface="Times New Roman" panose="02020603050405020304" pitchFamily="18" charset="0"/>
              </a:rPr>
              <a:t>Simple:</a:t>
            </a:r>
            <a:r>
              <a:rPr lang="en-GB" sz="2900" dirty="0">
                <a:latin typeface="Times New Roman" panose="02020603050405020304" pitchFamily="18" charset="0"/>
                <a:cs typeface="Times New Roman" panose="02020603050405020304" pitchFamily="18" charset="0"/>
              </a:rPr>
              <a:t> Conceptually ER Model is very easy to build. If we know the relationship between the attributes and the entities we can easily build the ER Diagram for the model.</a:t>
            </a:r>
          </a:p>
          <a:p>
            <a:pPr marL="254000" lvl="0" indent="-253365" algn="l" rtl="0">
              <a:spcBef>
                <a:spcPts val="800"/>
              </a:spcBef>
              <a:spcAft>
                <a:spcPts val="0"/>
              </a:spcAft>
              <a:buSzPct val="100000"/>
            </a:pPr>
            <a:r>
              <a:rPr lang="en-GB" sz="2900" b="1" dirty="0">
                <a:latin typeface="Times New Roman" panose="02020603050405020304" pitchFamily="18" charset="0"/>
                <a:cs typeface="Times New Roman" panose="02020603050405020304" pitchFamily="18" charset="0"/>
              </a:rPr>
              <a:t>Effective Communication Tool</a:t>
            </a:r>
            <a:r>
              <a:rPr lang="en-GB" sz="2900" dirty="0">
                <a:latin typeface="Times New Roman" panose="02020603050405020304" pitchFamily="18" charset="0"/>
                <a:cs typeface="Times New Roman" panose="02020603050405020304" pitchFamily="18" charset="0"/>
              </a:rPr>
              <a:t>: This model is used widely by the database designers for communicating their ideas.</a:t>
            </a:r>
          </a:p>
          <a:p>
            <a:pPr marL="254000" lvl="0" indent="-253365" algn="l" rtl="0">
              <a:spcBef>
                <a:spcPts val="800"/>
              </a:spcBef>
              <a:spcAft>
                <a:spcPts val="0"/>
              </a:spcAft>
              <a:buSzPct val="100000"/>
            </a:pPr>
            <a:r>
              <a:rPr lang="en-GB" sz="2900" b="1" dirty="0">
                <a:latin typeface="Times New Roman" panose="02020603050405020304" pitchFamily="18" charset="0"/>
                <a:cs typeface="Times New Roman" panose="02020603050405020304" pitchFamily="18" charset="0"/>
              </a:rPr>
              <a:t>Easy Conversion to any Model</a:t>
            </a:r>
            <a:r>
              <a:rPr lang="en-GB" sz="2900" dirty="0">
                <a:latin typeface="Times New Roman" panose="02020603050405020304" pitchFamily="18" charset="0"/>
                <a:cs typeface="Times New Roman" panose="02020603050405020304" pitchFamily="18" charset="0"/>
              </a:rPr>
              <a:t>: This model maps well to the relational model and can be easily converted relational model by converting the ER model to the table. This model can also be converted to any other model like network model, hierarchical model etc.</a:t>
            </a:r>
          </a:p>
          <a:p>
            <a:pPr marL="0" lvl="0" indent="0" algn="l" rtl="0">
              <a:spcBef>
                <a:spcPts val="800"/>
              </a:spcBef>
              <a:spcAft>
                <a:spcPts val="0"/>
              </a:spcAft>
              <a:buSzPct val="100000"/>
              <a:buNone/>
            </a:pPr>
            <a:r>
              <a:rPr lang="en-GB" sz="3600" b="1" dirty="0">
                <a:latin typeface="Times New Roman" panose="02020603050405020304" pitchFamily="18" charset="0"/>
                <a:cs typeface="Times New Roman" panose="02020603050405020304" pitchFamily="18" charset="0"/>
              </a:rPr>
              <a:t>Disadvantages of ER Model</a:t>
            </a:r>
          </a:p>
          <a:p>
            <a:pPr marL="254000" lvl="0" indent="-253365" algn="l" rtl="0">
              <a:spcBef>
                <a:spcPts val="800"/>
              </a:spcBef>
              <a:spcAft>
                <a:spcPts val="0"/>
              </a:spcAft>
              <a:buSzPct val="100000"/>
            </a:pPr>
            <a:r>
              <a:rPr lang="en-GB" sz="2600" b="1" dirty="0">
                <a:latin typeface="Times New Roman" panose="02020603050405020304" pitchFamily="18" charset="0"/>
                <a:cs typeface="Times New Roman" panose="02020603050405020304" pitchFamily="18" charset="0"/>
              </a:rPr>
              <a:t>No industry standard for notation:</a:t>
            </a:r>
            <a:r>
              <a:rPr lang="en-GB" sz="2600" dirty="0">
                <a:latin typeface="Times New Roman" panose="02020603050405020304" pitchFamily="18" charset="0"/>
                <a:cs typeface="Times New Roman" panose="02020603050405020304" pitchFamily="18" charset="0"/>
              </a:rPr>
              <a:t> There is no industry standard for developing an ER model. So one developer might use notations which are not understood by other developers.</a:t>
            </a:r>
          </a:p>
          <a:p>
            <a:pPr marL="254000" lvl="0" indent="-253365" algn="l" rtl="0">
              <a:spcBef>
                <a:spcPts val="800"/>
              </a:spcBef>
              <a:spcAft>
                <a:spcPts val="0"/>
              </a:spcAft>
              <a:buSzPct val="100000"/>
            </a:pPr>
            <a:r>
              <a:rPr lang="en-GB" sz="2600" b="1" dirty="0">
                <a:latin typeface="Times New Roman" panose="02020603050405020304" pitchFamily="18" charset="0"/>
                <a:cs typeface="Times New Roman" panose="02020603050405020304" pitchFamily="18" charset="0"/>
              </a:rPr>
              <a:t>Hidden information:</a:t>
            </a:r>
            <a:r>
              <a:rPr lang="en-GB" sz="2600" dirty="0">
                <a:latin typeface="Times New Roman" panose="02020603050405020304" pitchFamily="18" charset="0"/>
                <a:cs typeface="Times New Roman" panose="02020603050405020304" pitchFamily="18" charset="0"/>
              </a:rPr>
              <a:t> Some information might be lost or hidden in the ER model. As it is a high-level view so there are chances that some details of information might be hidden.</a:t>
            </a:r>
          </a:p>
          <a:p>
            <a:pPr marL="254000" lvl="0" indent="-177800" algn="l" rtl="0">
              <a:spcBef>
                <a:spcPts val="800"/>
              </a:spcBef>
              <a:spcAft>
                <a:spcPts val="0"/>
              </a:spcAft>
              <a:buSzPct val="100000"/>
              <a:buNone/>
            </a:pP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How to Draw ER Diagram</a:t>
            </a:r>
            <a:endParaRPr lang="en-US"/>
          </a:p>
        </p:txBody>
      </p:sp>
      <p:sp>
        <p:nvSpPr>
          <p:cNvPr id="3" name="Content Placeholder 2"/>
          <p:cNvSpPr>
            <a:spLocks noGrp="1"/>
          </p:cNvSpPr>
          <p:nvPr>
            <p:ph idx="1"/>
          </p:nvPr>
        </p:nvSpPr>
        <p:spPr/>
        <p:txBody>
          <a:bodyPr/>
          <a:lstStyle/>
          <a:p>
            <a:r>
              <a:rPr lang="en-US"/>
              <a:t>The very first step is Identifying all the Entities, and place them in a Rectangle, and labeling them accordingly.</a:t>
            </a:r>
          </a:p>
          <a:p>
            <a:r>
              <a:rPr lang="en-US"/>
              <a:t>The next step is to identify the relationship between them and pace them accordingly using the Diamond, and make sure that, Relationships are not connected to each other.</a:t>
            </a:r>
          </a:p>
          <a:p>
            <a:r>
              <a:rPr lang="en-US"/>
              <a:t>Attach attributes to the entities properly.</a:t>
            </a:r>
          </a:p>
          <a:p>
            <a:r>
              <a:rPr lang="en-US"/>
              <a:t>Remove redundant entities and relationships.</a:t>
            </a:r>
          </a:p>
          <a:p>
            <a:r>
              <a:rPr lang="en-US"/>
              <a:t>Add proper colors to highlight the data present in the database.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latin typeface="Calibri" panose="020F0502020204030204"/>
                <a:ea typeface="Calibri" panose="020F0502020204030204"/>
                <a:cs typeface="Calibri" panose="020F0502020204030204"/>
                <a:sym typeface="Calibri" panose="020F0502020204030204"/>
              </a:rPr>
              <a:t>Entity-Relationship Model</a:t>
            </a:r>
            <a:br>
              <a:rPr lang="en-GB" dirty="0">
                <a:solidFill>
                  <a:srgbClr val="C00000"/>
                </a:solidFill>
                <a:latin typeface="Calibri" panose="020F0502020204030204"/>
                <a:ea typeface="Calibri" panose="020F0502020204030204"/>
                <a:cs typeface="Calibri" panose="020F0502020204030204"/>
                <a:sym typeface="Calibri" panose="020F0502020204030204"/>
              </a:rPr>
            </a:br>
            <a:endParaRPr lang="en-US" dirty="0"/>
          </a:p>
        </p:txBody>
      </p:sp>
      <p:pic>
        <p:nvPicPr>
          <p:cNvPr id="510" name="Google Shape;510;p60"/>
          <p:cNvPicPr preferRelativeResize="0">
            <a:picLocks noGrp="1" noChangeAspect="1"/>
          </p:cNvPicPr>
          <p:nvPr>
            <p:ph idx="1"/>
          </p:nvPr>
        </p:nvPicPr>
        <p:blipFill rotWithShape="1">
          <a:blip r:embed="rId2"/>
          <a:srcRect l="1843" t="3659" r="2765" b="6096"/>
          <a:stretch>
            <a:fillRect/>
          </a:stretch>
        </p:blipFill>
        <p:spPr>
          <a:xfrm>
            <a:off x="2823845" y="1930400"/>
            <a:ext cx="6543675" cy="269684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Types of Cardinality</a:t>
            </a:r>
          </a:p>
        </p:txBody>
      </p:sp>
      <p:pic>
        <p:nvPicPr>
          <p:cNvPr id="107" name="Picture 106"/>
          <p:cNvPicPr/>
          <p:nvPr/>
        </p:nvPicPr>
        <p:blipFill>
          <a:blip r:embed="rId2"/>
          <a:stretch>
            <a:fillRect/>
          </a:stretch>
        </p:blipFill>
        <p:spPr>
          <a:xfrm>
            <a:off x="337185" y="773430"/>
            <a:ext cx="6568440" cy="2385060"/>
          </a:xfrm>
          <a:prstGeom prst="rect">
            <a:avLst/>
          </a:prstGeom>
          <a:noFill/>
          <a:ln w="9525">
            <a:noFill/>
          </a:ln>
        </p:spPr>
      </p:pic>
      <p:pic>
        <p:nvPicPr>
          <p:cNvPr id="108" name="Picture 107"/>
          <p:cNvPicPr/>
          <p:nvPr/>
        </p:nvPicPr>
        <p:blipFill>
          <a:blip r:embed="rId3"/>
          <a:stretch>
            <a:fillRect/>
          </a:stretch>
        </p:blipFill>
        <p:spPr>
          <a:xfrm>
            <a:off x="419735" y="3620135"/>
            <a:ext cx="6568440" cy="2385060"/>
          </a:xfrm>
          <a:prstGeom prst="rect">
            <a:avLst/>
          </a:prstGeom>
          <a:noFill/>
          <a:ln w="9525">
            <a:noFill/>
          </a:ln>
        </p:spPr>
      </p:pic>
      <p:sp>
        <p:nvSpPr>
          <p:cNvPr id="4" name="Text Box 3"/>
          <p:cNvSpPr txBox="1"/>
          <p:nvPr/>
        </p:nvSpPr>
        <p:spPr>
          <a:xfrm>
            <a:off x="7071995" y="1367790"/>
            <a:ext cx="3040380" cy="368300"/>
          </a:xfrm>
          <a:prstGeom prst="rect">
            <a:avLst/>
          </a:prstGeom>
          <a:noFill/>
        </p:spPr>
        <p:txBody>
          <a:bodyPr wrap="square" rtlCol="0" anchor="t">
            <a:spAutoFit/>
          </a:bodyPr>
          <a:lstStyle/>
          <a:p>
            <a:r>
              <a:rPr lang="en-IN" altLang="en-US"/>
              <a:t>one</a:t>
            </a:r>
            <a:r>
              <a:rPr lang="en-US"/>
              <a:t> to </a:t>
            </a:r>
            <a:r>
              <a:rPr lang="en-IN" altLang="en-US"/>
              <a:t>one </a:t>
            </a:r>
            <a:r>
              <a:rPr lang="en-US"/>
              <a:t>cardinality</a:t>
            </a:r>
          </a:p>
        </p:txBody>
      </p:sp>
      <p:sp>
        <p:nvSpPr>
          <p:cNvPr id="5" name="Text Box 4"/>
          <p:cNvSpPr txBox="1"/>
          <p:nvPr/>
        </p:nvSpPr>
        <p:spPr>
          <a:xfrm>
            <a:off x="7270750" y="5219065"/>
            <a:ext cx="3040380" cy="368300"/>
          </a:xfrm>
          <a:prstGeom prst="rect">
            <a:avLst/>
          </a:prstGeom>
          <a:noFill/>
        </p:spPr>
        <p:txBody>
          <a:bodyPr wrap="square" rtlCol="0" anchor="t">
            <a:spAutoFit/>
          </a:bodyPr>
          <a:lstStyle/>
          <a:p>
            <a:r>
              <a:rPr lang="en-US"/>
              <a:t>many to many cardinality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9" name="Picture 108"/>
          <p:cNvPicPr/>
          <p:nvPr/>
        </p:nvPicPr>
        <p:blipFill>
          <a:blip r:embed="rId2"/>
          <a:stretch>
            <a:fillRect/>
          </a:stretch>
        </p:blipFill>
        <p:spPr>
          <a:xfrm>
            <a:off x="141605" y="190500"/>
            <a:ext cx="6568440" cy="2385060"/>
          </a:xfrm>
          <a:prstGeom prst="rect">
            <a:avLst/>
          </a:prstGeom>
          <a:noFill/>
          <a:ln w="9525">
            <a:noFill/>
          </a:ln>
        </p:spPr>
      </p:pic>
      <p:pic>
        <p:nvPicPr>
          <p:cNvPr id="110" name="Picture 109"/>
          <p:cNvPicPr/>
          <p:nvPr/>
        </p:nvPicPr>
        <p:blipFill>
          <a:blip r:embed="rId3"/>
          <a:stretch>
            <a:fillRect/>
          </a:stretch>
        </p:blipFill>
        <p:spPr>
          <a:xfrm>
            <a:off x="224155" y="4175760"/>
            <a:ext cx="6568440" cy="2385060"/>
          </a:xfrm>
          <a:prstGeom prst="rect">
            <a:avLst/>
          </a:prstGeom>
          <a:noFill/>
          <a:ln w="9525">
            <a:noFill/>
          </a:ln>
        </p:spPr>
      </p:pic>
      <p:sp>
        <p:nvSpPr>
          <p:cNvPr id="4" name="Text Box 3"/>
          <p:cNvSpPr txBox="1"/>
          <p:nvPr/>
        </p:nvSpPr>
        <p:spPr>
          <a:xfrm>
            <a:off x="7143750" y="5092065"/>
            <a:ext cx="3040380" cy="368300"/>
          </a:xfrm>
          <a:prstGeom prst="rect">
            <a:avLst/>
          </a:prstGeom>
          <a:noFill/>
        </p:spPr>
        <p:txBody>
          <a:bodyPr wrap="square" rtlCol="0" anchor="t">
            <a:spAutoFit/>
          </a:bodyPr>
          <a:lstStyle/>
          <a:p>
            <a:r>
              <a:rPr lang="en-US"/>
              <a:t>many to many cardinality</a:t>
            </a:r>
          </a:p>
        </p:txBody>
      </p:sp>
      <p:sp>
        <p:nvSpPr>
          <p:cNvPr id="5" name="Text Box 4"/>
          <p:cNvSpPr txBox="1"/>
          <p:nvPr/>
        </p:nvSpPr>
        <p:spPr>
          <a:xfrm>
            <a:off x="6962140" y="1000760"/>
            <a:ext cx="3040380" cy="368300"/>
          </a:xfrm>
          <a:prstGeom prst="rect">
            <a:avLst/>
          </a:prstGeom>
          <a:noFill/>
        </p:spPr>
        <p:txBody>
          <a:bodyPr wrap="square" rtlCol="0" anchor="t">
            <a:spAutoFit/>
          </a:bodyPr>
          <a:lstStyle/>
          <a:p>
            <a:r>
              <a:rPr lang="en-US"/>
              <a:t>many to </a:t>
            </a:r>
            <a:r>
              <a:rPr lang="en-IN" altLang="en-US"/>
              <a:t>one </a:t>
            </a:r>
            <a:r>
              <a:rPr lang="en-US"/>
              <a:t>cardinality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Times New Roman" panose="02020603050405020304" pitchFamily="18" charset="0"/>
                <a:cs typeface="Times New Roman" panose="02020603050405020304" pitchFamily="18" charset="0"/>
              </a:rPr>
              <a:t>E-R diagram for the Banking Enterprise</a:t>
            </a:r>
          </a:p>
        </p:txBody>
      </p:sp>
      <p:pic>
        <p:nvPicPr>
          <p:cNvPr id="4" name="Picture 2"/>
          <p:cNvPicPr>
            <a:picLocks noGrp="1" noChangeAspect="1" noChangeArrowheads="1"/>
          </p:cNvPicPr>
          <p:nvPr>
            <p:ph idx="1"/>
          </p:nvPr>
        </p:nvPicPr>
        <p:blipFill>
          <a:blip r:embed="rId2"/>
          <a:srcRect/>
          <a:stretch>
            <a:fillRect/>
          </a:stretch>
        </p:blipFill>
        <p:spPr bwMode="auto">
          <a:xfrm>
            <a:off x="838200" y="1428108"/>
            <a:ext cx="10515600" cy="4896492"/>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85"/>
          <p:cNvSpPr txBox="1">
            <a:spLocks noGrp="1"/>
          </p:cNvSpPr>
          <p:nvPr>
            <p:ph type="title"/>
          </p:nvPr>
        </p:nvSpPr>
        <p:spPr>
          <a:xfrm>
            <a:off x="1144135" y="327228"/>
            <a:ext cx="8911687" cy="1280889"/>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b="1" dirty="0"/>
              <a:t>b. Object-Oriented Data Model</a:t>
            </a:r>
            <a:br>
              <a:rPr lang="en-GB" b="1" dirty="0"/>
            </a:br>
            <a:endParaRPr lang="en-GB" b="1" dirty="0"/>
          </a:p>
        </p:txBody>
      </p:sp>
      <p:sp>
        <p:nvSpPr>
          <p:cNvPr id="710" name="Google Shape;710;p85"/>
          <p:cNvSpPr txBox="1">
            <a:spLocks noGrp="1"/>
          </p:cNvSpPr>
          <p:nvPr>
            <p:ph type="body" idx="1"/>
          </p:nvPr>
        </p:nvSpPr>
        <p:spPr>
          <a:xfrm>
            <a:off x="1128156" y="997527"/>
            <a:ext cx="9165173" cy="4830569"/>
          </a:xfrm>
          <a:prstGeom prst="rect">
            <a:avLst/>
          </a:prstGeom>
          <a:noFill/>
          <a:ln>
            <a:noFill/>
          </a:ln>
        </p:spPr>
        <p:txBody>
          <a:bodyPr spcFirstLastPara="1" wrap="square" lIns="91433" tIns="45700" rIns="91433" bIns="45700" anchor="t" anchorCtr="0">
            <a:normAutofit fontScale="77500" lnSpcReduction="20000"/>
          </a:bodyPr>
          <a:lstStyle/>
          <a:p>
            <a:pPr marL="254000" lvl="0" indent="-254000" algn="l" rtl="0">
              <a:lnSpc>
                <a:spcPct val="170000"/>
              </a:lnSpc>
              <a:spcBef>
                <a:spcPts val="0"/>
              </a:spcBef>
              <a:spcAft>
                <a:spcPts val="0"/>
              </a:spcAft>
              <a:buSzPts val="1400"/>
            </a:pPr>
            <a:r>
              <a:rPr lang="en-GB" dirty="0"/>
              <a:t>The real-world problems are more closely represented through the object-oriented data model. In this model, both the data and relationship are present in a single structure known as an object. </a:t>
            </a:r>
          </a:p>
          <a:p>
            <a:pPr marL="254000" lvl="0" indent="-254000" algn="l" rtl="0">
              <a:lnSpc>
                <a:spcPct val="170000"/>
              </a:lnSpc>
              <a:spcBef>
                <a:spcPts val="800"/>
              </a:spcBef>
              <a:spcAft>
                <a:spcPts val="0"/>
              </a:spcAft>
              <a:buSzPts val="1400"/>
            </a:pPr>
            <a:r>
              <a:rPr lang="en-GB" dirty="0"/>
              <a:t>We can store audio, video, images, etc in the database which was not possible in the relational model(although you can store audio and video in relational database, it is </a:t>
            </a:r>
            <a:r>
              <a:rPr lang="en-GB" dirty="0" err="1"/>
              <a:t>adviced</a:t>
            </a:r>
            <a:r>
              <a:rPr lang="en-GB" dirty="0"/>
              <a:t> not to store in the relational database). </a:t>
            </a:r>
          </a:p>
          <a:p>
            <a:pPr marL="254000" lvl="0" indent="-254000" algn="l" rtl="0">
              <a:lnSpc>
                <a:spcPct val="170000"/>
              </a:lnSpc>
              <a:spcBef>
                <a:spcPts val="800"/>
              </a:spcBef>
              <a:spcAft>
                <a:spcPts val="0"/>
              </a:spcAft>
              <a:buSzPts val="1400"/>
            </a:pPr>
            <a:r>
              <a:rPr lang="en-GB" dirty="0"/>
              <a:t>In this model, two are more objects are connected through links. We use this link to relate one object to other objects.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7"/>
          <p:cNvSpPr txBox="1">
            <a:spLocks noGrp="1"/>
          </p:cNvSpPr>
          <p:nvPr>
            <p:ph type="title"/>
          </p:nvPr>
        </p:nvSpPr>
        <p:spPr>
          <a:xfrm>
            <a:off x="1001632" y="0"/>
            <a:ext cx="8911687" cy="599047"/>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b="1" dirty="0"/>
              <a:t>Object-Oriented Data Model</a:t>
            </a:r>
            <a:r>
              <a:rPr lang="en-IN" altLang="en-GB" b="1" dirty="0"/>
              <a:t>.........</a:t>
            </a:r>
            <a:br>
              <a:rPr lang="en-GB" b="1" dirty="0"/>
            </a:br>
            <a:endParaRPr lang="en-GB" b="1" dirty="0"/>
          </a:p>
        </p:txBody>
      </p:sp>
      <p:sp>
        <p:nvSpPr>
          <p:cNvPr id="722" name="Google Shape;722;p87"/>
          <p:cNvSpPr txBox="1">
            <a:spLocks noGrp="1"/>
          </p:cNvSpPr>
          <p:nvPr>
            <p:ph type="body" idx="1"/>
          </p:nvPr>
        </p:nvSpPr>
        <p:spPr>
          <a:xfrm>
            <a:off x="950417" y="1171699"/>
            <a:ext cx="10248014" cy="5110348"/>
          </a:xfrm>
          <a:prstGeom prst="rect">
            <a:avLst/>
          </a:prstGeom>
          <a:noFill/>
          <a:ln>
            <a:noFill/>
          </a:ln>
        </p:spPr>
        <p:txBody>
          <a:bodyPr spcFirstLastPara="1" wrap="square" lIns="91433" tIns="45700" rIns="91433" bIns="45700" anchor="t" anchorCtr="0">
            <a:normAutofit fontScale="90000" lnSpcReduction="10000"/>
          </a:bodyPr>
          <a:lstStyle/>
          <a:p>
            <a:pPr marL="254000" lvl="0" indent="-254000" algn="l" rtl="0">
              <a:lnSpc>
                <a:spcPct val="150000"/>
              </a:lnSpc>
              <a:spcBef>
                <a:spcPts val="0"/>
              </a:spcBef>
              <a:spcAft>
                <a:spcPts val="0"/>
              </a:spcAft>
              <a:buSzPts val="1400"/>
            </a:pPr>
            <a:r>
              <a:rPr lang="en-GB" sz="3100" dirty="0">
                <a:solidFill>
                  <a:srgbClr val="000000"/>
                </a:solidFill>
                <a:latin typeface="Calibri" panose="020F0502020204030204"/>
                <a:ea typeface="Calibri" panose="020F0502020204030204"/>
                <a:cs typeface="Calibri" panose="020F0502020204030204"/>
                <a:sym typeface="Calibri" panose="020F0502020204030204"/>
              </a:rPr>
              <a:t>In the above example, we have two objects Employee and Department. All the data and relationships of each object are contained as a single unit. The attributes like Name, </a:t>
            </a:r>
            <a:r>
              <a:rPr lang="en-GB" sz="3100" dirty="0" err="1">
                <a:solidFill>
                  <a:srgbClr val="000000"/>
                </a:solidFill>
                <a:latin typeface="Calibri" panose="020F0502020204030204"/>
                <a:ea typeface="Calibri" panose="020F0502020204030204"/>
                <a:cs typeface="Calibri" panose="020F0502020204030204"/>
                <a:sym typeface="Calibri" panose="020F0502020204030204"/>
              </a:rPr>
              <a:t>Job_title</a:t>
            </a:r>
            <a:r>
              <a:rPr lang="en-GB" sz="3100" dirty="0">
                <a:solidFill>
                  <a:srgbClr val="000000"/>
                </a:solidFill>
                <a:latin typeface="Calibri" panose="020F0502020204030204"/>
                <a:ea typeface="Calibri" panose="020F0502020204030204"/>
                <a:cs typeface="Calibri" panose="020F0502020204030204"/>
                <a:sym typeface="Calibri" panose="020F0502020204030204"/>
              </a:rPr>
              <a:t> of the employee and the methods which will be performed by that object are stored as a single object. The two objects are connected through a common attribute </a:t>
            </a:r>
            <a:r>
              <a:rPr lang="en-GB" sz="3100" dirty="0" err="1">
                <a:solidFill>
                  <a:srgbClr val="000000"/>
                </a:solidFill>
                <a:latin typeface="Calibri" panose="020F0502020204030204"/>
                <a:ea typeface="Calibri" panose="020F0502020204030204"/>
                <a:cs typeface="Calibri" panose="020F0502020204030204"/>
                <a:sym typeface="Calibri" panose="020F0502020204030204"/>
              </a:rPr>
              <a:t>i.e</a:t>
            </a:r>
            <a:r>
              <a:rPr lang="en-GB" sz="3100" dirty="0">
                <a:solidFill>
                  <a:srgbClr val="000000"/>
                </a:solidFill>
                <a:latin typeface="Calibri" panose="020F0502020204030204"/>
                <a:ea typeface="Calibri" panose="020F0502020204030204"/>
                <a:cs typeface="Calibri" panose="020F0502020204030204"/>
                <a:sym typeface="Calibri" panose="020F0502020204030204"/>
              </a:rPr>
              <a:t> the </a:t>
            </a:r>
            <a:r>
              <a:rPr lang="en-GB" sz="3100" dirty="0" err="1">
                <a:solidFill>
                  <a:srgbClr val="000000"/>
                </a:solidFill>
                <a:latin typeface="Calibri" panose="020F0502020204030204"/>
                <a:ea typeface="Calibri" panose="020F0502020204030204"/>
                <a:cs typeface="Calibri" panose="020F0502020204030204"/>
                <a:sym typeface="Calibri" panose="020F0502020204030204"/>
              </a:rPr>
              <a:t>Department_id</a:t>
            </a:r>
            <a:r>
              <a:rPr lang="en-GB" sz="3100" dirty="0">
                <a:solidFill>
                  <a:srgbClr val="000000"/>
                </a:solidFill>
                <a:latin typeface="Calibri" panose="020F0502020204030204"/>
                <a:ea typeface="Calibri" panose="020F0502020204030204"/>
                <a:cs typeface="Calibri" panose="020F0502020204030204"/>
                <a:sym typeface="Calibri" panose="020F0502020204030204"/>
              </a:rPr>
              <a:t> and the communication between these two will be done with the help of this common id</a:t>
            </a:r>
            <a:r>
              <a:rPr lang="en-GB" dirty="0"/>
              <a:t>.</a:t>
            </a:r>
          </a:p>
          <a:p>
            <a:pPr marL="0" lvl="0" indent="0" algn="l" rtl="0">
              <a:lnSpc>
                <a:spcPct val="150000"/>
              </a:lnSpc>
              <a:spcBef>
                <a:spcPts val="800"/>
              </a:spcBef>
              <a:spcAft>
                <a:spcPts val="0"/>
              </a:spcAft>
              <a:buSzPts val="1400"/>
              <a:buNone/>
            </a:pPr>
            <a:endParaRPr lang="en-GB"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86"/>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b="1"/>
              <a:t>Object-Oriented Data Model</a:t>
            </a:r>
            <a:br>
              <a:rPr lang="en-GB" b="1"/>
            </a:br>
            <a:endParaRPr lang="en-GB" b="1"/>
          </a:p>
        </p:txBody>
      </p:sp>
      <p:pic>
        <p:nvPicPr>
          <p:cNvPr id="716" name="Google Shape;716;p86"/>
          <p:cNvPicPr preferRelativeResize="0">
            <a:picLocks noGrp="1"/>
          </p:cNvPicPr>
          <p:nvPr>
            <p:ph type="body" idx="1"/>
          </p:nvPr>
        </p:nvPicPr>
        <p:blipFill rotWithShape="1">
          <a:blip r:embed="rId3"/>
          <a:srcRect/>
          <a:stretch>
            <a:fillRect/>
          </a:stretch>
        </p:blipFill>
        <p:spPr>
          <a:xfrm>
            <a:off x="1735015" y="1163782"/>
            <a:ext cx="9231435" cy="523701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 y="320675"/>
            <a:ext cx="10972800" cy="1045788"/>
          </a:xfrm>
        </p:spPr>
        <p:txBody>
          <a:bodyPr>
            <a:normAutofit fontScale="90000"/>
          </a:bodyPr>
          <a:lstStyle/>
          <a:p>
            <a:br>
              <a:rPr lang="en-US" b="1" dirty="0"/>
            </a:br>
            <a:r>
              <a:rPr lang="en-US" b="1" dirty="0"/>
              <a:t>3. Physical Data Models </a:t>
            </a:r>
            <a:br>
              <a:rPr lang="en-US" b="1" dirty="0"/>
            </a:br>
            <a:endParaRPr lang="en-US" b="1" dirty="0"/>
          </a:p>
        </p:txBody>
      </p:sp>
      <p:sp>
        <p:nvSpPr>
          <p:cNvPr id="3" name="Content Placeholder 2"/>
          <p:cNvSpPr>
            <a:spLocks noGrp="1"/>
          </p:cNvSpPr>
          <p:nvPr>
            <p:ph idx="1"/>
          </p:nvPr>
        </p:nvSpPr>
        <p:spPr>
          <a:xfrm>
            <a:off x="295910" y="1561671"/>
            <a:ext cx="10972800" cy="3750067"/>
          </a:xfrm>
        </p:spPr>
        <p:txBody>
          <a:bodyPr/>
          <a:lstStyle/>
          <a:p>
            <a:r>
              <a:rPr lang="en-US" dirty="0">
                <a:sym typeface="+mn-ea"/>
              </a:rPr>
              <a:t>A physical data model is a database-specific model that represents relational data objects (for example, tables, columns, primary and foreign keys) and their relationships.</a:t>
            </a:r>
          </a:p>
          <a:p>
            <a:r>
              <a:rPr lang="en-US" dirty="0">
                <a:sym typeface="+mn-ea"/>
              </a:rPr>
              <a:t>A physical data model can be used to generate DDL statements which can then be deployed to a database server.</a:t>
            </a:r>
          </a:p>
          <a:p>
            <a:r>
              <a:rPr lang="en-US" dirty="0">
                <a:sym typeface="+mn-ea"/>
              </a:rPr>
              <a:t>It describe how data is stored in the computer, representing information such as record structures, record ordering and access paths. </a:t>
            </a:r>
            <a:endParaRPr lang="en-US" dirty="0"/>
          </a:p>
          <a:p>
            <a:r>
              <a:rPr lang="en-US" dirty="0">
                <a:sym typeface="+mn-ea"/>
              </a:rPr>
              <a:t>Less no. of models are there</a:t>
            </a:r>
            <a:r>
              <a:rPr lang="en-IN" altLang="en-US" dirty="0">
                <a:sym typeface="+mn-ea"/>
              </a:rPr>
              <a:t>.</a:t>
            </a:r>
            <a:endParaRPr lang="en-US" dirty="0"/>
          </a:p>
          <a:p>
            <a:endParaRPr lang="en-US" dirty="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135" y="1119882"/>
            <a:ext cx="10972800" cy="5435029"/>
          </a:xfrm>
        </p:spPr>
        <p:txBody>
          <a:bodyPr>
            <a:normAutofit lnSpcReduction="10000"/>
          </a:bodyPr>
          <a:lstStyle/>
          <a:p>
            <a:pPr marL="0" indent="0">
              <a:buNone/>
            </a:pPr>
            <a:endParaRPr lang="en-US" sz="3000" dirty="0"/>
          </a:p>
          <a:p>
            <a:pPr marL="0" indent="0">
              <a:buNone/>
            </a:pPr>
            <a:r>
              <a:rPr lang="en-US" sz="3000" dirty="0"/>
              <a:t>Using the workbench, you can create a physical data model in several ways:</a:t>
            </a:r>
          </a:p>
          <a:p>
            <a:r>
              <a:rPr lang="en-US" sz="3000" dirty="0"/>
              <a:t>Create a blank physical model by using a wizard</a:t>
            </a:r>
          </a:p>
          <a:p>
            <a:r>
              <a:rPr lang="en-US" sz="3000" dirty="0"/>
              <a:t>Create a physical model from a template by using a wizard</a:t>
            </a:r>
          </a:p>
          <a:p>
            <a:r>
              <a:rPr lang="en-US" sz="3000" dirty="0"/>
              <a:t>Reverse engineer a physical model from a database or a DDL file by using a wizard or by dragging data objects from the Data Source Explorer</a:t>
            </a:r>
          </a:p>
          <a:p>
            <a:r>
              <a:rPr lang="en-US" sz="3000" dirty="0"/>
              <a:t>Import a physical data model file from the file system</a:t>
            </a:r>
          </a:p>
          <a:p>
            <a:r>
              <a:rPr lang="en-US" sz="3000" dirty="0"/>
              <a:t>Create a physical model by transforming from a logical data model</a:t>
            </a:r>
          </a:p>
          <a:p>
            <a:r>
              <a:rPr lang="en-US" sz="3000" dirty="0"/>
              <a:t>Structured Query Language (SQL) is used to practically implement Relational Algebra.</a:t>
            </a:r>
          </a:p>
          <a:p>
            <a:endParaRPr lang="en-US" sz="3000" dirty="0"/>
          </a:p>
        </p:txBody>
      </p:sp>
      <p:sp>
        <p:nvSpPr>
          <p:cNvPr id="4" name="Title 3"/>
          <p:cNvSpPr>
            <a:spLocks noGrp="1"/>
          </p:cNvSpPr>
          <p:nvPr>
            <p:ph type="title"/>
          </p:nvPr>
        </p:nvSpPr>
        <p:spPr>
          <a:xfrm>
            <a:off x="538480" y="215900"/>
            <a:ext cx="10972800" cy="277495"/>
          </a:xfrm>
        </p:spPr>
        <p:txBody>
          <a:bodyPr>
            <a:normAutofit fontScale="90000"/>
          </a:bodyPr>
          <a:lstStyle/>
          <a:p>
            <a:r>
              <a:rPr lang="en-US" b="1" dirty="0"/>
              <a:t>3. Physical Data Models</a:t>
            </a:r>
            <a:r>
              <a:rPr lang="en-IN" altLang="en-US" b="1" dirty="0"/>
              <a:t>.</a:t>
            </a:r>
            <a:endParaRPr lang="en-US"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060" y="773430"/>
            <a:ext cx="10972800" cy="4953000"/>
          </a:xfrm>
        </p:spPr>
        <p:txBody>
          <a:bodyPr>
            <a:normAutofit fontScale="92500"/>
          </a:bodyPr>
          <a:lstStyle/>
          <a:p>
            <a:r>
              <a:rPr lang="en-US" sz="2400"/>
              <a:t>This Data Model describes HOW the system will be implemented using a specific DBMS system. This model is typically created by DBA and developers. The purpose is actual implementation of the database.</a:t>
            </a:r>
          </a:p>
          <a:p>
            <a:endParaRPr lang="en-US" sz="2400" b="1"/>
          </a:p>
          <a:p>
            <a:pPr marL="0" indent="0">
              <a:buNone/>
            </a:pPr>
            <a:r>
              <a:rPr lang="en-US" sz="2400" b="1"/>
              <a:t>Characteristics of a physical data model:</a:t>
            </a:r>
          </a:p>
          <a:p>
            <a:r>
              <a:rPr lang="en-US" sz="2400"/>
              <a:t>The physical data model describes data need for a single project or application though it maybe integrated with other physical data models based on project scope.</a:t>
            </a:r>
          </a:p>
          <a:p>
            <a:r>
              <a:rPr lang="en-US" sz="2400"/>
              <a:t>Data Model contains relationships between tables that which addresses cardinality and nullability of the relationships.</a:t>
            </a:r>
          </a:p>
          <a:p>
            <a:r>
              <a:rPr lang="en-US" sz="2400"/>
              <a:t>Developed for a specific version of a DBMS, location, data storage or technology to be used in the project.</a:t>
            </a:r>
          </a:p>
          <a:p>
            <a:r>
              <a:rPr lang="en-US" sz="2400"/>
              <a:t>Columns should have exact datatypes, lengths assigned and default values.</a:t>
            </a:r>
          </a:p>
          <a:p>
            <a:r>
              <a:rPr lang="en-US" sz="2400"/>
              <a:t>Primary and Foreign keys, views, indexes, access profiles, and authorizations, etc. are defined</a:t>
            </a:r>
          </a:p>
        </p:txBody>
      </p:sp>
      <p:sp>
        <p:nvSpPr>
          <p:cNvPr id="4" name="Title 3"/>
          <p:cNvSpPr>
            <a:spLocks noGrp="1"/>
          </p:cNvSpPr>
          <p:nvPr/>
        </p:nvSpPr>
        <p:spPr>
          <a:xfrm>
            <a:off x="538480" y="215900"/>
            <a:ext cx="10972800" cy="277495"/>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b="1" dirty="0"/>
              <a:t>3. Physical Data Models</a:t>
            </a:r>
            <a:r>
              <a:rPr lang="en-IN" altLang="en-US" b="1" dirty="0"/>
              <a:t>.......</a:t>
            </a:r>
            <a:endParaRPr lang="en-US"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dirty="0">
                <a:solidFill>
                  <a:srgbClr val="C00000"/>
                </a:solidFill>
                <a:latin typeface="Calibri" panose="020F0502020204030204"/>
                <a:ea typeface="Calibri" panose="020F0502020204030204"/>
                <a:cs typeface="Calibri" panose="020F0502020204030204"/>
                <a:sym typeface="Calibri" panose="020F0502020204030204"/>
              </a:rPr>
              <a:t>2. </a:t>
            </a:r>
            <a:r>
              <a:rPr lang="en-GB" b="1" dirty="0">
                <a:solidFill>
                  <a:srgbClr val="C00000"/>
                </a:solidFill>
                <a:latin typeface="Calibri" panose="020F0502020204030204"/>
                <a:ea typeface="Calibri" panose="020F0502020204030204"/>
                <a:cs typeface="Calibri" panose="020F0502020204030204"/>
                <a:sym typeface="Calibri" panose="020F0502020204030204"/>
              </a:rPr>
              <a:t>Record-Based Data Models</a:t>
            </a:r>
            <a:br>
              <a:rPr b="1" i="0" u="none" strike="noStrike" cap="none" dirty="0">
                <a:solidFill>
                  <a:srgbClr val="C00000"/>
                </a:solidFill>
                <a:latin typeface="Calibri" panose="020F0502020204030204"/>
                <a:ea typeface="Calibri" panose="020F0502020204030204"/>
                <a:cs typeface="Calibri" panose="020F0502020204030204"/>
                <a:sym typeface="Calibri" panose="020F0502020204030204"/>
              </a:rPr>
            </a:br>
            <a:endParaRPr lang="en-US" b="1"/>
          </a:p>
        </p:txBody>
      </p:sp>
      <p:sp>
        <p:nvSpPr>
          <p:cNvPr id="3" name="Content Placeholder 2"/>
          <p:cNvSpPr>
            <a:spLocks noGrp="1"/>
          </p:cNvSpPr>
          <p:nvPr>
            <p:ph idx="1"/>
          </p:nvPr>
        </p:nvSpPr>
        <p:spPr>
          <a:xfrm>
            <a:off x="597724" y="1428108"/>
            <a:ext cx="10972800" cy="4034624"/>
          </a:xfrm>
        </p:spPr>
        <p:txBody>
          <a:bodyPr>
            <a:normAutofit lnSpcReduction="10000"/>
          </a:bodyPr>
          <a:lstStyle/>
          <a:p>
            <a:pPr marL="0" marR="0" lvl="0" indent="0" algn="just" rtl="0">
              <a:spcBef>
                <a:spcPts val="0"/>
              </a:spcBef>
              <a:spcAft>
                <a:spcPts val="0"/>
              </a:spcAft>
              <a:buClr>
                <a:srgbClr val="A53010"/>
              </a:buClr>
              <a:buSzPts val="2100"/>
              <a:buFont typeface="Noto Sans Symbols"/>
              <a:buNone/>
            </a:pPr>
            <a:r>
              <a:rPr lang="en-GB" sz="2800" b="1" dirty="0">
                <a:solidFill>
                  <a:srgbClr val="000000"/>
                </a:solidFill>
                <a:latin typeface="Calibri" panose="020F0502020204030204"/>
                <a:ea typeface="Calibri" panose="020F0502020204030204"/>
                <a:cs typeface="Calibri" panose="020F0502020204030204"/>
                <a:sym typeface="Calibri" panose="020F0502020204030204"/>
              </a:rPr>
              <a:t>Record-based data models</a:t>
            </a:r>
            <a:r>
              <a:rPr lang="en-GB" sz="2800" dirty="0">
                <a:solidFill>
                  <a:srgbClr val="000000"/>
                </a:solidFill>
                <a:latin typeface="Calibri" panose="020F0502020204030204"/>
                <a:ea typeface="Calibri" panose="020F0502020204030204"/>
                <a:cs typeface="Calibri" panose="020F0502020204030204"/>
                <a:sym typeface="Calibri" panose="020F0502020204030204"/>
              </a:rPr>
              <a:t> use records</a:t>
            </a:r>
            <a:r>
              <a:rPr lang="en-GB" sz="2800" i="1" dirty="0">
                <a:solidFill>
                  <a:srgbClr val="000000"/>
                </a:solidFill>
                <a:latin typeface="Calibri" panose="020F0502020204030204"/>
                <a:ea typeface="Calibri" panose="020F0502020204030204"/>
                <a:cs typeface="Calibri" panose="020F0502020204030204"/>
                <a:sym typeface="Calibri" panose="020F0502020204030204"/>
              </a:rPr>
              <a:t> </a:t>
            </a:r>
            <a:r>
              <a:rPr lang="en-GB" sz="2800" dirty="0">
                <a:solidFill>
                  <a:srgbClr val="000000"/>
                </a:solidFill>
                <a:latin typeface="Calibri" panose="020F0502020204030204"/>
                <a:ea typeface="Calibri" panose="020F0502020204030204"/>
                <a:cs typeface="Calibri" panose="020F0502020204030204"/>
                <a:sym typeface="Calibri" panose="020F0502020204030204"/>
              </a:rPr>
              <a:t>to present data</a:t>
            </a:r>
            <a:endParaRPr sz="2800" dirty="0"/>
          </a:p>
          <a:p>
            <a:pPr marL="342900" marR="0" lvl="1" indent="0" algn="just" rtl="0">
              <a:spcBef>
                <a:spcPts val="800"/>
              </a:spcBef>
              <a:spcAft>
                <a:spcPts val="0"/>
              </a:spcAft>
              <a:buClr>
                <a:srgbClr val="A53010"/>
              </a:buClr>
              <a:buSzPts val="2100"/>
              <a:buFont typeface="Noto Sans Symbols"/>
              <a:buNone/>
            </a:pPr>
            <a:r>
              <a:rPr lang="en-GB" dirty="0">
                <a:solidFill>
                  <a:srgbClr val="000000"/>
                </a:solidFill>
                <a:latin typeface="Calibri" panose="020F0502020204030204"/>
                <a:ea typeface="Calibri" panose="020F0502020204030204"/>
                <a:cs typeface="Calibri" panose="020F0502020204030204"/>
                <a:sym typeface="Calibri" panose="020F0502020204030204"/>
              </a:rPr>
              <a:t>A record is a structure that contains a fixed number of fields to hold a piece of information.</a:t>
            </a:r>
          </a:p>
          <a:p>
            <a:pPr marL="342900" lvl="1" indent="0" algn="just">
              <a:spcBef>
                <a:spcPts val="800"/>
              </a:spcBef>
              <a:spcAft>
                <a:spcPts val="0"/>
              </a:spcAft>
              <a:buClr>
                <a:srgbClr val="A53010"/>
              </a:buClr>
              <a:buSzPts val="2100"/>
              <a:buNone/>
            </a:pPr>
            <a:r>
              <a:rPr lang="en-US" dirty="0">
                <a:solidFill>
                  <a:srgbClr val="000000"/>
                </a:solidFill>
                <a:latin typeface="Calibri" panose="020F0502020204030204"/>
                <a:ea typeface="Calibri" panose="020F0502020204030204"/>
                <a:cs typeface="Calibri" panose="020F0502020204030204"/>
                <a:sym typeface="Calibri" panose="020F0502020204030204"/>
              </a:rPr>
              <a:t> It is used to specify the overall logical structure of the database and to provide a higher-level description of the implementation.  Structured database in fixed formats.</a:t>
            </a:r>
            <a:endParaRPr lang="en-GB" dirty="0">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800"/>
              </a:spcBef>
              <a:spcAft>
                <a:spcPts val="0"/>
              </a:spcAft>
              <a:buClr>
                <a:srgbClr val="A53010"/>
              </a:buClr>
              <a:buSzPts val="2100"/>
              <a:buFont typeface="Noto Sans Symbols"/>
              <a:buNone/>
            </a:pPr>
            <a:r>
              <a:rPr lang="en-GB" sz="2800" dirty="0">
                <a:solidFill>
                  <a:srgbClr val="000000"/>
                </a:solidFill>
                <a:latin typeface="Calibri" panose="020F0502020204030204"/>
                <a:ea typeface="Calibri" panose="020F0502020204030204"/>
                <a:cs typeface="Calibri" panose="020F0502020204030204"/>
                <a:sym typeface="Calibri" panose="020F0502020204030204"/>
              </a:rPr>
              <a:t>There are three main types of record-based data models:</a:t>
            </a:r>
          </a:p>
          <a:p>
            <a:pPr marL="863600" marR="0" lvl="1" indent="-514350" algn="just" rtl="0">
              <a:spcBef>
                <a:spcPts val="800"/>
              </a:spcBef>
              <a:spcAft>
                <a:spcPts val="0"/>
              </a:spcAft>
              <a:buClr>
                <a:srgbClr val="A53010"/>
              </a:buClr>
              <a:buSzPts val="2100"/>
              <a:buFont typeface="+mj-lt"/>
              <a:buAutoNum type="arabicPeriod"/>
            </a:pPr>
            <a:r>
              <a:rPr lang="en-GB" sz="3200" b="1" dirty="0">
                <a:solidFill>
                  <a:srgbClr val="000000"/>
                </a:solidFill>
                <a:latin typeface="Calibri" panose="020F0502020204030204"/>
                <a:ea typeface="Calibri" panose="020F0502020204030204"/>
                <a:cs typeface="Calibri" panose="020F0502020204030204"/>
                <a:sym typeface="Calibri" panose="020F0502020204030204"/>
              </a:rPr>
              <a:t>Relational data models</a:t>
            </a:r>
          </a:p>
          <a:p>
            <a:pPr marL="863600" marR="0" lvl="1" indent="-514350" algn="just" rtl="0">
              <a:spcBef>
                <a:spcPts val="800"/>
              </a:spcBef>
              <a:spcAft>
                <a:spcPts val="0"/>
              </a:spcAft>
              <a:buClr>
                <a:srgbClr val="A53010"/>
              </a:buClr>
              <a:buSzPts val="2100"/>
              <a:buFont typeface="+mj-lt"/>
              <a:buAutoNum type="arabicPeriod"/>
            </a:pPr>
            <a:r>
              <a:rPr lang="en-GB" sz="3200" b="1" dirty="0">
                <a:solidFill>
                  <a:srgbClr val="000000"/>
                </a:solidFill>
                <a:latin typeface="Calibri" panose="020F0502020204030204"/>
                <a:ea typeface="Calibri" panose="020F0502020204030204"/>
                <a:cs typeface="Calibri" panose="020F0502020204030204"/>
                <a:sym typeface="Calibri" panose="020F0502020204030204"/>
              </a:rPr>
              <a:t>Hierarchical data models</a:t>
            </a:r>
          </a:p>
          <a:p>
            <a:pPr marL="863600" marR="0" lvl="1" indent="-514350" algn="just" rtl="0">
              <a:spcBef>
                <a:spcPts val="800"/>
              </a:spcBef>
              <a:spcAft>
                <a:spcPts val="0"/>
              </a:spcAft>
              <a:buClr>
                <a:srgbClr val="A53010"/>
              </a:buClr>
              <a:buSzPts val="2100"/>
              <a:buFont typeface="+mj-lt"/>
              <a:buAutoNum type="arabicPeriod"/>
            </a:pPr>
            <a:r>
              <a:rPr lang="en-GB" sz="3200" b="1" dirty="0">
                <a:solidFill>
                  <a:srgbClr val="000000"/>
                </a:solidFill>
                <a:latin typeface="Calibri" panose="020F0502020204030204"/>
                <a:ea typeface="Calibri" panose="020F0502020204030204"/>
                <a:cs typeface="Calibri" panose="020F0502020204030204"/>
                <a:sym typeface="Calibri" panose="020F0502020204030204"/>
              </a:rPr>
              <a:t>Network data models</a:t>
            </a:r>
          </a:p>
          <a:p>
            <a:pPr marL="685800" marR="0" lvl="1" indent="-336550" algn="just" rtl="0">
              <a:spcBef>
                <a:spcPts val="800"/>
              </a:spcBef>
              <a:spcAft>
                <a:spcPts val="0"/>
              </a:spcAft>
              <a:buClr>
                <a:srgbClr val="A53010"/>
              </a:buClr>
              <a:buSzPts val="2100"/>
              <a:buFont typeface="Arial" panose="020B0604020202020204"/>
              <a:buChar char="•"/>
            </a:pPr>
            <a:endParaRPr b="0" i="1"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a:p>
            <a:pPr marR="0" algn="just" rtl="0">
              <a:spcAft>
                <a:spcPts val="0"/>
              </a:spcAft>
              <a:buClr>
                <a:srgbClr val="A53010"/>
              </a:buClr>
              <a:buSzPts val="2100"/>
            </a:pPr>
            <a:endParaRPr lang="en-US" dirty="0"/>
          </a:p>
        </p:txBody>
      </p:sp>
      <p:sp>
        <p:nvSpPr>
          <p:cNvPr id="520" name="Google Shape;520;p61"/>
          <p:cNvSpPr txBox="1"/>
          <p:nvPr/>
        </p:nvSpPr>
        <p:spPr>
          <a:xfrm>
            <a:off x="4045688" y="190520"/>
            <a:ext cx="3650876" cy="447305"/>
          </a:xfrm>
          <a:prstGeom prst="rect">
            <a:avLst/>
          </a:prstGeom>
          <a:noFill/>
          <a:ln>
            <a:noFill/>
          </a:ln>
        </p:spPr>
        <p:txBody>
          <a:bodyPr spcFirstLastPara="1" wrap="square" lIns="68575" tIns="34275" rIns="68575" bIns="34275"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Clr>
                <a:srgbClr val="C00000"/>
              </a:buClr>
              <a:buSzPts val="2400"/>
              <a:buFont typeface="Calibri" panose="020F0502020204030204"/>
              <a:buNone/>
            </a:pPr>
            <a:endParaRPr sz="2400" b="0" i="0" u="none" strike="noStrike" cap="none" dirty="0">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521" name="Google Shape;521;p61"/>
          <p:cNvSpPr txBox="1"/>
          <p:nvPr/>
        </p:nvSpPr>
        <p:spPr>
          <a:xfrm>
            <a:off x="2217607" y="1748770"/>
            <a:ext cx="7308476" cy="394335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800"/>
              </a:spcBef>
              <a:spcAft>
                <a:spcPts val="0"/>
              </a:spcAft>
              <a:buClr>
                <a:srgbClr val="A53010"/>
              </a:buClr>
              <a:buSzPts val="2100"/>
              <a:buFont typeface="Noto Sans Symbols"/>
              <a:buNone/>
            </a:pPr>
            <a:endParaRPr sz="21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1"/>
          <p:cNvSpPr txBox="1">
            <a:spLocks noGrp="1"/>
          </p:cNvSpPr>
          <p:nvPr>
            <p:ph type="title"/>
          </p:nvPr>
        </p:nvSpPr>
        <p:spPr>
          <a:xfrm>
            <a:off x="2592925" y="160974"/>
            <a:ext cx="8911687" cy="587172"/>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a. Relational Data Model</a:t>
            </a:r>
          </a:p>
        </p:txBody>
      </p:sp>
      <p:sp>
        <p:nvSpPr>
          <p:cNvPr id="686" name="Google Shape;686;p81"/>
          <p:cNvSpPr txBox="1">
            <a:spLocks noGrp="1"/>
          </p:cNvSpPr>
          <p:nvPr>
            <p:ph type="body" idx="1"/>
          </p:nvPr>
        </p:nvSpPr>
        <p:spPr>
          <a:xfrm>
            <a:off x="297451" y="874407"/>
            <a:ext cx="11207100" cy="4407300"/>
          </a:xfrm>
          <a:prstGeom prst="rect">
            <a:avLst/>
          </a:prstGeom>
          <a:noFill/>
          <a:ln>
            <a:noFill/>
          </a:ln>
        </p:spPr>
        <p:txBody>
          <a:bodyPr spcFirstLastPara="1" wrap="square" lIns="91433" tIns="45700" rIns="91433" bIns="45700" anchor="t" anchorCtr="0">
            <a:noAutofit/>
          </a:bodyPr>
          <a:lstStyle/>
          <a:p>
            <a:pPr marL="254000" lvl="0" indent="-298450" algn="l" rtl="0">
              <a:lnSpc>
                <a:spcPct val="150000"/>
              </a:lnSpc>
              <a:spcBef>
                <a:spcPts val="0"/>
              </a:spcBef>
              <a:spcAft>
                <a:spcPts val="0"/>
              </a:spcAft>
              <a:buSzPts val="2100"/>
            </a:pPr>
            <a:r>
              <a:rPr lang="en-GB" sz="2400" dirty="0"/>
              <a:t>In this model, data is organised in two-dimensional tables and the relationship is maintained by storing a common field.</a:t>
            </a:r>
            <a:endParaRPr sz="2400"/>
          </a:p>
          <a:p>
            <a:pPr marL="254000" lvl="0" indent="-298450" algn="l" rtl="0">
              <a:lnSpc>
                <a:spcPct val="150000"/>
              </a:lnSpc>
              <a:spcBef>
                <a:spcPts val="800"/>
              </a:spcBef>
              <a:spcAft>
                <a:spcPts val="0"/>
              </a:spcAft>
              <a:buSzPts val="2100"/>
            </a:pPr>
            <a:r>
              <a:rPr lang="en-GB" sz="2400" dirty="0"/>
              <a:t>This model was introduced by E.F </a:t>
            </a:r>
            <a:r>
              <a:rPr lang="en-GB" sz="2400" dirty="0" err="1"/>
              <a:t>Codd</a:t>
            </a:r>
            <a:r>
              <a:rPr lang="en-GB" sz="2400" dirty="0"/>
              <a:t> in 1970, and since then it has been the most widely used database model, </a:t>
            </a:r>
            <a:r>
              <a:rPr lang="en-GB" sz="2400" dirty="0" err="1"/>
              <a:t>infact</a:t>
            </a:r>
            <a:r>
              <a:rPr lang="en-GB" sz="2400" dirty="0"/>
              <a:t>, we can say the only database model used around the world.</a:t>
            </a:r>
            <a:endParaRPr sz="2400"/>
          </a:p>
          <a:p>
            <a:pPr marL="254000" lvl="0" indent="-298450" algn="l" rtl="0">
              <a:lnSpc>
                <a:spcPct val="150000"/>
              </a:lnSpc>
              <a:spcBef>
                <a:spcPts val="800"/>
              </a:spcBef>
              <a:spcAft>
                <a:spcPts val="0"/>
              </a:spcAft>
              <a:buSzPts val="2100"/>
            </a:pPr>
            <a:r>
              <a:rPr lang="en-GB" sz="2400" dirty="0"/>
              <a:t>The basic structure of data in the relational model is tables. All the information related to a particular type is stored in rows of that table.</a:t>
            </a:r>
            <a:endParaRPr sz="2400"/>
          </a:p>
          <a:p>
            <a:pPr marL="254000" lvl="0" indent="-298450" algn="l" rtl="0">
              <a:lnSpc>
                <a:spcPct val="150000"/>
              </a:lnSpc>
              <a:spcBef>
                <a:spcPts val="800"/>
              </a:spcBef>
              <a:spcAft>
                <a:spcPts val="0"/>
              </a:spcAft>
              <a:buSzPts val="2100"/>
            </a:pPr>
            <a:r>
              <a:rPr lang="en-GB" sz="2400" dirty="0"/>
              <a:t>Hence, tables are also known as relations in relational model.</a:t>
            </a:r>
            <a:endParaRPr sz="2400"/>
          </a:p>
          <a:p>
            <a:pPr marL="0" lvl="0" indent="0" algn="l" rtl="0">
              <a:lnSpc>
                <a:spcPct val="150000"/>
              </a:lnSpc>
              <a:spcBef>
                <a:spcPts val="800"/>
              </a:spcBef>
              <a:spcAft>
                <a:spcPts val="0"/>
              </a:spcAft>
              <a:buSzPts val="1400"/>
              <a:buNone/>
            </a:pPr>
            <a:endParaRPr sz="2400"/>
          </a:p>
          <a:p>
            <a:pPr marL="254000" lvl="0" indent="-165100" algn="l" rtl="0">
              <a:lnSpc>
                <a:spcPct val="150000"/>
              </a:lnSpc>
              <a:spcBef>
                <a:spcPts val="800"/>
              </a:spcBef>
              <a:spcAft>
                <a:spcPts val="0"/>
              </a:spcAft>
              <a:buSzPts val="1400"/>
              <a:buNone/>
            </a:pP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6230"/>
            <a:ext cx="10972800" cy="582613"/>
          </a:xfrm>
        </p:spPr>
        <p:txBody>
          <a:bodyPr>
            <a:normAutofit fontScale="90000"/>
          </a:bodyPr>
          <a:lstStyle/>
          <a:p>
            <a:pPr algn="ctr"/>
            <a:r>
              <a:rPr lang="en-GB" dirty="0">
                <a:solidFill>
                  <a:srgbClr val="00B0F0"/>
                </a:solidFill>
                <a:effectLst>
                  <a:outerShdw blurRad="38100" dist="25400" dir="5400000" algn="ctr" rotWithShape="0">
                    <a:srgbClr val="6E747A">
                      <a:alpha val="43000"/>
                    </a:srgbClr>
                  </a:outerShdw>
                </a:effectLst>
                <a:latin typeface="Calibri" panose="020F0502020204030204"/>
                <a:ea typeface="Calibri" panose="020F0502020204030204"/>
                <a:cs typeface="Calibri" panose="020F0502020204030204"/>
                <a:sym typeface="Calibri" panose="020F0502020204030204"/>
              </a:rPr>
              <a:t>a. Relational Data Models</a:t>
            </a:r>
            <a:br>
              <a:rPr b="0" i="0" u="none" strike="noStrike" cap="none" dirty="0">
                <a:solidFill>
                  <a:srgbClr val="00B0F0"/>
                </a:solidFill>
                <a:effectLst>
                  <a:outerShdw blurRad="38100" dist="25400" dir="5400000" algn="ctr" rotWithShape="0">
                    <a:srgbClr val="6E747A">
                      <a:alpha val="43000"/>
                    </a:srgbClr>
                  </a:outerShdw>
                </a:effectLst>
                <a:latin typeface="Calibri" panose="020F0502020204030204"/>
                <a:ea typeface="Calibri" panose="020F0502020204030204"/>
                <a:cs typeface="Calibri" panose="020F0502020204030204"/>
                <a:sym typeface="Calibri" panose="020F0502020204030204"/>
              </a:rPr>
            </a:br>
            <a:endParaRPr lang="en-US" b="0" i="0" u="none" strike="noStrike" cap="none" dirty="0">
              <a:solidFill>
                <a:srgbClr val="00B0F0"/>
              </a:solidFill>
              <a:effectLst>
                <a:outerShdw blurRad="38100" dist="25400" dir="5400000" algn="ctr" rotWithShape="0">
                  <a:srgbClr val="6E747A">
                    <a:alpha val="43000"/>
                  </a:srgbClr>
                </a:outerShdw>
              </a:effectLst>
              <a:latin typeface="Calibri" panose="020F0502020204030204"/>
              <a:ea typeface="Calibri" panose="020F0502020204030204"/>
              <a:cs typeface="Calibri" panose="020F0502020204030204"/>
              <a:sym typeface="Calibri" panose="020F0502020204030204"/>
            </a:endParaRPr>
          </a:p>
        </p:txBody>
      </p:sp>
      <p:sp>
        <p:nvSpPr>
          <p:cNvPr id="3" name="Content Placeholder 2"/>
          <p:cNvSpPr>
            <a:spLocks noGrp="1"/>
          </p:cNvSpPr>
          <p:nvPr>
            <p:ph idx="1"/>
          </p:nvPr>
        </p:nvSpPr>
        <p:spPr/>
        <p:txBody>
          <a:bodyPr/>
          <a:lstStyle/>
          <a:p>
            <a:pPr marL="0" marR="0" lvl="0" indent="0" algn="just" rtl="0">
              <a:spcBef>
                <a:spcPts val="0"/>
              </a:spcBef>
              <a:spcAft>
                <a:spcPts val="0"/>
              </a:spcAft>
              <a:buClr>
                <a:srgbClr val="A53010"/>
              </a:buClr>
              <a:buSzPts val="2100"/>
              <a:buFont typeface="Noto Sans Symbols"/>
              <a:buNone/>
            </a:pPr>
            <a:r>
              <a:rPr lang="en-GB" dirty="0">
                <a:solidFill>
                  <a:srgbClr val="000000"/>
                </a:solidFill>
                <a:latin typeface="Calibri" panose="020F0502020204030204"/>
                <a:ea typeface="Calibri" panose="020F0502020204030204"/>
                <a:cs typeface="Calibri" panose="020F0502020204030204"/>
                <a:sym typeface="Calibri" panose="020F0502020204030204"/>
              </a:rPr>
              <a:t>Each table consists of a fixed number of named columns (attributes) and an arbitrary number of unnamed rows (records)</a:t>
            </a:r>
            <a:endParaRPr lang="en-US"/>
          </a:p>
        </p:txBody>
      </p:sp>
      <p:sp>
        <p:nvSpPr>
          <p:cNvPr id="531" name="Google Shape;531;p62"/>
          <p:cNvSpPr txBox="1"/>
          <p:nvPr/>
        </p:nvSpPr>
        <p:spPr>
          <a:xfrm>
            <a:off x="4063813" y="1077566"/>
            <a:ext cx="3027269" cy="34447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l" rtl="0">
              <a:spcBef>
                <a:spcPts val="0"/>
              </a:spcBef>
              <a:spcAft>
                <a:spcPts val="0"/>
              </a:spcAft>
              <a:buClr>
                <a:srgbClr val="C00000"/>
              </a:buClr>
              <a:buSzPts val="2400"/>
              <a:buFont typeface="Calibri" panose="020F0502020204030204"/>
              <a:buNone/>
            </a:pPr>
            <a:endParaRPr sz="2400" b="0" i="0" u="none" strike="noStrike" cap="none" dirty="0">
              <a:solidFill>
                <a:srgbClr val="C00000"/>
              </a:solidFill>
              <a:latin typeface="Calibri" panose="020F0502020204030204"/>
              <a:ea typeface="Calibri" panose="020F0502020204030204"/>
              <a:cs typeface="Calibri" panose="020F0502020204030204"/>
              <a:sym typeface="Calibri" panose="020F0502020204030204"/>
            </a:endParaRPr>
          </a:p>
        </p:txBody>
      </p:sp>
      <p:sp>
        <p:nvSpPr>
          <p:cNvPr id="532" name="Google Shape;532;p62"/>
          <p:cNvSpPr txBox="1"/>
          <p:nvPr/>
        </p:nvSpPr>
        <p:spPr>
          <a:xfrm>
            <a:off x="2441762" y="1527823"/>
            <a:ext cx="7308477" cy="635374"/>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just" rtl="0">
              <a:spcBef>
                <a:spcPts val="0"/>
              </a:spcBef>
              <a:spcAft>
                <a:spcPts val="0"/>
              </a:spcAft>
              <a:buClr>
                <a:srgbClr val="A53010"/>
              </a:buClr>
              <a:buSzPts val="2100"/>
              <a:buFont typeface="Noto Sans Symbols"/>
              <a:buNone/>
            </a:pPr>
            <a:endParaRPr sz="2100" b="0" i="0" u="none" strike="noStrike" cap="none" dirty="0">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533" name="Google Shape;533;p62"/>
          <p:cNvPicPr preferRelativeResize="0"/>
          <p:nvPr/>
        </p:nvPicPr>
        <p:blipFill rotWithShape="1">
          <a:blip r:embed="rId2"/>
          <a:srcRect l="4565" t="3391" r="5120" b="3104"/>
          <a:stretch>
            <a:fillRect/>
          </a:stretch>
        </p:blipFill>
        <p:spPr>
          <a:xfrm>
            <a:off x="2818765" y="2948682"/>
            <a:ext cx="8301355" cy="332638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2"/>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a:t>Relational Data Model</a:t>
            </a:r>
          </a:p>
        </p:txBody>
      </p:sp>
      <p:pic>
        <p:nvPicPr>
          <p:cNvPr id="692" name="Google Shape;692;p82"/>
          <p:cNvPicPr preferRelativeResize="0">
            <a:picLocks noGrp="1"/>
          </p:cNvPicPr>
          <p:nvPr>
            <p:ph type="body" idx="1"/>
          </p:nvPr>
        </p:nvPicPr>
        <p:blipFill rotWithShape="1">
          <a:blip r:embed="rId3"/>
          <a:srcRect/>
          <a:stretch>
            <a:fillRect/>
          </a:stretch>
        </p:blipFill>
        <p:spPr>
          <a:xfrm>
            <a:off x="1685575" y="1453675"/>
            <a:ext cx="8175900" cy="44313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3"/>
          <p:cNvSpPr txBox="1">
            <a:spLocks noGrp="1"/>
          </p:cNvSpPr>
          <p:nvPr>
            <p:ph type="title"/>
          </p:nvPr>
        </p:nvSpPr>
        <p:spPr>
          <a:xfrm>
            <a:off x="1476645" y="1"/>
            <a:ext cx="8911687" cy="593766"/>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Relational Data Model</a:t>
            </a:r>
          </a:p>
        </p:txBody>
      </p:sp>
      <p:sp>
        <p:nvSpPr>
          <p:cNvPr id="698" name="Google Shape;698;p83"/>
          <p:cNvSpPr txBox="1">
            <a:spLocks noGrp="1"/>
          </p:cNvSpPr>
          <p:nvPr>
            <p:ph type="body" idx="1"/>
          </p:nvPr>
        </p:nvSpPr>
        <p:spPr>
          <a:xfrm>
            <a:off x="807913" y="494805"/>
            <a:ext cx="8915400" cy="3777623"/>
          </a:xfrm>
          <a:prstGeom prst="rect">
            <a:avLst/>
          </a:prstGeom>
          <a:noFill/>
          <a:ln>
            <a:noFill/>
          </a:ln>
        </p:spPr>
        <p:txBody>
          <a:bodyPr spcFirstLastPara="1" wrap="square" lIns="91433" tIns="45700" rIns="91433" bIns="45700" anchor="t" anchorCtr="0">
            <a:noAutofit/>
          </a:bodyPr>
          <a:lstStyle/>
          <a:p>
            <a:pPr marL="0" lvl="0" indent="0" algn="l" rtl="0">
              <a:spcBef>
                <a:spcPts val="0"/>
              </a:spcBef>
              <a:spcAft>
                <a:spcPts val="0"/>
              </a:spcAft>
              <a:buSzPct val="100000"/>
              <a:buNone/>
            </a:pPr>
            <a:r>
              <a:rPr lang="en-GB" sz="2800" b="1" dirty="0" err="1"/>
              <a:t>Advnatages</a:t>
            </a:r>
            <a:r>
              <a:rPr lang="en-GB" sz="2800" b="1" dirty="0"/>
              <a:t> of Relational Model</a:t>
            </a:r>
          </a:p>
          <a:p>
            <a:pPr marL="254000" lvl="0" indent="-253365" algn="l" rtl="0">
              <a:spcBef>
                <a:spcPts val="800"/>
              </a:spcBef>
              <a:spcAft>
                <a:spcPts val="0"/>
              </a:spcAft>
              <a:buSzPct val="100000"/>
            </a:pPr>
            <a:r>
              <a:rPr lang="en-GB" sz="1800" b="1" i="1" dirty="0"/>
              <a:t>Simple:</a:t>
            </a:r>
            <a:r>
              <a:rPr lang="en-GB" sz="1800" dirty="0"/>
              <a:t> This model is more simple as compared to the network and hierarchical model.</a:t>
            </a:r>
          </a:p>
          <a:p>
            <a:pPr marL="254000" lvl="0" indent="-253365" algn="l" rtl="0">
              <a:spcBef>
                <a:spcPts val="800"/>
              </a:spcBef>
              <a:spcAft>
                <a:spcPts val="0"/>
              </a:spcAft>
              <a:buSzPct val="100000"/>
            </a:pPr>
            <a:r>
              <a:rPr lang="en-GB" sz="1800" b="1" i="1" dirty="0"/>
              <a:t>Scalable: </a:t>
            </a:r>
            <a:r>
              <a:rPr lang="en-GB" sz="1800" dirty="0"/>
              <a:t>This model can be easily scaled as we can add as many rows and columns we want.</a:t>
            </a:r>
          </a:p>
          <a:p>
            <a:pPr marL="254000" lvl="0" indent="-253365" algn="l" rtl="0">
              <a:spcBef>
                <a:spcPts val="800"/>
              </a:spcBef>
              <a:spcAft>
                <a:spcPts val="0"/>
              </a:spcAft>
              <a:buSzPct val="100000"/>
            </a:pPr>
            <a:r>
              <a:rPr lang="en-GB" sz="1800" b="1" i="1" dirty="0"/>
              <a:t>Structural Independence:</a:t>
            </a:r>
            <a:r>
              <a:rPr lang="en-GB" sz="1800" dirty="0"/>
              <a:t> We can make changes in database structure without changing the way to access the data. When we can make changes to the database structure without affecting the capability to DBMS to access the data we can say that structural independence has been achieved.</a:t>
            </a:r>
          </a:p>
          <a:p>
            <a:pPr marL="0" lvl="0" indent="0" algn="l" rtl="0">
              <a:spcBef>
                <a:spcPts val="800"/>
              </a:spcBef>
              <a:spcAft>
                <a:spcPts val="0"/>
              </a:spcAft>
              <a:buSzPct val="100000"/>
              <a:buNone/>
            </a:pPr>
            <a:r>
              <a:rPr lang="en-GB" sz="2400" b="1" dirty="0"/>
              <a:t>Disadvantages of Relational Model</a:t>
            </a:r>
          </a:p>
          <a:p>
            <a:pPr marL="254000" lvl="0" indent="-253365" algn="l" rtl="0">
              <a:spcBef>
                <a:spcPts val="800"/>
              </a:spcBef>
              <a:spcAft>
                <a:spcPts val="0"/>
              </a:spcAft>
              <a:buSzPct val="100000"/>
            </a:pPr>
            <a:r>
              <a:rPr lang="en-GB" sz="1800" b="1" i="1" dirty="0"/>
              <a:t>Hardware Overheads: </a:t>
            </a:r>
            <a:r>
              <a:rPr lang="en-GB" sz="1800" dirty="0"/>
              <a:t>For hiding the complexities and making things easier for the user this model requires more powerful hardware computers and data storage devices.</a:t>
            </a:r>
          </a:p>
          <a:p>
            <a:pPr marL="254000" lvl="0" indent="-253365" algn="l" rtl="0">
              <a:spcBef>
                <a:spcPts val="800"/>
              </a:spcBef>
              <a:spcAft>
                <a:spcPts val="0"/>
              </a:spcAft>
              <a:buSzPct val="100000"/>
            </a:pPr>
            <a:r>
              <a:rPr lang="en-GB" sz="1800" b="1" i="1" dirty="0"/>
              <a:t>Bad Design:</a:t>
            </a:r>
            <a:r>
              <a:rPr lang="en-GB" sz="1800" dirty="0"/>
              <a:t> As the relational model is very easy to design and use. So the users don't need to know how the data is stored in order to access it. This ease of design can lead to the development of a poor database which would slow down if the database grows.</a:t>
            </a:r>
          </a:p>
          <a:p>
            <a:pPr marL="254000" lvl="0" indent="-177800" algn="l" rtl="0">
              <a:spcBef>
                <a:spcPts val="800"/>
              </a:spcBef>
              <a:spcAft>
                <a:spcPts val="0"/>
              </a:spcAft>
              <a:buSzPct val="100000"/>
              <a:buNone/>
            </a:pPr>
            <a:endParaRPr sz="1800"/>
          </a:p>
          <a:p>
            <a:pPr marL="254000" lvl="0" indent="-177800" algn="l" rtl="0">
              <a:spcBef>
                <a:spcPts val="800"/>
              </a:spcBef>
              <a:spcAft>
                <a:spcPts val="0"/>
              </a:spcAft>
              <a:buSzPct val="100000"/>
              <a:buNone/>
            </a:pPr>
            <a:endParaRPr sz="1800"/>
          </a:p>
          <a:p>
            <a:pPr marL="254000" lvl="0" indent="-177800" algn="l" rtl="0">
              <a:spcBef>
                <a:spcPts val="800"/>
              </a:spcBef>
              <a:spcAft>
                <a:spcPts val="0"/>
              </a:spcAft>
              <a:buSzPct val="100000"/>
              <a:buNone/>
            </a:pPr>
            <a:endParaRPr sz="18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4"/>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a:t>Relational Data Model</a:t>
            </a:r>
          </a:p>
        </p:txBody>
      </p:sp>
      <p:sp>
        <p:nvSpPr>
          <p:cNvPr id="704" name="Google Shape;704;p84"/>
          <p:cNvSpPr txBox="1">
            <a:spLocks noGrp="1"/>
          </p:cNvSpPr>
          <p:nvPr>
            <p:ph type="body" idx="1"/>
          </p:nvPr>
        </p:nvSpPr>
        <p:spPr>
          <a:xfrm>
            <a:off x="1556059" y="1480458"/>
            <a:ext cx="8915400" cy="3777623"/>
          </a:xfrm>
          <a:prstGeom prst="rect">
            <a:avLst/>
          </a:prstGeom>
          <a:noFill/>
          <a:ln>
            <a:noFill/>
          </a:ln>
        </p:spPr>
        <p:txBody>
          <a:bodyPr spcFirstLastPara="1" wrap="square" lIns="91433" tIns="45700" rIns="91433" bIns="45700" anchor="t" anchorCtr="0">
            <a:normAutofit/>
          </a:bodyPr>
          <a:lstStyle/>
          <a:p>
            <a:pPr marL="254000" lvl="0" indent="-254000" algn="l" rtl="0">
              <a:spcBef>
                <a:spcPts val="0"/>
              </a:spcBef>
              <a:spcAft>
                <a:spcPts val="0"/>
              </a:spcAft>
              <a:buSzPts val="1400"/>
            </a:pPr>
            <a:r>
              <a:rPr lang="en-GB" sz="2800" dirty="0"/>
              <a:t>But all these disadvantages are minor as compared to the advantages of the relational model. These problems can be avoided with the help of proper implementation and organisation.</a:t>
            </a:r>
            <a:endParaRPr sz="2800" b="1"/>
          </a:p>
          <a:p>
            <a:pPr marL="254000" lvl="0" indent="-165100" algn="l" rtl="0">
              <a:spcBef>
                <a:spcPts val="800"/>
              </a:spcBef>
              <a:spcAft>
                <a:spcPts val="0"/>
              </a:spcAft>
              <a:buSzPts val="1400"/>
              <a:buNone/>
            </a:pPr>
            <a:endParaRPr sz="2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2"/>
          <p:cNvSpPr txBox="1">
            <a:spLocks noGrp="1"/>
          </p:cNvSpPr>
          <p:nvPr>
            <p:ph type="title"/>
          </p:nvPr>
        </p:nvSpPr>
        <p:spPr>
          <a:xfrm>
            <a:off x="2604800" y="0"/>
            <a:ext cx="8911687" cy="581891"/>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IN" altLang="en-GB" dirty="0"/>
              <a:t>b.</a:t>
            </a:r>
            <a:r>
              <a:rPr lang="en-GB" dirty="0"/>
              <a:t>Hierarchical Data Model</a:t>
            </a:r>
          </a:p>
        </p:txBody>
      </p:sp>
      <p:sp>
        <p:nvSpPr>
          <p:cNvPr id="632" name="Google Shape;632;p72"/>
          <p:cNvSpPr txBox="1">
            <a:spLocks noGrp="1"/>
          </p:cNvSpPr>
          <p:nvPr>
            <p:ph type="body" idx="1"/>
          </p:nvPr>
        </p:nvSpPr>
        <p:spPr>
          <a:xfrm>
            <a:off x="521073" y="590406"/>
            <a:ext cx="10876800" cy="4572600"/>
          </a:xfrm>
          <a:prstGeom prst="rect">
            <a:avLst/>
          </a:prstGeom>
          <a:noFill/>
          <a:ln>
            <a:noFill/>
          </a:ln>
        </p:spPr>
        <p:txBody>
          <a:bodyPr spcFirstLastPara="1" wrap="square" lIns="91433" tIns="45700" rIns="91433" bIns="45700" anchor="t" anchorCtr="0">
            <a:noAutofit/>
          </a:bodyPr>
          <a:lstStyle/>
          <a:p>
            <a:pPr marL="254000" lvl="0" indent="-273050" algn="l" rtl="0">
              <a:lnSpc>
                <a:spcPct val="150000"/>
              </a:lnSpc>
              <a:spcBef>
                <a:spcPts val="0"/>
              </a:spcBef>
              <a:spcAft>
                <a:spcPts val="0"/>
              </a:spcAft>
              <a:buSzPts val="1700"/>
            </a:pPr>
            <a:r>
              <a:rPr lang="en-GB" sz="2400" dirty="0"/>
              <a:t>The hierarchical Model is one of the oldest models in the data model which was developed by IBM, in the 1950s. In a hierarchical model, data are viewed as a collection of tables, or we can say segments that form a hierarchical relation. </a:t>
            </a:r>
          </a:p>
          <a:p>
            <a:pPr marL="254000" lvl="0" indent="-273050" algn="l" rtl="0">
              <a:lnSpc>
                <a:spcPct val="150000"/>
              </a:lnSpc>
              <a:spcBef>
                <a:spcPts val="0"/>
              </a:spcBef>
              <a:spcAft>
                <a:spcPts val="0"/>
              </a:spcAft>
              <a:buSzPts val="1700"/>
            </a:pPr>
            <a:r>
              <a:rPr lang="en-GB" sz="2400" dirty="0"/>
              <a:t>This database model organizes data into a tree-like-structure, with a single root, to which all the other data is linked. The hierarchy starts from the Root data, and expands like a tree, adding child nodes to the parent nodes.</a:t>
            </a:r>
            <a:endParaRPr sz="2400"/>
          </a:p>
          <a:p>
            <a:pPr marL="254000" lvl="0" indent="-273050" algn="l" rtl="0">
              <a:lnSpc>
                <a:spcPct val="150000"/>
              </a:lnSpc>
              <a:spcBef>
                <a:spcPts val="800"/>
              </a:spcBef>
              <a:spcAft>
                <a:spcPts val="0"/>
              </a:spcAft>
              <a:buSzPts val="1700"/>
            </a:pPr>
            <a:r>
              <a:rPr lang="en-GB" sz="2400" dirty="0"/>
              <a:t>In this model, a child node will only have a single parent node.</a:t>
            </a:r>
            <a:endParaRPr sz="2400"/>
          </a:p>
          <a:p>
            <a:pPr marL="254000" lvl="0" indent="-273050" algn="l" rtl="0">
              <a:lnSpc>
                <a:spcPct val="150000"/>
              </a:lnSpc>
              <a:spcBef>
                <a:spcPts val="800"/>
              </a:spcBef>
              <a:spcAft>
                <a:spcPts val="0"/>
              </a:spcAft>
              <a:buSzPts val="1700"/>
            </a:pPr>
            <a:r>
              <a:rPr lang="en-GB" sz="2400" dirty="0"/>
              <a:t>This model efficiently describes many real-world relationships like index of a book, recipes etc.</a:t>
            </a:r>
            <a:endParaRPr sz="2400"/>
          </a:p>
          <a:p>
            <a:pPr marL="254000" lvl="0" indent="-165100" algn="l" rtl="0">
              <a:lnSpc>
                <a:spcPct val="150000"/>
              </a:lnSpc>
              <a:spcBef>
                <a:spcPts val="800"/>
              </a:spcBef>
              <a:spcAft>
                <a:spcPts val="0"/>
              </a:spcAft>
              <a:buSzPts val="1400"/>
              <a:buNone/>
            </a:pPr>
            <a:endParaRPr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3"/>
          <p:cNvSpPr txBox="1">
            <a:spLocks noGrp="1"/>
          </p:cNvSpPr>
          <p:nvPr>
            <p:ph type="title"/>
          </p:nvPr>
        </p:nvSpPr>
        <p:spPr>
          <a:xfrm>
            <a:off x="255905" y="89535"/>
            <a:ext cx="8911590" cy="534670"/>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a:t>Hierarchical Data Model</a:t>
            </a:r>
          </a:p>
        </p:txBody>
      </p:sp>
      <p:pic>
        <p:nvPicPr>
          <p:cNvPr id="638" name="Google Shape;638;p73"/>
          <p:cNvPicPr preferRelativeResize="0">
            <a:picLocks noGrp="1"/>
          </p:cNvPicPr>
          <p:nvPr>
            <p:ph type="body" idx="1"/>
          </p:nvPr>
        </p:nvPicPr>
        <p:blipFill rotWithShape="1">
          <a:blip r:embed="rId3"/>
          <a:srcRect/>
          <a:stretch>
            <a:fillRect/>
          </a:stretch>
        </p:blipFill>
        <p:spPr>
          <a:xfrm>
            <a:off x="1900066" y="2880312"/>
            <a:ext cx="9306000" cy="3716100"/>
          </a:xfrm>
          <a:prstGeom prst="rect">
            <a:avLst/>
          </a:prstGeom>
          <a:noFill/>
          <a:ln>
            <a:noFill/>
          </a:ln>
        </p:spPr>
      </p:pic>
      <p:sp>
        <p:nvSpPr>
          <p:cNvPr id="2" name="Text Box 1"/>
          <p:cNvSpPr txBox="1"/>
          <p:nvPr/>
        </p:nvSpPr>
        <p:spPr>
          <a:xfrm>
            <a:off x="255905" y="697865"/>
            <a:ext cx="11807825" cy="1663065"/>
          </a:xfrm>
          <a:prstGeom prst="rect">
            <a:avLst/>
          </a:prstGeom>
          <a:noFill/>
        </p:spPr>
        <p:txBody>
          <a:bodyPr wrap="square" rtlCol="0" anchor="t">
            <a:spAutoFit/>
          </a:bodyPr>
          <a:lstStyle/>
          <a:p>
            <a:pPr marL="254000" lvl="0" indent="-273050" algn="l" rtl="0">
              <a:lnSpc>
                <a:spcPct val="150000"/>
              </a:lnSpc>
              <a:spcBef>
                <a:spcPts val="800"/>
              </a:spcBef>
              <a:spcAft>
                <a:spcPts val="0"/>
              </a:spcAft>
              <a:buSzPts val="1700"/>
            </a:pPr>
            <a:r>
              <a:rPr lang="en-GB" sz="2265" dirty="0">
                <a:sym typeface="+mn-ea"/>
              </a:rPr>
              <a:t>In hierarchical model, data is organised into tree-like structure with one </a:t>
            </a:r>
            <a:r>
              <a:rPr lang="en-GB" sz="2265" dirty="0" err="1">
                <a:sym typeface="+mn-ea"/>
              </a:rPr>
              <a:t>one</a:t>
            </a:r>
            <a:r>
              <a:rPr lang="en-GB" sz="2265" dirty="0">
                <a:sym typeface="+mn-ea"/>
              </a:rPr>
              <a:t>-to-many relationship between two different types of data, for example, one department can have many courses, many professors and of-course many students.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4"/>
          <p:cNvSpPr txBox="1">
            <a:spLocks noGrp="1"/>
          </p:cNvSpPr>
          <p:nvPr>
            <p:ph type="title"/>
          </p:nvPr>
        </p:nvSpPr>
        <p:spPr>
          <a:xfrm>
            <a:off x="989756" y="1"/>
            <a:ext cx="8911687" cy="605642"/>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GB" dirty="0"/>
              <a:t>Hierarchical Data Model</a:t>
            </a:r>
          </a:p>
        </p:txBody>
      </p:sp>
      <p:sp>
        <p:nvSpPr>
          <p:cNvPr id="644" name="Google Shape;644;p74"/>
          <p:cNvSpPr txBox="1">
            <a:spLocks noGrp="1"/>
          </p:cNvSpPr>
          <p:nvPr>
            <p:ph type="body" idx="1"/>
          </p:nvPr>
        </p:nvSpPr>
        <p:spPr>
          <a:xfrm>
            <a:off x="191832" y="577933"/>
            <a:ext cx="10730889" cy="4611584"/>
          </a:xfrm>
          <a:prstGeom prst="rect">
            <a:avLst/>
          </a:prstGeom>
          <a:noFill/>
          <a:ln>
            <a:noFill/>
          </a:ln>
        </p:spPr>
        <p:txBody>
          <a:bodyPr spcFirstLastPara="1" wrap="square" lIns="91433" tIns="45700" rIns="91433" bIns="45700" anchor="t" anchorCtr="0">
            <a:normAutofit fontScale="97500" lnSpcReduction="10000"/>
          </a:bodyPr>
          <a:lstStyle/>
          <a:p>
            <a:pPr marL="0" lvl="0" indent="0" algn="l" rtl="0">
              <a:spcBef>
                <a:spcPts val="0"/>
              </a:spcBef>
              <a:spcAft>
                <a:spcPts val="0"/>
              </a:spcAft>
              <a:buSzPts val="1400"/>
              <a:buNone/>
            </a:pPr>
            <a:r>
              <a:rPr lang="en-GB" b="1" dirty="0"/>
              <a:t>Advantages of Hierarchical Model</a:t>
            </a:r>
          </a:p>
          <a:p>
            <a:pPr marL="254000" lvl="0" indent="-254000" algn="l" rtl="0">
              <a:spcBef>
                <a:spcPts val="800"/>
              </a:spcBef>
              <a:spcAft>
                <a:spcPts val="0"/>
              </a:spcAft>
              <a:buSzPts val="1400"/>
            </a:pPr>
            <a:r>
              <a:rPr lang="en-GB" dirty="0"/>
              <a:t>It is very simple and fast to traverse through a tree-like structure.</a:t>
            </a:r>
          </a:p>
          <a:p>
            <a:pPr marL="254000" lvl="0" indent="-254000" algn="l" rtl="0">
              <a:spcBef>
                <a:spcPts val="800"/>
              </a:spcBef>
              <a:spcAft>
                <a:spcPts val="0"/>
              </a:spcAft>
              <a:buSzPts val="1400"/>
            </a:pPr>
            <a:r>
              <a:rPr lang="en-GB" dirty="0"/>
              <a:t>Any change in the parent node is automatically reflected in the child node so, the integrity of data is maintained.</a:t>
            </a:r>
          </a:p>
          <a:p>
            <a:pPr marL="254000" lvl="0" indent="-254000" algn="l" rtl="0">
              <a:spcBef>
                <a:spcPts val="800"/>
              </a:spcBef>
              <a:spcAft>
                <a:spcPts val="0"/>
              </a:spcAft>
              <a:buSzPts val="1400"/>
            </a:pPr>
            <a:endParaRPr lang="en-GB" dirty="0"/>
          </a:p>
          <a:p>
            <a:pPr marL="0" lvl="0" indent="0" algn="l" rtl="0">
              <a:spcBef>
                <a:spcPts val="800"/>
              </a:spcBef>
              <a:spcAft>
                <a:spcPts val="0"/>
              </a:spcAft>
              <a:buSzPts val="1400"/>
              <a:buNone/>
            </a:pPr>
            <a:r>
              <a:rPr lang="en-GB" b="1" dirty="0"/>
              <a:t>Disadvantages of Hierarchical Model</a:t>
            </a:r>
          </a:p>
          <a:p>
            <a:pPr marL="254000" lvl="0" indent="-254000" algn="l" rtl="0">
              <a:spcBef>
                <a:spcPts val="800"/>
              </a:spcBef>
              <a:spcAft>
                <a:spcPts val="0"/>
              </a:spcAft>
              <a:buSzPts val="1400"/>
            </a:pPr>
            <a:r>
              <a:rPr lang="en-GB" dirty="0"/>
              <a:t>Complex relationships are not supported.</a:t>
            </a:r>
          </a:p>
          <a:p>
            <a:pPr marL="254000" lvl="0" indent="-254000" algn="l" rtl="0">
              <a:spcBef>
                <a:spcPts val="800"/>
              </a:spcBef>
              <a:spcAft>
                <a:spcPts val="0"/>
              </a:spcAft>
              <a:buSzPts val="1400"/>
            </a:pPr>
            <a:r>
              <a:rPr lang="en-GB" dirty="0"/>
              <a:t>As it does not support more than one parent of the child node so if we have some complex relationship where a child node needs to have two parent node then that can't be represented using this model.</a:t>
            </a:r>
          </a:p>
          <a:p>
            <a:pPr marL="254000" lvl="0" indent="-254000" algn="l" rtl="0">
              <a:spcBef>
                <a:spcPts val="800"/>
              </a:spcBef>
              <a:spcAft>
                <a:spcPts val="0"/>
              </a:spcAft>
              <a:buSzPts val="1400"/>
            </a:pPr>
            <a:r>
              <a:rPr lang="en-GB" dirty="0"/>
              <a:t>If a parent node is deleted then the child node is automatically deleted.</a:t>
            </a:r>
          </a:p>
          <a:p>
            <a:pPr marL="254000" lvl="0" indent="-165100" algn="l" rtl="0">
              <a:spcBef>
                <a:spcPts val="800"/>
              </a:spcBef>
              <a:spcAft>
                <a:spcPts val="0"/>
              </a:spcAft>
              <a:buSzPts val="1400"/>
              <a:buNone/>
            </a:pPr>
            <a:endParaRPr lang="en-GB"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5"/>
          <p:cNvSpPr txBox="1">
            <a:spLocks noGrp="1"/>
          </p:cNvSpPr>
          <p:nvPr>
            <p:ph type="title"/>
          </p:nvPr>
        </p:nvSpPr>
        <p:spPr>
          <a:xfrm>
            <a:off x="1108510" y="0"/>
            <a:ext cx="8911800" cy="546598"/>
          </a:xfrm>
          <a:prstGeom prst="rect">
            <a:avLst/>
          </a:prstGeom>
          <a:noFill/>
          <a:ln>
            <a:noFill/>
          </a:ln>
        </p:spPr>
        <p:txBody>
          <a:bodyPr spcFirstLastPara="1" wrap="square" lIns="91433" tIns="45700" rIns="91433" bIns="45700" anchor="t" anchorCtr="0">
            <a:normAutofit fontScale="90000"/>
          </a:bodyPr>
          <a:lstStyle/>
          <a:p>
            <a:pPr marL="0" lvl="0" indent="0" algn="l" rtl="0">
              <a:spcBef>
                <a:spcPts val="0"/>
              </a:spcBef>
              <a:spcAft>
                <a:spcPts val="0"/>
              </a:spcAft>
              <a:buClr>
                <a:srgbClr val="262626"/>
              </a:buClr>
              <a:buSzPts val="2700"/>
              <a:buFont typeface="Century Gothic" panose="020B0502020202020204"/>
              <a:buNone/>
            </a:pPr>
            <a:r>
              <a:rPr lang="en-IN" altLang="en-GB" b="1" dirty="0"/>
              <a:t>c.</a:t>
            </a:r>
            <a:r>
              <a:rPr lang="en-GB" b="1" dirty="0"/>
              <a:t> NETWORK DATA MODEL</a:t>
            </a:r>
          </a:p>
        </p:txBody>
      </p:sp>
      <p:sp>
        <p:nvSpPr>
          <p:cNvPr id="650" name="Google Shape;650;p75"/>
          <p:cNvSpPr txBox="1">
            <a:spLocks noGrp="1"/>
          </p:cNvSpPr>
          <p:nvPr>
            <p:ph type="body" idx="1"/>
          </p:nvPr>
        </p:nvSpPr>
        <p:spPr>
          <a:xfrm>
            <a:off x="467360" y="546735"/>
            <a:ext cx="11358880" cy="3777615"/>
          </a:xfrm>
          <a:prstGeom prst="rect">
            <a:avLst/>
          </a:prstGeom>
          <a:noFill/>
          <a:ln>
            <a:noFill/>
          </a:ln>
        </p:spPr>
        <p:txBody>
          <a:bodyPr spcFirstLastPara="1" wrap="square" lIns="91433" tIns="45700" rIns="91433" bIns="45700" anchor="t" anchorCtr="0">
            <a:noAutofit/>
          </a:bodyPr>
          <a:lstStyle/>
          <a:p>
            <a:pPr marL="254000" lvl="0" indent="-285750" algn="l" rtl="0">
              <a:lnSpc>
                <a:spcPct val="150000"/>
              </a:lnSpc>
              <a:spcBef>
                <a:spcPts val="0"/>
              </a:spcBef>
              <a:spcAft>
                <a:spcPts val="0"/>
              </a:spcAft>
              <a:buSzPts val="1900"/>
            </a:pPr>
            <a:r>
              <a:rPr lang="en-GB" sz="2400" dirty="0"/>
              <a:t>This is an extension of the Hierarchical model. In this model data is organised more like a graph, and are allowed to have more than one parent node.</a:t>
            </a:r>
          </a:p>
          <a:p>
            <a:pPr marL="254000" lvl="0" indent="-285750" algn="l" rtl="0">
              <a:lnSpc>
                <a:spcPct val="150000"/>
              </a:lnSpc>
              <a:spcBef>
                <a:spcPts val="0"/>
              </a:spcBef>
              <a:spcAft>
                <a:spcPts val="0"/>
              </a:spcAft>
              <a:buSzPts val="1900"/>
            </a:pPr>
            <a:r>
              <a:rPr sz="2400"/>
              <a:t>The Network Model was formalized by the Database Task group in the 1960s.   Mostly, there exists a many-to-many logical association between any of the two segments.</a:t>
            </a:r>
          </a:p>
          <a:p>
            <a:pPr marL="254000" lvl="0" indent="-285750" algn="l" rtl="0">
              <a:lnSpc>
                <a:spcPct val="150000"/>
              </a:lnSpc>
              <a:spcBef>
                <a:spcPts val="800"/>
              </a:spcBef>
              <a:spcAft>
                <a:spcPts val="0"/>
              </a:spcAft>
              <a:buSzPts val="1900"/>
            </a:pPr>
            <a:r>
              <a:rPr lang="en-GB" sz="2400" dirty="0"/>
              <a:t>In this database model data is more related as more relationships are established in this database model. Also, as the data is more related, hence accessing the data is also easier and fast. This database model was used to map many-to-many data relationships.</a:t>
            </a:r>
            <a:endParaRPr sz="2400"/>
          </a:p>
          <a:p>
            <a:pPr marL="254000" lvl="0" indent="-285750" algn="l" rtl="0">
              <a:lnSpc>
                <a:spcPct val="150000"/>
              </a:lnSpc>
              <a:spcBef>
                <a:spcPts val="800"/>
              </a:spcBef>
              <a:spcAft>
                <a:spcPts val="0"/>
              </a:spcAft>
              <a:buSzPts val="1900"/>
            </a:pPr>
            <a:r>
              <a:rPr lang="en-GB" sz="2400" dirty="0"/>
              <a:t>This was the most widely used database model, before Relational Model was introduced.</a:t>
            </a:r>
            <a:endParaRPr sz="2400"/>
          </a:p>
          <a:p>
            <a:pPr marL="0" lvl="0" indent="0" algn="l" rtl="0">
              <a:lnSpc>
                <a:spcPct val="150000"/>
              </a:lnSpc>
              <a:spcBef>
                <a:spcPts val="800"/>
              </a:spcBef>
              <a:spcAft>
                <a:spcPts val="0"/>
              </a:spcAft>
              <a:buSzPts val="1400"/>
              <a:buNone/>
            </a:pPr>
            <a:endParaRPr sz="2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6"/>
          <p:cNvSpPr txBox="1">
            <a:spLocks noGrp="1"/>
          </p:cNvSpPr>
          <p:nvPr>
            <p:ph type="title"/>
          </p:nvPr>
        </p:nvSpPr>
        <p:spPr>
          <a:xfrm>
            <a:off x="2592925" y="624111"/>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a:t>NETWORK DATA MODEL</a:t>
            </a:r>
          </a:p>
        </p:txBody>
      </p:sp>
      <p:pic>
        <p:nvPicPr>
          <p:cNvPr id="656" name="Google Shape;656;p76"/>
          <p:cNvPicPr preferRelativeResize="0">
            <a:picLocks noGrp="1"/>
          </p:cNvPicPr>
          <p:nvPr>
            <p:ph type="body" idx="1"/>
          </p:nvPr>
        </p:nvPicPr>
        <p:blipFill rotWithShape="1">
          <a:blip r:embed="rId3"/>
          <a:srcRect/>
          <a:stretch>
            <a:fillRect/>
          </a:stretch>
        </p:blipFill>
        <p:spPr>
          <a:xfrm>
            <a:off x="2858109" y="1582616"/>
            <a:ext cx="6414843" cy="392723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7"/>
          <p:cNvSpPr txBox="1">
            <a:spLocks noGrp="1"/>
          </p:cNvSpPr>
          <p:nvPr>
            <p:ph type="title"/>
          </p:nvPr>
        </p:nvSpPr>
        <p:spPr>
          <a:xfrm>
            <a:off x="1536021" y="0"/>
            <a:ext cx="8911687" cy="1280889"/>
          </a:xfrm>
          <a:prstGeom prst="rect">
            <a:avLst/>
          </a:prstGeom>
          <a:noFill/>
          <a:ln>
            <a:noFill/>
          </a:ln>
        </p:spPr>
        <p:txBody>
          <a:bodyPr spcFirstLastPara="1" wrap="square" lIns="91433" tIns="45700" rIns="91433" bIns="45700" anchor="t" anchorCtr="0">
            <a:normAutofit/>
          </a:bodyPr>
          <a:lstStyle/>
          <a:p>
            <a:pPr marL="0" lvl="0" indent="0" algn="l" rtl="0">
              <a:spcBef>
                <a:spcPts val="0"/>
              </a:spcBef>
              <a:spcAft>
                <a:spcPts val="0"/>
              </a:spcAft>
              <a:buClr>
                <a:srgbClr val="262626"/>
              </a:buClr>
              <a:buSzPts val="2700"/>
              <a:buFont typeface="Century Gothic" panose="020B0502020202020204"/>
              <a:buNone/>
            </a:pPr>
            <a:r>
              <a:rPr lang="en-GB" dirty="0"/>
              <a:t>NETWORK DATA MODEL</a:t>
            </a:r>
          </a:p>
        </p:txBody>
      </p:sp>
      <p:sp>
        <p:nvSpPr>
          <p:cNvPr id="662" name="Google Shape;662;p77"/>
          <p:cNvSpPr txBox="1">
            <a:spLocks noGrp="1"/>
          </p:cNvSpPr>
          <p:nvPr>
            <p:ph type="body" idx="1"/>
          </p:nvPr>
        </p:nvSpPr>
        <p:spPr>
          <a:xfrm>
            <a:off x="1104405" y="653142"/>
            <a:ext cx="9963398" cy="5854535"/>
          </a:xfrm>
          <a:prstGeom prst="rect">
            <a:avLst/>
          </a:prstGeom>
          <a:noFill/>
          <a:ln>
            <a:noFill/>
          </a:ln>
        </p:spPr>
        <p:txBody>
          <a:bodyPr spcFirstLastPara="1" wrap="square" lIns="91433" tIns="45700" rIns="91433" bIns="45700" anchor="t" anchorCtr="0">
            <a:normAutofit fontScale="75000" lnSpcReduction="20000"/>
          </a:bodyPr>
          <a:lstStyle/>
          <a:p>
            <a:pPr marL="0" lvl="0" indent="0" algn="l" rtl="0">
              <a:lnSpc>
                <a:spcPct val="170000"/>
              </a:lnSpc>
              <a:spcBef>
                <a:spcPts val="0"/>
              </a:spcBef>
              <a:spcAft>
                <a:spcPts val="0"/>
              </a:spcAft>
              <a:buSzPts val="1400"/>
              <a:buNone/>
            </a:pPr>
            <a:r>
              <a:rPr lang="en-GB" b="1" dirty="0"/>
              <a:t>Advantages of Network Model</a:t>
            </a:r>
          </a:p>
          <a:p>
            <a:pPr marL="254000" lvl="0" indent="-254000" algn="l" rtl="0">
              <a:lnSpc>
                <a:spcPct val="170000"/>
              </a:lnSpc>
              <a:spcBef>
                <a:spcPts val="800"/>
              </a:spcBef>
              <a:spcAft>
                <a:spcPts val="0"/>
              </a:spcAft>
              <a:buSzPts val="1400"/>
            </a:pPr>
            <a:r>
              <a:rPr lang="en-GB" dirty="0"/>
              <a:t>The data can be accessed faster as compared to the hierarchical model. This is because the data is more related in the network model and there can be more than one path to reach a particular node. So the data can be accessed in many ways.</a:t>
            </a:r>
          </a:p>
          <a:p>
            <a:pPr marL="254000" lvl="0" indent="-254000" algn="l" rtl="0">
              <a:lnSpc>
                <a:spcPct val="170000"/>
              </a:lnSpc>
              <a:spcBef>
                <a:spcPts val="800"/>
              </a:spcBef>
              <a:spcAft>
                <a:spcPts val="0"/>
              </a:spcAft>
              <a:buSzPts val="1400"/>
            </a:pPr>
            <a:r>
              <a:rPr lang="en-GB" dirty="0"/>
              <a:t>As there is a parent-child relationship so data integrity is present. Any change in parent record is reflected in the child record.</a:t>
            </a:r>
          </a:p>
          <a:p>
            <a:pPr marL="0" lvl="0" indent="0" algn="l" rtl="0">
              <a:lnSpc>
                <a:spcPct val="170000"/>
              </a:lnSpc>
              <a:spcBef>
                <a:spcPts val="800"/>
              </a:spcBef>
              <a:spcAft>
                <a:spcPts val="0"/>
              </a:spcAft>
              <a:buSzPts val="1400"/>
              <a:buNone/>
            </a:pPr>
            <a:r>
              <a:rPr lang="en-GB" b="1" dirty="0"/>
              <a:t>Disadvantages of Network Model</a:t>
            </a:r>
          </a:p>
          <a:p>
            <a:pPr marL="254000" lvl="0" indent="-254000" algn="l" rtl="0">
              <a:lnSpc>
                <a:spcPct val="170000"/>
              </a:lnSpc>
              <a:spcBef>
                <a:spcPts val="800"/>
              </a:spcBef>
              <a:spcAft>
                <a:spcPts val="0"/>
              </a:spcAft>
              <a:buSzPts val="1400"/>
            </a:pPr>
            <a:r>
              <a:rPr lang="en-GB" dirty="0"/>
              <a:t>As more and more relationships need to be handled the system might get complex. So, a user must be having detailed knowledge of the model to work with the model.</a:t>
            </a:r>
          </a:p>
          <a:p>
            <a:pPr marL="254000" lvl="0" indent="-254000" algn="l" rtl="0">
              <a:lnSpc>
                <a:spcPct val="170000"/>
              </a:lnSpc>
              <a:spcBef>
                <a:spcPts val="800"/>
              </a:spcBef>
              <a:spcAft>
                <a:spcPts val="0"/>
              </a:spcAft>
              <a:buSzPts val="1400"/>
            </a:pPr>
            <a:r>
              <a:rPr lang="en-GB" dirty="0"/>
              <a:t>Any change like </a:t>
            </a:r>
            <a:r>
              <a:rPr lang="en-GB" dirty="0" err="1"/>
              <a:t>updation</a:t>
            </a:r>
            <a:r>
              <a:rPr lang="en-GB" dirty="0"/>
              <a:t>, deletion, insertion is very complex.</a:t>
            </a:r>
          </a:p>
          <a:p>
            <a:pPr marL="254000" lvl="0" indent="-165100" algn="l" rtl="0">
              <a:lnSpc>
                <a:spcPct val="170000"/>
              </a:lnSpc>
              <a:spcBef>
                <a:spcPts val="800"/>
              </a:spcBef>
              <a:spcAft>
                <a:spcPts val="0"/>
              </a:spcAft>
              <a:buSzPts val="1400"/>
              <a:buNone/>
            </a:pPr>
            <a:endParaRPr lang="en-GB"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u="sng"/>
              <a:t>Converting ER Diagrams to Tables-</a:t>
            </a:r>
            <a:br>
              <a:rPr lang="en-IN" b="1"/>
            </a:br>
            <a:endParaRPr lang="en-IN"/>
          </a:p>
        </p:txBody>
      </p:sp>
      <p:sp>
        <p:nvSpPr>
          <p:cNvPr id="3" name="Content Placeholder 2"/>
          <p:cNvSpPr>
            <a:spLocks noGrp="1"/>
          </p:cNvSpPr>
          <p:nvPr>
            <p:ph idx="1"/>
          </p:nvPr>
        </p:nvSpPr>
        <p:spPr>
          <a:xfrm>
            <a:off x="962024" y="1828800"/>
            <a:ext cx="10812159" cy="3913188"/>
          </a:xfrm>
        </p:spPr>
        <p:txBody>
          <a:bodyPr>
            <a:normAutofit/>
          </a:bodyPr>
          <a:lstStyle/>
          <a:p>
            <a:r>
              <a:rPr lang="en-IN" sz="1600" dirty="0"/>
              <a:t>Following rules are used for converting an ER diagram into the tables-</a:t>
            </a:r>
          </a:p>
          <a:p>
            <a:pPr>
              <a:buNone/>
            </a:pPr>
            <a:r>
              <a:rPr lang="en-IN" sz="1600" b="1" dirty="0"/>
              <a:t>Rule-01: For Strong Entity Set With Only Simple Attributes-</a:t>
            </a:r>
          </a:p>
          <a:p>
            <a:pPr fontAlgn="base"/>
            <a:r>
              <a:rPr lang="en-IN" sz="1600" dirty="0"/>
              <a:t>A strong entity set with only simple attributes will require only one table in relational model.</a:t>
            </a:r>
          </a:p>
          <a:p>
            <a:pPr fontAlgn="base"/>
            <a:r>
              <a:rPr lang="en-IN" sz="1600" dirty="0"/>
              <a:t>Attributes of the table will be the attributes of the entity set.</a:t>
            </a:r>
          </a:p>
          <a:p>
            <a:pPr fontAlgn="base"/>
            <a:r>
              <a:rPr lang="en-IN" sz="1600" dirty="0"/>
              <a:t>The primary key of the table will be the key attribute of the entity set.</a:t>
            </a:r>
            <a:br>
              <a:rPr lang="en-IN" dirty="0"/>
            </a:br>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9BF5-B4BE-7D1F-57A4-F874802CDE18}"/>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F3021272-D288-3B55-BB24-DFABC9A94807}"/>
              </a:ext>
            </a:extLst>
          </p:cNvPr>
          <p:cNvPicPr>
            <a:picLocks noChangeAspect="1"/>
          </p:cNvPicPr>
          <p:nvPr/>
        </p:nvPicPr>
        <p:blipFill>
          <a:blip r:embed="rId2"/>
          <a:stretch>
            <a:fillRect/>
          </a:stretch>
        </p:blipFill>
        <p:spPr>
          <a:xfrm>
            <a:off x="358739" y="189858"/>
            <a:ext cx="5638800" cy="3848100"/>
          </a:xfrm>
          <a:prstGeom prst="rect">
            <a:avLst/>
          </a:prstGeom>
        </p:spPr>
      </p:pic>
      <p:graphicFrame>
        <p:nvGraphicFramePr>
          <p:cNvPr id="10" name="Content Placeholder 9">
            <a:extLst>
              <a:ext uri="{FF2B5EF4-FFF2-40B4-BE49-F238E27FC236}">
                <a16:creationId xmlns:a16="http://schemas.microsoft.com/office/drawing/2014/main" id="{56FFF74A-120C-8CB8-B17C-622F752E94F4}"/>
              </a:ext>
            </a:extLst>
          </p:cNvPr>
          <p:cNvGraphicFramePr>
            <a:graphicFrameLocks noGrp="1"/>
          </p:cNvGraphicFramePr>
          <p:nvPr>
            <p:ph idx="1"/>
            <p:extLst>
              <p:ext uri="{D42A27DB-BD31-4B8C-83A1-F6EECF244321}">
                <p14:modId xmlns:p14="http://schemas.microsoft.com/office/powerpoint/2010/main" val="3808145445"/>
              </p:ext>
            </p:extLst>
          </p:nvPr>
        </p:nvGraphicFramePr>
        <p:xfrm>
          <a:off x="6534365" y="1865955"/>
          <a:ext cx="3883632" cy="1463040"/>
        </p:xfrm>
        <a:graphic>
          <a:graphicData uri="http://schemas.openxmlformats.org/drawingml/2006/table">
            <a:tbl>
              <a:tblPr firstRow="1" bandRow="1">
                <a:tableStyleId>{5C22544A-7EE6-4342-B048-85BDC9FD1C3A}</a:tableStyleId>
              </a:tblPr>
              <a:tblGrid>
                <a:gridCol w="1294544">
                  <a:extLst>
                    <a:ext uri="{9D8B030D-6E8A-4147-A177-3AD203B41FA5}">
                      <a16:colId xmlns:a16="http://schemas.microsoft.com/office/drawing/2014/main" val="3837721809"/>
                    </a:ext>
                  </a:extLst>
                </a:gridCol>
                <a:gridCol w="1294544">
                  <a:extLst>
                    <a:ext uri="{9D8B030D-6E8A-4147-A177-3AD203B41FA5}">
                      <a16:colId xmlns:a16="http://schemas.microsoft.com/office/drawing/2014/main" val="2881447969"/>
                    </a:ext>
                  </a:extLst>
                </a:gridCol>
                <a:gridCol w="1294544">
                  <a:extLst>
                    <a:ext uri="{9D8B030D-6E8A-4147-A177-3AD203B41FA5}">
                      <a16:colId xmlns:a16="http://schemas.microsoft.com/office/drawing/2014/main" val="3131290062"/>
                    </a:ext>
                  </a:extLst>
                </a:gridCol>
              </a:tblGrid>
              <a:tr h="195386">
                <a:tc>
                  <a:txBody>
                    <a:bodyPr/>
                    <a:lstStyle/>
                    <a:p>
                      <a:r>
                        <a:rPr lang="en-US" dirty="0"/>
                        <a:t>Name</a:t>
                      </a:r>
                    </a:p>
                  </a:txBody>
                  <a:tcPr/>
                </a:tc>
                <a:tc>
                  <a:txBody>
                    <a:bodyPr/>
                    <a:lstStyle/>
                    <a:p>
                      <a:r>
                        <a:rPr lang="en-US" dirty="0"/>
                        <a:t>ID</a:t>
                      </a:r>
                    </a:p>
                  </a:txBody>
                  <a:tcPr/>
                </a:tc>
                <a:tc>
                  <a:txBody>
                    <a:bodyPr/>
                    <a:lstStyle/>
                    <a:p>
                      <a:r>
                        <a:rPr lang="en-US" dirty="0"/>
                        <a:t>Gender</a:t>
                      </a:r>
                    </a:p>
                  </a:txBody>
                  <a:tcPr/>
                </a:tc>
                <a:extLst>
                  <a:ext uri="{0D108BD9-81ED-4DB2-BD59-A6C34878D82A}">
                    <a16:rowId xmlns:a16="http://schemas.microsoft.com/office/drawing/2014/main" val="1300187726"/>
                  </a:ext>
                </a:extLst>
              </a:tr>
              <a:tr h="195386">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68174905"/>
                  </a:ext>
                </a:extLst>
              </a:tr>
              <a:tr h="195386">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7903763"/>
                  </a:ext>
                </a:extLst>
              </a:tr>
              <a:tr h="195386">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710614395"/>
                  </a:ext>
                </a:extLst>
              </a:tr>
            </a:tbl>
          </a:graphicData>
        </a:graphic>
      </p:graphicFrame>
      <p:sp>
        <p:nvSpPr>
          <p:cNvPr id="11" name="TextBox 10">
            <a:extLst>
              <a:ext uri="{FF2B5EF4-FFF2-40B4-BE49-F238E27FC236}">
                <a16:creationId xmlns:a16="http://schemas.microsoft.com/office/drawing/2014/main" id="{DE413305-2623-9C1B-F1E2-27A91C981AC4}"/>
              </a:ext>
            </a:extLst>
          </p:cNvPr>
          <p:cNvSpPr txBox="1"/>
          <p:nvPr/>
        </p:nvSpPr>
        <p:spPr>
          <a:xfrm>
            <a:off x="6534365" y="3667874"/>
            <a:ext cx="3883632" cy="369332"/>
          </a:xfrm>
          <a:prstGeom prst="rect">
            <a:avLst/>
          </a:prstGeom>
          <a:noFill/>
        </p:spPr>
        <p:txBody>
          <a:bodyPr wrap="square" rtlCol="0">
            <a:spAutoFit/>
          </a:bodyPr>
          <a:lstStyle/>
          <a:p>
            <a:r>
              <a:rPr lang="en-US" dirty="0"/>
              <a:t>Schema: Student(</a:t>
            </a:r>
            <a:r>
              <a:rPr lang="en-US" dirty="0" err="1"/>
              <a:t>Name,ID,Gender</a:t>
            </a:r>
            <a:r>
              <a:rPr lang="en-US" dirty="0"/>
              <a:t>)</a:t>
            </a:r>
          </a:p>
        </p:txBody>
      </p:sp>
    </p:spTree>
    <p:extLst>
      <p:ext uri="{BB962C8B-B14F-4D97-AF65-F5344CB8AC3E}">
        <p14:creationId xmlns:p14="http://schemas.microsoft.com/office/powerpoint/2010/main" val="24001546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6530" y="539750"/>
            <a:ext cx="10972800" cy="4510405"/>
          </a:xfrm>
        </p:spPr>
        <p:txBody>
          <a:bodyPr>
            <a:normAutofit/>
          </a:bodyPr>
          <a:lstStyle/>
          <a:p>
            <a:pPr fontAlgn="base"/>
            <a:r>
              <a:rPr lang="en-IN" sz="2000" b="1" u="sng"/>
              <a:t>Rule-02: For Strong Entity Set With Composite Attributes-</a:t>
            </a:r>
            <a:endParaRPr lang="en-IN" sz="2000" b="1"/>
          </a:p>
          <a:p>
            <a:pPr fontAlgn="base"/>
            <a:r>
              <a:rPr lang="en-IN" sz="2000"/>
              <a:t> A strong entity set with any number of composite attributes will require only one table in relational model.</a:t>
            </a:r>
          </a:p>
          <a:p>
            <a:pPr fontAlgn="base"/>
            <a:r>
              <a:rPr lang="en-IN" sz="2000"/>
              <a:t>While conversion, simple attributes of the composite attributes are taken into account and not the composite attribute itself.</a:t>
            </a:r>
          </a:p>
          <a:p>
            <a:pPr fontAlgn="base"/>
            <a:endParaRPr lang="en-IN" sz="2000"/>
          </a:p>
        </p:txBody>
      </p:sp>
      <p:pic>
        <p:nvPicPr>
          <p:cNvPr id="7" name="Picture 2" descr="C:\Users\alpesh\Desktop\2.png"/>
          <p:cNvPicPr>
            <a:picLocks noChangeAspect="1" noChangeArrowheads="1"/>
          </p:cNvPicPr>
          <p:nvPr/>
        </p:nvPicPr>
        <p:blipFill>
          <a:blip r:embed="rId2"/>
          <a:srcRect/>
          <a:stretch>
            <a:fillRect/>
          </a:stretch>
        </p:blipFill>
        <p:spPr bwMode="auto">
          <a:xfrm>
            <a:off x="3892550" y="2455545"/>
            <a:ext cx="6358890" cy="412496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7479" y="549910"/>
            <a:ext cx="11534511" cy="6308090"/>
          </a:xfrm>
        </p:spPr>
        <p:txBody>
          <a:bodyPr>
            <a:normAutofit/>
          </a:bodyPr>
          <a:lstStyle/>
          <a:p>
            <a:pPr marL="0" indent="0" fontAlgn="base">
              <a:buNone/>
            </a:pPr>
            <a:r>
              <a:rPr lang="en-IN" sz="2000" b="1" u="sng" dirty="0"/>
              <a:t>Rule-03: For Strong Entity Set With Multi Valued Attributes-</a:t>
            </a:r>
            <a:endParaRPr lang="en-IN" sz="2000" b="1" dirty="0"/>
          </a:p>
          <a:p>
            <a:pPr marL="0" indent="0" fontAlgn="base">
              <a:buNone/>
            </a:pPr>
            <a:endParaRPr lang="en-IN" sz="2000" dirty="0"/>
          </a:p>
          <a:p>
            <a:pPr fontAlgn="base"/>
            <a:r>
              <a:rPr lang="en-IN" sz="2000" dirty="0"/>
              <a:t>A strong entity set with any number of multi valued attributes will require two tables in relational model.</a:t>
            </a:r>
          </a:p>
          <a:p>
            <a:pPr fontAlgn="base"/>
            <a:r>
              <a:rPr lang="en-IN" sz="2000" dirty="0"/>
              <a:t>One table will contain all the simple attributes with the primary key.</a:t>
            </a:r>
          </a:p>
          <a:p>
            <a:pPr fontAlgn="base"/>
            <a:r>
              <a:rPr lang="en-IN" sz="2000" dirty="0"/>
              <a:t>Other table will contain the primary key and all the multi valued attribute</a:t>
            </a:r>
            <a:r>
              <a:rPr lang="en-IN" sz="1300" dirty="0"/>
              <a:t>s.</a:t>
            </a:r>
          </a:p>
          <a:p>
            <a:endParaRPr lang="en-IN" dirty="0"/>
          </a:p>
        </p:txBody>
      </p:sp>
      <p:pic>
        <p:nvPicPr>
          <p:cNvPr id="7" name="Picture 2" descr="C:\Users\alpesh\Desktop\3.png"/>
          <p:cNvPicPr>
            <a:picLocks noChangeAspect="1" noChangeArrowheads="1"/>
          </p:cNvPicPr>
          <p:nvPr/>
        </p:nvPicPr>
        <p:blipFill>
          <a:blip r:embed="rId2"/>
          <a:srcRect/>
          <a:stretch>
            <a:fillRect/>
          </a:stretch>
        </p:blipFill>
        <p:spPr bwMode="auto">
          <a:xfrm>
            <a:off x="5716905" y="2414270"/>
            <a:ext cx="5340350" cy="4257675"/>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675" y="449580"/>
            <a:ext cx="10972800" cy="6408420"/>
          </a:xfrm>
        </p:spPr>
        <p:txBody>
          <a:bodyPr>
            <a:normAutofit/>
          </a:bodyPr>
          <a:lstStyle/>
          <a:p>
            <a:pPr marL="0" indent="0" fontAlgn="base">
              <a:buNone/>
            </a:pPr>
            <a:r>
              <a:rPr lang="en-IN" sz="2000" b="1" u="sng" dirty="0"/>
              <a:t>Rule-04: Translating Relationship Set into a Table-</a:t>
            </a:r>
            <a:endParaRPr lang="en-IN" sz="2000" dirty="0"/>
          </a:p>
          <a:p>
            <a:pPr fontAlgn="base"/>
            <a:r>
              <a:rPr lang="en-IN" sz="2000" dirty="0"/>
              <a:t>A relationship set will require one table in the relational model.</a:t>
            </a:r>
          </a:p>
          <a:p>
            <a:pPr marL="0" indent="0" fontAlgn="base">
              <a:buNone/>
            </a:pPr>
            <a:r>
              <a:rPr lang="en-IN" sz="2000" dirty="0"/>
              <a:t>Attributes of the table are-</a:t>
            </a:r>
          </a:p>
          <a:p>
            <a:pPr fontAlgn="base"/>
            <a:r>
              <a:rPr lang="en-IN" sz="2000" dirty="0"/>
              <a:t>Primary key attributes of the participating entity sets</a:t>
            </a:r>
          </a:p>
          <a:p>
            <a:pPr fontAlgn="base"/>
            <a:r>
              <a:rPr lang="en-IN" sz="2000" dirty="0"/>
              <a:t>Its own descriptive attributes if any.</a:t>
            </a:r>
          </a:p>
          <a:p>
            <a:pPr fontAlgn="base"/>
            <a:r>
              <a:rPr lang="en-IN" sz="2000" dirty="0"/>
              <a:t>Set of non-descriptive attributes will be the primary key.</a:t>
            </a:r>
          </a:p>
          <a:p>
            <a:pPr fontAlgn="base"/>
            <a:endParaRPr lang="en-IN" sz="1300" dirty="0"/>
          </a:p>
          <a:p>
            <a:pPr>
              <a:buNone/>
            </a:pPr>
            <a:endParaRPr lang="en-IN" dirty="0"/>
          </a:p>
        </p:txBody>
      </p:sp>
      <p:pic>
        <p:nvPicPr>
          <p:cNvPr id="4" name="Picture 3" descr="C:\Users\alpesh\Desktop\4.png"/>
          <p:cNvPicPr>
            <a:picLocks noChangeAspect="1" noChangeArrowheads="1"/>
          </p:cNvPicPr>
          <p:nvPr/>
        </p:nvPicPr>
        <p:blipFill>
          <a:blip r:embed="rId2"/>
          <a:srcRect/>
          <a:stretch>
            <a:fillRect/>
          </a:stretch>
        </p:blipFill>
        <p:spPr bwMode="auto">
          <a:xfrm>
            <a:off x="2188396" y="2866490"/>
            <a:ext cx="8719648" cy="3396244"/>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fontAlgn="base">
              <a:buNone/>
            </a:pPr>
            <a:r>
              <a:rPr lang="en-IN" sz="2000" b="1" u="sng" dirty="0"/>
              <a:t>NOTE-</a:t>
            </a:r>
            <a:r>
              <a:rPr lang="en-IN" sz="2000" dirty="0"/>
              <a:t> </a:t>
            </a:r>
          </a:p>
          <a:p>
            <a:pPr fontAlgn="base"/>
            <a:r>
              <a:rPr lang="en-IN" sz="2000" dirty="0"/>
              <a:t>If we consider the overall ER diagram, three tables will be required in relational model-</a:t>
            </a:r>
          </a:p>
          <a:p>
            <a:pPr fontAlgn="base"/>
            <a:r>
              <a:rPr lang="en-IN" sz="2000" dirty="0"/>
              <a:t>One table for the entity set “Employee”</a:t>
            </a:r>
          </a:p>
          <a:p>
            <a:pPr fontAlgn="base"/>
            <a:r>
              <a:rPr lang="en-IN" sz="2000" dirty="0"/>
              <a:t>One table for the entity set “Department”</a:t>
            </a:r>
          </a:p>
          <a:p>
            <a:pPr fontAlgn="base"/>
            <a:r>
              <a:rPr lang="en-IN" sz="2000" dirty="0"/>
              <a:t>One table for the relationship set “Works in”</a:t>
            </a:r>
          </a:p>
          <a:p>
            <a:pPr fontAlgn="base"/>
            <a:endParaRPr lang="en-IN" sz="2000" dirty="0"/>
          </a:p>
          <a:p>
            <a:pPr marL="0" indent="0" fontAlgn="base">
              <a:buNone/>
            </a:pPr>
            <a:r>
              <a:rPr lang="en-IN" sz="2000" b="1" u="sng" dirty="0"/>
              <a:t>Rule-05: For Binary Relationships With Cardinality Ratios-</a:t>
            </a:r>
            <a:endParaRPr lang="en-IN" sz="2000" dirty="0"/>
          </a:p>
          <a:p>
            <a:pPr marL="0" indent="0" fontAlgn="base">
              <a:buNone/>
            </a:pPr>
            <a:r>
              <a:rPr lang="en-IN" sz="2000" dirty="0"/>
              <a:t>The following four cases are possible- </a:t>
            </a:r>
          </a:p>
          <a:p>
            <a:pPr fontAlgn="base"/>
            <a:r>
              <a:rPr lang="en-IN" sz="2000" b="1" u="sng" dirty="0"/>
              <a:t>Case-01:</a:t>
            </a:r>
            <a:r>
              <a:rPr lang="en-IN" sz="2000" dirty="0"/>
              <a:t> Binary relationship with cardinality ratio m:n</a:t>
            </a:r>
          </a:p>
          <a:p>
            <a:pPr fontAlgn="base"/>
            <a:r>
              <a:rPr lang="en-IN" sz="2000" b="1" u="sng" dirty="0"/>
              <a:t>Case-02:</a:t>
            </a:r>
            <a:r>
              <a:rPr lang="en-IN" sz="2000" dirty="0"/>
              <a:t> Binary relationship with cardinality ratio 1:n</a:t>
            </a:r>
          </a:p>
          <a:p>
            <a:pPr fontAlgn="base"/>
            <a:r>
              <a:rPr lang="en-IN" sz="2000" b="1" u="sng" dirty="0"/>
              <a:t>Case-03:</a:t>
            </a:r>
            <a:r>
              <a:rPr lang="en-IN" sz="2000" dirty="0"/>
              <a:t> Binary relationship with cardinality ratio m:1</a:t>
            </a:r>
          </a:p>
          <a:p>
            <a:pPr fontAlgn="base"/>
            <a:r>
              <a:rPr lang="en-IN" sz="2000" b="1" u="sng" dirty="0"/>
              <a:t>Case-04:</a:t>
            </a:r>
            <a:r>
              <a:rPr lang="en-IN" sz="2000" dirty="0"/>
              <a:t> Binary relationship with cardinality ratio 1:1</a:t>
            </a:r>
          </a:p>
          <a:p>
            <a:pPr fontAlgn="base"/>
            <a:endParaRPr lang="en-IN"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795" y="116840"/>
            <a:ext cx="10972800" cy="4953000"/>
          </a:xfrm>
        </p:spPr>
        <p:txBody>
          <a:bodyPr>
            <a:normAutofit lnSpcReduction="10000"/>
          </a:bodyPr>
          <a:lstStyle/>
          <a:p>
            <a:pPr marL="0" indent="0" fontAlgn="base">
              <a:buNone/>
            </a:pPr>
            <a:r>
              <a:rPr lang="en-IN" sz="1800" b="1" u="sng" dirty="0"/>
              <a:t>Case-01: For Binary Relationship With Cardinality Ratio m:n</a:t>
            </a:r>
            <a:endParaRPr lang="en-IN" sz="1800" dirty="0"/>
          </a:p>
          <a:p>
            <a:pPr marL="0" indent="0" fontAlgn="base">
              <a:buNone/>
            </a:pPr>
            <a:r>
              <a:rPr lang="en-IN" sz="1800" dirty="0"/>
              <a:t>Here, three tables will be required-</a:t>
            </a:r>
          </a:p>
          <a:p>
            <a:pPr fontAlgn="base"/>
            <a:r>
              <a:rPr lang="en-IN" sz="1800" dirty="0"/>
              <a:t>A ( </a:t>
            </a:r>
            <a:r>
              <a:rPr lang="en-IN" sz="1800" u="sng" dirty="0"/>
              <a:t>a1</a:t>
            </a:r>
            <a:r>
              <a:rPr lang="en-IN" sz="1800" dirty="0"/>
              <a:t> , a2 )</a:t>
            </a:r>
          </a:p>
          <a:p>
            <a:pPr fontAlgn="base"/>
            <a:r>
              <a:rPr lang="en-IN" sz="1800" dirty="0"/>
              <a:t>R ( </a:t>
            </a:r>
            <a:r>
              <a:rPr lang="en-IN" sz="1800" u="sng" dirty="0"/>
              <a:t>a1</a:t>
            </a:r>
            <a:r>
              <a:rPr lang="en-IN" sz="1800" dirty="0"/>
              <a:t> , </a:t>
            </a:r>
            <a:r>
              <a:rPr lang="en-IN" sz="1800" u="sng" dirty="0"/>
              <a:t>b1</a:t>
            </a:r>
            <a:r>
              <a:rPr lang="en-IN" sz="1800" dirty="0"/>
              <a:t> )</a:t>
            </a:r>
          </a:p>
          <a:p>
            <a:pPr fontAlgn="base"/>
            <a:r>
              <a:rPr lang="en-IN" sz="1800" dirty="0"/>
              <a:t>B ( </a:t>
            </a:r>
            <a:r>
              <a:rPr lang="en-IN" sz="1800" u="sng" dirty="0"/>
              <a:t>b1</a:t>
            </a:r>
            <a:r>
              <a:rPr lang="en-IN" sz="1800" dirty="0"/>
              <a:t> , b2 )</a:t>
            </a:r>
          </a:p>
          <a:p>
            <a:pPr fontAlgn="base"/>
            <a:endParaRPr lang="en-US" sz="1200" dirty="0"/>
          </a:p>
          <a:p>
            <a:pPr fontAlgn="base"/>
            <a:endParaRPr lang="en-US" sz="1200" dirty="0"/>
          </a:p>
          <a:p>
            <a:pPr fontAlgn="base"/>
            <a:endParaRPr lang="en-US" sz="1200" dirty="0"/>
          </a:p>
          <a:p>
            <a:pPr fontAlgn="base"/>
            <a:endParaRPr lang="en-US" sz="1200" dirty="0"/>
          </a:p>
          <a:p>
            <a:pPr fontAlgn="base"/>
            <a:endParaRPr lang="en-US" sz="1200" dirty="0"/>
          </a:p>
          <a:p>
            <a:pPr marL="0" indent="0" fontAlgn="base">
              <a:buNone/>
            </a:pPr>
            <a:r>
              <a:rPr lang="en-IN" sz="1800" b="1" u="sng" dirty="0"/>
              <a:t>Case-02: For Binary Relationship With Cardinality Ratio 1:n</a:t>
            </a:r>
            <a:endParaRPr lang="en-IN" sz="1800" b="1" dirty="0"/>
          </a:p>
          <a:p>
            <a:pPr marL="0" indent="0" fontAlgn="base">
              <a:buNone/>
            </a:pPr>
            <a:r>
              <a:rPr lang="en-IN" sz="1800" dirty="0"/>
              <a:t>Here, two tables will be required-</a:t>
            </a:r>
          </a:p>
          <a:p>
            <a:pPr fontAlgn="base"/>
            <a:r>
              <a:rPr lang="en-IN" sz="1800" dirty="0"/>
              <a:t>A ( </a:t>
            </a:r>
            <a:r>
              <a:rPr lang="en-IN" sz="1800" u="sng" dirty="0"/>
              <a:t>a1</a:t>
            </a:r>
            <a:r>
              <a:rPr lang="en-IN" sz="1800" dirty="0"/>
              <a:t> , a2 )</a:t>
            </a:r>
          </a:p>
          <a:p>
            <a:pPr fontAlgn="base"/>
            <a:r>
              <a:rPr lang="en-IN" sz="1800" dirty="0"/>
              <a:t>BR ( a1 , </a:t>
            </a:r>
            <a:r>
              <a:rPr lang="en-IN" sz="1800" u="sng" dirty="0"/>
              <a:t>b1</a:t>
            </a:r>
            <a:r>
              <a:rPr lang="en-IN" sz="1800" dirty="0"/>
              <a:t> , b2 )</a:t>
            </a:r>
          </a:p>
          <a:p>
            <a:pPr fontAlgn="base"/>
            <a:r>
              <a:rPr lang="en-IN" sz="1800" b="1" u="sng" dirty="0"/>
              <a:t>NOTE-</a:t>
            </a:r>
            <a:r>
              <a:rPr lang="en-IN" sz="1800" dirty="0"/>
              <a:t> Here, combined table will be drawn for the entity set B and relationship set R.</a:t>
            </a:r>
          </a:p>
          <a:p>
            <a:pPr fontAlgn="base"/>
            <a:endParaRPr lang="en-US" sz="1200" dirty="0"/>
          </a:p>
          <a:p>
            <a:pPr fontAlgn="base"/>
            <a:endParaRPr lang="en-US" sz="1200" dirty="0"/>
          </a:p>
          <a:p>
            <a:pPr fontAlgn="base"/>
            <a:endParaRPr lang="en-US" sz="1200" dirty="0"/>
          </a:p>
          <a:p>
            <a:pPr fontAlgn="base"/>
            <a:endParaRPr lang="en-US" sz="1200" dirty="0"/>
          </a:p>
          <a:p>
            <a:pPr fontAlgn="base"/>
            <a:endParaRPr lang="en-IN" sz="1200" b="1" u="sng" dirty="0"/>
          </a:p>
          <a:p>
            <a:pPr fontAlgn="base"/>
            <a:endParaRPr lang="en-IN" sz="1200" b="1" u="sng" dirty="0"/>
          </a:p>
          <a:p>
            <a:pPr fontAlgn="base"/>
            <a:endParaRPr lang="en-IN" sz="1200" b="1" u="sng" dirty="0"/>
          </a:p>
          <a:p>
            <a:pPr fontAlgn="base"/>
            <a:endParaRPr lang="en-IN" sz="1200" b="1" u="sng" dirty="0"/>
          </a:p>
          <a:p>
            <a:pPr fontAlgn="base"/>
            <a:endParaRPr lang="en-IN" sz="1200" b="1" u="sng" dirty="0"/>
          </a:p>
          <a:p>
            <a:pPr fontAlgn="base"/>
            <a:endParaRPr lang="en-IN" sz="1200" b="1" u="sng" dirty="0"/>
          </a:p>
          <a:p>
            <a:pPr fontAlgn="base"/>
            <a:endParaRPr lang="en-IN" sz="1200" b="1" u="sng" dirty="0"/>
          </a:p>
          <a:p>
            <a:pPr fontAlgn="base"/>
            <a:endParaRPr lang="en-IN" sz="1200" b="1" u="sng" dirty="0"/>
          </a:p>
          <a:p>
            <a:pPr fontAlgn="base"/>
            <a:endParaRPr lang="en-IN" sz="1200" dirty="0"/>
          </a:p>
          <a:p>
            <a:endParaRPr lang="en-IN" dirty="0"/>
          </a:p>
        </p:txBody>
      </p:sp>
      <p:pic>
        <p:nvPicPr>
          <p:cNvPr id="5" name="Picture 2" descr="C:\Users\alpesh\Desktop\images\ER-diagrams-to-Tables-Rule-05-Case-01.png"/>
          <p:cNvPicPr>
            <a:picLocks noChangeAspect="1" noChangeArrowheads="1"/>
          </p:cNvPicPr>
          <p:nvPr/>
        </p:nvPicPr>
        <p:blipFill>
          <a:blip r:embed="rId2"/>
          <a:srcRect/>
          <a:stretch>
            <a:fillRect/>
          </a:stretch>
        </p:blipFill>
        <p:spPr bwMode="auto">
          <a:xfrm>
            <a:off x="4114800" y="931545"/>
            <a:ext cx="6445885" cy="2268855"/>
          </a:xfrm>
          <a:prstGeom prst="rect">
            <a:avLst/>
          </a:prstGeom>
          <a:noFill/>
        </p:spPr>
      </p:pic>
      <p:pic>
        <p:nvPicPr>
          <p:cNvPr id="6" name="Picture 3" descr="C:\Users\alpesh\Desktop\images\ER-diagrams-to-Tables-Rule-05-Case-02.png"/>
          <p:cNvPicPr>
            <a:picLocks noChangeAspect="1" noChangeArrowheads="1"/>
          </p:cNvPicPr>
          <p:nvPr/>
        </p:nvPicPr>
        <p:blipFill>
          <a:blip r:embed="rId3"/>
          <a:srcRect/>
          <a:stretch>
            <a:fillRect/>
          </a:stretch>
        </p:blipFill>
        <p:spPr bwMode="auto">
          <a:xfrm>
            <a:off x="3962400" y="4495800"/>
            <a:ext cx="6656705" cy="1957705"/>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785" y="88264"/>
            <a:ext cx="10972800" cy="5952939"/>
          </a:xfrm>
        </p:spPr>
        <p:txBody>
          <a:bodyPr>
            <a:normAutofit/>
          </a:bodyPr>
          <a:lstStyle/>
          <a:p>
            <a:pPr marL="0" indent="0" fontAlgn="base">
              <a:buNone/>
            </a:pPr>
            <a:r>
              <a:rPr lang="en-IN" sz="1800" b="1" u="sng" dirty="0"/>
              <a:t>Case-03: For Binary Relationship With Cardinality Ratio m:1</a:t>
            </a:r>
            <a:endParaRPr lang="en-IN" sz="1800" b="1" dirty="0"/>
          </a:p>
          <a:p>
            <a:pPr marL="0" indent="0" fontAlgn="base">
              <a:buNone/>
            </a:pPr>
            <a:r>
              <a:rPr lang="en-IN" sz="1800" dirty="0"/>
              <a:t>Here, two tables will be required-</a:t>
            </a:r>
          </a:p>
          <a:p>
            <a:pPr fontAlgn="base"/>
            <a:r>
              <a:rPr lang="en-IN" sz="1800" dirty="0"/>
              <a:t>AR ( </a:t>
            </a:r>
            <a:r>
              <a:rPr lang="en-IN" sz="1800" u="sng" dirty="0"/>
              <a:t>a1</a:t>
            </a:r>
            <a:r>
              <a:rPr lang="en-IN" sz="1800" dirty="0"/>
              <a:t> , a2 , b1 )</a:t>
            </a:r>
          </a:p>
          <a:p>
            <a:pPr fontAlgn="base"/>
            <a:r>
              <a:rPr lang="en-IN" sz="1800" dirty="0"/>
              <a:t>B ( </a:t>
            </a:r>
            <a:r>
              <a:rPr lang="en-IN" sz="1800" u="sng" dirty="0"/>
              <a:t>b1</a:t>
            </a:r>
            <a:r>
              <a:rPr lang="en-IN" sz="1800" dirty="0"/>
              <a:t> , b2 )</a:t>
            </a:r>
          </a:p>
          <a:p>
            <a:pPr marL="0" indent="0" fontAlgn="base">
              <a:buNone/>
            </a:pPr>
            <a:r>
              <a:rPr lang="en-IN" sz="1800" b="1" u="sng" dirty="0"/>
              <a:t>NOTE-</a:t>
            </a:r>
            <a:r>
              <a:rPr lang="en-IN" sz="1800" dirty="0"/>
              <a:t> Here, combined table will be drawn for the entity set A and relationship set R.</a:t>
            </a:r>
          </a:p>
          <a:p>
            <a:endParaRPr lang="en-US" dirty="0"/>
          </a:p>
          <a:p>
            <a:endParaRPr lang="en-US" dirty="0"/>
          </a:p>
          <a:p>
            <a:endParaRPr lang="en-IN" sz="1800" b="1" u="sng" dirty="0"/>
          </a:p>
          <a:p>
            <a:endParaRPr lang="en-IN" sz="1800" b="1" u="sng" dirty="0"/>
          </a:p>
          <a:p>
            <a:endParaRPr lang="en-IN" sz="1800" b="1" u="sng" dirty="0"/>
          </a:p>
          <a:p>
            <a:endParaRPr lang="en-IN" sz="1800" b="1" u="sng" dirty="0"/>
          </a:p>
          <a:p>
            <a:endParaRPr lang="en-IN" sz="1800" dirty="0"/>
          </a:p>
        </p:txBody>
      </p:sp>
      <p:pic>
        <p:nvPicPr>
          <p:cNvPr id="7" name="Picture 2" descr="C:\Users\alpesh\Desktop\images\ER-diagrams-to-Tables-Rule-05-Case-03.png"/>
          <p:cNvPicPr>
            <a:picLocks noChangeAspect="1" noChangeArrowheads="1"/>
          </p:cNvPicPr>
          <p:nvPr/>
        </p:nvPicPr>
        <p:blipFill>
          <a:blip r:embed="rId2"/>
          <a:srcRect/>
          <a:stretch>
            <a:fillRect/>
          </a:stretch>
        </p:blipFill>
        <p:spPr bwMode="auto">
          <a:xfrm>
            <a:off x="2554506" y="3172425"/>
            <a:ext cx="5734050" cy="2011045"/>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5359-BF60-F3AE-338A-3095CC5D37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85A84B-BBF7-FB24-E485-D62B7A6857CF}"/>
              </a:ext>
            </a:extLst>
          </p:cNvPr>
          <p:cNvSpPr>
            <a:spLocks noGrp="1"/>
          </p:cNvSpPr>
          <p:nvPr>
            <p:ph idx="1"/>
          </p:nvPr>
        </p:nvSpPr>
        <p:spPr/>
        <p:txBody>
          <a:bodyPr/>
          <a:lstStyle/>
          <a:p>
            <a:pPr marL="0" indent="0">
              <a:buNone/>
            </a:pPr>
            <a:r>
              <a:rPr lang="en-IN" sz="2800" b="1" u="sng" dirty="0"/>
              <a:t>Case-04: For Binary Relationship With Cardinality Ratio 1:1</a:t>
            </a:r>
            <a:endParaRPr lang="en-IN" sz="2800" b="1" dirty="0"/>
          </a:p>
          <a:p>
            <a:pPr marL="0" indent="0" fontAlgn="base">
              <a:buNone/>
            </a:pPr>
            <a:r>
              <a:rPr lang="en-IN" sz="2800" dirty="0"/>
              <a:t>Here, two tables will be required. Either combine ‘R’ with ‘A’ or ‘B’</a:t>
            </a:r>
          </a:p>
          <a:p>
            <a:pPr marL="0" indent="0" fontAlgn="base">
              <a:buNone/>
            </a:pPr>
            <a:r>
              <a:rPr lang="en-IN" sz="2800" b="1" u="sng" dirty="0"/>
              <a:t>Way-01:</a:t>
            </a:r>
            <a:endParaRPr lang="en-IN" sz="2800" dirty="0"/>
          </a:p>
          <a:p>
            <a:pPr fontAlgn="base"/>
            <a:r>
              <a:rPr lang="en-IN" sz="2800" dirty="0"/>
              <a:t>AR ( </a:t>
            </a:r>
            <a:r>
              <a:rPr lang="en-IN" sz="2800" u="sng" dirty="0"/>
              <a:t>a1</a:t>
            </a:r>
            <a:r>
              <a:rPr lang="en-IN" sz="2800" dirty="0"/>
              <a:t> , a2 , b1 )</a:t>
            </a:r>
          </a:p>
          <a:p>
            <a:pPr fontAlgn="base"/>
            <a:r>
              <a:rPr lang="en-IN" sz="2800" dirty="0"/>
              <a:t>B ( </a:t>
            </a:r>
            <a:r>
              <a:rPr lang="en-IN" sz="2800" u="sng" dirty="0"/>
              <a:t>b1</a:t>
            </a:r>
            <a:r>
              <a:rPr lang="en-IN" sz="2800" dirty="0"/>
              <a:t> , b2 )</a:t>
            </a:r>
          </a:p>
          <a:p>
            <a:pPr marL="0" indent="0" fontAlgn="base">
              <a:buNone/>
            </a:pPr>
            <a:r>
              <a:rPr lang="en-IN" sz="2800" b="1" u="sng" dirty="0"/>
              <a:t>Way-02:</a:t>
            </a:r>
            <a:endParaRPr lang="en-IN" sz="2800" dirty="0"/>
          </a:p>
          <a:p>
            <a:pPr fontAlgn="base"/>
            <a:r>
              <a:rPr lang="en-IN" sz="2800" dirty="0"/>
              <a:t>A ( </a:t>
            </a:r>
            <a:r>
              <a:rPr lang="en-IN" sz="2800" u="sng" dirty="0"/>
              <a:t>a1</a:t>
            </a:r>
            <a:r>
              <a:rPr lang="en-IN" sz="2800" dirty="0"/>
              <a:t> , a2 )</a:t>
            </a:r>
          </a:p>
          <a:p>
            <a:pPr fontAlgn="base"/>
            <a:r>
              <a:rPr lang="en-IN" sz="2800" dirty="0"/>
              <a:t>BR ( a1 , </a:t>
            </a:r>
            <a:r>
              <a:rPr lang="en-IN" sz="2800" u="sng" dirty="0"/>
              <a:t>b1</a:t>
            </a:r>
            <a:r>
              <a:rPr lang="en-IN" sz="2800" dirty="0"/>
              <a:t> , b2 )</a:t>
            </a:r>
          </a:p>
          <a:p>
            <a:endParaRPr lang="en-US" dirty="0"/>
          </a:p>
        </p:txBody>
      </p:sp>
      <p:pic>
        <p:nvPicPr>
          <p:cNvPr id="8" name="Picture 3" descr="C:\Users\alpesh\Desktop\images\ER-diagrams-to-Tables-Rule-05-Case-04.png"/>
          <p:cNvPicPr>
            <a:picLocks noChangeAspect="1" noChangeArrowheads="1"/>
          </p:cNvPicPr>
          <p:nvPr/>
        </p:nvPicPr>
        <p:blipFill>
          <a:blip r:embed="rId2"/>
          <a:srcRect/>
          <a:stretch>
            <a:fillRect/>
          </a:stretch>
        </p:blipFill>
        <p:spPr bwMode="auto">
          <a:xfrm>
            <a:off x="5027488" y="3288130"/>
            <a:ext cx="5425440" cy="2654300"/>
          </a:xfrm>
          <a:prstGeom prst="rect">
            <a:avLst/>
          </a:prstGeom>
          <a:noFill/>
        </p:spPr>
      </p:pic>
    </p:spTree>
    <p:extLst>
      <p:ext uri="{BB962C8B-B14F-4D97-AF65-F5344CB8AC3E}">
        <p14:creationId xmlns:p14="http://schemas.microsoft.com/office/powerpoint/2010/main" val="39238396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270510" y="177165"/>
            <a:ext cx="10972800" cy="6537325"/>
          </a:xfrm>
        </p:spPr>
        <p:txBody>
          <a:bodyPr>
            <a:normAutofit/>
          </a:bodyPr>
          <a:lstStyle/>
          <a:p>
            <a:pPr marL="0" indent="0" fontAlgn="base">
              <a:buNone/>
            </a:pPr>
            <a:r>
              <a:rPr lang="en-IN" sz="2000" b="1" u="sng" dirty="0"/>
              <a:t>Rule-06: For Binary Relationship With Both Cardinality Constraints and Participation Constraints-</a:t>
            </a:r>
            <a:endParaRPr lang="en-IN" sz="2000" dirty="0"/>
          </a:p>
          <a:p>
            <a:pPr fontAlgn="base"/>
            <a:r>
              <a:rPr lang="en-IN" sz="2000" dirty="0"/>
              <a:t>Cardinality constraints will be implemented as discussed in Rule-05.</a:t>
            </a:r>
          </a:p>
          <a:p>
            <a:pPr fontAlgn="base"/>
            <a:r>
              <a:rPr lang="en-IN" sz="2000" dirty="0"/>
              <a:t>Because of the total participation constraint, foreign key acquires </a:t>
            </a:r>
            <a:r>
              <a:rPr lang="en-IN" sz="2000" b="1" dirty="0"/>
              <a:t>NOT NULL</a:t>
            </a:r>
            <a:r>
              <a:rPr lang="en-IN" sz="2000" dirty="0"/>
              <a:t> constraint i.e. now foreign key can not be null.</a:t>
            </a:r>
          </a:p>
          <a:p>
            <a:pPr marL="0" indent="0" fontAlgn="base">
              <a:buNone/>
            </a:pPr>
            <a:r>
              <a:rPr lang="en-IN" sz="2000" b="1" u="sng" dirty="0"/>
              <a:t>Case-01: For Binary Relationship With Cardinality Constraint and Total Participation Constraint From One Side-</a:t>
            </a:r>
            <a:endParaRPr lang="en-IN" sz="2000" dirty="0"/>
          </a:p>
          <a:p>
            <a:pPr marL="0" indent="0" fontAlgn="base">
              <a:buNone/>
            </a:pPr>
            <a:r>
              <a:rPr lang="en-IN" sz="2000" dirty="0"/>
              <a:t>Because cardinality ratio = 1 : n , so we will combine the entity set B and relationship set R.</a:t>
            </a:r>
          </a:p>
          <a:p>
            <a:pPr marL="0" indent="0" fontAlgn="base">
              <a:buNone/>
            </a:pPr>
            <a:r>
              <a:rPr lang="en-IN" sz="2000" dirty="0"/>
              <a:t>Then, two tables will be required-</a:t>
            </a:r>
          </a:p>
          <a:p>
            <a:pPr fontAlgn="base"/>
            <a:r>
              <a:rPr lang="en-IN" sz="2000" dirty="0"/>
              <a:t>A ( </a:t>
            </a:r>
            <a:r>
              <a:rPr lang="en-IN" sz="2000" u="sng" dirty="0"/>
              <a:t>a1</a:t>
            </a:r>
            <a:r>
              <a:rPr lang="en-IN" sz="2000" dirty="0"/>
              <a:t> , a2 )</a:t>
            </a:r>
          </a:p>
          <a:p>
            <a:pPr fontAlgn="base"/>
            <a:r>
              <a:rPr lang="en-IN" sz="2000" dirty="0"/>
              <a:t>BR ( a1 , </a:t>
            </a:r>
            <a:r>
              <a:rPr lang="en-IN" sz="2000" u="sng" dirty="0"/>
              <a:t>b1</a:t>
            </a:r>
            <a:r>
              <a:rPr lang="en-IN" sz="2000" dirty="0"/>
              <a:t> , b2 )</a:t>
            </a:r>
          </a:p>
          <a:p>
            <a:pPr fontAlgn="base"/>
            <a:r>
              <a:rPr lang="en-IN" sz="2000" dirty="0"/>
              <a:t>Because of total participation, foreign key a1 has acquired NOT NULL constraint, so it can’t be null now.</a:t>
            </a:r>
          </a:p>
          <a:p>
            <a:pPr fontAlgn="base"/>
            <a:endParaRPr lang="en-IN" sz="2000" dirty="0"/>
          </a:p>
          <a:p>
            <a:endParaRPr lang="en-IN" sz="2000" dirty="0"/>
          </a:p>
        </p:txBody>
      </p:sp>
      <p:pic>
        <p:nvPicPr>
          <p:cNvPr id="8" name="Picture 2" descr="C:\Users\alpesh\Desktop\images\ER-diagrams-to-Tables-Rule-06-Case-01.png"/>
          <p:cNvPicPr>
            <a:picLocks noChangeAspect="1" noChangeArrowheads="1"/>
          </p:cNvPicPr>
          <p:nvPr/>
        </p:nvPicPr>
        <p:blipFill>
          <a:blip r:embed="rId2"/>
          <a:srcRect/>
          <a:stretch>
            <a:fillRect/>
          </a:stretch>
        </p:blipFill>
        <p:spPr bwMode="auto">
          <a:xfrm>
            <a:off x="3200400" y="4343400"/>
            <a:ext cx="6736715" cy="2449195"/>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38760" y="104775"/>
            <a:ext cx="10972800" cy="4953000"/>
          </a:xfrm>
        </p:spPr>
        <p:txBody>
          <a:bodyPr>
            <a:normAutofit/>
          </a:bodyPr>
          <a:lstStyle/>
          <a:p>
            <a:pPr marL="0" indent="0" fontAlgn="base">
              <a:buNone/>
            </a:pPr>
            <a:r>
              <a:rPr lang="en-IN" sz="2400" b="1" u="sng" dirty="0"/>
              <a:t>Case-02: For Binary Relationship With Cardinality Constraint and Total Participation Constraint From Both Sides-</a:t>
            </a:r>
            <a:endParaRPr lang="en-IN" sz="2400" b="1" dirty="0"/>
          </a:p>
          <a:p>
            <a:pPr marL="0" indent="0" fontAlgn="base">
              <a:buNone/>
            </a:pPr>
            <a:endParaRPr lang="en-IN" sz="2400" dirty="0"/>
          </a:p>
          <a:p>
            <a:pPr fontAlgn="base"/>
            <a:r>
              <a:rPr lang="en-IN" sz="2400" dirty="0"/>
              <a:t>If there is a key constraint from both the sides of an entity set with total participation, then that binary relationship is represented using only single table.</a:t>
            </a:r>
          </a:p>
          <a:p>
            <a:pPr fontAlgn="base"/>
            <a:r>
              <a:rPr lang="en-IN" sz="2400" dirty="0"/>
              <a:t> Here, Only one table is required.</a:t>
            </a:r>
          </a:p>
          <a:p>
            <a:pPr fontAlgn="base"/>
            <a:r>
              <a:rPr lang="en-IN" sz="2400" dirty="0"/>
              <a:t>ARB ( </a:t>
            </a:r>
            <a:r>
              <a:rPr lang="en-IN" sz="2400" u="sng" dirty="0"/>
              <a:t>a1</a:t>
            </a:r>
            <a:r>
              <a:rPr lang="en-IN" sz="2400" dirty="0"/>
              <a:t> , a2 , </a:t>
            </a:r>
            <a:r>
              <a:rPr lang="en-IN" sz="2400" u="sng" dirty="0"/>
              <a:t>b1</a:t>
            </a:r>
            <a:r>
              <a:rPr lang="en-IN" sz="2400" dirty="0"/>
              <a:t> , b2 )</a:t>
            </a:r>
          </a:p>
          <a:p>
            <a:pPr fontAlgn="base"/>
            <a:endParaRPr lang="en-IN" dirty="0"/>
          </a:p>
          <a:p>
            <a:endParaRPr lang="en-US" dirty="0"/>
          </a:p>
          <a:p>
            <a:endParaRPr lang="en-US" dirty="0"/>
          </a:p>
          <a:p>
            <a:endParaRPr lang="en-US" dirty="0"/>
          </a:p>
        </p:txBody>
      </p:sp>
      <p:pic>
        <p:nvPicPr>
          <p:cNvPr id="6" name="Picture 2" descr="C:\Users\alpesh\Desktop\images\ER-diagrams-to-Tables-Rule-06-Case-02.png"/>
          <p:cNvPicPr>
            <a:picLocks noChangeAspect="1" noChangeArrowheads="1"/>
          </p:cNvPicPr>
          <p:nvPr/>
        </p:nvPicPr>
        <p:blipFill>
          <a:blip r:embed="rId2"/>
          <a:srcRect/>
          <a:stretch>
            <a:fillRect/>
          </a:stretch>
        </p:blipFill>
        <p:spPr bwMode="auto">
          <a:xfrm>
            <a:off x="4778375" y="3429000"/>
            <a:ext cx="6791325" cy="2800350"/>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7165" y="104775"/>
            <a:ext cx="10972800" cy="4953000"/>
          </a:xfrm>
        </p:spPr>
        <p:txBody>
          <a:bodyPr/>
          <a:lstStyle/>
          <a:p>
            <a:pPr fontAlgn="base"/>
            <a:r>
              <a:rPr lang="en-IN" sz="2400" b="1" u="sng"/>
              <a:t>Rule-07: For Binary Relationship With Weak Entity Set-</a:t>
            </a:r>
            <a:endParaRPr lang="en-IN" sz="2400"/>
          </a:p>
          <a:p>
            <a:pPr fontAlgn="base"/>
            <a:r>
              <a:rPr lang="en-IN" sz="2400"/>
              <a:t>Weak entity set always appears in association with identifying relationship with total participation constraint.</a:t>
            </a:r>
          </a:p>
          <a:p>
            <a:pPr fontAlgn="base"/>
            <a:r>
              <a:rPr lang="en-IN" sz="2400"/>
              <a:t>Here, two tables will be required-</a:t>
            </a:r>
          </a:p>
          <a:p>
            <a:pPr fontAlgn="base"/>
            <a:r>
              <a:rPr lang="en-IN" sz="2400"/>
              <a:t>A ( </a:t>
            </a:r>
            <a:r>
              <a:rPr lang="en-IN" sz="2400" u="sng"/>
              <a:t>a1</a:t>
            </a:r>
            <a:r>
              <a:rPr lang="en-IN" sz="2400"/>
              <a:t> , a2 )</a:t>
            </a:r>
          </a:p>
          <a:p>
            <a:pPr fontAlgn="base"/>
            <a:r>
              <a:rPr lang="en-IN" sz="2400"/>
              <a:t>BR ( </a:t>
            </a:r>
            <a:r>
              <a:rPr lang="en-IN" sz="2400" u="sng"/>
              <a:t>a1</a:t>
            </a:r>
            <a:r>
              <a:rPr lang="en-IN" sz="2400"/>
              <a:t> , </a:t>
            </a:r>
            <a:r>
              <a:rPr lang="en-IN" sz="2400" u="sng"/>
              <a:t>b1</a:t>
            </a:r>
            <a:r>
              <a:rPr lang="en-IN" sz="2400"/>
              <a:t> , b2 )</a:t>
            </a:r>
          </a:p>
          <a:p>
            <a:pPr fontAlgn="base"/>
            <a:endParaRPr lang="en-IN"/>
          </a:p>
          <a:p>
            <a:endParaRPr lang="en-IN"/>
          </a:p>
        </p:txBody>
      </p:sp>
      <p:pic>
        <p:nvPicPr>
          <p:cNvPr id="6" name="Picture 2" descr="C:\Users\alpesh\Desktop\images\ER-diagrams-to-Tables-Rule-07.png"/>
          <p:cNvPicPr>
            <a:picLocks noChangeAspect="1" noChangeArrowheads="1"/>
          </p:cNvPicPr>
          <p:nvPr/>
        </p:nvPicPr>
        <p:blipFill>
          <a:blip r:embed="rId2"/>
          <a:srcRect/>
          <a:stretch>
            <a:fillRect/>
          </a:stretch>
        </p:blipFill>
        <p:spPr bwMode="auto">
          <a:xfrm>
            <a:off x="3086100" y="3091815"/>
            <a:ext cx="7284720" cy="2632710"/>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63DAB-4C9E-DD59-FAA1-4420551174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AA9419-09ED-4457-A301-822358FED5E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88068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732</TotalTime>
  <Words>5291</Words>
  <Application>Microsoft Office PowerPoint</Application>
  <PresentationFormat>Widescreen</PresentationFormat>
  <Paragraphs>471</Paragraphs>
  <Slides>90</Slides>
  <Notes>38</Notes>
  <HiddenSlides>2</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90</vt:i4>
      </vt:variant>
    </vt:vector>
  </HeadingPairs>
  <TitlesOfParts>
    <vt:vector size="103" baseType="lpstr">
      <vt:lpstr>Aptos</vt:lpstr>
      <vt:lpstr>Arial</vt:lpstr>
      <vt:lpstr>Calibri</vt:lpstr>
      <vt:lpstr>Calibri Light</vt:lpstr>
      <vt:lpstr>Century Gothic</vt:lpstr>
      <vt:lpstr>inherit</vt:lpstr>
      <vt:lpstr>Monotype Sorts</vt:lpstr>
      <vt:lpstr>Noto Sans Symbols</vt:lpstr>
      <vt:lpstr>Poppins</vt:lpstr>
      <vt:lpstr>Symbol</vt:lpstr>
      <vt:lpstr>Times New Roman</vt:lpstr>
      <vt:lpstr>Wingdings</vt:lpstr>
      <vt:lpstr>Office Theme</vt:lpstr>
      <vt:lpstr>Course Code: CS3CO39  Course Name: Database Management System </vt:lpstr>
      <vt:lpstr>  Unit-1 Basic Concepts   </vt:lpstr>
      <vt:lpstr>Database System Architecture: From Software to Data</vt:lpstr>
      <vt:lpstr>PowerPoint Presentation</vt:lpstr>
      <vt:lpstr>PowerPoint Presentation</vt:lpstr>
      <vt:lpstr>PowerPoint Presentation</vt:lpstr>
      <vt:lpstr>Data and Information</vt:lpstr>
      <vt:lpstr>Difference between Data and Information</vt:lpstr>
      <vt:lpstr>PowerPoint Presentation</vt:lpstr>
      <vt:lpstr>Definition of Database </vt:lpstr>
      <vt:lpstr>An Example</vt:lpstr>
      <vt:lpstr>Advantages of Database Systems </vt:lpstr>
      <vt:lpstr>Advantages of Database Management System over Traditional File System </vt:lpstr>
      <vt:lpstr>Advantages of Database Management System over Traditional File System </vt:lpstr>
      <vt:lpstr>Drawbacks of using file systems to store data </vt:lpstr>
      <vt:lpstr>Architecture of  Database Management System :</vt:lpstr>
      <vt:lpstr>PowerPoint Presentation</vt:lpstr>
      <vt:lpstr>1. The disk Storage</vt:lpstr>
      <vt:lpstr>The disk Storage(Cont.)</vt:lpstr>
      <vt:lpstr>2. Storage Manager</vt:lpstr>
      <vt:lpstr>3. Query Processor</vt:lpstr>
      <vt:lpstr>Query Processing</vt:lpstr>
      <vt:lpstr>Transaction Management </vt:lpstr>
      <vt:lpstr>Transaction Management </vt:lpstr>
      <vt:lpstr>View of Data</vt:lpstr>
      <vt:lpstr>Levels of Abstraction</vt:lpstr>
      <vt:lpstr>Instances and Schemas</vt:lpstr>
      <vt:lpstr>Three Level Schema Architecture of  Database</vt:lpstr>
      <vt:lpstr>Database Architecture</vt:lpstr>
      <vt:lpstr>DBMS Architecture (Centralized/Shared-Memory)</vt:lpstr>
      <vt:lpstr>Database Users</vt:lpstr>
      <vt:lpstr>Database Applications </vt:lpstr>
      <vt:lpstr>DBMS architectures</vt:lpstr>
      <vt:lpstr>Two-tier and three-tier architectures</vt:lpstr>
      <vt:lpstr>Database Administrator  </vt:lpstr>
      <vt:lpstr>PowerPoint Presentation</vt:lpstr>
      <vt:lpstr>Physical Data Independence </vt:lpstr>
      <vt:lpstr>Data Models </vt:lpstr>
      <vt:lpstr>Components of Data Models</vt:lpstr>
      <vt:lpstr>NETWORK DATA MODEL</vt:lpstr>
      <vt:lpstr>NETWORK DATA MODEL</vt:lpstr>
      <vt:lpstr>c. Hierarchical Data Model</vt:lpstr>
      <vt:lpstr>Hierarchical Data Model</vt:lpstr>
      <vt:lpstr>Hierarchical Data Model</vt:lpstr>
      <vt:lpstr>Database Administrator (DBA) </vt:lpstr>
      <vt:lpstr>Types of Object Based Data Models</vt:lpstr>
      <vt:lpstr>a. Entity-Relationship Data Model </vt:lpstr>
      <vt:lpstr>ER DATA MODEL</vt:lpstr>
      <vt:lpstr>PowerPoint Presentation</vt:lpstr>
      <vt:lpstr>ER DATA MODEL</vt:lpstr>
      <vt:lpstr>STUDENT TABLE</vt:lpstr>
      <vt:lpstr>PowerPoint Presentation</vt:lpstr>
      <vt:lpstr>PowerPoint Presentation</vt:lpstr>
      <vt:lpstr>ER DATA MODEL</vt:lpstr>
      <vt:lpstr>How to Draw ER Diagram</vt:lpstr>
      <vt:lpstr>Entity-Relationship Model </vt:lpstr>
      <vt:lpstr>Types of Cardinality</vt:lpstr>
      <vt:lpstr>PowerPoint Presentation</vt:lpstr>
      <vt:lpstr>E-R diagram for the Banking Enterprise</vt:lpstr>
      <vt:lpstr>b. Object-Oriented Data Model </vt:lpstr>
      <vt:lpstr>Object-Oriented Data Model......... </vt:lpstr>
      <vt:lpstr>Object-Oriented Data Model </vt:lpstr>
      <vt:lpstr> 3. Physical Data Models  </vt:lpstr>
      <vt:lpstr>3. Physical Data Models.</vt:lpstr>
      <vt:lpstr>PowerPoint Presentation</vt:lpstr>
      <vt:lpstr>2. Record-Based Data Models </vt:lpstr>
      <vt:lpstr>a. Relational Data Model</vt:lpstr>
      <vt:lpstr>a. Relational Data Models </vt:lpstr>
      <vt:lpstr>Relational Data Model</vt:lpstr>
      <vt:lpstr>Relational Data Model</vt:lpstr>
      <vt:lpstr>Relational Data Model</vt:lpstr>
      <vt:lpstr>b.Hierarchical Data Model</vt:lpstr>
      <vt:lpstr>Hierarchical Data Model</vt:lpstr>
      <vt:lpstr>Hierarchical Data Model</vt:lpstr>
      <vt:lpstr>c. NETWORK DATA MODEL</vt:lpstr>
      <vt:lpstr>NETWORK DATA MODEL</vt:lpstr>
      <vt:lpstr>NETWORK DATA MODEL</vt:lpstr>
      <vt:lpstr>Converting ER Diagrams to Tables-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CS3CO39  Course Name: Database Management System </dc:title>
  <dc:creator>Aayush Jindal</dc:creator>
  <cp:lastModifiedBy>Aayush Jindal</cp:lastModifiedBy>
  <cp:revision>12</cp:revision>
  <dcterms:created xsi:type="dcterms:W3CDTF">2024-01-11T05:38:02Z</dcterms:created>
  <dcterms:modified xsi:type="dcterms:W3CDTF">2025-01-24T08:04:21Z</dcterms:modified>
</cp:coreProperties>
</file>