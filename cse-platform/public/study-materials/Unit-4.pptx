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13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ailash Chandra Bandhu" userId="a82dc2e2bf7b596e" providerId="LiveId" clId="{92FEE1DC-11B3-4059-92BB-434C93824285}"/>
    <pc:docChg chg="modSld">
      <pc:chgData name="Dr. Kailash Chandra Bandhu" userId="a82dc2e2bf7b596e" providerId="LiveId" clId="{92FEE1DC-11B3-4059-92BB-434C93824285}" dt="2024-04-01T05:31:13.400" v="167" actId="123"/>
      <pc:docMkLst>
        <pc:docMk/>
      </pc:docMkLst>
      <pc:sldChg chg="modSp mod">
        <pc:chgData name="Dr. Kailash Chandra Bandhu" userId="a82dc2e2bf7b596e" providerId="LiveId" clId="{92FEE1DC-11B3-4059-92BB-434C93824285}" dt="2024-03-26T08:09:32.766" v="157" actId="20577"/>
        <pc:sldMkLst>
          <pc:docMk/>
          <pc:sldMk cId="0" sldId="256"/>
        </pc:sldMkLst>
      </pc:sldChg>
      <pc:sldChg chg="modSp mod">
        <pc:chgData name="Dr. Kailash Chandra Bandhu" userId="a82dc2e2bf7b596e" providerId="LiveId" clId="{92FEE1DC-11B3-4059-92BB-434C93824285}" dt="2024-04-01T05:18:31.336" v="160" actId="20577"/>
        <pc:sldMkLst>
          <pc:docMk/>
          <pc:sldMk cId="0" sldId="265"/>
        </pc:sldMkLst>
      </pc:sldChg>
      <pc:sldChg chg="modSp mod">
        <pc:chgData name="Dr. Kailash Chandra Bandhu" userId="a82dc2e2bf7b596e" providerId="LiveId" clId="{92FEE1DC-11B3-4059-92BB-434C93824285}" dt="2024-04-01T05:25:46.100" v="163" actId="20577"/>
        <pc:sldMkLst>
          <pc:docMk/>
          <pc:sldMk cId="0" sldId="267"/>
        </pc:sldMkLst>
      </pc:sldChg>
      <pc:sldChg chg="modSp mod">
        <pc:chgData name="Dr. Kailash Chandra Bandhu" userId="a82dc2e2bf7b596e" providerId="LiveId" clId="{92FEE1DC-11B3-4059-92BB-434C93824285}" dt="2024-04-01T05:31:13.400" v="167" actId="123"/>
        <pc:sldMkLst>
          <pc:docMk/>
          <pc:sldMk cId="0" sldId="271"/>
        </pc:sldMkLst>
      </pc:sldChg>
    </pc:docChg>
  </pc:docChgLst>
  <pc:docChgLst>
    <pc:chgData name="kailashchandra.bandhu@gmail.com" userId="a82dc2e2bf7b596e" providerId="LiveId" clId="{2782F9F7-277C-44BD-9EB3-16D4632986DB}"/>
    <pc:docChg chg="undo custSel addSld delSld modSld">
      <pc:chgData name="kailashchandra.bandhu@gmail.com" userId="a82dc2e2bf7b596e" providerId="LiveId" clId="{2782F9F7-277C-44BD-9EB3-16D4632986DB}" dt="2023-04-19T08:44:35.554" v="192"/>
      <pc:docMkLst>
        <pc:docMk/>
      </pc:docMkLst>
      <pc:sldChg chg="modSp mod">
        <pc:chgData name="kailashchandra.bandhu@gmail.com" userId="a82dc2e2bf7b596e" providerId="LiveId" clId="{2782F9F7-277C-44BD-9EB3-16D4632986DB}" dt="2023-04-12T06:55:35.444" v="133" actId="20577"/>
        <pc:sldMkLst>
          <pc:docMk/>
          <pc:sldMk cId="0" sldId="256"/>
        </pc:sldMkLst>
      </pc:sldChg>
      <pc:sldChg chg="modSp mod">
        <pc:chgData name="kailashchandra.bandhu@gmail.com" userId="a82dc2e2bf7b596e" providerId="LiveId" clId="{2782F9F7-277C-44BD-9EB3-16D4632986DB}" dt="2023-04-12T06:59:50.342" v="134" actId="123"/>
        <pc:sldMkLst>
          <pc:docMk/>
          <pc:sldMk cId="0" sldId="257"/>
        </pc:sldMkLst>
      </pc:sldChg>
      <pc:sldChg chg="delSp mod">
        <pc:chgData name="kailashchandra.bandhu@gmail.com" userId="a82dc2e2bf7b596e" providerId="LiveId" clId="{2782F9F7-277C-44BD-9EB3-16D4632986DB}" dt="2023-04-05T06:58:53.900" v="125" actId="478"/>
        <pc:sldMkLst>
          <pc:docMk/>
          <pc:sldMk cId="0" sldId="266"/>
        </pc:sldMkLst>
      </pc:sldChg>
      <pc:sldChg chg="modSp mod">
        <pc:chgData name="kailashchandra.bandhu@gmail.com" userId="a82dc2e2bf7b596e" providerId="LiveId" clId="{2782F9F7-277C-44BD-9EB3-16D4632986DB}" dt="2023-04-19T05:32:22.122" v="142" actId="20577"/>
        <pc:sldMkLst>
          <pc:docMk/>
          <pc:sldMk cId="0" sldId="270"/>
        </pc:sldMkLst>
      </pc:sldChg>
      <pc:sldChg chg="delSp mod">
        <pc:chgData name="kailashchandra.bandhu@gmail.com" userId="a82dc2e2bf7b596e" providerId="LiveId" clId="{2782F9F7-277C-44BD-9EB3-16D4632986DB}" dt="2023-04-05T06:59:43.574" v="126" actId="478"/>
        <pc:sldMkLst>
          <pc:docMk/>
          <pc:sldMk cId="0" sldId="298"/>
        </pc:sldMkLst>
      </pc:sldChg>
      <pc:sldChg chg="modSp mod">
        <pc:chgData name="kailashchandra.bandhu@gmail.com" userId="a82dc2e2bf7b596e" providerId="LiveId" clId="{2782F9F7-277C-44BD-9EB3-16D4632986DB}" dt="2023-04-19T08:44:35.554" v="192"/>
        <pc:sldMkLst>
          <pc:docMk/>
          <pc:sldMk cId="0" sldId="303"/>
        </pc:sldMkLst>
      </pc:sldChg>
      <pc:sldChg chg="modSp mod">
        <pc:chgData name="kailashchandra.bandhu@gmail.com" userId="a82dc2e2bf7b596e" providerId="LiveId" clId="{2782F9F7-277C-44BD-9EB3-16D4632986DB}" dt="2023-04-05T06:59:59.663" v="127" actId="1076"/>
        <pc:sldMkLst>
          <pc:docMk/>
          <pc:sldMk cId="0" sldId="305"/>
        </pc:sldMkLst>
      </pc:sldChg>
      <pc:sldChg chg="addSp delSp modSp new del mod">
        <pc:chgData name="kailashchandra.bandhu@gmail.com" userId="a82dc2e2bf7b596e" providerId="LiveId" clId="{2782F9F7-277C-44BD-9EB3-16D4632986DB}" dt="2023-04-19T05:35:14.803" v="156" actId="680"/>
        <pc:sldMkLst>
          <pc:docMk/>
          <pc:sldMk cId="422385488" sldId="313"/>
        </pc:sldMkLst>
      </pc:sldChg>
      <pc:sldChg chg="addSp modSp new mod">
        <pc:chgData name="kailashchandra.bandhu@gmail.com" userId="a82dc2e2bf7b596e" providerId="LiveId" clId="{2782F9F7-277C-44BD-9EB3-16D4632986DB}" dt="2023-04-19T05:37:59.314" v="183" actId="255"/>
        <pc:sldMkLst>
          <pc:docMk/>
          <pc:sldMk cId="3308156440" sldId="313"/>
        </pc:sldMkLst>
      </pc:sldChg>
      <pc:sldChg chg="add del">
        <pc:chgData name="kailashchandra.bandhu@gmail.com" userId="a82dc2e2bf7b596e" providerId="LiveId" clId="{2782F9F7-277C-44BD-9EB3-16D4632986DB}" dt="2023-04-19T05:35:20.429" v="158" actId="2890"/>
        <pc:sldMkLst>
          <pc:docMk/>
          <pc:sldMk cId="4183355010" sldId="313"/>
        </pc:sldMkLst>
      </pc:sldChg>
      <pc:sldChg chg="add del">
        <pc:chgData name="kailashchandra.bandhu@gmail.com" userId="a82dc2e2bf7b596e" providerId="LiveId" clId="{2782F9F7-277C-44BD-9EB3-16D4632986DB}" dt="2023-04-19T05:37:08.231" v="177"/>
        <pc:sldMkLst>
          <pc:docMk/>
          <pc:sldMk cId="324581722" sldId="314"/>
        </pc:sldMkLst>
      </pc:sldChg>
      <pc:sldChg chg="new del">
        <pc:chgData name="kailashchandra.bandhu@gmail.com" userId="a82dc2e2bf7b596e" providerId="LiveId" clId="{2782F9F7-277C-44BD-9EB3-16D4632986DB}" dt="2023-04-19T05:37:14.147" v="179" actId="680"/>
        <pc:sldMkLst>
          <pc:docMk/>
          <pc:sldMk cId="1877494691" sldId="314"/>
        </pc:sldMkLst>
      </pc:sldChg>
    </pc:docChg>
  </pc:docChgLst>
  <pc:docChgLst>
    <pc:chgData name="Dr. Kailash Chandra Bandhu" userId="a82dc2e2bf7b596e" providerId="LiveId" clId="{134A8AA8-5976-4DE9-B500-B4BF77858A2A}"/>
    <pc:docChg chg="modSld">
      <pc:chgData name="Dr. Kailash Chandra Bandhu" userId="a82dc2e2bf7b596e" providerId="LiveId" clId="{134A8AA8-5976-4DE9-B500-B4BF77858A2A}" dt="2025-04-01T04:16:58.343" v="12" actId="20577"/>
      <pc:docMkLst>
        <pc:docMk/>
      </pc:docMkLst>
      <pc:sldChg chg="modSp mod">
        <pc:chgData name="Dr. Kailash Chandra Bandhu" userId="a82dc2e2bf7b596e" providerId="LiveId" clId="{134A8AA8-5976-4DE9-B500-B4BF77858A2A}" dt="2025-04-01T04:16:58.343" v="12" actId="20577"/>
        <pc:sldMkLst>
          <pc:docMk/>
          <pc:sldMk cId="0" sldId="256"/>
        </pc:sldMkLst>
        <pc:spChg chg="mod">
          <ac:chgData name="Dr. Kailash Chandra Bandhu" userId="a82dc2e2bf7b596e" providerId="LiveId" clId="{134A8AA8-5976-4DE9-B500-B4BF77858A2A}" dt="2025-04-01T04:16:58.343" v="1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r. Kailash Chandra Bandhu" userId="a82dc2e2bf7b596e" providerId="LiveId" clId="{134A8AA8-5976-4DE9-B500-B4BF77858A2A}" dt="2025-04-01T04:16:27.640" v="1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5FC13-4ECA-4A74-A6DF-3AA8AFDBD804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B3645-BB1B-41ED-A25C-BA04BF6465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209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R="635" algn="ctr">
              <a:lnSpc>
                <a:spcPts val="1220"/>
              </a:lnSpc>
            </a:pPr>
            <a:endParaRPr b="0" spc="15" dirty="0">
              <a:latin typeface="Calibri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7A0E5-16E9-486C-97DD-7821B6CD7B2B}" type="datetime1">
              <a:rPr lang="en-US" smtClean="0"/>
              <a:t>4/1/2025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R="635" algn="ctr">
              <a:lnSpc>
                <a:spcPts val="1220"/>
              </a:lnSpc>
            </a:pPr>
            <a:endParaRPr b="0" spc="15" dirty="0">
              <a:latin typeface="Calibri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1DD2F-4E4F-44B2-9A92-3C7A245784F9}" type="datetime1">
              <a:rPr lang="en-US" smtClean="0"/>
              <a:t>4/1/2025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R="635" algn="ctr">
              <a:lnSpc>
                <a:spcPts val="1220"/>
              </a:lnSpc>
            </a:pPr>
            <a:endParaRPr b="0" spc="15" dirty="0">
              <a:latin typeface="Calibri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D3E09-6C37-41F7-B4DB-CAA4C5150F93}" type="datetime1">
              <a:rPr lang="en-US" smtClean="0"/>
              <a:t>4/1/2025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R="635" algn="ctr">
              <a:lnSpc>
                <a:spcPts val="1220"/>
              </a:lnSpc>
            </a:pPr>
            <a:endParaRPr b="0" spc="15" dirty="0">
              <a:latin typeface="Calibri"/>
              <a:cs typeface="Calibri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ADF8C-B3E8-4DF9-8C69-B4F0023EDDEA}" type="datetime1">
              <a:rPr lang="en-US" smtClean="0"/>
              <a:t>4/1/2025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R="635" algn="ctr">
              <a:lnSpc>
                <a:spcPts val="1220"/>
              </a:lnSpc>
            </a:pPr>
            <a:endParaRPr b="0" spc="15" dirty="0">
              <a:latin typeface="Calibri"/>
              <a:cs typeface="Calibri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B4D50-5FEB-4D03-8A35-F2404A100024}" type="datetime1">
              <a:rPr lang="en-US" smtClean="0"/>
              <a:t>4/1/2025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662940" cy="8138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6490" y="167462"/>
            <a:ext cx="689101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CC33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1564" y="1664589"/>
            <a:ext cx="6689725" cy="2296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535171" y="6416065"/>
            <a:ext cx="2489200" cy="359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R="635" algn="ctr">
              <a:lnSpc>
                <a:spcPts val="1220"/>
              </a:lnSpc>
            </a:pPr>
            <a:endParaRPr b="0" spc="15" dirty="0">
              <a:latin typeface="Calibri"/>
              <a:cs typeface="Calibri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E57A4-8447-4AAD-9CC8-71E44F8904F5}" type="datetime1">
              <a:rPr lang="en-US" smtClean="0"/>
              <a:t>4/1/2025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6601" y="5645628"/>
            <a:ext cx="4800600" cy="92525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193040">
              <a:lnSpc>
                <a:spcPts val="2280"/>
              </a:lnSpc>
              <a:spcBef>
                <a:spcPts val="114"/>
              </a:spcBef>
            </a:pPr>
            <a:r>
              <a:rPr lang="en-IN" sz="2000" spc="30" dirty="0">
                <a:latin typeface="Times New Roman"/>
                <a:cs typeface="Times New Roman"/>
              </a:rPr>
              <a:t>                               </a:t>
            </a:r>
            <a:r>
              <a:rPr sz="2000" spc="30" dirty="0">
                <a:latin typeface="Times New Roman"/>
                <a:cs typeface="Times New Roman"/>
              </a:rPr>
              <a:t>P</a:t>
            </a:r>
            <a:r>
              <a:rPr sz="2000" spc="15" dirty="0">
                <a:latin typeface="Times New Roman"/>
                <a:cs typeface="Times New Roman"/>
              </a:rPr>
              <a:t>r</a:t>
            </a:r>
            <a:r>
              <a:rPr sz="2000" spc="5" dirty="0">
                <a:latin typeface="Times New Roman"/>
                <a:cs typeface="Times New Roman"/>
              </a:rPr>
              <a:t>e</a:t>
            </a:r>
            <a:r>
              <a:rPr sz="2000" spc="15" dirty="0">
                <a:latin typeface="Times New Roman"/>
                <a:cs typeface="Times New Roman"/>
              </a:rPr>
              <a:t>s</a:t>
            </a:r>
            <a:r>
              <a:rPr sz="2000" spc="5" dirty="0">
                <a:latin typeface="Times New Roman"/>
                <a:cs typeface="Times New Roman"/>
              </a:rPr>
              <a:t>en</a:t>
            </a:r>
            <a:r>
              <a:rPr sz="2000" spc="-20" dirty="0">
                <a:latin typeface="Times New Roman"/>
                <a:cs typeface="Times New Roman"/>
              </a:rPr>
              <a:t>t</a:t>
            </a:r>
            <a:r>
              <a:rPr sz="2000" spc="5" dirty="0">
                <a:latin typeface="Times New Roman"/>
                <a:cs typeface="Times New Roman"/>
              </a:rPr>
              <a:t>ed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2000" spc="-3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lang="en-IN" sz="2000" dirty="0">
              <a:latin typeface="Times New Roman"/>
              <a:cs typeface="Times New Roman"/>
            </a:endParaRPr>
          </a:p>
          <a:p>
            <a:pPr marR="193040" algn="r">
              <a:lnSpc>
                <a:spcPts val="2280"/>
              </a:lnSpc>
              <a:spcBef>
                <a:spcPts val="114"/>
              </a:spcBef>
            </a:pPr>
            <a:r>
              <a:rPr lang="en-IN" sz="2000" b="1" spc="30" dirty="0">
                <a:latin typeface="Times New Roman"/>
                <a:cs typeface="Times New Roman"/>
              </a:rPr>
              <a:t>Dr. Kailash C. Bandhu</a:t>
            </a:r>
            <a:endParaRPr lang="en-IN" sz="2000" dirty="0">
              <a:latin typeface="Times New Roman"/>
              <a:cs typeface="Times New Roman"/>
            </a:endParaRPr>
          </a:p>
          <a:p>
            <a:pPr marR="193040">
              <a:lnSpc>
                <a:spcPts val="2280"/>
              </a:lnSpc>
              <a:spcBef>
                <a:spcPts val="114"/>
              </a:spcBef>
            </a:pPr>
            <a:r>
              <a:rPr lang="en-IN" sz="2000" b="1" spc="-120" dirty="0">
                <a:latin typeface="Times New Roman"/>
                <a:cs typeface="Times New Roman"/>
              </a:rPr>
              <a:t>                                           Professor,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CSE</a:t>
            </a:r>
            <a:r>
              <a:rPr sz="2000" b="1" spc="60" dirty="0">
                <a:latin typeface="Times New Roman"/>
                <a:cs typeface="Times New Roman"/>
              </a:rPr>
              <a:t> </a:t>
            </a:r>
            <a:r>
              <a:rPr lang="en-IN" sz="2000" b="1" spc="60" dirty="0">
                <a:latin typeface="Times New Roman"/>
                <a:cs typeface="Times New Roman"/>
              </a:rPr>
              <a:t>           </a:t>
            </a:r>
            <a:r>
              <a:rPr sz="2100" baseline="-23809" dirty="0"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61870" y="4171264"/>
            <a:ext cx="60509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Transaction</a:t>
            </a:r>
            <a:r>
              <a:rPr sz="36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Processing</a:t>
            </a:r>
            <a:r>
              <a:rPr sz="36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5355" y="392725"/>
            <a:ext cx="5608790" cy="8587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60322" y="1625041"/>
            <a:ext cx="599948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b="0" dirty="0">
                <a:solidFill>
                  <a:srgbClr val="181866"/>
                </a:solidFill>
                <a:latin typeface="Times New Roman"/>
                <a:cs typeface="Times New Roman"/>
              </a:rPr>
              <a:t>Department</a:t>
            </a:r>
            <a:r>
              <a:rPr sz="2400" b="0" spc="-50" dirty="0">
                <a:solidFill>
                  <a:srgbClr val="181866"/>
                </a:solidFill>
                <a:latin typeface="Times New Roman"/>
                <a:cs typeface="Times New Roman"/>
              </a:rPr>
              <a:t> </a:t>
            </a:r>
            <a:r>
              <a:rPr sz="2400" b="0" spc="-5" dirty="0">
                <a:solidFill>
                  <a:srgbClr val="181866"/>
                </a:solidFill>
                <a:latin typeface="Times New Roman"/>
                <a:cs typeface="Times New Roman"/>
              </a:rPr>
              <a:t>of</a:t>
            </a:r>
            <a:r>
              <a:rPr sz="2400" b="0" dirty="0">
                <a:solidFill>
                  <a:srgbClr val="181866"/>
                </a:solidFill>
                <a:latin typeface="Times New Roman"/>
                <a:cs typeface="Times New Roman"/>
              </a:rPr>
              <a:t> </a:t>
            </a:r>
            <a:r>
              <a:rPr sz="2400" b="0" spc="5" dirty="0">
                <a:solidFill>
                  <a:srgbClr val="181866"/>
                </a:solidFill>
                <a:latin typeface="Times New Roman"/>
                <a:cs typeface="Times New Roman"/>
              </a:rPr>
              <a:t>Computer</a:t>
            </a:r>
            <a:r>
              <a:rPr sz="2400" b="0" spc="-75" dirty="0">
                <a:solidFill>
                  <a:srgbClr val="181866"/>
                </a:solidFill>
                <a:latin typeface="Times New Roman"/>
                <a:cs typeface="Times New Roman"/>
              </a:rPr>
              <a:t> </a:t>
            </a:r>
            <a:r>
              <a:rPr sz="2400" b="0" spc="5" dirty="0">
                <a:solidFill>
                  <a:srgbClr val="181866"/>
                </a:solidFill>
                <a:latin typeface="Times New Roman"/>
                <a:cs typeface="Times New Roman"/>
              </a:rPr>
              <a:t>Science</a:t>
            </a:r>
            <a:r>
              <a:rPr sz="2400" b="0" spc="-50" dirty="0">
                <a:solidFill>
                  <a:srgbClr val="181866"/>
                </a:solidFill>
                <a:latin typeface="Times New Roman"/>
                <a:cs typeface="Times New Roman"/>
              </a:rPr>
              <a:t> </a:t>
            </a:r>
            <a:r>
              <a:rPr sz="2400" b="0" spc="10" dirty="0">
                <a:solidFill>
                  <a:srgbClr val="181866"/>
                </a:solidFill>
                <a:latin typeface="Times New Roman"/>
                <a:cs typeface="Times New Roman"/>
              </a:rPr>
              <a:t>&amp;</a:t>
            </a:r>
            <a:r>
              <a:rPr sz="2400" b="0" spc="-35" dirty="0">
                <a:solidFill>
                  <a:srgbClr val="181866"/>
                </a:solidFill>
                <a:latin typeface="Times New Roman"/>
                <a:cs typeface="Times New Roman"/>
              </a:rPr>
              <a:t> </a:t>
            </a:r>
            <a:r>
              <a:rPr sz="2400" b="0" dirty="0">
                <a:solidFill>
                  <a:srgbClr val="181866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2138" y="2666941"/>
            <a:ext cx="3411220" cy="941705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70"/>
              </a:spcBef>
              <a:tabLst>
                <a:tab pos="229870" algn="l"/>
              </a:tabLst>
            </a:pP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CS</a:t>
            </a:r>
            <a:r>
              <a:rPr sz="2400" b="1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2400" b="1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lang="en-IN" sz="2400" b="1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39</a:t>
            </a:r>
            <a:r>
              <a:rPr sz="2400" b="1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2400" b="1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400" b="1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</a:t>
            </a:r>
            <a:r>
              <a:rPr sz="2400" b="1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2400" b="1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400" b="1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400" b="1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</a:t>
            </a:r>
            <a:r>
              <a:rPr sz="2400" b="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sz="1550" b="1" dirty="0">
                <a:latin typeface="Times New Roman"/>
                <a:cs typeface="Times New Roman"/>
              </a:rPr>
              <a:t>Session:</a:t>
            </a:r>
            <a:r>
              <a:rPr sz="1550" b="1" spc="14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Jan-Jun</a:t>
            </a:r>
            <a:r>
              <a:rPr sz="1550" b="1" spc="12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202</a:t>
            </a:r>
            <a:r>
              <a:rPr lang="en-IN" sz="1550" b="1" spc="15" dirty="0">
                <a:latin typeface="Times New Roman"/>
                <a:cs typeface="Times New Roman"/>
              </a:rPr>
              <a:t>5</a:t>
            </a:r>
            <a:endParaRPr sz="15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121158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Unit-4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50365"/>
            <a:ext cx="7585075" cy="12477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110"/>
              </a:spcBef>
            </a:pPr>
            <a:r>
              <a:rPr sz="2000" spc="5" dirty="0">
                <a:latin typeface="Times New Roman"/>
                <a:cs typeface="Times New Roman"/>
              </a:rPr>
              <a:t>Database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Processing: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Introduction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to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Processing,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Transaction </a:t>
            </a:r>
            <a:r>
              <a:rPr sz="2000" spc="5" dirty="0">
                <a:latin typeface="Times New Roman"/>
                <a:cs typeface="Times New Roman"/>
              </a:rPr>
              <a:t>Concepts, </a:t>
            </a:r>
            <a:r>
              <a:rPr sz="2000" dirty="0">
                <a:latin typeface="Times New Roman"/>
                <a:cs typeface="Times New Roman"/>
              </a:rPr>
              <a:t>Desirable </a:t>
            </a:r>
            <a:r>
              <a:rPr sz="2000" spc="10" dirty="0">
                <a:latin typeface="Times New Roman"/>
                <a:cs typeface="Times New Roman"/>
              </a:rPr>
              <a:t>Properties </a:t>
            </a:r>
            <a:r>
              <a:rPr sz="2000" spc="5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Transactions, </a:t>
            </a:r>
            <a:r>
              <a:rPr sz="2000" dirty="0">
                <a:latin typeface="Times New Roman"/>
                <a:cs typeface="Times New Roman"/>
              </a:rPr>
              <a:t>Schedules, </a:t>
            </a:r>
            <a:r>
              <a:rPr sz="2000" spc="5" dirty="0">
                <a:latin typeface="Times New Roman"/>
                <a:cs typeface="Times New Roman"/>
              </a:rPr>
              <a:t> Concepts of </a:t>
            </a:r>
            <a:r>
              <a:rPr sz="2000" dirty="0">
                <a:latin typeface="Times New Roman"/>
                <a:cs typeface="Times New Roman"/>
              </a:rPr>
              <a:t>Recoverability </a:t>
            </a:r>
            <a:r>
              <a:rPr sz="2000" spc="5" dirty="0">
                <a:latin typeface="Times New Roman"/>
                <a:cs typeface="Times New Roman"/>
              </a:rPr>
              <a:t>and </a:t>
            </a:r>
            <a:r>
              <a:rPr sz="2000" spc="-15" dirty="0">
                <a:latin typeface="Times New Roman"/>
                <a:cs typeface="Times New Roman"/>
              </a:rPr>
              <a:t>Serializability, </a:t>
            </a:r>
            <a:r>
              <a:rPr sz="2000" spc="5" dirty="0">
                <a:latin typeface="Times New Roman"/>
                <a:cs typeface="Times New Roman"/>
              </a:rPr>
              <a:t>Concurrency control: 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introduction,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locking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protocols.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386334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What</a:t>
            </a:r>
            <a:r>
              <a:rPr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Transaction?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50365"/>
            <a:ext cx="7555230" cy="150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single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logical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unit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work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which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accesses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possibly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modifies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contents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database.</a:t>
            </a:r>
            <a:endParaRPr sz="1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34"/>
              </a:spcBef>
              <a:buChar char="•"/>
              <a:tabLst>
                <a:tab pos="355600" algn="l"/>
                <a:tab pos="356235" algn="l"/>
              </a:tabLst>
            </a:pPr>
            <a:r>
              <a:rPr sz="1800" spc="-15" dirty="0">
                <a:latin typeface="Times New Roman"/>
                <a:cs typeface="Times New Roman"/>
              </a:rPr>
              <a:t>Transactions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access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data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using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write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operations.</a:t>
            </a:r>
            <a:endParaRPr sz="180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34"/>
              </a:spcBef>
              <a:buChar char="•"/>
              <a:tabLst>
                <a:tab pos="355600" algn="l"/>
                <a:tab pos="356235" algn="l"/>
              </a:tabLst>
            </a:pPr>
            <a:r>
              <a:rPr sz="1800" spc="5" dirty="0">
                <a:latin typeface="Times New Roman"/>
                <a:cs typeface="Times New Roman"/>
              </a:rPr>
              <a:t>In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order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maintain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consistency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before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after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transaction,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certain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properties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followed.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These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called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ACID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properties.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687" y="2779776"/>
            <a:ext cx="5363780" cy="37219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540004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Transaction</a:t>
            </a:r>
            <a:r>
              <a:rPr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ACID</a:t>
            </a:r>
            <a:r>
              <a:rPr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Properties: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04113"/>
            <a:ext cx="7482205" cy="49523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50" b="1" spc="15" dirty="0">
                <a:latin typeface="Times New Roman"/>
                <a:cs typeface="Times New Roman"/>
              </a:rPr>
              <a:t>Atomicity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10" dirty="0">
                <a:latin typeface="Times New Roman"/>
                <a:cs typeface="Times New Roman"/>
              </a:rPr>
              <a:t>By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this,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mean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either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entire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takes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place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at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once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or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doesn’t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happen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5"/>
              </a:spcBef>
            </a:pPr>
            <a:r>
              <a:rPr sz="1550" spc="15" dirty="0">
                <a:latin typeface="Times New Roman"/>
                <a:cs typeface="Times New Roman"/>
              </a:rPr>
              <a:t>at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all.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There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midway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i.e.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transactions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do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not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occur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partially.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It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involves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following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operations.</a:t>
            </a:r>
            <a:endParaRPr sz="1550">
              <a:latin typeface="Times New Roman"/>
              <a:cs typeface="Times New Roman"/>
            </a:endParaRPr>
          </a:p>
          <a:p>
            <a:pPr marL="369570">
              <a:lnSpc>
                <a:spcPct val="100000"/>
              </a:lnSpc>
              <a:spcBef>
                <a:spcPts val="445"/>
              </a:spcBef>
            </a:pPr>
            <a:r>
              <a:rPr sz="1550" spc="10" dirty="0">
                <a:latin typeface="Times New Roman"/>
                <a:cs typeface="Times New Roman"/>
              </a:rPr>
              <a:t>—</a:t>
            </a:r>
            <a:r>
              <a:rPr sz="1550" b="1" i="1" spc="10" dirty="0">
                <a:latin typeface="Times New Roman"/>
                <a:cs typeface="Times New Roman"/>
              </a:rPr>
              <a:t>Abort:</a:t>
            </a:r>
            <a:r>
              <a:rPr sz="1550" b="1" i="1" spc="9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If</a:t>
            </a:r>
            <a:r>
              <a:rPr sz="1550" i="1" spc="40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a</a:t>
            </a:r>
            <a:r>
              <a:rPr sz="1550" i="1" spc="10" dirty="0">
                <a:latin typeface="Times New Roman"/>
                <a:cs typeface="Times New Roman"/>
              </a:rPr>
              <a:t> transaction</a:t>
            </a:r>
            <a:r>
              <a:rPr sz="1550" i="1" spc="114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aborts,</a:t>
            </a:r>
            <a:r>
              <a:rPr sz="1550" i="1" spc="80" dirty="0">
                <a:latin typeface="Times New Roman"/>
                <a:cs typeface="Times New Roman"/>
              </a:rPr>
              <a:t> </a:t>
            </a:r>
            <a:r>
              <a:rPr sz="1550" i="1" spc="20" dirty="0">
                <a:latin typeface="Times New Roman"/>
                <a:cs typeface="Times New Roman"/>
              </a:rPr>
              <a:t>changes</a:t>
            </a:r>
            <a:r>
              <a:rPr sz="1550" i="1" spc="40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made</a:t>
            </a:r>
            <a:r>
              <a:rPr sz="1550" i="1" spc="55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to</a:t>
            </a:r>
            <a:r>
              <a:rPr sz="1550" i="1" spc="10" dirty="0">
                <a:latin typeface="Times New Roman"/>
                <a:cs typeface="Times New Roman"/>
              </a:rPr>
              <a:t> database</a:t>
            </a:r>
            <a:r>
              <a:rPr sz="1550" i="1" spc="90" dirty="0">
                <a:latin typeface="Times New Roman"/>
                <a:cs typeface="Times New Roman"/>
              </a:rPr>
              <a:t> </a:t>
            </a:r>
            <a:r>
              <a:rPr sz="1550" i="1" spc="-15" dirty="0">
                <a:latin typeface="Times New Roman"/>
                <a:cs typeface="Times New Roman"/>
              </a:rPr>
              <a:t>are</a:t>
            </a:r>
            <a:r>
              <a:rPr sz="1550" i="1" spc="6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not</a:t>
            </a:r>
            <a:r>
              <a:rPr sz="1550" i="1" spc="4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visible.</a:t>
            </a:r>
            <a:endParaRPr sz="1550">
              <a:latin typeface="Times New Roman"/>
              <a:cs typeface="Times New Roman"/>
            </a:endParaRPr>
          </a:p>
          <a:p>
            <a:pPr marL="369570">
              <a:lnSpc>
                <a:spcPct val="100000"/>
              </a:lnSpc>
              <a:spcBef>
                <a:spcPts val="445"/>
              </a:spcBef>
            </a:pPr>
            <a:r>
              <a:rPr sz="1550" spc="20" dirty="0">
                <a:latin typeface="Times New Roman"/>
                <a:cs typeface="Times New Roman"/>
              </a:rPr>
              <a:t>—</a:t>
            </a:r>
            <a:r>
              <a:rPr sz="1550" b="1" i="1" spc="20" dirty="0">
                <a:latin typeface="Times New Roman"/>
                <a:cs typeface="Times New Roman"/>
              </a:rPr>
              <a:t>Commit:</a:t>
            </a:r>
            <a:r>
              <a:rPr sz="1550" b="1" i="1" spc="6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If</a:t>
            </a:r>
            <a:r>
              <a:rPr sz="1550" i="1" spc="30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a</a:t>
            </a:r>
            <a:r>
              <a:rPr sz="1550" i="1" spc="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transaction</a:t>
            </a:r>
            <a:r>
              <a:rPr sz="1550" i="1" spc="15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commits,</a:t>
            </a:r>
            <a:r>
              <a:rPr sz="1550" i="1" spc="40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changes</a:t>
            </a:r>
            <a:r>
              <a:rPr sz="1550" i="1" spc="35" dirty="0">
                <a:latin typeface="Times New Roman"/>
                <a:cs typeface="Times New Roman"/>
              </a:rPr>
              <a:t> </a:t>
            </a:r>
            <a:r>
              <a:rPr sz="1550" i="1" spc="20" dirty="0">
                <a:latin typeface="Times New Roman"/>
                <a:cs typeface="Times New Roman"/>
              </a:rPr>
              <a:t>made</a:t>
            </a:r>
            <a:r>
              <a:rPr sz="1550" i="1" spc="25" dirty="0">
                <a:latin typeface="Times New Roman"/>
                <a:cs typeface="Times New Roman"/>
              </a:rPr>
              <a:t> </a:t>
            </a:r>
            <a:r>
              <a:rPr sz="1550" i="1" spc="-15" dirty="0">
                <a:latin typeface="Times New Roman"/>
                <a:cs typeface="Times New Roman"/>
              </a:rPr>
              <a:t>are</a:t>
            </a:r>
            <a:r>
              <a:rPr sz="1550" i="1" spc="6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visible.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sz="1550" spc="5" dirty="0">
                <a:latin typeface="Times New Roman"/>
                <a:cs typeface="Times New Roman"/>
              </a:rPr>
              <a:t>Atomicity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also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known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‘</a:t>
            </a:r>
            <a:r>
              <a:rPr sz="155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155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155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nothing</a:t>
            </a:r>
            <a:r>
              <a:rPr sz="1550" b="1" spc="1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rule</a:t>
            </a:r>
            <a:r>
              <a:rPr sz="1550" spc="10" dirty="0">
                <a:latin typeface="Times New Roman"/>
                <a:cs typeface="Times New Roman"/>
              </a:rPr>
              <a:t>’.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spc="5" dirty="0">
                <a:latin typeface="Times New Roman"/>
                <a:cs typeface="Times New Roman"/>
              </a:rPr>
              <a:t>Consider</a:t>
            </a:r>
            <a:r>
              <a:rPr sz="1550" b="1" spc="95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Times New Roman"/>
                <a:cs typeface="Times New Roman"/>
              </a:rPr>
              <a:t>the</a:t>
            </a:r>
            <a:r>
              <a:rPr sz="1550" b="1" spc="95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Times New Roman"/>
                <a:cs typeface="Times New Roman"/>
              </a:rPr>
              <a:t>following</a:t>
            </a:r>
            <a:r>
              <a:rPr sz="1550" b="1" spc="22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transaction</a:t>
            </a:r>
            <a:r>
              <a:rPr sz="1550" b="1" spc="60" dirty="0">
                <a:latin typeface="Times New Roman"/>
                <a:cs typeface="Times New Roman"/>
              </a:rPr>
              <a:t> </a:t>
            </a:r>
            <a:r>
              <a:rPr sz="1550" b="1" spc="20" dirty="0">
                <a:latin typeface="Times New Roman"/>
                <a:cs typeface="Times New Roman"/>
              </a:rPr>
              <a:t>T</a:t>
            </a:r>
            <a:r>
              <a:rPr sz="1550" b="1" spc="-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consisting</a:t>
            </a:r>
            <a:r>
              <a:rPr sz="1550" b="1" spc="19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of</a:t>
            </a:r>
            <a:r>
              <a:rPr sz="1550" b="1" spc="2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T1</a:t>
            </a:r>
            <a:r>
              <a:rPr sz="1550" b="1" spc="45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Times New Roman"/>
                <a:cs typeface="Times New Roman"/>
              </a:rPr>
              <a:t>and</a:t>
            </a:r>
            <a:r>
              <a:rPr sz="1550" b="1" spc="3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T2:</a:t>
            </a:r>
            <a:r>
              <a:rPr sz="1550" b="1" spc="20" dirty="0">
                <a:latin typeface="Times New Roman"/>
                <a:cs typeface="Times New Roman"/>
              </a:rPr>
              <a:t> </a:t>
            </a:r>
            <a:r>
              <a:rPr sz="1550" b="1" spc="-10" dirty="0">
                <a:latin typeface="Times New Roman"/>
                <a:cs typeface="Times New Roman"/>
              </a:rPr>
              <a:t>Transfer</a:t>
            </a:r>
            <a:r>
              <a:rPr sz="1550" b="1" spc="9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of</a:t>
            </a:r>
            <a:r>
              <a:rPr sz="1550" b="1" spc="5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100</a:t>
            </a:r>
            <a:r>
              <a:rPr sz="1550" b="1" spc="10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from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50" b="1" dirty="0">
                <a:latin typeface="Times New Roman"/>
                <a:cs typeface="Times New Roman"/>
              </a:rPr>
              <a:t>account</a:t>
            </a:r>
            <a:r>
              <a:rPr sz="1550" b="1" spc="120" dirty="0">
                <a:latin typeface="Times New Roman"/>
                <a:cs typeface="Times New Roman"/>
              </a:rPr>
              <a:t> </a:t>
            </a:r>
            <a:r>
              <a:rPr sz="1550" b="1" spc="20" dirty="0">
                <a:latin typeface="Times New Roman"/>
                <a:cs typeface="Times New Roman"/>
              </a:rPr>
              <a:t>X</a:t>
            </a:r>
            <a:r>
              <a:rPr sz="1550" b="1" spc="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to</a:t>
            </a:r>
            <a:r>
              <a:rPr sz="1550" b="1" spc="3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account</a:t>
            </a:r>
            <a:r>
              <a:rPr sz="1550" b="1" spc="50" dirty="0">
                <a:latin typeface="Times New Roman"/>
                <a:cs typeface="Times New Roman"/>
              </a:rPr>
              <a:t> </a:t>
            </a:r>
            <a:r>
              <a:rPr sz="1550" b="1" spc="-55" dirty="0">
                <a:latin typeface="Times New Roman"/>
                <a:cs typeface="Times New Roman"/>
              </a:rPr>
              <a:t>Y.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i="1" spc="15" dirty="0">
                <a:latin typeface="Times New Roman"/>
                <a:cs typeface="Times New Roman"/>
              </a:rPr>
              <a:t>If</a:t>
            </a:r>
            <a:r>
              <a:rPr sz="1550" i="1" spc="2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the</a:t>
            </a:r>
            <a:r>
              <a:rPr sz="1550" i="1" spc="1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transaction</a:t>
            </a:r>
            <a:r>
              <a:rPr sz="1550" i="1" spc="105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fails</a:t>
            </a:r>
            <a:r>
              <a:rPr sz="1550" i="1" spc="10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after</a:t>
            </a:r>
            <a:r>
              <a:rPr sz="1550" i="1" spc="30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completion</a:t>
            </a:r>
            <a:r>
              <a:rPr sz="1550" i="1" spc="6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of</a:t>
            </a:r>
            <a:r>
              <a:rPr sz="1550" i="1" spc="3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T1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50" i="1" spc="15" dirty="0">
                <a:latin typeface="Times New Roman"/>
                <a:cs typeface="Times New Roman"/>
              </a:rPr>
              <a:t>but </a:t>
            </a:r>
            <a:r>
              <a:rPr sz="1550" i="1" dirty="0">
                <a:latin typeface="Times New Roman"/>
                <a:cs typeface="Times New Roman"/>
              </a:rPr>
              <a:t>before</a:t>
            </a:r>
            <a:r>
              <a:rPr sz="1550" i="1" spc="4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completion</a:t>
            </a:r>
            <a:r>
              <a:rPr sz="1550" i="1" spc="6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of</a:t>
            </a:r>
            <a:r>
              <a:rPr sz="1550" i="1" spc="2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T2.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i="1" spc="10" dirty="0">
                <a:latin typeface="Times New Roman"/>
                <a:cs typeface="Times New Roman"/>
              </a:rPr>
              <a:t>( </a:t>
            </a:r>
            <a:r>
              <a:rPr sz="1550" i="1" spc="-5" dirty="0">
                <a:latin typeface="Times New Roman"/>
                <a:cs typeface="Times New Roman"/>
              </a:rPr>
              <a:t>say,</a:t>
            </a:r>
            <a:r>
              <a:rPr sz="1550" i="1" spc="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after</a:t>
            </a:r>
            <a:r>
              <a:rPr sz="1550" i="1" spc="7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write(X)</a:t>
            </a:r>
            <a:r>
              <a:rPr sz="1550" i="1" spc="9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but</a:t>
            </a:r>
            <a:r>
              <a:rPr sz="1550" i="1" spc="30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before</a:t>
            </a:r>
            <a:r>
              <a:rPr sz="1550" i="1" spc="9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write(Y)),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550" i="1" spc="15" dirty="0">
                <a:latin typeface="Times New Roman"/>
                <a:cs typeface="Times New Roman"/>
              </a:rPr>
              <a:t>then</a:t>
            </a:r>
            <a:r>
              <a:rPr sz="1550" i="1" spc="3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amount</a:t>
            </a:r>
            <a:r>
              <a:rPr sz="1550" i="1" spc="2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has</a:t>
            </a:r>
            <a:r>
              <a:rPr sz="1550" i="1" spc="30" dirty="0">
                <a:latin typeface="Times New Roman"/>
                <a:cs typeface="Times New Roman"/>
              </a:rPr>
              <a:t> </a:t>
            </a:r>
            <a:r>
              <a:rPr sz="1550" i="1" spc="20" dirty="0">
                <a:latin typeface="Times New Roman"/>
                <a:cs typeface="Times New Roman"/>
              </a:rPr>
              <a:t>been</a:t>
            </a:r>
            <a:r>
              <a:rPr sz="1550" i="1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deducted</a:t>
            </a:r>
            <a:r>
              <a:rPr sz="1550" i="1" spc="40" dirty="0">
                <a:latin typeface="Times New Roman"/>
                <a:cs typeface="Times New Roman"/>
              </a:rPr>
              <a:t> </a:t>
            </a:r>
            <a:r>
              <a:rPr sz="1550" i="1" spc="-10" dirty="0">
                <a:latin typeface="Times New Roman"/>
                <a:cs typeface="Times New Roman"/>
              </a:rPr>
              <a:t>from</a:t>
            </a:r>
            <a:r>
              <a:rPr sz="1550" i="1" spc="80" dirty="0">
                <a:latin typeface="Times New Roman"/>
                <a:cs typeface="Times New Roman"/>
              </a:rPr>
              <a:t> </a:t>
            </a:r>
            <a:r>
              <a:rPr sz="1550" i="1" spc="20" dirty="0">
                <a:latin typeface="Times New Roman"/>
                <a:cs typeface="Times New Roman"/>
              </a:rPr>
              <a:t>X</a:t>
            </a:r>
            <a:r>
              <a:rPr sz="1550" i="1" spc="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but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50" i="1" spc="10" dirty="0">
                <a:latin typeface="Times New Roman"/>
                <a:cs typeface="Times New Roman"/>
              </a:rPr>
              <a:t>not</a:t>
            </a:r>
            <a:r>
              <a:rPr sz="1550" i="1" spc="3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added</a:t>
            </a:r>
            <a:r>
              <a:rPr sz="1550" i="1" spc="45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to</a:t>
            </a:r>
            <a:r>
              <a:rPr sz="1550" i="1" spc="45" dirty="0">
                <a:latin typeface="Times New Roman"/>
                <a:cs typeface="Times New Roman"/>
              </a:rPr>
              <a:t> </a:t>
            </a:r>
            <a:r>
              <a:rPr sz="1550" i="1" spc="-90" dirty="0">
                <a:latin typeface="Times New Roman"/>
                <a:cs typeface="Times New Roman"/>
              </a:rPr>
              <a:t>Y.</a:t>
            </a:r>
            <a:r>
              <a:rPr sz="1550" i="1" spc="40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This</a:t>
            </a:r>
            <a:r>
              <a:rPr sz="1550" i="1" spc="80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results</a:t>
            </a:r>
            <a:r>
              <a:rPr sz="1550" i="1" spc="114" dirty="0">
                <a:latin typeface="Times New Roman"/>
                <a:cs typeface="Times New Roman"/>
              </a:rPr>
              <a:t> </a:t>
            </a:r>
            <a:r>
              <a:rPr sz="1550" i="1" spc="5" dirty="0">
                <a:latin typeface="Times New Roman"/>
                <a:cs typeface="Times New Roman"/>
              </a:rPr>
              <a:t>in</a:t>
            </a:r>
            <a:r>
              <a:rPr sz="1550" i="1" spc="4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an</a:t>
            </a:r>
            <a:r>
              <a:rPr sz="1550" i="1" spc="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inconsistent</a:t>
            </a:r>
            <a:r>
              <a:rPr sz="1550" i="1" spc="14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database</a:t>
            </a:r>
            <a:r>
              <a:rPr sz="1550" i="1" spc="55" dirty="0">
                <a:latin typeface="Times New Roman"/>
                <a:cs typeface="Times New Roman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state</a:t>
            </a:r>
            <a:r>
              <a:rPr sz="1550" spc="15" dirty="0">
                <a:latin typeface="Times New Roman"/>
                <a:cs typeface="Times New Roman"/>
              </a:rPr>
              <a:t>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2311" y="4442418"/>
            <a:ext cx="3363836" cy="12946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540004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Transaction</a:t>
            </a:r>
            <a:r>
              <a:rPr spc="-1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ACID</a:t>
            </a:r>
            <a:r>
              <a:rPr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Properties: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04113"/>
            <a:ext cx="7596505" cy="41744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50" b="1" spc="5" dirty="0">
                <a:latin typeface="Times New Roman"/>
                <a:cs typeface="Times New Roman"/>
              </a:rPr>
              <a:t>Consistency: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This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means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integrity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constraints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must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maintained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database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5"/>
              </a:spcBef>
            </a:pPr>
            <a:r>
              <a:rPr sz="1550" dirty="0">
                <a:latin typeface="Times New Roman"/>
                <a:cs typeface="Times New Roman"/>
              </a:rPr>
              <a:t>consistent</a:t>
            </a:r>
            <a:r>
              <a:rPr sz="1550" spc="2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before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after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transaction.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It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refers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correctness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database.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spc="5" dirty="0">
                <a:latin typeface="Times New Roman"/>
                <a:cs typeface="Times New Roman"/>
              </a:rPr>
              <a:t>Isolation: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This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property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ensures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multiple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occur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concurrently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without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leading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inconsistency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database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state.</a:t>
            </a:r>
            <a:endParaRPr sz="1550">
              <a:latin typeface="Times New Roman"/>
              <a:cs typeface="Times New Roman"/>
            </a:endParaRPr>
          </a:p>
          <a:p>
            <a:pPr marL="355600" marR="106045" indent="-343535">
              <a:lnSpc>
                <a:spcPct val="102699"/>
              </a:lnSpc>
              <a:spcBef>
                <a:spcPts val="39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Changes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occurring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particular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will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not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visible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any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other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 </a:t>
            </a:r>
            <a:r>
              <a:rPr sz="1550" spc="-3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until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particular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change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has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been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committed.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spc="5" dirty="0">
                <a:latin typeface="Times New Roman"/>
                <a:cs typeface="Times New Roman"/>
              </a:rPr>
              <a:t>Durability:</a:t>
            </a:r>
            <a:endParaRPr sz="155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3699"/>
              </a:lnSpc>
              <a:spcBef>
                <a:spcPts val="37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This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property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ensures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once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has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completed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execution,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updates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 </a:t>
            </a:r>
            <a:r>
              <a:rPr sz="1550" spc="-3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modifications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database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stored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written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disk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they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persist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even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 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system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failure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occurs.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These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updates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now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become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permanent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are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stored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non-volatile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memory.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505206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Transaction</a:t>
            </a:r>
            <a:r>
              <a:rPr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States</a:t>
            </a:r>
            <a:r>
              <a:rPr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04113"/>
            <a:ext cx="7480934" cy="13931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3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5" dirty="0">
                <a:latin typeface="Times New Roman"/>
                <a:cs typeface="Times New Roman"/>
              </a:rPr>
              <a:t>States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through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which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goes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during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lifetime.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These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specify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about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current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state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also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specify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how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5"/>
              </a:spcBef>
            </a:pPr>
            <a:r>
              <a:rPr sz="1550" dirty="0">
                <a:latin typeface="Times New Roman"/>
                <a:cs typeface="Times New Roman"/>
              </a:rPr>
              <a:t>we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will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process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transactions.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These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govern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rules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which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decide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whether</a:t>
            </a:r>
            <a:r>
              <a:rPr sz="1550" spc="204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will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commit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or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1550" spc="5" dirty="0">
                <a:latin typeface="Times New Roman"/>
                <a:cs typeface="Times New Roman"/>
              </a:rPr>
              <a:t>abort.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836" y="2856047"/>
            <a:ext cx="7162800" cy="31271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06525" y="6300885"/>
            <a:ext cx="1112520" cy="248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0"/>
              </a:lnSpc>
            </a:pP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terminated.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505206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Transaction</a:t>
            </a:r>
            <a:r>
              <a:rPr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States</a:t>
            </a:r>
            <a:r>
              <a:rPr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54938"/>
            <a:ext cx="7555865" cy="5148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3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1550" b="1" spc="15" dirty="0">
                <a:latin typeface="Times New Roman"/>
                <a:cs typeface="Times New Roman"/>
              </a:rPr>
              <a:t>Active</a:t>
            </a:r>
            <a:r>
              <a:rPr sz="1550" b="1" spc="2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State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–</a:t>
            </a:r>
            <a:r>
              <a:rPr sz="1550" spc="10" dirty="0">
                <a:latin typeface="Times New Roman"/>
                <a:cs typeface="Times New Roman"/>
              </a:rPr>
              <a:t>When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instructions</a:t>
            </a:r>
            <a:r>
              <a:rPr sz="1550" spc="229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running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active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Times New Roman"/>
              <a:cs typeface="Times New Roman"/>
            </a:endParaRPr>
          </a:p>
          <a:p>
            <a:pPr marL="355600" marR="52069" indent="-343535">
              <a:lnSpc>
                <a:spcPct val="103299"/>
              </a:lnSpc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1550" b="1" spc="5" dirty="0">
                <a:latin typeface="Times New Roman"/>
                <a:cs typeface="Times New Roman"/>
              </a:rPr>
              <a:t>Partially </a:t>
            </a:r>
            <a:r>
              <a:rPr sz="1550" b="1" spc="15" dirty="0">
                <a:latin typeface="Times New Roman"/>
                <a:cs typeface="Times New Roman"/>
              </a:rPr>
              <a:t>Committed </a:t>
            </a:r>
            <a:r>
              <a:rPr sz="1550" b="1" dirty="0">
                <a:latin typeface="Times New Roman"/>
                <a:cs typeface="Times New Roman"/>
              </a:rPr>
              <a:t>–</a:t>
            </a:r>
            <a:r>
              <a:rPr sz="1550" dirty="0">
                <a:latin typeface="Times New Roman"/>
                <a:cs typeface="Times New Roman"/>
              </a:rPr>
              <a:t>After</a:t>
            </a:r>
            <a:r>
              <a:rPr sz="1550" spc="5" dirty="0">
                <a:latin typeface="Times New Roman"/>
                <a:cs typeface="Times New Roman"/>
              </a:rPr>
              <a:t> completion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 </a:t>
            </a:r>
            <a:r>
              <a:rPr sz="1550" spc="10" dirty="0">
                <a:latin typeface="Times New Roman"/>
                <a:cs typeface="Times New Roman"/>
              </a:rPr>
              <a:t>all </a:t>
            </a:r>
            <a:r>
              <a:rPr sz="1550" spc="-5" dirty="0">
                <a:latin typeface="Times New Roman"/>
                <a:cs typeface="Times New Roman"/>
              </a:rPr>
              <a:t>the </a:t>
            </a:r>
            <a:r>
              <a:rPr sz="1550" spc="15" dirty="0">
                <a:latin typeface="Times New Roman"/>
                <a:cs typeface="Times New Roman"/>
              </a:rPr>
              <a:t>read </a:t>
            </a:r>
            <a:r>
              <a:rPr sz="1550" spc="5" dirty="0">
                <a:latin typeface="Times New Roman"/>
                <a:cs typeface="Times New Roman"/>
              </a:rPr>
              <a:t>and write operation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 </a:t>
            </a:r>
            <a:r>
              <a:rPr sz="1550" spc="-10" dirty="0">
                <a:latin typeface="Times New Roman"/>
                <a:cs typeface="Times New Roman"/>
              </a:rPr>
              <a:t>changes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are </a:t>
            </a:r>
            <a:r>
              <a:rPr sz="1550" spc="-10" dirty="0">
                <a:latin typeface="Times New Roman"/>
                <a:cs typeface="Times New Roman"/>
              </a:rPr>
              <a:t>made </a:t>
            </a:r>
            <a:r>
              <a:rPr sz="1550" spc="5" dirty="0">
                <a:latin typeface="Times New Roman"/>
                <a:cs typeface="Times New Roman"/>
              </a:rPr>
              <a:t>in </a:t>
            </a:r>
            <a:r>
              <a:rPr sz="1550" spc="-5" dirty="0">
                <a:latin typeface="Times New Roman"/>
                <a:cs typeface="Times New Roman"/>
              </a:rPr>
              <a:t>main </a:t>
            </a:r>
            <a:r>
              <a:rPr sz="1550" spc="5" dirty="0">
                <a:latin typeface="Times New Roman"/>
                <a:cs typeface="Times New Roman"/>
              </a:rPr>
              <a:t>memory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or </a:t>
            </a:r>
            <a:r>
              <a:rPr sz="1550" dirty="0">
                <a:latin typeface="Times New Roman"/>
                <a:cs typeface="Times New Roman"/>
              </a:rPr>
              <a:t>local </a:t>
            </a:r>
            <a:r>
              <a:rPr sz="1550" spc="-20" dirty="0">
                <a:latin typeface="Times New Roman"/>
                <a:cs typeface="Times New Roman"/>
              </a:rPr>
              <a:t>buffer.</a:t>
            </a:r>
            <a:r>
              <a:rPr sz="1550" spc="3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If the </a:t>
            </a:r>
            <a:r>
              <a:rPr sz="1550" spc="-10" dirty="0">
                <a:latin typeface="Times New Roman"/>
                <a:cs typeface="Times New Roman"/>
              </a:rPr>
              <a:t>changes</a:t>
            </a:r>
            <a:r>
              <a:rPr sz="1550" spc="3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are </a:t>
            </a:r>
            <a:r>
              <a:rPr sz="1550" spc="-10" dirty="0">
                <a:latin typeface="Times New Roman"/>
                <a:cs typeface="Times New Roman"/>
              </a:rPr>
              <a:t>made</a:t>
            </a:r>
            <a:r>
              <a:rPr sz="1550" spc="3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permanent</a:t>
            </a:r>
            <a:r>
              <a:rPr sz="1550" spc="3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on the 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Data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Base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will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change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“committed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state”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case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failure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will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go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“failed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state”.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1550" b="1" spc="5" dirty="0">
                <a:latin typeface="Times New Roman"/>
                <a:cs typeface="Times New Roman"/>
              </a:rPr>
              <a:t>Failed</a:t>
            </a:r>
            <a:r>
              <a:rPr sz="1550" b="1" spc="10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State</a:t>
            </a:r>
            <a:r>
              <a:rPr sz="1550" b="1" spc="3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–</a:t>
            </a:r>
            <a:r>
              <a:rPr sz="1550" spc="10" dirty="0">
                <a:latin typeface="Times New Roman"/>
                <a:cs typeface="Times New Roman"/>
              </a:rPr>
              <a:t>When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any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instruction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fails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it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goes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“failed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state”.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355600" marR="10795" indent="-343535" algn="just">
              <a:lnSpc>
                <a:spcPct val="103600"/>
              </a:lnSpc>
              <a:buFont typeface="Times New Roman"/>
              <a:buChar char="•"/>
              <a:tabLst>
                <a:tab pos="356235" algn="l"/>
              </a:tabLst>
            </a:pPr>
            <a:r>
              <a:rPr sz="1550" b="1" spc="20" dirty="0">
                <a:latin typeface="Times New Roman"/>
                <a:cs typeface="Times New Roman"/>
              </a:rPr>
              <a:t>Aborted </a:t>
            </a:r>
            <a:r>
              <a:rPr sz="1550" b="1" spc="10" dirty="0">
                <a:latin typeface="Times New Roman"/>
                <a:cs typeface="Times New Roman"/>
              </a:rPr>
              <a:t>State </a:t>
            </a:r>
            <a:r>
              <a:rPr sz="1550" b="1" dirty="0">
                <a:latin typeface="Times New Roman"/>
                <a:cs typeface="Times New Roman"/>
              </a:rPr>
              <a:t>–</a:t>
            </a:r>
            <a:r>
              <a:rPr sz="1550" dirty="0">
                <a:latin typeface="Times New Roman"/>
                <a:cs typeface="Times New Roman"/>
              </a:rPr>
              <a:t>After </a:t>
            </a:r>
            <a:r>
              <a:rPr sz="1550" spc="-5" dirty="0">
                <a:latin typeface="Times New Roman"/>
                <a:cs typeface="Times New Roman"/>
              </a:rPr>
              <a:t>having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any </a:t>
            </a:r>
            <a:r>
              <a:rPr sz="1550" spc="-10" dirty="0">
                <a:latin typeface="Times New Roman"/>
                <a:cs typeface="Times New Roman"/>
              </a:rPr>
              <a:t>type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 </a:t>
            </a:r>
            <a:r>
              <a:rPr sz="1550" dirty="0">
                <a:latin typeface="Times New Roman"/>
                <a:cs typeface="Times New Roman"/>
              </a:rPr>
              <a:t>failure </a:t>
            </a:r>
            <a:r>
              <a:rPr sz="1550" spc="-5" dirty="0">
                <a:latin typeface="Times New Roman"/>
                <a:cs typeface="Times New Roman"/>
              </a:rPr>
              <a:t>the </a:t>
            </a:r>
            <a:r>
              <a:rPr sz="1550" spc="5" dirty="0">
                <a:latin typeface="Times New Roman"/>
                <a:cs typeface="Times New Roman"/>
              </a:rPr>
              <a:t>transaction  </a:t>
            </a:r>
            <a:r>
              <a:rPr sz="1550" spc="-10" dirty="0">
                <a:latin typeface="Times New Roman"/>
                <a:cs typeface="Times New Roman"/>
              </a:rPr>
              <a:t>goes</a:t>
            </a:r>
            <a:r>
              <a:rPr sz="1550" spc="3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from </a:t>
            </a:r>
            <a:r>
              <a:rPr sz="1550" spc="10" dirty="0">
                <a:latin typeface="Times New Roman"/>
                <a:cs typeface="Times New Roman"/>
              </a:rPr>
              <a:t>“failed </a:t>
            </a:r>
            <a:r>
              <a:rPr sz="1550" spc="5" dirty="0">
                <a:latin typeface="Times New Roman"/>
                <a:cs typeface="Times New Roman"/>
              </a:rPr>
              <a:t>state”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 </a:t>
            </a:r>
            <a:r>
              <a:rPr sz="1550" spc="10" dirty="0">
                <a:latin typeface="Times New Roman"/>
                <a:cs typeface="Times New Roman"/>
              </a:rPr>
              <a:t>“aborted </a:t>
            </a:r>
            <a:r>
              <a:rPr sz="1550" spc="5" dirty="0">
                <a:latin typeface="Times New Roman"/>
                <a:cs typeface="Times New Roman"/>
              </a:rPr>
              <a:t>state” and in </a:t>
            </a:r>
            <a:r>
              <a:rPr sz="1550" dirty="0">
                <a:latin typeface="Times New Roman"/>
                <a:cs typeface="Times New Roman"/>
              </a:rPr>
              <a:t>before </a:t>
            </a:r>
            <a:r>
              <a:rPr sz="1550" spc="5" dirty="0">
                <a:latin typeface="Times New Roman"/>
                <a:cs typeface="Times New Roman"/>
              </a:rPr>
              <a:t>states </a:t>
            </a:r>
            <a:r>
              <a:rPr sz="1550" spc="-5" dirty="0">
                <a:latin typeface="Times New Roman"/>
                <a:cs typeface="Times New Roman"/>
              </a:rPr>
              <a:t>the changes </a:t>
            </a:r>
            <a:r>
              <a:rPr sz="1550" spc="15" dirty="0">
                <a:latin typeface="Times New Roman"/>
                <a:cs typeface="Times New Roman"/>
              </a:rPr>
              <a:t>are </a:t>
            </a:r>
            <a:r>
              <a:rPr sz="1550" spc="-10" dirty="0">
                <a:latin typeface="Times New Roman"/>
                <a:cs typeface="Times New Roman"/>
              </a:rPr>
              <a:t>only made </a:t>
            </a:r>
            <a:r>
              <a:rPr sz="1550" spc="5" dirty="0">
                <a:latin typeface="Times New Roman"/>
                <a:cs typeface="Times New Roman"/>
              </a:rPr>
              <a:t>to </a:t>
            </a:r>
            <a:r>
              <a:rPr sz="1550" dirty="0">
                <a:latin typeface="Times New Roman"/>
                <a:cs typeface="Times New Roman"/>
              </a:rPr>
              <a:t>local </a:t>
            </a:r>
            <a:r>
              <a:rPr sz="1550" spc="-15" dirty="0">
                <a:latin typeface="Times New Roman"/>
                <a:cs typeface="Times New Roman"/>
              </a:rPr>
              <a:t>buffer </a:t>
            </a:r>
            <a:r>
              <a:rPr sz="1550" spc="-5" dirty="0">
                <a:latin typeface="Times New Roman"/>
                <a:cs typeface="Times New Roman"/>
              </a:rPr>
              <a:t>or main </a:t>
            </a:r>
            <a:r>
              <a:rPr sz="1550" dirty="0">
                <a:latin typeface="Times New Roman"/>
                <a:cs typeface="Times New Roman"/>
              </a:rPr>
              <a:t> memory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hence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these</a:t>
            </a:r>
            <a:r>
              <a:rPr sz="1550" spc="1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changes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 </a:t>
            </a:r>
            <a:r>
              <a:rPr sz="1550" dirty="0">
                <a:latin typeface="Times New Roman"/>
                <a:cs typeface="Times New Roman"/>
              </a:rPr>
              <a:t>deleted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or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rollback.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1550" b="1" spc="10" dirty="0">
                <a:latin typeface="Times New Roman"/>
                <a:cs typeface="Times New Roman"/>
              </a:rPr>
              <a:t>Committed</a:t>
            </a:r>
            <a:r>
              <a:rPr sz="1550" b="1" spc="10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Stage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–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stage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when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changes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made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permanent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on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Data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1550" spc="15" dirty="0">
                <a:latin typeface="Times New Roman"/>
                <a:cs typeface="Times New Roman"/>
              </a:rPr>
              <a:t>Base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complete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therefore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terminated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“terminated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state”.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1550" b="1" spc="-5" dirty="0">
                <a:latin typeface="Times New Roman"/>
                <a:cs typeface="Times New Roman"/>
              </a:rPr>
              <a:t>Terminated</a:t>
            </a:r>
            <a:r>
              <a:rPr sz="1550" b="1" spc="13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State</a:t>
            </a:r>
            <a:r>
              <a:rPr sz="1550" b="1" spc="8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–</a:t>
            </a:r>
            <a:r>
              <a:rPr sz="1550" dirty="0">
                <a:latin typeface="Times New Roman"/>
                <a:cs typeface="Times New Roman"/>
              </a:rPr>
              <a:t>If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there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any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roll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back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or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come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from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“committed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80"/>
              </a:spcBef>
            </a:pPr>
            <a:r>
              <a:rPr sz="1550" spc="5" dirty="0">
                <a:latin typeface="Times New Roman"/>
                <a:cs typeface="Times New Roman"/>
              </a:rPr>
              <a:t>state”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system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consistent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ready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for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new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old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3401695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Types</a:t>
            </a:r>
            <a:r>
              <a:rPr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Schedules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5839" y="1426463"/>
            <a:ext cx="7237730" cy="4429760"/>
            <a:chOff x="1005839" y="1426463"/>
            <a:chExt cx="7237730" cy="44297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839" y="1426463"/>
              <a:ext cx="7237476" cy="44295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27797" y="5301234"/>
              <a:ext cx="571500" cy="361315"/>
            </a:xfrm>
            <a:custGeom>
              <a:avLst/>
              <a:gdLst/>
              <a:ahLst/>
              <a:cxnLst/>
              <a:rect l="l" t="t" r="r" b="b"/>
              <a:pathLst>
                <a:path w="571500" h="361314">
                  <a:moveTo>
                    <a:pt x="571500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71500" y="361187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27797" y="5301234"/>
              <a:ext cx="571500" cy="361315"/>
            </a:xfrm>
            <a:custGeom>
              <a:avLst/>
              <a:gdLst/>
              <a:ahLst/>
              <a:cxnLst/>
              <a:rect l="l" t="t" r="r" b="b"/>
              <a:pathLst>
                <a:path w="571500" h="361314">
                  <a:moveTo>
                    <a:pt x="0" y="361187"/>
                  </a:moveTo>
                  <a:lnTo>
                    <a:pt x="571500" y="361187"/>
                  </a:lnTo>
                  <a:lnTo>
                    <a:pt x="571500" y="0"/>
                  </a:lnTo>
                  <a:lnTo>
                    <a:pt x="0" y="0"/>
                  </a:lnTo>
                  <a:lnTo>
                    <a:pt x="0" y="361187"/>
                  </a:lnTo>
                  <a:close/>
                </a:path>
              </a:pathLst>
            </a:custGeom>
            <a:ln w="1371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3072765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Serial</a:t>
            </a:r>
            <a:r>
              <a:rPr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Schedules: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54938"/>
            <a:ext cx="7431405" cy="13423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3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20" dirty="0">
                <a:latin typeface="Times New Roman"/>
                <a:cs typeface="Times New Roman"/>
              </a:rPr>
              <a:t>A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schedule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one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which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starts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until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running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has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1550" spc="-10" dirty="0">
                <a:latin typeface="Times New Roman"/>
                <a:cs typeface="Times New Roman"/>
              </a:rPr>
              <a:t>ended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are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called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serial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schedules.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For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example,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T2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either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followed</a:t>
            </a:r>
            <a:endParaRPr sz="155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dirty="0">
                <a:latin typeface="Times New Roman"/>
                <a:cs typeface="Times New Roman"/>
              </a:rPr>
              <a:t> T2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or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T2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followed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it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called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Serial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Schedule.</a:t>
            </a:r>
            <a:endParaRPr sz="15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dirty="0">
                <a:latin typeface="Times New Roman"/>
                <a:cs typeface="Times New Roman"/>
              </a:rPr>
              <a:t>Example: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Consider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following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involving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T2.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41525" y="2687701"/>
          <a:ext cx="1945005" cy="35670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R(A)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A=A-50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W(A)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R(B)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B=B+50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W(B)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R(A)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A=A-100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150" b="1" spc="5" dirty="0">
                          <a:latin typeface="Times New Roman"/>
                          <a:cs typeface="Times New Roman"/>
                        </a:rPr>
                        <a:t>W(A)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4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R(B)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B=B+100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W(B)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07813" y="3114024"/>
          <a:ext cx="1882139" cy="8815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1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586">
                <a:tc>
                  <a:txBody>
                    <a:bodyPr/>
                    <a:lstStyle/>
                    <a:p>
                      <a:pPr marR="406400" algn="ct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275" algn="ctr">
                        <a:lnSpc>
                          <a:spcPts val="1575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21">
                <a:tc>
                  <a:txBody>
                    <a:bodyPr/>
                    <a:lstStyle/>
                    <a:p>
                      <a:pPr marR="407034" algn="ctr">
                        <a:lnSpc>
                          <a:spcPts val="151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275" algn="ctr">
                        <a:lnSpc>
                          <a:spcPts val="157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978">
                <a:tc>
                  <a:txBody>
                    <a:bodyPr/>
                    <a:lstStyle/>
                    <a:p>
                      <a:pPr marR="407034" algn="ctr">
                        <a:lnSpc>
                          <a:spcPts val="1530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1950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275" algn="ctr">
                        <a:lnSpc>
                          <a:spcPts val="159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2050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189">
                <a:tc>
                  <a:txBody>
                    <a:bodyPr/>
                    <a:lstStyle/>
                    <a:p>
                      <a:pPr marR="407034" algn="ctr">
                        <a:lnSpc>
                          <a:spcPts val="1530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1850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275" algn="ctr">
                        <a:lnSpc>
                          <a:spcPts val="1670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2150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39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001767" y="2779776"/>
            <a:ext cx="2592705" cy="1225550"/>
          </a:xfrm>
          <a:custGeom>
            <a:avLst/>
            <a:gdLst/>
            <a:ahLst/>
            <a:cxnLst/>
            <a:rect l="l" t="t" r="r" b="b"/>
            <a:pathLst>
              <a:path w="2592704" h="1225550">
                <a:moveTo>
                  <a:pt x="2592324" y="153162"/>
                </a:moveTo>
                <a:lnTo>
                  <a:pt x="2555563" y="189529"/>
                </a:lnTo>
                <a:lnTo>
                  <a:pt x="2511238" y="206602"/>
                </a:lnTo>
                <a:lnTo>
                  <a:pt x="2451063" y="222763"/>
                </a:lnTo>
                <a:lnTo>
                  <a:pt x="2376122" y="237885"/>
                </a:lnTo>
                <a:lnTo>
                  <a:pt x="2333452" y="245016"/>
                </a:lnTo>
                <a:lnTo>
                  <a:pt x="2287498" y="251839"/>
                </a:lnTo>
                <a:lnTo>
                  <a:pt x="2238395" y="258338"/>
                </a:lnTo>
                <a:lnTo>
                  <a:pt x="2186278" y="264497"/>
                </a:lnTo>
                <a:lnTo>
                  <a:pt x="2131282" y="270299"/>
                </a:lnTo>
                <a:lnTo>
                  <a:pt x="2073544" y="275730"/>
                </a:lnTo>
                <a:lnTo>
                  <a:pt x="2013198" y="280773"/>
                </a:lnTo>
                <a:lnTo>
                  <a:pt x="1950381" y="285411"/>
                </a:lnTo>
                <a:lnTo>
                  <a:pt x="1885227" y="289629"/>
                </a:lnTo>
                <a:lnTo>
                  <a:pt x="1817873" y="293411"/>
                </a:lnTo>
                <a:lnTo>
                  <a:pt x="1748454" y="296740"/>
                </a:lnTo>
                <a:lnTo>
                  <a:pt x="1677105" y="299602"/>
                </a:lnTo>
                <a:lnTo>
                  <a:pt x="1603962" y="301979"/>
                </a:lnTo>
                <a:lnTo>
                  <a:pt x="1529161" y="303856"/>
                </a:lnTo>
                <a:lnTo>
                  <a:pt x="1452837" y="305216"/>
                </a:lnTo>
                <a:lnTo>
                  <a:pt x="1375125" y="306044"/>
                </a:lnTo>
                <a:lnTo>
                  <a:pt x="1296162" y="306324"/>
                </a:lnTo>
                <a:lnTo>
                  <a:pt x="1217198" y="306044"/>
                </a:lnTo>
                <a:lnTo>
                  <a:pt x="1139486" y="305216"/>
                </a:lnTo>
                <a:lnTo>
                  <a:pt x="1063162" y="303856"/>
                </a:lnTo>
                <a:lnTo>
                  <a:pt x="988361" y="301979"/>
                </a:lnTo>
                <a:lnTo>
                  <a:pt x="915218" y="299602"/>
                </a:lnTo>
                <a:lnTo>
                  <a:pt x="843869" y="296740"/>
                </a:lnTo>
                <a:lnTo>
                  <a:pt x="774450" y="293411"/>
                </a:lnTo>
                <a:lnTo>
                  <a:pt x="707096" y="289629"/>
                </a:lnTo>
                <a:lnTo>
                  <a:pt x="641942" y="285411"/>
                </a:lnTo>
                <a:lnTo>
                  <a:pt x="579125" y="280773"/>
                </a:lnTo>
                <a:lnTo>
                  <a:pt x="518779" y="275730"/>
                </a:lnTo>
                <a:lnTo>
                  <a:pt x="461041" y="270299"/>
                </a:lnTo>
                <a:lnTo>
                  <a:pt x="406045" y="264497"/>
                </a:lnTo>
                <a:lnTo>
                  <a:pt x="353928" y="258338"/>
                </a:lnTo>
                <a:lnTo>
                  <a:pt x="304825" y="251839"/>
                </a:lnTo>
                <a:lnTo>
                  <a:pt x="258871" y="245016"/>
                </a:lnTo>
                <a:lnTo>
                  <a:pt x="216201" y="237885"/>
                </a:lnTo>
                <a:lnTo>
                  <a:pt x="176953" y="230462"/>
                </a:lnTo>
                <a:lnTo>
                  <a:pt x="109259" y="214805"/>
                </a:lnTo>
                <a:lnTo>
                  <a:pt x="56874" y="198171"/>
                </a:lnTo>
                <a:lnTo>
                  <a:pt x="20881" y="180691"/>
                </a:lnTo>
                <a:lnTo>
                  <a:pt x="0" y="153162"/>
                </a:lnTo>
                <a:lnTo>
                  <a:pt x="2365" y="143832"/>
                </a:lnTo>
                <a:lnTo>
                  <a:pt x="36760" y="116794"/>
                </a:lnTo>
                <a:lnTo>
                  <a:pt x="81085" y="99721"/>
                </a:lnTo>
                <a:lnTo>
                  <a:pt x="141260" y="83560"/>
                </a:lnTo>
                <a:lnTo>
                  <a:pt x="216201" y="68438"/>
                </a:lnTo>
                <a:lnTo>
                  <a:pt x="258871" y="61307"/>
                </a:lnTo>
                <a:lnTo>
                  <a:pt x="304825" y="54484"/>
                </a:lnTo>
                <a:lnTo>
                  <a:pt x="353928" y="47985"/>
                </a:lnTo>
                <a:lnTo>
                  <a:pt x="406045" y="41826"/>
                </a:lnTo>
                <a:lnTo>
                  <a:pt x="461041" y="36024"/>
                </a:lnTo>
                <a:lnTo>
                  <a:pt x="518779" y="30593"/>
                </a:lnTo>
                <a:lnTo>
                  <a:pt x="579125" y="25550"/>
                </a:lnTo>
                <a:lnTo>
                  <a:pt x="641942" y="20912"/>
                </a:lnTo>
                <a:lnTo>
                  <a:pt x="707096" y="16694"/>
                </a:lnTo>
                <a:lnTo>
                  <a:pt x="774450" y="12912"/>
                </a:lnTo>
                <a:lnTo>
                  <a:pt x="843869" y="9583"/>
                </a:lnTo>
                <a:lnTo>
                  <a:pt x="915218" y="6721"/>
                </a:lnTo>
                <a:lnTo>
                  <a:pt x="988361" y="4344"/>
                </a:lnTo>
                <a:lnTo>
                  <a:pt x="1063162" y="2467"/>
                </a:lnTo>
                <a:lnTo>
                  <a:pt x="1139486" y="1107"/>
                </a:lnTo>
                <a:lnTo>
                  <a:pt x="1217198" y="279"/>
                </a:lnTo>
                <a:lnTo>
                  <a:pt x="1296162" y="0"/>
                </a:lnTo>
                <a:lnTo>
                  <a:pt x="1375125" y="279"/>
                </a:lnTo>
                <a:lnTo>
                  <a:pt x="1452837" y="1107"/>
                </a:lnTo>
                <a:lnTo>
                  <a:pt x="1529161" y="2467"/>
                </a:lnTo>
                <a:lnTo>
                  <a:pt x="1603962" y="4344"/>
                </a:lnTo>
                <a:lnTo>
                  <a:pt x="1677105" y="6721"/>
                </a:lnTo>
                <a:lnTo>
                  <a:pt x="1748454" y="9583"/>
                </a:lnTo>
                <a:lnTo>
                  <a:pt x="1817873" y="12912"/>
                </a:lnTo>
                <a:lnTo>
                  <a:pt x="1885227" y="16694"/>
                </a:lnTo>
                <a:lnTo>
                  <a:pt x="1950381" y="20912"/>
                </a:lnTo>
                <a:lnTo>
                  <a:pt x="2013198" y="25550"/>
                </a:lnTo>
                <a:lnTo>
                  <a:pt x="2073544" y="30593"/>
                </a:lnTo>
                <a:lnTo>
                  <a:pt x="2131282" y="36024"/>
                </a:lnTo>
                <a:lnTo>
                  <a:pt x="2186278" y="41826"/>
                </a:lnTo>
                <a:lnTo>
                  <a:pt x="2238395" y="47985"/>
                </a:lnTo>
                <a:lnTo>
                  <a:pt x="2287498" y="54484"/>
                </a:lnTo>
                <a:lnTo>
                  <a:pt x="2333452" y="61307"/>
                </a:lnTo>
                <a:lnTo>
                  <a:pt x="2376122" y="68438"/>
                </a:lnTo>
                <a:lnTo>
                  <a:pt x="2415370" y="75861"/>
                </a:lnTo>
                <a:lnTo>
                  <a:pt x="2483064" y="91518"/>
                </a:lnTo>
                <a:lnTo>
                  <a:pt x="2535449" y="108152"/>
                </a:lnTo>
                <a:lnTo>
                  <a:pt x="2571442" y="125632"/>
                </a:lnTo>
                <a:lnTo>
                  <a:pt x="2592324" y="153162"/>
                </a:lnTo>
                <a:close/>
              </a:path>
              <a:path w="2592704" h="1225550">
                <a:moveTo>
                  <a:pt x="2592324" y="153162"/>
                </a:moveTo>
                <a:lnTo>
                  <a:pt x="2592324" y="1072134"/>
                </a:lnTo>
                <a:lnTo>
                  <a:pt x="2589958" y="1081463"/>
                </a:lnTo>
                <a:lnTo>
                  <a:pt x="2555563" y="1108501"/>
                </a:lnTo>
                <a:lnTo>
                  <a:pt x="2511238" y="1125574"/>
                </a:lnTo>
                <a:lnTo>
                  <a:pt x="2451063" y="1141735"/>
                </a:lnTo>
                <a:lnTo>
                  <a:pt x="2376122" y="1156857"/>
                </a:lnTo>
                <a:lnTo>
                  <a:pt x="2333452" y="1163988"/>
                </a:lnTo>
                <a:lnTo>
                  <a:pt x="2287498" y="1170811"/>
                </a:lnTo>
                <a:lnTo>
                  <a:pt x="2238395" y="1177310"/>
                </a:lnTo>
                <a:lnTo>
                  <a:pt x="2186278" y="1183469"/>
                </a:lnTo>
                <a:lnTo>
                  <a:pt x="2131282" y="1189271"/>
                </a:lnTo>
                <a:lnTo>
                  <a:pt x="2073544" y="1194702"/>
                </a:lnTo>
                <a:lnTo>
                  <a:pt x="2013198" y="1199745"/>
                </a:lnTo>
                <a:lnTo>
                  <a:pt x="1950381" y="1204383"/>
                </a:lnTo>
                <a:lnTo>
                  <a:pt x="1885227" y="1208601"/>
                </a:lnTo>
                <a:lnTo>
                  <a:pt x="1817873" y="1212383"/>
                </a:lnTo>
                <a:lnTo>
                  <a:pt x="1748454" y="1215712"/>
                </a:lnTo>
                <a:lnTo>
                  <a:pt x="1677105" y="1218574"/>
                </a:lnTo>
                <a:lnTo>
                  <a:pt x="1603962" y="1220951"/>
                </a:lnTo>
                <a:lnTo>
                  <a:pt x="1529161" y="1222828"/>
                </a:lnTo>
                <a:lnTo>
                  <a:pt x="1452837" y="1224188"/>
                </a:lnTo>
                <a:lnTo>
                  <a:pt x="1375125" y="1225016"/>
                </a:lnTo>
                <a:lnTo>
                  <a:pt x="1296162" y="1225296"/>
                </a:lnTo>
                <a:lnTo>
                  <a:pt x="1217198" y="1225016"/>
                </a:lnTo>
                <a:lnTo>
                  <a:pt x="1139486" y="1224188"/>
                </a:lnTo>
                <a:lnTo>
                  <a:pt x="1063162" y="1222828"/>
                </a:lnTo>
                <a:lnTo>
                  <a:pt x="988361" y="1220951"/>
                </a:lnTo>
                <a:lnTo>
                  <a:pt x="915218" y="1218574"/>
                </a:lnTo>
                <a:lnTo>
                  <a:pt x="843869" y="1215712"/>
                </a:lnTo>
                <a:lnTo>
                  <a:pt x="774450" y="1212383"/>
                </a:lnTo>
                <a:lnTo>
                  <a:pt x="707096" y="1208601"/>
                </a:lnTo>
                <a:lnTo>
                  <a:pt x="641942" y="1204383"/>
                </a:lnTo>
                <a:lnTo>
                  <a:pt x="579125" y="1199745"/>
                </a:lnTo>
                <a:lnTo>
                  <a:pt x="518779" y="1194702"/>
                </a:lnTo>
                <a:lnTo>
                  <a:pt x="461041" y="1189271"/>
                </a:lnTo>
                <a:lnTo>
                  <a:pt x="406045" y="1183469"/>
                </a:lnTo>
                <a:lnTo>
                  <a:pt x="353928" y="1177310"/>
                </a:lnTo>
                <a:lnTo>
                  <a:pt x="304825" y="1170811"/>
                </a:lnTo>
                <a:lnTo>
                  <a:pt x="258871" y="1163988"/>
                </a:lnTo>
                <a:lnTo>
                  <a:pt x="216201" y="1156857"/>
                </a:lnTo>
                <a:lnTo>
                  <a:pt x="176953" y="1149434"/>
                </a:lnTo>
                <a:lnTo>
                  <a:pt x="109259" y="1133777"/>
                </a:lnTo>
                <a:lnTo>
                  <a:pt x="56874" y="1117143"/>
                </a:lnTo>
                <a:lnTo>
                  <a:pt x="20881" y="1099663"/>
                </a:lnTo>
                <a:lnTo>
                  <a:pt x="0" y="1072134"/>
                </a:lnTo>
                <a:lnTo>
                  <a:pt x="0" y="153162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411979" y="4366259"/>
          <a:ext cx="3816349" cy="1229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44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251460" algn="ctr">
                        <a:lnSpc>
                          <a:spcPts val="1610"/>
                        </a:lnSpc>
                        <a:spcBef>
                          <a:spcPts val="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T1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206375" algn="ctr">
                        <a:lnSpc>
                          <a:spcPts val="1610"/>
                        </a:lnSpc>
                        <a:spcBef>
                          <a:spcPts val="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T2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52069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04139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19621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915">
                <a:tc>
                  <a:txBody>
                    <a:bodyPr/>
                    <a:lstStyle/>
                    <a:p>
                      <a:pPr marL="250825" algn="ctr">
                        <a:lnSpc>
                          <a:spcPts val="157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6375" algn="ctr">
                        <a:lnSpc>
                          <a:spcPts val="157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540"/>
                        </a:lnSpc>
                      </a:pPr>
                      <a:r>
                        <a:rPr sz="1400" b="1" spc="20" dirty="0">
                          <a:latin typeface="Times New Roman"/>
                          <a:cs typeface="Times New Roman"/>
                        </a:rPr>
                        <a:t>1950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96215" algn="ctr">
                        <a:lnSpc>
                          <a:spcPts val="1540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2050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974">
                <a:tc>
                  <a:txBody>
                    <a:bodyPr/>
                    <a:lstStyle/>
                    <a:p>
                      <a:pPr marL="250825" algn="ctr">
                        <a:lnSpc>
                          <a:spcPts val="164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1950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6375" algn="ctr">
                        <a:lnSpc>
                          <a:spcPts val="164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2050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1555"/>
                        </a:lnSpc>
                      </a:pPr>
                      <a:r>
                        <a:rPr sz="1400" b="1" spc="20" dirty="0">
                          <a:latin typeface="Times New Roman"/>
                          <a:cs typeface="Times New Roman"/>
                        </a:rPr>
                        <a:t>1850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215" algn="ctr">
                        <a:lnSpc>
                          <a:spcPts val="1555"/>
                        </a:lnSpc>
                      </a:pPr>
                      <a:r>
                        <a:rPr sz="1400" b="1" spc="15" dirty="0">
                          <a:latin typeface="Times New Roman"/>
                          <a:cs typeface="Times New Roman"/>
                        </a:rPr>
                        <a:t>2150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566039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Concurrent</a:t>
            </a:r>
            <a:r>
              <a:rPr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Schedules</a:t>
            </a:r>
            <a:r>
              <a:rPr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54938"/>
            <a:ext cx="7429500" cy="2902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13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This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type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Scheduling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where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operations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multiple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</a:t>
            </a:r>
            <a:r>
              <a:rPr lang="en-IN"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interleaved.</a:t>
            </a:r>
          </a:p>
          <a:p>
            <a:pPr marL="355600" marR="179705" indent="-343535" algn="just">
              <a:lnSpc>
                <a:spcPct val="103600"/>
              </a:lnSpc>
              <a:spcBef>
                <a:spcPts val="38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5" dirty="0">
                <a:latin typeface="Times New Roman"/>
                <a:cs typeface="Times New Roman"/>
              </a:rPr>
              <a:t>Means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there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 </a:t>
            </a:r>
            <a:r>
              <a:rPr sz="1550" spc="-5" dirty="0">
                <a:latin typeface="Times New Roman"/>
                <a:cs typeface="Times New Roman"/>
              </a:rPr>
              <a:t>no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sequences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among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operations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&amp;</a:t>
            </a:r>
            <a:r>
              <a:rPr sz="1550" dirty="0">
                <a:latin typeface="Times New Roman"/>
                <a:cs typeface="Times New Roman"/>
              </a:rPr>
              <a:t> T2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i.e.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sometimes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 </a:t>
            </a:r>
            <a:r>
              <a:rPr sz="1550" spc="-3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followed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 </a:t>
            </a:r>
            <a:r>
              <a:rPr sz="1550" dirty="0">
                <a:latin typeface="Times New Roman"/>
                <a:cs typeface="Times New Roman"/>
              </a:rPr>
              <a:t>T2 </a:t>
            </a:r>
            <a:r>
              <a:rPr sz="1550" spc="-5" dirty="0">
                <a:latin typeface="Times New Roman"/>
                <a:cs typeface="Times New Roman"/>
              </a:rPr>
              <a:t>or </a:t>
            </a:r>
            <a:r>
              <a:rPr sz="1550" spc="5" dirty="0">
                <a:latin typeface="Times New Roman"/>
                <a:cs typeface="Times New Roman"/>
              </a:rPr>
              <a:t>sometimes </a:t>
            </a:r>
            <a:r>
              <a:rPr sz="1550" dirty="0">
                <a:latin typeface="Times New Roman"/>
                <a:cs typeface="Times New Roman"/>
              </a:rPr>
              <a:t>T2 </a:t>
            </a:r>
            <a:r>
              <a:rPr sz="1550" spc="5" dirty="0">
                <a:latin typeface="Times New Roman"/>
                <a:cs typeface="Times New Roman"/>
              </a:rPr>
              <a:t>is </a:t>
            </a:r>
            <a:r>
              <a:rPr sz="1550" dirty="0">
                <a:latin typeface="Times New Roman"/>
                <a:cs typeface="Times New Roman"/>
              </a:rPr>
              <a:t>followed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 </a:t>
            </a:r>
            <a:r>
              <a:rPr sz="1550" dirty="0">
                <a:latin typeface="Times New Roman"/>
                <a:cs typeface="Times New Roman"/>
              </a:rPr>
              <a:t>T1 </a:t>
            </a:r>
            <a:r>
              <a:rPr sz="1550" spc="5" dirty="0">
                <a:latin typeface="Times New Roman"/>
                <a:cs typeface="Times New Roman"/>
              </a:rPr>
              <a:t>randomly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 </a:t>
            </a:r>
            <a:r>
              <a:rPr sz="1550" spc="5" dirty="0">
                <a:latin typeface="Times New Roman"/>
                <a:cs typeface="Times New Roman"/>
              </a:rPr>
              <a:t>it is </a:t>
            </a:r>
            <a:r>
              <a:rPr sz="1550" dirty="0">
                <a:latin typeface="Times New Roman"/>
                <a:cs typeface="Times New Roman"/>
              </a:rPr>
              <a:t>called 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Concurrent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Transactions.</a:t>
            </a:r>
          </a:p>
          <a:p>
            <a:pPr marL="355600" indent="-343535" algn="just">
              <a:lnSpc>
                <a:spcPct val="100000"/>
              </a:lnSpc>
              <a:spcBef>
                <a:spcPts val="45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This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might</a:t>
            </a:r>
            <a:r>
              <a:rPr sz="1550" spc="2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lead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rise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concurrency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problem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concurrency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always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leads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endParaRPr sz="1550" dirty="0">
              <a:latin typeface="Times New Roman"/>
              <a:cs typeface="Times New Roman"/>
            </a:endParaRPr>
          </a:p>
          <a:p>
            <a:pPr marL="355600" algn="just">
              <a:lnSpc>
                <a:spcPct val="100000"/>
              </a:lnSpc>
              <a:spcBef>
                <a:spcPts val="45"/>
              </a:spcBef>
            </a:pPr>
            <a:r>
              <a:rPr sz="1550" spc="-5" dirty="0">
                <a:latin typeface="Times New Roman"/>
                <a:cs typeface="Times New Roman"/>
              </a:rPr>
              <a:t>inconsistency.</a:t>
            </a:r>
            <a:endParaRPr sz="1550" dirty="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3600"/>
              </a:lnSpc>
              <a:spcBef>
                <a:spcPts val="380"/>
              </a:spcBef>
              <a:buChar char="•"/>
              <a:tabLst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Unlike</a:t>
            </a:r>
            <a:r>
              <a:rPr sz="1550" spc="3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 </a:t>
            </a:r>
            <a:r>
              <a:rPr sz="1550" spc="10" dirty="0">
                <a:latin typeface="Times New Roman"/>
                <a:cs typeface="Times New Roman"/>
              </a:rPr>
              <a:t>serial </a:t>
            </a:r>
            <a:r>
              <a:rPr sz="1550" dirty="0">
                <a:latin typeface="Times New Roman"/>
                <a:cs typeface="Times New Roman"/>
              </a:rPr>
              <a:t>schedule where </a:t>
            </a:r>
            <a:r>
              <a:rPr sz="1550" spc="-15" dirty="0">
                <a:latin typeface="Times New Roman"/>
                <a:cs typeface="Times New Roman"/>
              </a:rPr>
              <a:t>one </a:t>
            </a:r>
            <a:r>
              <a:rPr sz="1550" spc="5" dirty="0">
                <a:latin typeface="Times New Roman"/>
                <a:cs typeface="Times New Roman"/>
              </a:rPr>
              <a:t>transaction </a:t>
            </a:r>
            <a:r>
              <a:rPr sz="1550" spc="-15" dirty="0">
                <a:latin typeface="Times New Roman"/>
                <a:cs typeface="Times New Roman"/>
              </a:rPr>
              <a:t>must</a:t>
            </a:r>
            <a:r>
              <a:rPr sz="1550" spc="3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wait </a:t>
            </a:r>
            <a:r>
              <a:rPr sz="1550" spc="-10" dirty="0">
                <a:latin typeface="Times New Roman"/>
                <a:cs typeface="Times New Roman"/>
              </a:rPr>
              <a:t>for </a:t>
            </a:r>
            <a:r>
              <a:rPr sz="1550" spc="-5" dirty="0">
                <a:latin typeface="Times New Roman"/>
                <a:cs typeface="Times New Roman"/>
              </a:rPr>
              <a:t>another</a:t>
            </a:r>
            <a:r>
              <a:rPr sz="1550" spc="3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 </a:t>
            </a:r>
            <a:r>
              <a:rPr sz="1550" dirty="0">
                <a:latin typeface="Times New Roman"/>
                <a:cs typeface="Times New Roman"/>
              </a:rPr>
              <a:t>complete </a:t>
            </a:r>
            <a:r>
              <a:rPr sz="1550" spc="10" dirty="0">
                <a:latin typeface="Times New Roman"/>
                <a:cs typeface="Times New Roman"/>
              </a:rPr>
              <a:t>all 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operation,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non-serial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schedule,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other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proceeds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without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waiting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for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previous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complete.</a:t>
            </a:r>
          </a:p>
          <a:p>
            <a:pPr marL="355600" indent="-343535" algn="just">
              <a:lnSpc>
                <a:spcPct val="100000"/>
              </a:lnSpc>
              <a:spcBef>
                <a:spcPts val="445"/>
              </a:spcBef>
              <a:buChar char="•"/>
              <a:tabLst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It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types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namely,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Non-Serializable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Schedule.</a:t>
            </a:r>
            <a:endParaRPr sz="15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566039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Concurrent</a:t>
            </a:r>
            <a:r>
              <a:rPr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Schedules</a:t>
            </a:r>
            <a:r>
              <a:rPr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pc="-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DBMS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36637" y="1046225"/>
          <a:ext cx="1945005" cy="35670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R(A)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A=A-50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W(A)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R(A)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A=A-100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5" dirty="0">
                          <a:latin typeface="Times New Roman"/>
                          <a:cs typeface="Times New Roman"/>
                        </a:rPr>
                        <a:t>W(A)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R(B)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B=B+50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W(B)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R(B)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B=B+100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W(B)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1042416" y="4654296"/>
            <a:ext cx="1943100" cy="909955"/>
          </a:xfrm>
          <a:custGeom>
            <a:avLst/>
            <a:gdLst/>
            <a:ahLst/>
            <a:cxnLst/>
            <a:rect l="l" t="t" r="r" b="b"/>
            <a:pathLst>
              <a:path w="1943100" h="909954">
                <a:moveTo>
                  <a:pt x="1943100" y="113664"/>
                </a:moveTo>
                <a:lnTo>
                  <a:pt x="1914864" y="141016"/>
                </a:lnTo>
                <a:lnTo>
                  <a:pt x="1866751" y="157966"/>
                </a:lnTo>
                <a:lnTo>
                  <a:pt x="1797540" y="173614"/>
                </a:lnTo>
                <a:lnTo>
                  <a:pt x="1755648" y="180877"/>
                </a:lnTo>
                <a:lnTo>
                  <a:pt x="1709231" y="187727"/>
                </a:lnTo>
                <a:lnTo>
                  <a:pt x="1658540" y="194135"/>
                </a:lnTo>
                <a:lnTo>
                  <a:pt x="1603825" y="200071"/>
                </a:lnTo>
                <a:lnTo>
                  <a:pt x="1545336" y="205507"/>
                </a:lnTo>
                <a:lnTo>
                  <a:pt x="1483322" y="210412"/>
                </a:lnTo>
                <a:lnTo>
                  <a:pt x="1418034" y="214759"/>
                </a:lnTo>
                <a:lnTo>
                  <a:pt x="1349722" y="218517"/>
                </a:lnTo>
                <a:lnTo>
                  <a:pt x="1278636" y="221657"/>
                </a:lnTo>
                <a:lnTo>
                  <a:pt x="1205025" y="224151"/>
                </a:lnTo>
                <a:lnTo>
                  <a:pt x="1129141" y="225968"/>
                </a:lnTo>
                <a:lnTo>
                  <a:pt x="1051232" y="227079"/>
                </a:lnTo>
                <a:lnTo>
                  <a:pt x="971550" y="227456"/>
                </a:lnTo>
                <a:lnTo>
                  <a:pt x="891867" y="227079"/>
                </a:lnTo>
                <a:lnTo>
                  <a:pt x="813958" y="225968"/>
                </a:lnTo>
                <a:lnTo>
                  <a:pt x="738074" y="224151"/>
                </a:lnTo>
                <a:lnTo>
                  <a:pt x="664463" y="221657"/>
                </a:lnTo>
                <a:lnTo>
                  <a:pt x="593377" y="218517"/>
                </a:lnTo>
                <a:lnTo>
                  <a:pt x="525065" y="214759"/>
                </a:lnTo>
                <a:lnTo>
                  <a:pt x="459777" y="210412"/>
                </a:lnTo>
                <a:lnTo>
                  <a:pt x="397763" y="205507"/>
                </a:lnTo>
                <a:lnTo>
                  <a:pt x="339274" y="200071"/>
                </a:lnTo>
                <a:lnTo>
                  <a:pt x="284559" y="194135"/>
                </a:lnTo>
                <a:lnTo>
                  <a:pt x="233868" y="187727"/>
                </a:lnTo>
                <a:lnTo>
                  <a:pt x="187451" y="180877"/>
                </a:lnTo>
                <a:lnTo>
                  <a:pt x="145559" y="173614"/>
                </a:lnTo>
                <a:lnTo>
                  <a:pt x="76348" y="157966"/>
                </a:lnTo>
                <a:lnTo>
                  <a:pt x="28235" y="141016"/>
                </a:lnTo>
                <a:lnTo>
                  <a:pt x="0" y="113664"/>
                </a:lnTo>
                <a:lnTo>
                  <a:pt x="3220" y="104347"/>
                </a:lnTo>
                <a:lnTo>
                  <a:pt x="49530" y="77752"/>
                </a:lnTo>
                <a:lnTo>
                  <a:pt x="108442" y="61445"/>
                </a:lnTo>
                <a:lnTo>
                  <a:pt x="187452" y="46552"/>
                </a:lnTo>
                <a:lnTo>
                  <a:pt x="233868" y="39708"/>
                </a:lnTo>
                <a:lnTo>
                  <a:pt x="284559" y="33305"/>
                </a:lnTo>
                <a:lnTo>
                  <a:pt x="339274" y="27373"/>
                </a:lnTo>
                <a:lnTo>
                  <a:pt x="397764" y="21941"/>
                </a:lnTo>
                <a:lnTo>
                  <a:pt x="459777" y="17038"/>
                </a:lnTo>
                <a:lnTo>
                  <a:pt x="525065" y="12694"/>
                </a:lnTo>
                <a:lnTo>
                  <a:pt x="593377" y="8937"/>
                </a:lnTo>
                <a:lnTo>
                  <a:pt x="664464" y="5798"/>
                </a:lnTo>
                <a:lnTo>
                  <a:pt x="738074" y="3305"/>
                </a:lnTo>
                <a:lnTo>
                  <a:pt x="813958" y="1488"/>
                </a:lnTo>
                <a:lnTo>
                  <a:pt x="891867" y="377"/>
                </a:lnTo>
                <a:lnTo>
                  <a:pt x="971550" y="0"/>
                </a:lnTo>
                <a:lnTo>
                  <a:pt x="1051232" y="377"/>
                </a:lnTo>
                <a:lnTo>
                  <a:pt x="1129141" y="1488"/>
                </a:lnTo>
                <a:lnTo>
                  <a:pt x="1205025" y="3305"/>
                </a:lnTo>
                <a:lnTo>
                  <a:pt x="1278636" y="5798"/>
                </a:lnTo>
                <a:lnTo>
                  <a:pt x="1349722" y="8937"/>
                </a:lnTo>
                <a:lnTo>
                  <a:pt x="1418034" y="12694"/>
                </a:lnTo>
                <a:lnTo>
                  <a:pt x="1483322" y="17038"/>
                </a:lnTo>
                <a:lnTo>
                  <a:pt x="1545336" y="21941"/>
                </a:lnTo>
                <a:lnTo>
                  <a:pt x="1603825" y="27373"/>
                </a:lnTo>
                <a:lnTo>
                  <a:pt x="1658540" y="33305"/>
                </a:lnTo>
                <a:lnTo>
                  <a:pt x="1709231" y="39708"/>
                </a:lnTo>
                <a:lnTo>
                  <a:pt x="1755648" y="46552"/>
                </a:lnTo>
                <a:lnTo>
                  <a:pt x="1797540" y="53807"/>
                </a:lnTo>
                <a:lnTo>
                  <a:pt x="1866751" y="69437"/>
                </a:lnTo>
                <a:lnTo>
                  <a:pt x="1914864" y="86362"/>
                </a:lnTo>
                <a:lnTo>
                  <a:pt x="1943100" y="113664"/>
                </a:lnTo>
                <a:close/>
              </a:path>
              <a:path w="1943100" h="909954">
                <a:moveTo>
                  <a:pt x="1943100" y="113664"/>
                </a:moveTo>
                <a:lnTo>
                  <a:pt x="1943100" y="796162"/>
                </a:lnTo>
                <a:lnTo>
                  <a:pt x="1939879" y="805480"/>
                </a:lnTo>
                <a:lnTo>
                  <a:pt x="1893570" y="832075"/>
                </a:lnTo>
                <a:lnTo>
                  <a:pt x="1834657" y="848382"/>
                </a:lnTo>
                <a:lnTo>
                  <a:pt x="1755648" y="863275"/>
                </a:lnTo>
                <a:lnTo>
                  <a:pt x="1709231" y="870119"/>
                </a:lnTo>
                <a:lnTo>
                  <a:pt x="1658540" y="876522"/>
                </a:lnTo>
                <a:lnTo>
                  <a:pt x="1603825" y="882454"/>
                </a:lnTo>
                <a:lnTo>
                  <a:pt x="1545336" y="887886"/>
                </a:lnTo>
                <a:lnTo>
                  <a:pt x="1483322" y="892789"/>
                </a:lnTo>
                <a:lnTo>
                  <a:pt x="1418034" y="897133"/>
                </a:lnTo>
                <a:lnTo>
                  <a:pt x="1349722" y="900890"/>
                </a:lnTo>
                <a:lnTo>
                  <a:pt x="1278636" y="904029"/>
                </a:lnTo>
                <a:lnTo>
                  <a:pt x="1205025" y="906522"/>
                </a:lnTo>
                <a:lnTo>
                  <a:pt x="1129141" y="908339"/>
                </a:lnTo>
                <a:lnTo>
                  <a:pt x="1051232" y="909450"/>
                </a:lnTo>
                <a:lnTo>
                  <a:pt x="971550" y="909827"/>
                </a:lnTo>
                <a:lnTo>
                  <a:pt x="891867" y="909450"/>
                </a:lnTo>
                <a:lnTo>
                  <a:pt x="813958" y="908339"/>
                </a:lnTo>
                <a:lnTo>
                  <a:pt x="738074" y="906522"/>
                </a:lnTo>
                <a:lnTo>
                  <a:pt x="664463" y="904029"/>
                </a:lnTo>
                <a:lnTo>
                  <a:pt x="593377" y="900890"/>
                </a:lnTo>
                <a:lnTo>
                  <a:pt x="525065" y="897133"/>
                </a:lnTo>
                <a:lnTo>
                  <a:pt x="459777" y="892789"/>
                </a:lnTo>
                <a:lnTo>
                  <a:pt x="397763" y="887886"/>
                </a:lnTo>
                <a:lnTo>
                  <a:pt x="339274" y="882454"/>
                </a:lnTo>
                <a:lnTo>
                  <a:pt x="284559" y="876522"/>
                </a:lnTo>
                <a:lnTo>
                  <a:pt x="233868" y="870119"/>
                </a:lnTo>
                <a:lnTo>
                  <a:pt x="187451" y="863275"/>
                </a:lnTo>
                <a:lnTo>
                  <a:pt x="145559" y="856020"/>
                </a:lnTo>
                <a:lnTo>
                  <a:pt x="76348" y="840390"/>
                </a:lnTo>
                <a:lnTo>
                  <a:pt x="28235" y="823465"/>
                </a:lnTo>
                <a:lnTo>
                  <a:pt x="0" y="796162"/>
                </a:lnTo>
                <a:lnTo>
                  <a:pt x="0" y="113664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05052" y="4858430"/>
          <a:ext cx="1352550" cy="7161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981">
                <a:tc>
                  <a:txBody>
                    <a:bodyPr/>
                    <a:lstStyle/>
                    <a:p>
                      <a:pPr marR="294640" algn="ctr">
                        <a:lnSpc>
                          <a:spcPts val="1280"/>
                        </a:lnSpc>
                      </a:pPr>
                      <a:r>
                        <a:rPr sz="115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algn="ctr">
                        <a:lnSpc>
                          <a:spcPts val="1280"/>
                        </a:lnSpc>
                      </a:pPr>
                      <a:r>
                        <a:rPr sz="115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744">
                <a:tc>
                  <a:txBody>
                    <a:bodyPr/>
                    <a:lstStyle/>
                    <a:p>
                      <a:pPr marR="294005" algn="ctr">
                        <a:lnSpc>
                          <a:spcPts val="134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algn="ctr">
                        <a:lnSpc>
                          <a:spcPts val="134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239">
                <a:tc>
                  <a:txBody>
                    <a:bodyPr/>
                    <a:lstStyle/>
                    <a:p>
                      <a:pPr marR="294005" algn="ctr">
                        <a:lnSpc>
                          <a:spcPts val="1345"/>
                        </a:lnSpc>
                      </a:pP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1950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algn="ctr">
                        <a:lnSpc>
                          <a:spcPts val="1345"/>
                        </a:lnSpc>
                      </a:pP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2050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139">
                <a:tc>
                  <a:txBody>
                    <a:bodyPr/>
                    <a:lstStyle/>
                    <a:p>
                      <a:pPr marR="294005" algn="ctr">
                        <a:lnSpc>
                          <a:spcPts val="128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1850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algn="ctr">
                        <a:lnSpc>
                          <a:spcPts val="128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2150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93191" y="5733288"/>
            <a:ext cx="1348740" cy="969644"/>
          </a:xfrm>
          <a:custGeom>
            <a:avLst/>
            <a:gdLst/>
            <a:ahLst/>
            <a:cxnLst/>
            <a:rect l="l" t="t" r="r" b="b"/>
            <a:pathLst>
              <a:path w="1348739" h="969645">
                <a:moveTo>
                  <a:pt x="0" y="969264"/>
                </a:moveTo>
                <a:lnTo>
                  <a:pt x="1348739" y="969264"/>
                </a:lnTo>
                <a:lnTo>
                  <a:pt x="1348739" y="0"/>
                </a:lnTo>
                <a:lnTo>
                  <a:pt x="0" y="0"/>
                </a:lnTo>
                <a:lnTo>
                  <a:pt x="0" y="969264"/>
                </a:lnTo>
                <a:close/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9204" y="6055563"/>
            <a:ext cx="325120" cy="3898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080" indent="105410">
              <a:lnSpc>
                <a:spcPct val="104500"/>
              </a:lnSpc>
              <a:spcBef>
                <a:spcPts val="75"/>
              </a:spcBef>
            </a:pPr>
            <a:r>
              <a:rPr sz="1150" b="1" spc="25" dirty="0">
                <a:latin typeface="Times New Roman"/>
                <a:cs typeface="Times New Roman"/>
              </a:rPr>
              <a:t>A 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spc="35" dirty="0">
                <a:latin typeface="Times New Roman"/>
                <a:cs typeface="Times New Roman"/>
              </a:rPr>
              <a:t>2000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1938" y="6054039"/>
            <a:ext cx="32385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"/>
              </a:spcBef>
            </a:pPr>
            <a:r>
              <a:rPr sz="1200" b="1" spc="10" dirty="0">
                <a:latin typeface="Times New Roman"/>
                <a:cs typeface="Times New Roman"/>
              </a:rPr>
              <a:t>2000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741" y="5826963"/>
            <a:ext cx="18923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b="1" spc="15" dirty="0">
                <a:latin typeface="Times New Roman"/>
                <a:cs typeface="Times New Roman"/>
              </a:rPr>
              <a:t>T1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02535" y="5733288"/>
            <a:ext cx="1344295" cy="969644"/>
          </a:xfrm>
          <a:custGeom>
            <a:avLst/>
            <a:gdLst/>
            <a:ahLst/>
            <a:cxnLst/>
            <a:rect l="l" t="t" r="r" b="b"/>
            <a:pathLst>
              <a:path w="1344295" h="969645">
                <a:moveTo>
                  <a:pt x="0" y="969264"/>
                </a:moveTo>
                <a:lnTo>
                  <a:pt x="1344167" y="969264"/>
                </a:lnTo>
                <a:lnTo>
                  <a:pt x="1344167" y="0"/>
                </a:lnTo>
                <a:lnTo>
                  <a:pt x="0" y="0"/>
                </a:lnTo>
                <a:lnTo>
                  <a:pt x="0" y="969264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45792" y="6015939"/>
            <a:ext cx="32512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latin typeface="Times New Roman"/>
                <a:cs typeface="Times New Roman"/>
              </a:rPr>
              <a:t>A</a:t>
            </a:r>
            <a:endParaRPr sz="11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"/>
              </a:spcBef>
            </a:pPr>
            <a:r>
              <a:rPr sz="1200" b="1" spc="10" dirty="0">
                <a:latin typeface="Times New Roman"/>
                <a:cs typeface="Times New Roman"/>
              </a:rPr>
              <a:t>1950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8526" y="6015939"/>
            <a:ext cx="32385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35"/>
              </a:spcBef>
            </a:pPr>
            <a:r>
              <a:rPr sz="1150" b="1" spc="25" dirty="0">
                <a:latin typeface="Times New Roman"/>
                <a:cs typeface="Times New Roman"/>
              </a:rPr>
              <a:t>B</a:t>
            </a:r>
            <a:endParaRPr sz="115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10"/>
              </a:spcBef>
            </a:pPr>
            <a:r>
              <a:rPr sz="1200" b="1" spc="10" dirty="0">
                <a:latin typeface="Times New Roman"/>
                <a:cs typeface="Times New Roman"/>
              </a:rPr>
              <a:t>2050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8829" y="5777585"/>
            <a:ext cx="18923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b="1" spc="15" dirty="0">
                <a:latin typeface="Times New Roman"/>
                <a:cs typeface="Times New Roman"/>
              </a:rPr>
              <a:t>T2</a:t>
            </a:r>
            <a:endParaRPr sz="115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789676" y="974725"/>
          <a:ext cx="1945005" cy="3565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92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R(A)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A=A-50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R(A)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1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A=A-100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5" dirty="0">
                          <a:latin typeface="Times New Roman"/>
                          <a:cs typeface="Times New Roman"/>
                        </a:rPr>
                        <a:t>W(A)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193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5" dirty="0">
                          <a:latin typeface="Times New Roman"/>
                          <a:cs typeface="Times New Roman"/>
                        </a:rPr>
                        <a:t>W(A)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R(B)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25" dirty="0">
                          <a:latin typeface="Times New Roman"/>
                          <a:cs typeface="Times New Roman"/>
                        </a:rPr>
                        <a:t>B=B+50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193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W(B)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R(B)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B=B+100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1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W(B)</a:t>
                      </a:r>
                      <a:endParaRPr sz="11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5797296" y="4581144"/>
            <a:ext cx="1943100" cy="914400"/>
          </a:xfrm>
          <a:custGeom>
            <a:avLst/>
            <a:gdLst/>
            <a:ahLst/>
            <a:cxnLst/>
            <a:rect l="l" t="t" r="r" b="b"/>
            <a:pathLst>
              <a:path w="1943100" h="914400">
                <a:moveTo>
                  <a:pt x="1943100" y="114299"/>
                </a:moveTo>
                <a:lnTo>
                  <a:pt x="1914864" y="141765"/>
                </a:lnTo>
                <a:lnTo>
                  <a:pt x="1866751" y="158787"/>
                </a:lnTo>
                <a:lnTo>
                  <a:pt x="1797540" y="174505"/>
                </a:lnTo>
                <a:lnTo>
                  <a:pt x="1755647" y="181801"/>
                </a:lnTo>
                <a:lnTo>
                  <a:pt x="1709231" y="188682"/>
                </a:lnTo>
                <a:lnTo>
                  <a:pt x="1658540" y="195119"/>
                </a:lnTo>
                <a:lnTo>
                  <a:pt x="1603825" y="201083"/>
                </a:lnTo>
                <a:lnTo>
                  <a:pt x="1545335" y="206544"/>
                </a:lnTo>
                <a:lnTo>
                  <a:pt x="1483322" y="211473"/>
                </a:lnTo>
                <a:lnTo>
                  <a:pt x="1418034" y="215840"/>
                </a:lnTo>
                <a:lnTo>
                  <a:pt x="1349722" y="219616"/>
                </a:lnTo>
                <a:lnTo>
                  <a:pt x="1278635" y="222772"/>
                </a:lnTo>
                <a:lnTo>
                  <a:pt x="1205025" y="225277"/>
                </a:lnTo>
                <a:lnTo>
                  <a:pt x="1129141" y="227103"/>
                </a:lnTo>
                <a:lnTo>
                  <a:pt x="1051232" y="228221"/>
                </a:lnTo>
                <a:lnTo>
                  <a:pt x="971550" y="228599"/>
                </a:lnTo>
                <a:lnTo>
                  <a:pt x="891867" y="228221"/>
                </a:lnTo>
                <a:lnTo>
                  <a:pt x="813958" y="227103"/>
                </a:lnTo>
                <a:lnTo>
                  <a:pt x="738074" y="225277"/>
                </a:lnTo>
                <a:lnTo>
                  <a:pt x="664463" y="222772"/>
                </a:lnTo>
                <a:lnTo>
                  <a:pt x="593377" y="219616"/>
                </a:lnTo>
                <a:lnTo>
                  <a:pt x="525065" y="215840"/>
                </a:lnTo>
                <a:lnTo>
                  <a:pt x="459777" y="211473"/>
                </a:lnTo>
                <a:lnTo>
                  <a:pt x="397763" y="206544"/>
                </a:lnTo>
                <a:lnTo>
                  <a:pt x="339274" y="201083"/>
                </a:lnTo>
                <a:lnTo>
                  <a:pt x="284559" y="195119"/>
                </a:lnTo>
                <a:lnTo>
                  <a:pt x="233868" y="188682"/>
                </a:lnTo>
                <a:lnTo>
                  <a:pt x="187451" y="181801"/>
                </a:lnTo>
                <a:lnTo>
                  <a:pt x="145559" y="174505"/>
                </a:lnTo>
                <a:lnTo>
                  <a:pt x="76348" y="158787"/>
                </a:lnTo>
                <a:lnTo>
                  <a:pt x="28235" y="141765"/>
                </a:lnTo>
                <a:lnTo>
                  <a:pt x="0" y="114299"/>
                </a:lnTo>
                <a:lnTo>
                  <a:pt x="3220" y="104926"/>
                </a:lnTo>
                <a:lnTo>
                  <a:pt x="49529" y="78175"/>
                </a:lnTo>
                <a:lnTo>
                  <a:pt x="108442" y="61775"/>
                </a:lnTo>
                <a:lnTo>
                  <a:pt x="187451" y="46798"/>
                </a:lnTo>
                <a:lnTo>
                  <a:pt x="233868" y="39917"/>
                </a:lnTo>
                <a:lnTo>
                  <a:pt x="284559" y="33480"/>
                </a:lnTo>
                <a:lnTo>
                  <a:pt x="339274" y="27516"/>
                </a:lnTo>
                <a:lnTo>
                  <a:pt x="397763" y="22055"/>
                </a:lnTo>
                <a:lnTo>
                  <a:pt x="459777" y="17126"/>
                </a:lnTo>
                <a:lnTo>
                  <a:pt x="525065" y="12759"/>
                </a:lnTo>
                <a:lnTo>
                  <a:pt x="593377" y="8983"/>
                </a:lnTo>
                <a:lnTo>
                  <a:pt x="664463" y="5827"/>
                </a:lnTo>
                <a:lnTo>
                  <a:pt x="738074" y="3322"/>
                </a:lnTo>
                <a:lnTo>
                  <a:pt x="813958" y="1496"/>
                </a:lnTo>
                <a:lnTo>
                  <a:pt x="891867" y="378"/>
                </a:lnTo>
                <a:lnTo>
                  <a:pt x="971550" y="0"/>
                </a:lnTo>
                <a:lnTo>
                  <a:pt x="1051232" y="378"/>
                </a:lnTo>
                <a:lnTo>
                  <a:pt x="1129141" y="1496"/>
                </a:lnTo>
                <a:lnTo>
                  <a:pt x="1205025" y="3322"/>
                </a:lnTo>
                <a:lnTo>
                  <a:pt x="1278636" y="5827"/>
                </a:lnTo>
                <a:lnTo>
                  <a:pt x="1349722" y="8983"/>
                </a:lnTo>
                <a:lnTo>
                  <a:pt x="1418034" y="12759"/>
                </a:lnTo>
                <a:lnTo>
                  <a:pt x="1483322" y="17126"/>
                </a:lnTo>
                <a:lnTo>
                  <a:pt x="1545336" y="22055"/>
                </a:lnTo>
                <a:lnTo>
                  <a:pt x="1603825" y="27516"/>
                </a:lnTo>
                <a:lnTo>
                  <a:pt x="1658540" y="33480"/>
                </a:lnTo>
                <a:lnTo>
                  <a:pt x="1709231" y="39917"/>
                </a:lnTo>
                <a:lnTo>
                  <a:pt x="1755648" y="46798"/>
                </a:lnTo>
                <a:lnTo>
                  <a:pt x="1797540" y="54094"/>
                </a:lnTo>
                <a:lnTo>
                  <a:pt x="1866751" y="69812"/>
                </a:lnTo>
                <a:lnTo>
                  <a:pt x="1914864" y="86834"/>
                </a:lnTo>
                <a:lnTo>
                  <a:pt x="1943100" y="114299"/>
                </a:lnTo>
                <a:close/>
              </a:path>
              <a:path w="1943100" h="914400">
                <a:moveTo>
                  <a:pt x="1943100" y="114299"/>
                </a:moveTo>
                <a:lnTo>
                  <a:pt x="1943100" y="800099"/>
                </a:lnTo>
                <a:lnTo>
                  <a:pt x="1939879" y="809473"/>
                </a:lnTo>
                <a:lnTo>
                  <a:pt x="1893570" y="836224"/>
                </a:lnTo>
                <a:lnTo>
                  <a:pt x="1834657" y="852624"/>
                </a:lnTo>
                <a:lnTo>
                  <a:pt x="1755647" y="867601"/>
                </a:lnTo>
                <a:lnTo>
                  <a:pt x="1709231" y="874482"/>
                </a:lnTo>
                <a:lnTo>
                  <a:pt x="1658540" y="880919"/>
                </a:lnTo>
                <a:lnTo>
                  <a:pt x="1603825" y="886883"/>
                </a:lnTo>
                <a:lnTo>
                  <a:pt x="1545335" y="892344"/>
                </a:lnTo>
                <a:lnTo>
                  <a:pt x="1483322" y="897273"/>
                </a:lnTo>
                <a:lnTo>
                  <a:pt x="1418034" y="901640"/>
                </a:lnTo>
                <a:lnTo>
                  <a:pt x="1349722" y="905416"/>
                </a:lnTo>
                <a:lnTo>
                  <a:pt x="1278635" y="908572"/>
                </a:lnTo>
                <a:lnTo>
                  <a:pt x="1205025" y="911077"/>
                </a:lnTo>
                <a:lnTo>
                  <a:pt x="1129141" y="912903"/>
                </a:lnTo>
                <a:lnTo>
                  <a:pt x="1051232" y="914021"/>
                </a:lnTo>
                <a:lnTo>
                  <a:pt x="971550" y="914399"/>
                </a:lnTo>
                <a:lnTo>
                  <a:pt x="891867" y="914021"/>
                </a:lnTo>
                <a:lnTo>
                  <a:pt x="813958" y="912903"/>
                </a:lnTo>
                <a:lnTo>
                  <a:pt x="738074" y="911077"/>
                </a:lnTo>
                <a:lnTo>
                  <a:pt x="664463" y="908572"/>
                </a:lnTo>
                <a:lnTo>
                  <a:pt x="593377" y="905416"/>
                </a:lnTo>
                <a:lnTo>
                  <a:pt x="525065" y="901640"/>
                </a:lnTo>
                <a:lnTo>
                  <a:pt x="459777" y="897273"/>
                </a:lnTo>
                <a:lnTo>
                  <a:pt x="397763" y="892344"/>
                </a:lnTo>
                <a:lnTo>
                  <a:pt x="339274" y="886883"/>
                </a:lnTo>
                <a:lnTo>
                  <a:pt x="284559" y="880919"/>
                </a:lnTo>
                <a:lnTo>
                  <a:pt x="233868" y="874482"/>
                </a:lnTo>
                <a:lnTo>
                  <a:pt x="187451" y="867601"/>
                </a:lnTo>
                <a:lnTo>
                  <a:pt x="145559" y="860305"/>
                </a:lnTo>
                <a:lnTo>
                  <a:pt x="76348" y="844587"/>
                </a:lnTo>
                <a:lnTo>
                  <a:pt x="28235" y="827565"/>
                </a:lnTo>
                <a:lnTo>
                  <a:pt x="0" y="800099"/>
                </a:lnTo>
                <a:lnTo>
                  <a:pt x="0" y="114299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060566" y="4785278"/>
          <a:ext cx="1351280" cy="7161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5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083">
                <a:tc>
                  <a:txBody>
                    <a:bodyPr/>
                    <a:lstStyle/>
                    <a:p>
                      <a:pPr marR="294005" algn="ctr">
                        <a:lnSpc>
                          <a:spcPts val="1215"/>
                        </a:lnSpc>
                      </a:pPr>
                      <a:r>
                        <a:rPr sz="1150" b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990" algn="ctr">
                        <a:lnSpc>
                          <a:spcPts val="1215"/>
                        </a:lnSpc>
                      </a:pPr>
                      <a:r>
                        <a:rPr sz="1150" b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001">
                <a:tc>
                  <a:txBody>
                    <a:bodyPr/>
                    <a:lstStyle/>
                    <a:p>
                      <a:pPr marR="293370" algn="ctr">
                        <a:lnSpc>
                          <a:spcPts val="1405"/>
                        </a:lnSpc>
                      </a:pP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990" algn="ctr">
                        <a:lnSpc>
                          <a:spcPts val="1405"/>
                        </a:lnSpc>
                      </a:pPr>
                      <a:r>
                        <a:rPr sz="1200" b="1" spc="10" dirty="0">
                          <a:latin typeface="Times New Roman"/>
                          <a:cs typeface="Times New Roman"/>
                        </a:rPr>
                        <a:t>2000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037">
                <a:tc>
                  <a:txBody>
                    <a:bodyPr/>
                    <a:lstStyle/>
                    <a:p>
                      <a:pPr marR="293370" algn="ctr">
                        <a:lnSpc>
                          <a:spcPts val="134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1900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990" algn="ctr">
                        <a:lnSpc>
                          <a:spcPts val="134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2050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981">
                <a:tc>
                  <a:txBody>
                    <a:bodyPr/>
                    <a:lstStyle/>
                    <a:p>
                      <a:pPr marR="293370" algn="ctr">
                        <a:lnSpc>
                          <a:spcPts val="128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1950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990" algn="ctr">
                        <a:lnSpc>
                          <a:spcPts val="1280"/>
                        </a:lnSpc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2150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5148071" y="5660135"/>
            <a:ext cx="1348740" cy="969644"/>
          </a:xfrm>
          <a:custGeom>
            <a:avLst/>
            <a:gdLst/>
            <a:ahLst/>
            <a:cxnLst/>
            <a:rect l="l" t="t" r="r" b="b"/>
            <a:pathLst>
              <a:path w="1348739" h="969645">
                <a:moveTo>
                  <a:pt x="0" y="969263"/>
                </a:moveTo>
                <a:lnTo>
                  <a:pt x="1348739" y="969263"/>
                </a:lnTo>
                <a:lnTo>
                  <a:pt x="1348739" y="0"/>
                </a:lnTo>
                <a:lnTo>
                  <a:pt x="0" y="0"/>
                </a:lnTo>
                <a:lnTo>
                  <a:pt x="0" y="969263"/>
                </a:lnTo>
                <a:close/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44719" y="5984240"/>
            <a:ext cx="323850" cy="3898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080" indent="104775">
              <a:lnSpc>
                <a:spcPct val="104299"/>
              </a:lnSpc>
              <a:spcBef>
                <a:spcPts val="75"/>
              </a:spcBef>
            </a:pPr>
            <a:r>
              <a:rPr sz="1150" b="1" spc="25" dirty="0">
                <a:latin typeface="Times New Roman"/>
                <a:cs typeface="Times New Roman"/>
              </a:rPr>
              <a:t>A </a:t>
            </a:r>
            <a:r>
              <a:rPr sz="1150" b="1" spc="30" dirty="0">
                <a:latin typeface="Times New Roman"/>
                <a:cs typeface="Times New Roman"/>
              </a:rPr>
              <a:t> 2000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0246" y="5982106"/>
            <a:ext cx="32385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90"/>
              </a:spcBef>
            </a:pPr>
            <a:r>
              <a:rPr sz="1200" b="1" spc="-1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50"/>
              </a:spcBef>
            </a:pPr>
            <a:r>
              <a:rPr sz="1150" b="1" spc="30" dirty="0">
                <a:latin typeface="Times New Roman"/>
                <a:cs typeface="Times New Roman"/>
              </a:rPr>
              <a:t>2000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10377" y="5755335"/>
            <a:ext cx="18986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150" b="1" spc="20" dirty="0">
                <a:latin typeface="Times New Roman"/>
                <a:cs typeface="Times New Roman"/>
              </a:rPr>
              <a:t>T1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752843" y="5660135"/>
            <a:ext cx="1348740" cy="969644"/>
          </a:xfrm>
          <a:custGeom>
            <a:avLst/>
            <a:gdLst/>
            <a:ahLst/>
            <a:cxnLst/>
            <a:rect l="l" t="t" r="r" b="b"/>
            <a:pathLst>
              <a:path w="1348740" h="969645">
                <a:moveTo>
                  <a:pt x="0" y="969263"/>
                </a:moveTo>
                <a:lnTo>
                  <a:pt x="1348740" y="969263"/>
                </a:lnTo>
                <a:lnTo>
                  <a:pt x="1348740" y="0"/>
                </a:lnTo>
                <a:lnTo>
                  <a:pt x="0" y="0"/>
                </a:lnTo>
                <a:lnTo>
                  <a:pt x="0" y="969263"/>
                </a:lnTo>
                <a:close/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01306" y="5944006"/>
            <a:ext cx="32385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200" b="1" spc="-1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50"/>
              </a:spcBef>
            </a:pPr>
            <a:r>
              <a:rPr sz="1150" b="1" spc="30" dirty="0">
                <a:latin typeface="Times New Roman"/>
                <a:cs typeface="Times New Roman"/>
              </a:rPr>
              <a:t>2000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88606" y="6326804"/>
            <a:ext cx="33655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30" dirty="0">
                <a:latin typeface="Times New Roman"/>
                <a:cs typeface="Times New Roman"/>
              </a:rPr>
              <a:t>1900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81086" y="6326804"/>
            <a:ext cx="33655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30" dirty="0">
                <a:latin typeface="Times New Roman"/>
                <a:cs typeface="Times New Roman"/>
              </a:rPr>
              <a:t>2150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27546" y="6364904"/>
            <a:ext cx="33655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30" dirty="0">
                <a:latin typeface="Times New Roman"/>
                <a:cs typeface="Times New Roman"/>
              </a:rPr>
              <a:t>2050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33092" y="6398432"/>
            <a:ext cx="33782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35" dirty="0">
                <a:latin typeface="Times New Roman"/>
                <a:cs typeface="Times New Roman"/>
              </a:rPr>
              <a:t>1850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25826" y="6398432"/>
            <a:ext cx="33655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30" dirty="0">
                <a:latin typeface="Times New Roman"/>
                <a:cs typeface="Times New Roman"/>
              </a:rPr>
              <a:t>2150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6504" y="6438056"/>
            <a:ext cx="33782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35" dirty="0">
                <a:latin typeface="Times New Roman"/>
                <a:cs typeface="Times New Roman"/>
              </a:rPr>
              <a:t>1950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69238" y="6436532"/>
            <a:ext cx="336550" cy="1930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b="1" spc="30" dirty="0">
                <a:latin typeface="Times New Roman"/>
                <a:cs typeface="Times New Roman"/>
              </a:rPr>
              <a:t>2050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93786" y="5944006"/>
            <a:ext cx="323850" cy="390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90"/>
              </a:spcBef>
            </a:pPr>
            <a:r>
              <a:rPr sz="1200" b="1" spc="-1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  <a:p>
            <a:pPr marR="5080" algn="ctr">
              <a:lnSpc>
                <a:spcPct val="100000"/>
              </a:lnSpc>
              <a:spcBef>
                <a:spcPts val="50"/>
              </a:spcBef>
            </a:pPr>
            <a:r>
              <a:rPr sz="1150" b="1" spc="30" dirty="0">
                <a:latin typeface="Times New Roman"/>
                <a:cs typeface="Times New Roman"/>
              </a:rPr>
              <a:t>2050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4090" y="5705652"/>
            <a:ext cx="18923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200" b="1" spc="-10" dirty="0">
                <a:latin typeface="Times New Roman"/>
                <a:cs typeface="Times New Roman"/>
              </a:rPr>
              <a:t>T2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59073" y="2163267"/>
            <a:ext cx="2128520" cy="17259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145" marR="1229995" indent="-5080" algn="just">
              <a:lnSpc>
                <a:spcPct val="99700"/>
              </a:lnSpc>
              <a:spcBef>
                <a:spcPts val="110"/>
              </a:spcBef>
            </a:pPr>
            <a:r>
              <a:rPr sz="1400" b="1" spc="5" dirty="0">
                <a:latin typeface="Times New Roman"/>
                <a:cs typeface="Times New Roman"/>
              </a:rPr>
              <a:t>S</a:t>
            </a:r>
            <a:r>
              <a:rPr sz="1400" b="1" spc="-15" dirty="0">
                <a:latin typeface="Times New Roman"/>
                <a:cs typeface="Times New Roman"/>
              </a:rPr>
              <a:t>er</a:t>
            </a:r>
            <a:r>
              <a:rPr sz="1400" b="1" dirty="0">
                <a:latin typeface="Times New Roman"/>
                <a:cs typeface="Times New Roman"/>
              </a:rPr>
              <a:t>i</a:t>
            </a:r>
            <a:r>
              <a:rPr sz="1400" b="1" spc="-20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li</a:t>
            </a:r>
            <a:r>
              <a:rPr sz="1400" b="1" spc="-85" dirty="0">
                <a:latin typeface="Times New Roman"/>
                <a:cs typeface="Times New Roman"/>
              </a:rPr>
              <a:t>z</a:t>
            </a:r>
            <a:r>
              <a:rPr sz="1400" b="1" spc="-20" dirty="0">
                <a:latin typeface="Times New Roman"/>
                <a:cs typeface="Times New Roman"/>
              </a:rPr>
              <a:t>a</a:t>
            </a:r>
            <a:r>
              <a:rPr sz="1400" b="1" spc="5" dirty="0">
                <a:latin typeface="Times New Roman"/>
                <a:cs typeface="Times New Roman"/>
              </a:rPr>
              <a:t>b</a:t>
            </a:r>
            <a:r>
              <a:rPr sz="1400" b="1" dirty="0">
                <a:latin typeface="Times New Roman"/>
                <a:cs typeface="Times New Roman"/>
              </a:rPr>
              <a:t>le  </a:t>
            </a:r>
            <a:r>
              <a:rPr sz="1400" b="1" spc="-25" dirty="0">
                <a:latin typeface="Times New Roman"/>
                <a:cs typeface="Times New Roman"/>
              </a:rPr>
              <a:t>Concurrent </a:t>
            </a:r>
            <a:r>
              <a:rPr sz="1400" b="1" spc="-3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Schedule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36980" marR="5080" indent="-1270" algn="ctr">
              <a:lnSpc>
                <a:spcPct val="100099"/>
              </a:lnSpc>
              <a:spcBef>
                <a:spcPts val="5"/>
              </a:spcBef>
            </a:pPr>
            <a:r>
              <a:rPr sz="1400" b="1" spc="-20" dirty="0">
                <a:latin typeface="Times New Roman"/>
                <a:cs typeface="Times New Roman"/>
              </a:rPr>
              <a:t>Non 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5" dirty="0">
                <a:latin typeface="Times New Roman"/>
                <a:cs typeface="Times New Roman"/>
              </a:rPr>
              <a:t>S</a:t>
            </a:r>
            <a:r>
              <a:rPr sz="1400" b="1" spc="-15" dirty="0">
                <a:latin typeface="Times New Roman"/>
                <a:cs typeface="Times New Roman"/>
              </a:rPr>
              <a:t>er</a:t>
            </a:r>
            <a:r>
              <a:rPr sz="1400" b="1" dirty="0">
                <a:latin typeface="Times New Roman"/>
                <a:cs typeface="Times New Roman"/>
              </a:rPr>
              <a:t>i</a:t>
            </a:r>
            <a:r>
              <a:rPr sz="1400" b="1" spc="-20" dirty="0">
                <a:latin typeface="Times New Roman"/>
                <a:cs typeface="Times New Roman"/>
              </a:rPr>
              <a:t>a</a:t>
            </a:r>
            <a:r>
              <a:rPr sz="1400" b="1" dirty="0">
                <a:latin typeface="Times New Roman"/>
                <a:cs typeface="Times New Roman"/>
              </a:rPr>
              <a:t>li</a:t>
            </a:r>
            <a:r>
              <a:rPr sz="1400" b="1" spc="-85" dirty="0">
                <a:latin typeface="Times New Roman"/>
                <a:cs typeface="Times New Roman"/>
              </a:rPr>
              <a:t>z</a:t>
            </a:r>
            <a:r>
              <a:rPr sz="1400" b="1" spc="-20" dirty="0">
                <a:latin typeface="Times New Roman"/>
                <a:cs typeface="Times New Roman"/>
              </a:rPr>
              <a:t>a</a:t>
            </a:r>
            <a:r>
              <a:rPr sz="1400" b="1" spc="5" dirty="0">
                <a:latin typeface="Times New Roman"/>
                <a:cs typeface="Times New Roman"/>
              </a:rPr>
              <a:t>b</a:t>
            </a:r>
            <a:r>
              <a:rPr sz="1400" b="1" dirty="0">
                <a:latin typeface="Times New Roman"/>
                <a:cs typeface="Times New Roman"/>
              </a:rPr>
              <a:t>le  </a:t>
            </a:r>
            <a:r>
              <a:rPr sz="1400" b="1" spc="-25" dirty="0">
                <a:latin typeface="Times New Roman"/>
                <a:cs typeface="Times New Roman"/>
              </a:rPr>
              <a:t>Concurrent </a:t>
            </a:r>
            <a:r>
              <a:rPr sz="1400" b="1" spc="-335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Schedule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608584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Serializable</a:t>
            </a:r>
            <a:r>
              <a:rPr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Concurrent</a:t>
            </a:r>
            <a:r>
              <a:rPr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Schedules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04113"/>
            <a:ext cx="7557134" cy="39763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50" spc="-10" dirty="0">
                <a:latin typeface="Times New Roman"/>
                <a:cs typeface="Times New Roman"/>
              </a:rPr>
              <a:t>The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Non-Serial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divided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further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into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Non-Serializable.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550" b="1" spc="5" dirty="0">
                <a:latin typeface="Times New Roman"/>
                <a:cs typeface="Times New Roman"/>
              </a:rPr>
              <a:t>Serializable:</a:t>
            </a:r>
            <a:endParaRPr sz="155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2699"/>
              </a:lnSpc>
              <a:spcBef>
                <a:spcPts val="40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non-serial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said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only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when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equivalent </a:t>
            </a:r>
            <a:r>
              <a:rPr sz="1550" spc="-3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schedules.</a:t>
            </a:r>
            <a:endParaRPr sz="155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40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This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used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maintain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consistency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database.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It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mainly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used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Non-</a:t>
            </a:r>
            <a:endParaRPr sz="155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sz="1550" spc="5" dirty="0">
                <a:latin typeface="Times New Roman"/>
                <a:cs typeface="Times New Roman"/>
              </a:rPr>
              <a:t>Serial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scheduling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verify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whether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scheduling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will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lead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any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inconsistency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not.</a:t>
            </a:r>
            <a:endParaRPr sz="1550" dirty="0">
              <a:latin typeface="Times New Roman"/>
              <a:cs typeface="Times New Roman"/>
            </a:endParaRPr>
          </a:p>
          <a:p>
            <a:pPr marL="355600" indent="-343535" algn="just">
              <a:lnSpc>
                <a:spcPct val="100000"/>
              </a:lnSpc>
              <a:spcBef>
                <a:spcPts val="445"/>
              </a:spcBef>
              <a:buChar char="•"/>
              <a:tabLst>
                <a:tab pos="355600" algn="l"/>
                <a:tab pos="356235" algn="l"/>
              </a:tabLst>
            </a:pPr>
            <a:r>
              <a:rPr sz="1550" spc="25" dirty="0">
                <a:latin typeface="Times New Roman"/>
                <a:cs typeface="Times New Roman"/>
              </a:rPr>
              <a:t>A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helps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improving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both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resource</a:t>
            </a:r>
            <a:r>
              <a:rPr sz="1550" spc="2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utilization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CPU</a:t>
            </a:r>
            <a:r>
              <a:rPr lang="en-IN"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throughput.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spc="5" dirty="0">
                <a:latin typeface="Times New Roman"/>
                <a:cs typeface="Times New Roman"/>
              </a:rPr>
              <a:t>These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are</a:t>
            </a:r>
            <a:r>
              <a:rPr sz="1550" b="1" spc="10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of</a:t>
            </a:r>
            <a:r>
              <a:rPr sz="1550" b="1" spc="40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Times New Roman"/>
                <a:cs typeface="Times New Roman"/>
              </a:rPr>
              <a:t>two</a:t>
            </a:r>
            <a:r>
              <a:rPr sz="1550" b="1" spc="6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types:</a:t>
            </a:r>
            <a:endParaRPr sz="155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450"/>
              </a:spcBef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1550" b="1" dirty="0">
                <a:latin typeface="Times New Roman"/>
                <a:cs typeface="Times New Roman"/>
              </a:rPr>
              <a:t>Conflict</a:t>
            </a:r>
            <a:r>
              <a:rPr sz="1550" b="1" spc="170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Serializable:</a:t>
            </a:r>
            <a:r>
              <a:rPr sz="1550" b="1" spc="19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</a:t>
            </a:r>
            <a:r>
              <a:rPr sz="1550" spc="-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called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conflict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transformed</a:t>
            </a:r>
            <a:endParaRPr sz="155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sz="1550" spc="-5" dirty="0">
                <a:latin typeface="Times New Roman"/>
                <a:cs typeface="Times New Roman"/>
              </a:rPr>
              <a:t>into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serial</a:t>
            </a:r>
            <a:r>
              <a:rPr sz="1550" spc="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swapping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non-conflicting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operations.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Times New Roman"/>
              <a:buChar char="•"/>
              <a:tabLst>
                <a:tab pos="355600" algn="l"/>
                <a:tab pos="356235" algn="l"/>
              </a:tabLst>
            </a:pPr>
            <a:r>
              <a:rPr sz="1550" b="1" spc="-10" dirty="0">
                <a:latin typeface="Times New Roman"/>
                <a:cs typeface="Times New Roman"/>
              </a:rPr>
              <a:t>View</a:t>
            </a:r>
            <a:r>
              <a:rPr sz="1550" b="1" spc="85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Serializable:</a:t>
            </a:r>
            <a:r>
              <a:rPr sz="1550" b="1" spc="18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</a:t>
            </a:r>
            <a:r>
              <a:rPr sz="1550" spc="-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called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view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view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equal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</a:t>
            </a:r>
            <a:endParaRPr sz="155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(no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overlapping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transactions).</a:t>
            </a:r>
            <a:endParaRPr sz="15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6913245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Non</a:t>
            </a:r>
            <a:r>
              <a:rPr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Serializable</a:t>
            </a:r>
            <a:r>
              <a:rPr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Concurrent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Schedules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948" y="997711"/>
            <a:ext cx="197485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15" dirty="0">
                <a:latin typeface="Times New Roman"/>
                <a:cs typeface="Times New Roman"/>
              </a:rPr>
              <a:t>Recoverable</a:t>
            </a:r>
            <a:r>
              <a:rPr sz="1550" b="1" spc="3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Schedule: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948" y="4794884"/>
            <a:ext cx="6934834" cy="45465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1400" b="1" spc="-10" dirty="0">
                <a:latin typeface="Times New Roman"/>
                <a:cs typeface="Times New Roman"/>
              </a:rPr>
              <a:t>This </a:t>
            </a:r>
            <a:r>
              <a:rPr sz="1400" b="1" dirty="0">
                <a:latin typeface="Times New Roman"/>
                <a:cs typeface="Times New Roman"/>
              </a:rPr>
              <a:t>is a </a:t>
            </a:r>
            <a:r>
              <a:rPr sz="1400" b="1" spc="-20" dirty="0">
                <a:latin typeface="Times New Roman"/>
                <a:cs typeface="Times New Roman"/>
              </a:rPr>
              <a:t>recoverable</a:t>
            </a:r>
            <a:r>
              <a:rPr sz="1400" b="1" spc="-15" dirty="0">
                <a:latin typeface="Times New Roman"/>
                <a:cs typeface="Times New Roman"/>
              </a:rPr>
              <a:t> schedule </a:t>
            </a:r>
            <a:r>
              <a:rPr sz="1400" b="1" spc="-10" dirty="0">
                <a:latin typeface="Times New Roman"/>
                <a:cs typeface="Times New Roman"/>
              </a:rPr>
              <a:t>since </a:t>
            </a:r>
            <a:r>
              <a:rPr sz="1400" b="1" dirty="0">
                <a:latin typeface="Times New Roman"/>
                <a:cs typeface="Times New Roman"/>
              </a:rPr>
              <a:t>T1 </a:t>
            </a:r>
            <a:r>
              <a:rPr sz="1400" b="1" spc="-25" dirty="0">
                <a:latin typeface="Times New Roman"/>
                <a:cs typeface="Times New Roman"/>
              </a:rPr>
              <a:t>commits</a:t>
            </a:r>
            <a:r>
              <a:rPr sz="1400" b="1" spc="-20" dirty="0">
                <a:latin typeface="Times New Roman"/>
                <a:cs typeface="Times New Roman"/>
              </a:rPr>
              <a:t> before </a:t>
            </a:r>
            <a:r>
              <a:rPr sz="1400" b="1" spc="5" dirty="0">
                <a:latin typeface="Times New Roman"/>
                <a:cs typeface="Times New Roman"/>
              </a:rPr>
              <a:t>T2, </a:t>
            </a:r>
            <a:r>
              <a:rPr sz="1400" b="1" spc="-10" dirty="0">
                <a:latin typeface="Times New Roman"/>
                <a:cs typeface="Times New Roman"/>
              </a:rPr>
              <a:t>that </a:t>
            </a:r>
            <a:r>
              <a:rPr sz="1400" b="1" spc="-30" dirty="0">
                <a:latin typeface="Times New Roman"/>
                <a:cs typeface="Times New Roman"/>
              </a:rPr>
              <a:t>makes</a:t>
            </a:r>
            <a:r>
              <a:rPr sz="1400" b="1" spc="-2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the </a:t>
            </a:r>
            <a:r>
              <a:rPr sz="1400" b="1" spc="-15" dirty="0">
                <a:latin typeface="Times New Roman"/>
                <a:cs typeface="Times New Roman"/>
              </a:rPr>
              <a:t>value </a:t>
            </a:r>
            <a:r>
              <a:rPr sz="1400" b="1" spc="-20" dirty="0">
                <a:latin typeface="Times New Roman"/>
                <a:cs typeface="Times New Roman"/>
              </a:rPr>
              <a:t>read </a:t>
            </a:r>
            <a:r>
              <a:rPr sz="1400" b="1" dirty="0">
                <a:latin typeface="Times New Roman"/>
                <a:cs typeface="Times New Roman"/>
              </a:rPr>
              <a:t>by T2 </a:t>
            </a:r>
            <a:r>
              <a:rPr sz="1400" b="1" spc="-33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correct.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92400" y="1616075"/>
          <a:ext cx="1945005" cy="2743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X=X-100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25" dirty="0">
                          <a:latin typeface="Times New Roman"/>
                          <a:cs typeface="Times New Roman"/>
                        </a:rPr>
                        <a:t>X=X+50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Commit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Commit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6913245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Non</a:t>
            </a:r>
            <a:r>
              <a:rPr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Serializable</a:t>
            </a:r>
            <a:r>
              <a:rPr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Concurrent</a:t>
            </a:r>
            <a:r>
              <a:rPr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Schedules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948" y="997711"/>
            <a:ext cx="208470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15" dirty="0">
                <a:latin typeface="Times New Roman"/>
                <a:cs typeface="Times New Roman"/>
              </a:rPr>
              <a:t>Irrecoverable </a:t>
            </a:r>
            <a:r>
              <a:rPr sz="1550" b="1" dirty="0">
                <a:latin typeface="Times New Roman"/>
                <a:cs typeface="Times New Roman"/>
              </a:rPr>
              <a:t>Schedule: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948" y="4794884"/>
            <a:ext cx="6833234" cy="45465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1400" b="1" dirty="0">
                <a:latin typeface="Times New Roman"/>
                <a:cs typeface="Times New Roman"/>
              </a:rPr>
              <a:t>T2 </a:t>
            </a:r>
            <a:r>
              <a:rPr sz="1400" b="1" spc="-20" dirty="0">
                <a:latin typeface="Times New Roman"/>
                <a:cs typeface="Times New Roman"/>
              </a:rPr>
              <a:t>read </a:t>
            </a:r>
            <a:r>
              <a:rPr sz="1400" b="1" spc="-10" dirty="0">
                <a:latin typeface="Times New Roman"/>
                <a:cs typeface="Times New Roman"/>
              </a:rPr>
              <a:t>the </a:t>
            </a:r>
            <a:r>
              <a:rPr sz="1400" b="1" spc="-15" dirty="0">
                <a:latin typeface="Times New Roman"/>
                <a:cs typeface="Times New Roman"/>
              </a:rPr>
              <a:t>value </a:t>
            </a:r>
            <a:r>
              <a:rPr sz="1400" b="1" spc="-30" dirty="0">
                <a:latin typeface="Times New Roman"/>
                <a:cs typeface="Times New Roman"/>
              </a:rPr>
              <a:t>of </a:t>
            </a:r>
            <a:r>
              <a:rPr sz="1400" b="1" dirty="0">
                <a:latin typeface="Times New Roman"/>
                <a:cs typeface="Times New Roman"/>
              </a:rPr>
              <a:t>A </a:t>
            </a:r>
            <a:r>
              <a:rPr sz="1400" b="1" spc="-10" dirty="0">
                <a:latin typeface="Times New Roman"/>
                <a:cs typeface="Times New Roman"/>
              </a:rPr>
              <a:t>written </a:t>
            </a:r>
            <a:r>
              <a:rPr sz="1400" b="1" dirty="0">
                <a:latin typeface="Times New Roman"/>
                <a:cs typeface="Times New Roman"/>
              </a:rPr>
              <a:t>by </a:t>
            </a:r>
            <a:r>
              <a:rPr sz="1400" b="1" spc="5" dirty="0">
                <a:latin typeface="Times New Roman"/>
                <a:cs typeface="Times New Roman"/>
              </a:rPr>
              <a:t>T1, </a:t>
            </a:r>
            <a:r>
              <a:rPr sz="1400" b="1" spc="-15" dirty="0">
                <a:latin typeface="Times New Roman"/>
                <a:cs typeface="Times New Roman"/>
              </a:rPr>
              <a:t>and </a:t>
            </a:r>
            <a:r>
              <a:rPr sz="1400" b="1" spc="-20" dirty="0">
                <a:latin typeface="Times New Roman"/>
                <a:cs typeface="Times New Roman"/>
              </a:rPr>
              <a:t>committed.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T1 </a:t>
            </a:r>
            <a:r>
              <a:rPr sz="1400" b="1" spc="-10" dirty="0">
                <a:latin typeface="Times New Roman"/>
                <a:cs typeface="Times New Roman"/>
              </a:rPr>
              <a:t>later </a:t>
            </a:r>
            <a:r>
              <a:rPr sz="1400" b="1" spc="-15" dirty="0">
                <a:latin typeface="Times New Roman"/>
                <a:cs typeface="Times New Roman"/>
              </a:rPr>
              <a:t>aborted, </a:t>
            </a:r>
            <a:r>
              <a:rPr sz="1400" b="1" spc="-25" dirty="0">
                <a:latin typeface="Times New Roman"/>
                <a:cs typeface="Times New Roman"/>
              </a:rPr>
              <a:t>therefore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the </a:t>
            </a:r>
            <a:r>
              <a:rPr sz="1400" b="1" spc="-15" dirty="0">
                <a:latin typeface="Times New Roman"/>
                <a:cs typeface="Times New Roman"/>
              </a:rPr>
              <a:t>value </a:t>
            </a:r>
            <a:r>
              <a:rPr sz="1400" b="1" spc="-335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read</a:t>
            </a:r>
            <a:r>
              <a:rPr sz="1400" b="1" spc="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by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T2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is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30" dirty="0">
                <a:latin typeface="Times New Roman"/>
                <a:cs typeface="Times New Roman"/>
              </a:rPr>
              <a:t>wrong,</a:t>
            </a:r>
            <a:r>
              <a:rPr sz="1400" b="1" spc="9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but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since</a:t>
            </a:r>
            <a:r>
              <a:rPr sz="1400" b="1" dirty="0">
                <a:latin typeface="Times New Roman"/>
                <a:cs typeface="Times New Roman"/>
              </a:rPr>
              <a:t> T2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Times New Roman"/>
                <a:cs typeface="Times New Roman"/>
              </a:rPr>
              <a:t>committed,</a:t>
            </a:r>
            <a:r>
              <a:rPr sz="1400" b="1" spc="160" dirty="0">
                <a:latin typeface="Times New Roman"/>
                <a:cs typeface="Times New Roman"/>
              </a:rPr>
              <a:t> </a:t>
            </a:r>
            <a:r>
              <a:rPr sz="1400" b="1" spc="-5" dirty="0">
                <a:latin typeface="Times New Roman"/>
                <a:cs typeface="Times New Roman"/>
              </a:rPr>
              <a:t>this</a:t>
            </a:r>
            <a:r>
              <a:rPr sz="1400" b="1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schedule</a:t>
            </a:r>
            <a:r>
              <a:rPr sz="1400" b="1" spc="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is</a:t>
            </a:r>
            <a:r>
              <a:rPr sz="1400" b="1" spc="5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non-recoverable.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92400" y="1616075"/>
          <a:ext cx="1945005" cy="2743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T2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X=X-100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25" dirty="0">
                          <a:latin typeface="Times New Roman"/>
                          <a:cs typeface="Times New Roman"/>
                        </a:rPr>
                        <a:t>X=X+50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Times New Roman"/>
                          <a:cs typeface="Times New Roman"/>
                        </a:rPr>
                        <a:t>Commit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(Fail)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572897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Conflict</a:t>
            </a:r>
            <a:r>
              <a:rPr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pc="-1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in</a:t>
            </a:r>
            <a:r>
              <a:rPr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0000"/>
                </a:solidFill>
                <a:latin typeface="Times New Roman"/>
                <a:cs typeface="Times New Roman"/>
              </a:rPr>
              <a:t>DBMS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04113"/>
            <a:ext cx="7493634" cy="433798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535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dirty="0">
                <a:latin typeface="Times New Roman"/>
                <a:cs typeface="Times New Roman"/>
              </a:rPr>
              <a:t>As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discussed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schedules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have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less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resource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utilization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low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throughput.</a:t>
            </a:r>
          </a:p>
          <a:p>
            <a:pPr marL="300990" indent="-288925">
              <a:lnSpc>
                <a:spcPct val="100000"/>
              </a:lnSpc>
              <a:spcBef>
                <a:spcPts val="440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spc="-5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improve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it,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or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more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transactions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are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run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concurrently.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But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concurrency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of</a:t>
            </a:r>
            <a:endParaRPr sz="1550" dirty="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55"/>
              </a:spcBef>
            </a:pPr>
            <a:r>
              <a:rPr sz="1550" spc="5" dirty="0">
                <a:latin typeface="Times New Roman"/>
                <a:cs typeface="Times New Roman"/>
              </a:rPr>
              <a:t>transactions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may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lead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inconsistency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database.</a:t>
            </a:r>
            <a:endParaRPr sz="1550" dirty="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45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spc="-55" dirty="0">
                <a:latin typeface="Times New Roman"/>
                <a:cs typeface="Times New Roman"/>
              </a:rPr>
              <a:t>To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avoid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this,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need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check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whether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these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concurrent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schedules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or</a:t>
            </a:r>
            <a:endParaRPr sz="1550" dirty="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85"/>
              </a:spcBef>
            </a:pPr>
            <a:r>
              <a:rPr sz="1550" spc="-10" dirty="0">
                <a:latin typeface="Times New Roman"/>
                <a:cs typeface="Times New Roman"/>
              </a:rPr>
              <a:t>not.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For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this,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have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two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methods:</a:t>
            </a:r>
          </a:p>
          <a:p>
            <a:pPr marL="1041400" lvl="1" indent="-283845">
              <a:lnSpc>
                <a:spcPct val="100000"/>
              </a:lnSpc>
              <a:spcBef>
                <a:spcPts val="345"/>
              </a:spcBef>
              <a:buFont typeface="Times New Roman"/>
              <a:buChar char="–"/>
              <a:tabLst>
                <a:tab pos="1041400" algn="l"/>
                <a:tab pos="1042035" algn="l"/>
              </a:tabLst>
            </a:pPr>
            <a:r>
              <a:rPr sz="1400" b="1" spc="5" dirty="0">
                <a:latin typeface="Times New Roman"/>
                <a:cs typeface="Times New Roman"/>
              </a:rPr>
              <a:t>1.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Conflict</a:t>
            </a:r>
            <a:r>
              <a:rPr sz="1400" b="1" spc="3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Serializability</a:t>
            </a:r>
            <a:endParaRPr sz="1400" dirty="0">
              <a:latin typeface="Times New Roman"/>
              <a:cs typeface="Times New Roman"/>
            </a:endParaRPr>
          </a:p>
          <a:p>
            <a:pPr marL="1041400" lvl="1" indent="-283845">
              <a:lnSpc>
                <a:spcPct val="100000"/>
              </a:lnSpc>
              <a:spcBef>
                <a:spcPts val="335"/>
              </a:spcBef>
              <a:buFont typeface="Times New Roman"/>
              <a:buChar char="–"/>
              <a:tabLst>
                <a:tab pos="1041400" algn="l"/>
                <a:tab pos="1042035" algn="l"/>
              </a:tabLst>
            </a:pPr>
            <a:r>
              <a:rPr sz="1400" b="1" spc="5" dirty="0">
                <a:latin typeface="Times New Roman"/>
                <a:cs typeface="Times New Roman"/>
              </a:rPr>
              <a:t>2.</a:t>
            </a:r>
            <a:r>
              <a:rPr sz="1400" b="1" spc="-65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Times New Roman"/>
                <a:cs typeface="Times New Roman"/>
              </a:rPr>
              <a:t>View</a:t>
            </a:r>
            <a:r>
              <a:rPr sz="1400" b="1" spc="-10" dirty="0">
                <a:latin typeface="Times New Roman"/>
                <a:cs typeface="Times New Roman"/>
              </a:rPr>
              <a:t> Serializability</a:t>
            </a:r>
            <a:endParaRPr sz="1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Times New Roman"/>
              <a:buChar char="–"/>
            </a:pPr>
            <a:endParaRPr sz="1500" dirty="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  <a:spcBef>
                <a:spcPts val="969"/>
              </a:spcBef>
            </a:pPr>
            <a:r>
              <a:rPr sz="1550" b="1" dirty="0">
                <a:latin typeface="Times New Roman"/>
                <a:cs typeface="Times New Roman"/>
              </a:rPr>
              <a:t>Conflict</a:t>
            </a:r>
            <a:r>
              <a:rPr sz="1550" b="1" spc="165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Serializable: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called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conflict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transformed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into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 </a:t>
            </a:r>
            <a:r>
              <a:rPr sz="1550" spc="10" dirty="0">
                <a:latin typeface="Times New Roman"/>
                <a:cs typeface="Times New Roman"/>
              </a:rPr>
              <a:t>serial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5" dirty="0">
                <a:latin typeface="Times New Roman"/>
                <a:cs typeface="Times New Roman"/>
              </a:rPr>
              <a:t> swapping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non-conflicting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operations.</a:t>
            </a:r>
            <a:endParaRPr sz="1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dirty="0">
                <a:latin typeface="Times New Roman"/>
                <a:cs typeface="Times New Roman"/>
              </a:rPr>
              <a:t>Conflicting</a:t>
            </a:r>
            <a:r>
              <a:rPr sz="1550" b="1" spc="195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operations:</a:t>
            </a:r>
            <a:r>
              <a:rPr sz="1550" b="1" spc="16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Times New Roman"/>
                <a:cs typeface="Times New Roman"/>
              </a:rPr>
              <a:t>Two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operations</a:t>
            </a:r>
            <a:r>
              <a:rPr sz="1550" spc="1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said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conflicting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all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conditions</a:t>
            </a:r>
            <a:r>
              <a:rPr sz="1550" spc="2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satisfy:</a:t>
            </a:r>
            <a:endParaRPr lang="en-IN"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1550" dirty="0">
              <a:latin typeface="Times New Roman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operation is a part of different transactions.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operations get performed on the same data item.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of the performed must be a write operation.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76B1-2695-2001-99F8-DE78F9E1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490" y="167462"/>
            <a:ext cx="6891019" cy="492443"/>
          </a:xfrm>
        </p:spPr>
        <p:txBody>
          <a:bodyPr/>
          <a:lstStyle/>
          <a:p>
            <a:r>
              <a:rPr lang="en-IN" spc="5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Conflict</a:t>
            </a:r>
            <a:r>
              <a:rPr lang="en-IN" spc="-90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IN" spc="5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Serializability</a:t>
            </a:r>
            <a:r>
              <a:rPr lang="en-IN" spc="-145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IN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in</a:t>
            </a:r>
            <a:r>
              <a:rPr lang="en-IN" spc="-10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 </a:t>
            </a:r>
            <a:r>
              <a:rPr lang="en-IN" spc="-5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DBMS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2C68F-6C89-65B6-3C42-29C18A71A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153400" cy="738664"/>
          </a:xfrm>
        </p:spPr>
        <p:txBody>
          <a:bodyPr/>
          <a:lstStyle/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consider two different transactions, </a:t>
            </a:r>
            <a:r>
              <a:rPr lang="en-US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 and </a:t>
            </a:r>
            <a:r>
              <a:rPr lang="en-US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Tj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​. Then considering the above conditions, the following table follows: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CD5B3E-389B-E88F-08E8-E2A95B74F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591429"/>
              </p:ext>
            </p:extLst>
          </p:nvPr>
        </p:nvGraphicFramePr>
        <p:xfrm>
          <a:off x="457200" y="1898650"/>
          <a:ext cx="7696200" cy="2901950"/>
        </p:xfrm>
        <a:graphic>
          <a:graphicData uri="http://schemas.openxmlformats.org/drawingml/2006/table">
            <a:tbl>
              <a:tblPr/>
              <a:tblGrid>
                <a:gridCol w="2565400">
                  <a:extLst>
                    <a:ext uri="{9D8B030D-6E8A-4147-A177-3AD203B41FA5}">
                      <a16:colId xmlns:a16="http://schemas.microsoft.com/office/drawing/2014/main" val="128109739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656529105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987772742"/>
                    </a:ext>
                  </a:extLst>
                </a:gridCol>
              </a:tblGrid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</a:t>
                      </a:r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IsConflicting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86638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Readj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Non-conflicting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801702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Writej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Conflicting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445528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Writei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Readj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Conflicting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601696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Writei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Writej (X)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Conflicting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863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156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402844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Conflict</a:t>
            </a:r>
            <a:r>
              <a:rPr spc="-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54938"/>
            <a:ext cx="7233284" cy="13912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130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spc="-5" dirty="0">
                <a:latin typeface="Times New Roman"/>
                <a:cs typeface="Times New Roman"/>
              </a:rPr>
              <a:t>If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transformed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into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Times New Roman"/>
                <a:cs typeface="Times New Roman"/>
              </a:rPr>
              <a:t>S´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swapping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5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non-conflicting</a:t>
            </a:r>
            <a:endParaRPr sz="1550" dirty="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50"/>
              </a:spcBef>
            </a:pPr>
            <a:r>
              <a:rPr sz="1550" dirty="0">
                <a:latin typeface="Times New Roman"/>
                <a:cs typeface="Times New Roman"/>
              </a:rPr>
              <a:t>instructions,</a:t>
            </a:r>
            <a:r>
              <a:rPr sz="1550" spc="2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say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S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S´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are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conflict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equivalent.</a:t>
            </a:r>
          </a:p>
          <a:p>
            <a:pPr marL="300990" indent="-288925" algn="just">
              <a:lnSpc>
                <a:spcPct val="100000"/>
              </a:lnSpc>
              <a:spcBef>
                <a:spcPts val="445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spc="-45" dirty="0">
                <a:latin typeface="Times New Roman"/>
                <a:cs typeface="Times New Roman"/>
              </a:rPr>
              <a:t>We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say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conflict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</a:t>
            </a:r>
            <a:r>
              <a:rPr sz="1550" spc="1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conflict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equivalent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</a:t>
            </a:r>
            <a:r>
              <a:rPr lang="en-IN"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schedule.</a:t>
            </a:r>
          </a:p>
          <a:p>
            <a:pPr marL="288925" algn="ctr">
              <a:lnSpc>
                <a:spcPct val="100000"/>
              </a:lnSpc>
              <a:spcBef>
                <a:spcPts val="1019"/>
              </a:spcBef>
              <a:tabLst>
                <a:tab pos="4091304" algn="l"/>
              </a:tabLst>
            </a:pP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400" b="1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400" b="1" spc="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dule</a:t>
            </a:r>
            <a:r>
              <a:rPr sz="14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S	S</a:t>
            </a:r>
            <a:r>
              <a:rPr sz="1400" b="1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1400" b="1" spc="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dule</a:t>
            </a:r>
            <a:r>
              <a:rPr sz="1400" b="1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S`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320" y="5158232"/>
            <a:ext cx="7477759" cy="7518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00990" marR="5080" indent="-288925" algn="just">
              <a:lnSpc>
                <a:spcPct val="102600"/>
              </a:lnSpc>
              <a:spcBef>
                <a:spcPts val="85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be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transformed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into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Schedule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S`,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where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T2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follows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T1,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 </a:t>
            </a:r>
            <a:r>
              <a:rPr sz="1550" dirty="0">
                <a:latin typeface="Times New Roman"/>
                <a:cs typeface="Times New Roman"/>
              </a:rPr>
              <a:t>series </a:t>
            </a:r>
            <a:r>
              <a:rPr sz="1550" spc="-5" dirty="0">
                <a:latin typeface="Times New Roman"/>
                <a:cs typeface="Times New Roman"/>
              </a:rPr>
              <a:t>of </a:t>
            </a:r>
            <a:r>
              <a:rPr sz="1550" dirty="0">
                <a:latin typeface="Times New Roman"/>
                <a:cs typeface="Times New Roman"/>
              </a:rPr>
              <a:t>swaps </a:t>
            </a:r>
            <a:r>
              <a:rPr sz="1550" spc="-5" dirty="0">
                <a:latin typeface="Times New Roman"/>
                <a:cs typeface="Times New Roman"/>
              </a:rPr>
              <a:t>of </a:t>
            </a:r>
            <a:r>
              <a:rPr sz="1550" spc="10" dirty="0">
                <a:latin typeface="Times New Roman"/>
                <a:cs typeface="Times New Roman"/>
              </a:rPr>
              <a:t>non-conflicting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instructions.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Therefore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Schedule </a:t>
            </a:r>
            <a:r>
              <a:rPr sz="1550" spc="20" dirty="0">
                <a:latin typeface="Times New Roman"/>
                <a:cs typeface="Times New Roman"/>
              </a:rPr>
              <a:t>S </a:t>
            </a:r>
            <a:r>
              <a:rPr sz="1550" spc="5" dirty="0">
                <a:latin typeface="Times New Roman"/>
                <a:cs typeface="Times New Roman"/>
              </a:rPr>
              <a:t>is </a:t>
            </a:r>
            <a:r>
              <a:rPr sz="1550" dirty="0">
                <a:latin typeface="Times New Roman"/>
                <a:cs typeface="Times New Roman"/>
              </a:rPr>
              <a:t>conflict 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serializable.</a:t>
            </a:r>
            <a:endParaRPr sz="155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81911" y="2600960"/>
            <a:ext cx="2021205" cy="2282190"/>
            <a:chOff x="1581911" y="2600960"/>
            <a:chExt cx="2021205" cy="22821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8487" y="2638044"/>
              <a:ext cx="1947672" cy="22082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81912" y="2600959"/>
              <a:ext cx="2021205" cy="2282190"/>
            </a:xfrm>
            <a:custGeom>
              <a:avLst/>
              <a:gdLst/>
              <a:ahLst/>
              <a:cxnLst/>
              <a:rect l="l" t="t" r="r" b="b"/>
              <a:pathLst>
                <a:path w="2021204" h="2282190">
                  <a:moveTo>
                    <a:pt x="1996440" y="25400"/>
                  </a:moveTo>
                  <a:lnTo>
                    <a:pt x="24384" y="25400"/>
                  </a:lnTo>
                  <a:lnTo>
                    <a:pt x="24384" y="36830"/>
                  </a:lnTo>
                  <a:lnTo>
                    <a:pt x="24384" y="2245360"/>
                  </a:lnTo>
                  <a:lnTo>
                    <a:pt x="24384" y="2258060"/>
                  </a:lnTo>
                  <a:lnTo>
                    <a:pt x="1996440" y="2258060"/>
                  </a:lnTo>
                  <a:lnTo>
                    <a:pt x="1996440" y="2245360"/>
                  </a:lnTo>
                  <a:lnTo>
                    <a:pt x="1996440" y="37084"/>
                  </a:lnTo>
                  <a:lnTo>
                    <a:pt x="1984248" y="37084"/>
                  </a:lnTo>
                  <a:lnTo>
                    <a:pt x="1984248" y="2245360"/>
                  </a:lnTo>
                  <a:lnTo>
                    <a:pt x="36576" y="2245360"/>
                  </a:lnTo>
                  <a:lnTo>
                    <a:pt x="36576" y="36830"/>
                  </a:lnTo>
                  <a:lnTo>
                    <a:pt x="1996440" y="36830"/>
                  </a:lnTo>
                  <a:lnTo>
                    <a:pt x="1996440" y="25400"/>
                  </a:lnTo>
                  <a:close/>
                </a:path>
                <a:path w="2021204" h="2282190">
                  <a:moveTo>
                    <a:pt x="2020824" y="0"/>
                  </a:moveTo>
                  <a:lnTo>
                    <a:pt x="2008632" y="0"/>
                  </a:lnTo>
                  <a:lnTo>
                    <a:pt x="2008632" y="12700"/>
                  </a:lnTo>
                  <a:lnTo>
                    <a:pt x="2008632" y="2269490"/>
                  </a:lnTo>
                  <a:lnTo>
                    <a:pt x="12192" y="2269490"/>
                  </a:lnTo>
                  <a:lnTo>
                    <a:pt x="12192" y="12700"/>
                  </a:lnTo>
                  <a:lnTo>
                    <a:pt x="2008632" y="12700"/>
                  </a:lnTo>
                  <a:lnTo>
                    <a:pt x="2008632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269490"/>
                  </a:lnTo>
                  <a:lnTo>
                    <a:pt x="0" y="2282190"/>
                  </a:lnTo>
                  <a:lnTo>
                    <a:pt x="2020824" y="2282190"/>
                  </a:lnTo>
                  <a:lnTo>
                    <a:pt x="2020824" y="2269744"/>
                  </a:lnTo>
                  <a:lnTo>
                    <a:pt x="2020824" y="2269490"/>
                  </a:lnTo>
                  <a:lnTo>
                    <a:pt x="2020824" y="12700"/>
                  </a:lnTo>
                  <a:lnTo>
                    <a:pt x="20208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257800" y="2600960"/>
            <a:ext cx="2016760" cy="2305050"/>
            <a:chOff x="5257800" y="2600960"/>
            <a:chExt cx="2016760" cy="23050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4376" y="2638044"/>
              <a:ext cx="1943100" cy="223113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57800" y="2600959"/>
              <a:ext cx="2016760" cy="2305050"/>
            </a:xfrm>
            <a:custGeom>
              <a:avLst/>
              <a:gdLst/>
              <a:ahLst/>
              <a:cxnLst/>
              <a:rect l="l" t="t" r="r" b="b"/>
              <a:pathLst>
                <a:path w="2016759" h="2305050">
                  <a:moveTo>
                    <a:pt x="1991868" y="25400"/>
                  </a:moveTo>
                  <a:lnTo>
                    <a:pt x="24384" y="25400"/>
                  </a:lnTo>
                  <a:lnTo>
                    <a:pt x="24384" y="36830"/>
                  </a:lnTo>
                  <a:lnTo>
                    <a:pt x="24384" y="2268220"/>
                  </a:lnTo>
                  <a:lnTo>
                    <a:pt x="24384" y="2280920"/>
                  </a:lnTo>
                  <a:lnTo>
                    <a:pt x="1991868" y="2280920"/>
                  </a:lnTo>
                  <a:lnTo>
                    <a:pt x="1991868" y="2268220"/>
                  </a:lnTo>
                  <a:lnTo>
                    <a:pt x="1991868" y="37084"/>
                  </a:lnTo>
                  <a:lnTo>
                    <a:pt x="1979676" y="37084"/>
                  </a:lnTo>
                  <a:lnTo>
                    <a:pt x="1979676" y="2268220"/>
                  </a:lnTo>
                  <a:lnTo>
                    <a:pt x="36576" y="2268220"/>
                  </a:lnTo>
                  <a:lnTo>
                    <a:pt x="36576" y="36830"/>
                  </a:lnTo>
                  <a:lnTo>
                    <a:pt x="1991868" y="36830"/>
                  </a:lnTo>
                  <a:lnTo>
                    <a:pt x="1991868" y="25400"/>
                  </a:lnTo>
                  <a:close/>
                </a:path>
                <a:path w="2016759" h="2305050">
                  <a:moveTo>
                    <a:pt x="2016252" y="0"/>
                  </a:moveTo>
                  <a:lnTo>
                    <a:pt x="2004060" y="0"/>
                  </a:lnTo>
                  <a:lnTo>
                    <a:pt x="2004060" y="12700"/>
                  </a:lnTo>
                  <a:lnTo>
                    <a:pt x="2004060" y="2292350"/>
                  </a:lnTo>
                  <a:lnTo>
                    <a:pt x="12192" y="2292350"/>
                  </a:lnTo>
                  <a:lnTo>
                    <a:pt x="12192" y="12700"/>
                  </a:lnTo>
                  <a:lnTo>
                    <a:pt x="2004060" y="12700"/>
                  </a:lnTo>
                  <a:lnTo>
                    <a:pt x="200406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292350"/>
                  </a:lnTo>
                  <a:lnTo>
                    <a:pt x="0" y="2305050"/>
                  </a:lnTo>
                  <a:lnTo>
                    <a:pt x="2016252" y="2305050"/>
                  </a:lnTo>
                  <a:lnTo>
                    <a:pt x="2016252" y="2292616"/>
                  </a:lnTo>
                  <a:lnTo>
                    <a:pt x="2016252" y="2292350"/>
                  </a:lnTo>
                  <a:lnTo>
                    <a:pt x="2016252" y="12700"/>
                  </a:lnTo>
                  <a:lnTo>
                    <a:pt x="2016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07162"/>
            <a:ext cx="4028440" cy="4527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50"/>
              </a:lnSpc>
            </a:pP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Conflict</a:t>
            </a:r>
            <a:r>
              <a:rPr spc="-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3320" y="1150365"/>
            <a:ext cx="52381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30" dirty="0">
                <a:latin typeface="Times New Roman"/>
                <a:cs typeface="Times New Roman"/>
              </a:rPr>
              <a:t>Example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conflict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serializable: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7920" y="3456178"/>
            <a:ext cx="73710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25755" algn="l"/>
                <a:tab pos="327025" algn="l"/>
              </a:tabLst>
            </a:pPr>
            <a:r>
              <a:rPr sz="1800" spc="-95" dirty="0">
                <a:latin typeface="Times New Roman"/>
                <a:cs typeface="Times New Roman"/>
              </a:rPr>
              <a:t>We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unable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swap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instructions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above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to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obtain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either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326390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serial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i="1" spc="15" dirty="0">
                <a:latin typeface="Times New Roman"/>
                <a:cs typeface="Times New Roman"/>
              </a:rPr>
              <a:t>T</a:t>
            </a:r>
            <a:r>
              <a:rPr sz="1725" spc="22" baseline="-21739" dirty="0">
                <a:latin typeface="Times New Roman"/>
                <a:cs typeface="Times New Roman"/>
              </a:rPr>
              <a:t>3</a:t>
            </a:r>
            <a:r>
              <a:rPr sz="1800" spc="15" dirty="0">
                <a:latin typeface="Times New Roman"/>
                <a:cs typeface="Times New Roman"/>
              </a:rPr>
              <a:t>,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i="1" spc="10" dirty="0">
                <a:latin typeface="Times New Roman"/>
                <a:cs typeface="Times New Roman"/>
              </a:rPr>
              <a:t>T</a:t>
            </a:r>
            <a:r>
              <a:rPr sz="1725" spc="15" baseline="-21739" dirty="0">
                <a:latin typeface="Times New Roman"/>
                <a:cs typeface="Times New Roman"/>
              </a:rPr>
              <a:t>4</a:t>
            </a:r>
            <a:r>
              <a:rPr sz="1725" spc="240" baseline="-21739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&gt;,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&lt;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10" dirty="0">
                <a:latin typeface="Times New Roman"/>
                <a:cs typeface="Times New Roman"/>
              </a:rPr>
              <a:t>T</a:t>
            </a:r>
            <a:r>
              <a:rPr sz="1725" spc="15" baseline="-21739" dirty="0">
                <a:latin typeface="Times New Roman"/>
                <a:cs typeface="Times New Roman"/>
              </a:rPr>
              <a:t>4</a:t>
            </a:r>
            <a:r>
              <a:rPr sz="1800" spc="10" dirty="0">
                <a:latin typeface="Times New Roman"/>
                <a:cs typeface="Times New Roman"/>
              </a:rPr>
              <a:t>,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i="1" spc="10" dirty="0">
                <a:latin typeface="Times New Roman"/>
                <a:cs typeface="Times New Roman"/>
              </a:rPr>
              <a:t>T</a:t>
            </a:r>
            <a:r>
              <a:rPr sz="1725" spc="15" baseline="-21739" dirty="0">
                <a:latin typeface="Times New Roman"/>
                <a:cs typeface="Times New Roman"/>
              </a:rPr>
              <a:t>3</a:t>
            </a:r>
            <a:r>
              <a:rPr sz="1725" spc="247" baseline="-2173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&gt;.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81527" y="1663700"/>
            <a:ext cx="2981325" cy="1541780"/>
            <a:chOff x="3081527" y="1663700"/>
            <a:chExt cx="2981325" cy="15417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8103" y="1700784"/>
              <a:ext cx="2907792" cy="146761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81528" y="1663699"/>
              <a:ext cx="2981325" cy="1541780"/>
            </a:xfrm>
            <a:custGeom>
              <a:avLst/>
              <a:gdLst/>
              <a:ahLst/>
              <a:cxnLst/>
              <a:rect l="l" t="t" r="r" b="b"/>
              <a:pathLst>
                <a:path w="2981325" h="1541780">
                  <a:moveTo>
                    <a:pt x="2956560" y="37084"/>
                  </a:moveTo>
                  <a:lnTo>
                    <a:pt x="2944368" y="37084"/>
                  </a:lnTo>
                  <a:lnTo>
                    <a:pt x="2944368" y="1504696"/>
                  </a:lnTo>
                  <a:lnTo>
                    <a:pt x="2956560" y="1504696"/>
                  </a:lnTo>
                  <a:lnTo>
                    <a:pt x="2956560" y="37084"/>
                  </a:lnTo>
                  <a:close/>
                </a:path>
                <a:path w="2981325" h="1541780">
                  <a:moveTo>
                    <a:pt x="2956560" y="25400"/>
                  </a:moveTo>
                  <a:lnTo>
                    <a:pt x="24384" y="25400"/>
                  </a:lnTo>
                  <a:lnTo>
                    <a:pt x="24384" y="36830"/>
                  </a:lnTo>
                  <a:lnTo>
                    <a:pt x="24384" y="1504950"/>
                  </a:lnTo>
                  <a:lnTo>
                    <a:pt x="24384" y="1516380"/>
                  </a:lnTo>
                  <a:lnTo>
                    <a:pt x="2956560" y="1516380"/>
                  </a:lnTo>
                  <a:lnTo>
                    <a:pt x="2956560" y="1504950"/>
                  </a:lnTo>
                  <a:lnTo>
                    <a:pt x="36576" y="1504950"/>
                  </a:lnTo>
                  <a:lnTo>
                    <a:pt x="36576" y="36830"/>
                  </a:lnTo>
                  <a:lnTo>
                    <a:pt x="2956560" y="36830"/>
                  </a:lnTo>
                  <a:lnTo>
                    <a:pt x="2956560" y="25400"/>
                  </a:lnTo>
                  <a:close/>
                </a:path>
                <a:path w="2981325" h="1541780">
                  <a:moveTo>
                    <a:pt x="2980944" y="0"/>
                  </a:moveTo>
                  <a:lnTo>
                    <a:pt x="2968752" y="0"/>
                  </a:lnTo>
                  <a:lnTo>
                    <a:pt x="2968752" y="12700"/>
                  </a:lnTo>
                  <a:lnTo>
                    <a:pt x="2968752" y="1529080"/>
                  </a:lnTo>
                  <a:lnTo>
                    <a:pt x="12192" y="1529080"/>
                  </a:lnTo>
                  <a:lnTo>
                    <a:pt x="12192" y="12700"/>
                  </a:lnTo>
                  <a:lnTo>
                    <a:pt x="2968752" y="12700"/>
                  </a:lnTo>
                  <a:lnTo>
                    <a:pt x="2968752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529080"/>
                  </a:lnTo>
                  <a:lnTo>
                    <a:pt x="0" y="1541780"/>
                  </a:lnTo>
                  <a:lnTo>
                    <a:pt x="2980944" y="1541780"/>
                  </a:lnTo>
                  <a:lnTo>
                    <a:pt x="2980944" y="1529080"/>
                  </a:lnTo>
                  <a:lnTo>
                    <a:pt x="2980944" y="12700"/>
                  </a:lnTo>
                  <a:lnTo>
                    <a:pt x="29809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320" y="1447241"/>
            <a:ext cx="6959600" cy="26104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For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each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transaction</a:t>
            </a:r>
            <a:r>
              <a:rPr sz="1550" spc="1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</a:t>
            </a:r>
            <a:r>
              <a:rPr sz="1400" dirty="0">
                <a:latin typeface="Times New Roman"/>
                <a:cs typeface="Times New Roman"/>
              </a:rPr>
              <a:t>i</a:t>
            </a:r>
            <a:r>
              <a:rPr sz="1400" spc="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participating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S,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create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node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graph.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For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each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case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where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40" dirty="0">
                <a:latin typeface="Times New Roman"/>
                <a:cs typeface="Times New Roman"/>
              </a:rPr>
              <a:t>Ti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Write(X) 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Tj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Read(X)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, create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an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edge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from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40" dirty="0">
                <a:latin typeface="Times New Roman"/>
                <a:cs typeface="Times New Roman"/>
              </a:rPr>
              <a:t>Ti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Tj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For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each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case,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where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40" dirty="0">
                <a:latin typeface="Times New Roman"/>
                <a:cs typeface="Times New Roman"/>
              </a:rPr>
              <a:t>Ti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Read(X) 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Tj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Write(X)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, create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an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edge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from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40" dirty="0">
                <a:latin typeface="Times New Roman"/>
                <a:cs typeface="Times New Roman"/>
              </a:rPr>
              <a:t>Ti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 </a:t>
            </a:r>
            <a:r>
              <a:rPr sz="1550" spc="-5" dirty="0">
                <a:latin typeface="Times New Roman"/>
                <a:cs typeface="Times New Roman"/>
              </a:rPr>
              <a:t>Tj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AutoNum type="arabicPeriod"/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buAutoNum type="arabicPeriod"/>
              <a:tabLst>
                <a:tab pos="355600" algn="l"/>
                <a:tab pos="356235" algn="l"/>
              </a:tabLst>
            </a:pPr>
            <a:r>
              <a:rPr sz="1550" spc="-5" dirty="0">
                <a:latin typeface="Times New Roman"/>
                <a:cs typeface="Times New Roman"/>
              </a:rPr>
              <a:t>For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each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case,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where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40" dirty="0">
                <a:latin typeface="Times New Roman"/>
                <a:cs typeface="Times New Roman"/>
              </a:rPr>
              <a:t>Ti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Write(X)</a:t>
            </a:r>
            <a:r>
              <a:rPr sz="1550" spc="49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then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Tj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Write(X)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,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create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an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edge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from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40" dirty="0">
                <a:latin typeface="Times New Roman"/>
                <a:cs typeface="Times New Roman"/>
              </a:rPr>
              <a:t>Ti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Tj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235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  <a:tab pos="35623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serializable,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only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if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there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no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cycle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graph.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7875" y="454405"/>
            <a:ext cx="5646420" cy="3429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05"/>
              </a:lnSpc>
            </a:pPr>
            <a:r>
              <a:rPr sz="2400" spc="-25" dirty="0">
                <a:solidFill>
                  <a:srgbClr val="000000"/>
                </a:solidFill>
                <a:latin typeface="Times New Roman"/>
                <a:cs typeface="Times New Roman"/>
              </a:rPr>
              <a:t>Testing</a:t>
            </a:r>
            <a:r>
              <a:rPr sz="24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conflict</a:t>
            </a:r>
            <a:r>
              <a:rPr sz="240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400" spc="-1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400" spc="-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6588759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5" dirty="0">
                <a:solidFill>
                  <a:srgbClr val="000000"/>
                </a:solidFill>
                <a:latin typeface="Times New Roman"/>
                <a:cs typeface="Times New Roman"/>
              </a:rPr>
              <a:t>Testing</a:t>
            </a:r>
            <a:r>
              <a:rPr sz="28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Times New Roman"/>
                <a:cs typeface="Times New Roman"/>
              </a:rPr>
              <a:t>conflict</a:t>
            </a:r>
            <a:r>
              <a:rPr sz="28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80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schedule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3241" y="1334388"/>
          <a:ext cx="2447925" cy="2773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T2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X=X-50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25" dirty="0">
                          <a:latin typeface="Times New Roman"/>
                          <a:cs typeface="Times New Roman"/>
                        </a:rPr>
                        <a:t>X=X-100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R(Y)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25" dirty="0">
                          <a:latin typeface="Times New Roman"/>
                          <a:cs typeface="Times New Roman"/>
                        </a:rPr>
                        <a:t>Y=Y+50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W(Y)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420996" y="2775076"/>
            <a:ext cx="663575" cy="590550"/>
            <a:chOff x="4420996" y="2775076"/>
            <a:chExt cx="663575" cy="590550"/>
          </a:xfrm>
        </p:grpSpPr>
        <p:sp>
          <p:nvSpPr>
            <p:cNvPr id="5" name="object 5"/>
            <p:cNvSpPr/>
            <p:nvPr/>
          </p:nvSpPr>
          <p:spPr>
            <a:xfrm>
              <a:off x="4427981" y="2782061"/>
              <a:ext cx="649605" cy="576580"/>
            </a:xfrm>
            <a:custGeom>
              <a:avLst/>
              <a:gdLst/>
              <a:ahLst/>
              <a:cxnLst/>
              <a:rect l="l" t="t" r="r" b="b"/>
              <a:pathLst>
                <a:path w="649604" h="576579">
                  <a:moveTo>
                    <a:pt x="324612" y="0"/>
                  </a:moveTo>
                  <a:lnTo>
                    <a:pt x="271947" y="3768"/>
                  </a:lnTo>
                  <a:lnTo>
                    <a:pt x="221991" y="14679"/>
                  </a:lnTo>
                  <a:lnTo>
                    <a:pt x="175413" y="32140"/>
                  </a:lnTo>
                  <a:lnTo>
                    <a:pt x="132880" y="55558"/>
                  </a:lnTo>
                  <a:lnTo>
                    <a:pt x="95059" y="84343"/>
                  </a:lnTo>
                  <a:lnTo>
                    <a:pt x="62618" y="117902"/>
                  </a:lnTo>
                  <a:lnTo>
                    <a:pt x="36223" y="155643"/>
                  </a:lnTo>
                  <a:lnTo>
                    <a:pt x="16544" y="196973"/>
                  </a:lnTo>
                  <a:lnTo>
                    <a:pt x="4247" y="241302"/>
                  </a:lnTo>
                  <a:lnTo>
                    <a:pt x="0" y="288036"/>
                  </a:lnTo>
                  <a:lnTo>
                    <a:pt x="4247" y="334769"/>
                  </a:lnTo>
                  <a:lnTo>
                    <a:pt x="16544" y="379098"/>
                  </a:lnTo>
                  <a:lnTo>
                    <a:pt x="36223" y="420428"/>
                  </a:lnTo>
                  <a:lnTo>
                    <a:pt x="62618" y="458169"/>
                  </a:lnTo>
                  <a:lnTo>
                    <a:pt x="95059" y="491728"/>
                  </a:lnTo>
                  <a:lnTo>
                    <a:pt x="132880" y="520513"/>
                  </a:lnTo>
                  <a:lnTo>
                    <a:pt x="175413" y="543931"/>
                  </a:lnTo>
                  <a:lnTo>
                    <a:pt x="221991" y="561392"/>
                  </a:lnTo>
                  <a:lnTo>
                    <a:pt x="271947" y="572303"/>
                  </a:lnTo>
                  <a:lnTo>
                    <a:pt x="324612" y="576072"/>
                  </a:lnTo>
                  <a:lnTo>
                    <a:pt x="377276" y="572303"/>
                  </a:lnTo>
                  <a:lnTo>
                    <a:pt x="427232" y="561392"/>
                  </a:lnTo>
                  <a:lnTo>
                    <a:pt x="473810" y="543931"/>
                  </a:lnTo>
                  <a:lnTo>
                    <a:pt x="516343" y="520513"/>
                  </a:lnTo>
                  <a:lnTo>
                    <a:pt x="554164" y="491728"/>
                  </a:lnTo>
                  <a:lnTo>
                    <a:pt x="586605" y="458169"/>
                  </a:lnTo>
                  <a:lnTo>
                    <a:pt x="613000" y="420428"/>
                  </a:lnTo>
                  <a:lnTo>
                    <a:pt x="632679" y="379098"/>
                  </a:lnTo>
                  <a:lnTo>
                    <a:pt x="644976" y="334769"/>
                  </a:lnTo>
                  <a:lnTo>
                    <a:pt x="649223" y="288036"/>
                  </a:lnTo>
                  <a:lnTo>
                    <a:pt x="644976" y="241302"/>
                  </a:lnTo>
                  <a:lnTo>
                    <a:pt x="632679" y="196973"/>
                  </a:lnTo>
                  <a:lnTo>
                    <a:pt x="613000" y="155643"/>
                  </a:lnTo>
                  <a:lnTo>
                    <a:pt x="586605" y="117902"/>
                  </a:lnTo>
                  <a:lnTo>
                    <a:pt x="554164" y="84343"/>
                  </a:lnTo>
                  <a:lnTo>
                    <a:pt x="516343" y="55558"/>
                  </a:lnTo>
                  <a:lnTo>
                    <a:pt x="473810" y="32140"/>
                  </a:lnTo>
                  <a:lnTo>
                    <a:pt x="427232" y="14679"/>
                  </a:lnTo>
                  <a:lnTo>
                    <a:pt x="377276" y="3768"/>
                  </a:lnTo>
                  <a:lnTo>
                    <a:pt x="32461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27981" y="2782061"/>
              <a:ext cx="649605" cy="576580"/>
            </a:xfrm>
            <a:custGeom>
              <a:avLst/>
              <a:gdLst/>
              <a:ahLst/>
              <a:cxnLst/>
              <a:rect l="l" t="t" r="r" b="b"/>
              <a:pathLst>
                <a:path w="649604" h="576579">
                  <a:moveTo>
                    <a:pt x="0" y="288036"/>
                  </a:moveTo>
                  <a:lnTo>
                    <a:pt x="4247" y="241302"/>
                  </a:lnTo>
                  <a:lnTo>
                    <a:pt x="16544" y="196973"/>
                  </a:lnTo>
                  <a:lnTo>
                    <a:pt x="36223" y="155643"/>
                  </a:lnTo>
                  <a:lnTo>
                    <a:pt x="62618" y="117902"/>
                  </a:lnTo>
                  <a:lnTo>
                    <a:pt x="95059" y="84343"/>
                  </a:lnTo>
                  <a:lnTo>
                    <a:pt x="132880" y="55558"/>
                  </a:lnTo>
                  <a:lnTo>
                    <a:pt x="175413" y="32140"/>
                  </a:lnTo>
                  <a:lnTo>
                    <a:pt x="221991" y="14679"/>
                  </a:lnTo>
                  <a:lnTo>
                    <a:pt x="271947" y="3768"/>
                  </a:lnTo>
                  <a:lnTo>
                    <a:pt x="324612" y="0"/>
                  </a:lnTo>
                  <a:lnTo>
                    <a:pt x="377276" y="3768"/>
                  </a:lnTo>
                  <a:lnTo>
                    <a:pt x="427232" y="14679"/>
                  </a:lnTo>
                  <a:lnTo>
                    <a:pt x="473810" y="32140"/>
                  </a:lnTo>
                  <a:lnTo>
                    <a:pt x="516343" y="55558"/>
                  </a:lnTo>
                  <a:lnTo>
                    <a:pt x="554164" y="84343"/>
                  </a:lnTo>
                  <a:lnTo>
                    <a:pt x="586605" y="117902"/>
                  </a:lnTo>
                  <a:lnTo>
                    <a:pt x="613000" y="155643"/>
                  </a:lnTo>
                  <a:lnTo>
                    <a:pt x="632679" y="196973"/>
                  </a:lnTo>
                  <a:lnTo>
                    <a:pt x="644976" y="241302"/>
                  </a:lnTo>
                  <a:lnTo>
                    <a:pt x="649223" y="288036"/>
                  </a:lnTo>
                  <a:lnTo>
                    <a:pt x="644976" y="334769"/>
                  </a:lnTo>
                  <a:lnTo>
                    <a:pt x="632679" y="379098"/>
                  </a:lnTo>
                  <a:lnTo>
                    <a:pt x="613000" y="420428"/>
                  </a:lnTo>
                  <a:lnTo>
                    <a:pt x="586605" y="458169"/>
                  </a:lnTo>
                  <a:lnTo>
                    <a:pt x="554164" y="491728"/>
                  </a:lnTo>
                  <a:lnTo>
                    <a:pt x="516343" y="520513"/>
                  </a:lnTo>
                  <a:lnTo>
                    <a:pt x="473810" y="543931"/>
                  </a:lnTo>
                  <a:lnTo>
                    <a:pt x="427232" y="561392"/>
                  </a:lnTo>
                  <a:lnTo>
                    <a:pt x="377276" y="572303"/>
                  </a:lnTo>
                  <a:lnTo>
                    <a:pt x="324612" y="576072"/>
                  </a:lnTo>
                  <a:lnTo>
                    <a:pt x="271947" y="572303"/>
                  </a:lnTo>
                  <a:lnTo>
                    <a:pt x="221991" y="561392"/>
                  </a:lnTo>
                  <a:lnTo>
                    <a:pt x="175413" y="543931"/>
                  </a:lnTo>
                  <a:lnTo>
                    <a:pt x="132880" y="520513"/>
                  </a:lnTo>
                  <a:lnTo>
                    <a:pt x="95059" y="491728"/>
                  </a:lnTo>
                  <a:lnTo>
                    <a:pt x="62618" y="458169"/>
                  </a:lnTo>
                  <a:lnTo>
                    <a:pt x="36223" y="420428"/>
                  </a:lnTo>
                  <a:lnTo>
                    <a:pt x="16544" y="379098"/>
                  </a:lnTo>
                  <a:lnTo>
                    <a:pt x="4247" y="334769"/>
                  </a:lnTo>
                  <a:lnTo>
                    <a:pt x="0" y="288036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03750" y="2896361"/>
            <a:ext cx="2413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20" dirty="0">
                <a:latin typeface="Times New Roman"/>
                <a:cs typeface="Times New Roman"/>
              </a:rPr>
              <a:t>T1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83553" y="2775076"/>
            <a:ext cx="663575" cy="590550"/>
            <a:chOff x="6583553" y="2775076"/>
            <a:chExt cx="663575" cy="590550"/>
          </a:xfrm>
        </p:grpSpPr>
        <p:sp>
          <p:nvSpPr>
            <p:cNvPr id="9" name="object 9"/>
            <p:cNvSpPr/>
            <p:nvPr/>
          </p:nvSpPr>
          <p:spPr>
            <a:xfrm>
              <a:off x="6590538" y="2782061"/>
              <a:ext cx="649605" cy="576580"/>
            </a:xfrm>
            <a:custGeom>
              <a:avLst/>
              <a:gdLst/>
              <a:ahLst/>
              <a:cxnLst/>
              <a:rect l="l" t="t" r="r" b="b"/>
              <a:pathLst>
                <a:path w="649604" h="576579">
                  <a:moveTo>
                    <a:pt x="324611" y="0"/>
                  </a:moveTo>
                  <a:lnTo>
                    <a:pt x="271947" y="3768"/>
                  </a:lnTo>
                  <a:lnTo>
                    <a:pt x="221991" y="14679"/>
                  </a:lnTo>
                  <a:lnTo>
                    <a:pt x="175413" y="32140"/>
                  </a:lnTo>
                  <a:lnTo>
                    <a:pt x="132880" y="55558"/>
                  </a:lnTo>
                  <a:lnTo>
                    <a:pt x="95059" y="84343"/>
                  </a:lnTo>
                  <a:lnTo>
                    <a:pt x="62618" y="117902"/>
                  </a:lnTo>
                  <a:lnTo>
                    <a:pt x="36223" y="155643"/>
                  </a:lnTo>
                  <a:lnTo>
                    <a:pt x="16544" y="196973"/>
                  </a:lnTo>
                  <a:lnTo>
                    <a:pt x="4247" y="241302"/>
                  </a:lnTo>
                  <a:lnTo>
                    <a:pt x="0" y="288036"/>
                  </a:lnTo>
                  <a:lnTo>
                    <a:pt x="4247" y="334769"/>
                  </a:lnTo>
                  <a:lnTo>
                    <a:pt x="16544" y="379098"/>
                  </a:lnTo>
                  <a:lnTo>
                    <a:pt x="36223" y="420428"/>
                  </a:lnTo>
                  <a:lnTo>
                    <a:pt x="62618" y="458169"/>
                  </a:lnTo>
                  <a:lnTo>
                    <a:pt x="95059" y="491728"/>
                  </a:lnTo>
                  <a:lnTo>
                    <a:pt x="132880" y="520513"/>
                  </a:lnTo>
                  <a:lnTo>
                    <a:pt x="175413" y="543931"/>
                  </a:lnTo>
                  <a:lnTo>
                    <a:pt x="221991" y="561392"/>
                  </a:lnTo>
                  <a:lnTo>
                    <a:pt x="271947" y="572303"/>
                  </a:lnTo>
                  <a:lnTo>
                    <a:pt x="324611" y="576072"/>
                  </a:lnTo>
                  <a:lnTo>
                    <a:pt x="377276" y="572303"/>
                  </a:lnTo>
                  <a:lnTo>
                    <a:pt x="427232" y="561392"/>
                  </a:lnTo>
                  <a:lnTo>
                    <a:pt x="473810" y="543931"/>
                  </a:lnTo>
                  <a:lnTo>
                    <a:pt x="516343" y="520513"/>
                  </a:lnTo>
                  <a:lnTo>
                    <a:pt x="554164" y="491728"/>
                  </a:lnTo>
                  <a:lnTo>
                    <a:pt x="586605" y="458169"/>
                  </a:lnTo>
                  <a:lnTo>
                    <a:pt x="613000" y="420428"/>
                  </a:lnTo>
                  <a:lnTo>
                    <a:pt x="632679" y="379098"/>
                  </a:lnTo>
                  <a:lnTo>
                    <a:pt x="644976" y="334769"/>
                  </a:lnTo>
                  <a:lnTo>
                    <a:pt x="649223" y="288036"/>
                  </a:lnTo>
                  <a:lnTo>
                    <a:pt x="644976" y="241302"/>
                  </a:lnTo>
                  <a:lnTo>
                    <a:pt x="632679" y="196973"/>
                  </a:lnTo>
                  <a:lnTo>
                    <a:pt x="613000" y="155643"/>
                  </a:lnTo>
                  <a:lnTo>
                    <a:pt x="586605" y="117902"/>
                  </a:lnTo>
                  <a:lnTo>
                    <a:pt x="554164" y="84343"/>
                  </a:lnTo>
                  <a:lnTo>
                    <a:pt x="516343" y="55558"/>
                  </a:lnTo>
                  <a:lnTo>
                    <a:pt x="473810" y="32140"/>
                  </a:lnTo>
                  <a:lnTo>
                    <a:pt x="427232" y="14679"/>
                  </a:lnTo>
                  <a:lnTo>
                    <a:pt x="377276" y="3768"/>
                  </a:lnTo>
                  <a:lnTo>
                    <a:pt x="324611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90538" y="2782061"/>
              <a:ext cx="649605" cy="576580"/>
            </a:xfrm>
            <a:custGeom>
              <a:avLst/>
              <a:gdLst/>
              <a:ahLst/>
              <a:cxnLst/>
              <a:rect l="l" t="t" r="r" b="b"/>
              <a:pathLst>
                <a:path w="649604" h="576579">
                  <a:moveTo>
                    <a:pt x="0" y="288036"/>
                  </a:moveTo>
                  <a:lnTo>
                    <a:pt x="4247" y="241302"/>
                  </a:lnTo>
                  <a:lnTo>
                    <a:pt x="16544" y="196973"/>
                  </a:lnTo>
                  <a:lnTo>
                    <a:pt x="36223" y="155643"/>
                  </a:lnTo>
                  <a:lnTo>
                    <a:pt x="62618" y="117902"/>
                  </a:lnTo>
                  <a:lnTo>
                    <a:pt x="95059" y="84343"/>
                  </a:lnTo>
                  <a:lnTo>
                    <a:pt x="132880" y="55558"/>
                  </a:lnTo>
                  <a:lnTo>
                    <a:pt x="175413" y="32140"/>
                  </a:lnTo>
                  <a:lnTo>
                    <a:pt x="221991" y="14679"/>
                  </a:lnTo>
                  <a:lnTo>
                    <a:pt x="271947" y="3768"/>
                  </a:lnTo>
                  <a:lnTo>
                    <a:pt x="324611" y="0"/>
                  </a:lnTo>
                  <a:lnTo>
                    <a:pt x="377276" y="3768"/>
                  </a:lnTo>
                  <a:lnTo>
                    <a:pt x="427232" y="14679"/>
                  </a:lnTo>
                  <a:lnTo>
                    <a:pt x="473810" y="32140"/>
                  </a:lnTo>
                  <a:lnTo>
                    <a:pt x="516343" y="55558"/>
                  </a:lnTo>
                  <a:lnTo>
                    <a:pt x="554164" y="84343"/>
                  </a:lnTo>
                  <a:lnTo>
                    <a:pt x="586605" y="117902"/>
                  </a:lnTo>
                  <a:lnTo>
                    <a:pt x="613000" y="155643"/>
                  </a:lnTo>
                  <a:lnTo>
                    <a:pt x="632679" y="196973"/>
                  </a:lnTo>
                  <a:lnTo>
                    <a:pt x="644976" y="241302"/>
                  </a:lnTo>
                  <a:lnTo>
                    <a:pt x="649223" y="288036"/>
                  </a:lnTo>
                  <a:lnTo>
                    <a:pt x="644976" y="334769"/>
                  </a:lnTo>
                  <a:lnTo>
                    <a:pt x="632679" y="379098"/>
                  </a:lnTo>
                  <a:lnTo>
                    <a:pt x="613000" y="420428"/>
                  </a:lnTo>
                  <a:lnTo>
                    <a:pt x="586605" y="458169"/>
                  </a:lnTo>
                  <a:lnTo>
                    <a:pt x="554164" y="491728"/>
                  </a:lnTo>
                  <a:lnTo>
                    <a:pt x="516343" y="520513"/>
                  </a:lnTo>
                  <a:lnTo>
                    <a:pt x="473810" y="543931"/>
                  </a:lnTo>
                  <a:lnTo>
                    <a:pt x="427232" y="561392"/>
                  </a:lnTo>
                  <a:lnTo>
                    <a:pt x="377276" y="572303"/>
                  </a:lnTo>
                  <a:lnTo>
                    <a:pt x="324611" y="576072"/>
                  </a:lnTo>
                  <a:lnTo>
                    <a:pt x="271947" y="572303"/>
                  </a:lnTo>
                  <a:lnTo>
                    <a:pt x="221991" y="561392"/>
                  </a:lnTo>
                  <a:lnTo>
                    <a:pt x="175413" y="543931"/>
                  </a:lnTo>
                  <a:lnTo>
                    <a:pt x="132880" y="520513"/>
                  </a:lnTo>
                  <a:lnTo>
                    <a:pt x="95059" y="491728"/>
                  </a:lnTo>
                  <a:lnTo>
                    <a:pt x="62618" y="458169"/>
                  </a:lnTo>
                  <a:lnTo>
                    <a:pt x="36223" y="420428"/>
                  </a:lnTo>
                  <a:lnTo>
                    <a:pt x="16544" y="379098"/>
                  </a:lnTo>
                  <a:lnTo>
                    <a:pt x="4247" y="334769"/>
                  </a:lnTo>
                  <a:lnTo>
                    <a:pt x="0" y="288036"/>
                  </a:lnTo>
                  <a:close/>
                </a:path>
              </a:pathLst>
            </a:custGeom>
            <a:ln w="13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65163" y="2896361"/>
            <a:ext cx="24130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20" dirty="0">
                <a:latin typeface="Times New Roman"/>
                <a:cs typeface="Times New Roman"/>
              </a:rPr>
              <a:t>T2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73727" y="2199132"/>
            <a:ext cx="2320290" cy="1742439"/>
            <a:chOff x="4673727" y="2199132"/>
            <a:chExt cx="2320290" cy="1742439"/>
          </a:xfrm>
        </p:grpSpPr>
        <p:sp>
          <p:nvSpPr>
            <p:cNvPr id="13" name="object 13"/>
            <p:cNvSpPr/>
            <p:nvPr/>
          </p:nvSpPr>
          <p:spPr>
            <a:xfrm>
              <a:off x="5834507" y="3358134"/>
              <a:ext cx="1153160" cy="576580"/>
            </a:xfrm>
            <a:custGeom>
              <a:avLst/>
              <a:gdLst/>
              <a:ahLst/>
              <a:cxnLst/>
              <a:rect l="l" t="t" r="r" b="b"/>
              <a:pathLst>
                <a:path w="1153159" h="576579">
                  <a:moveTo>
                    <a:pt x="1041908" y="0"/>
                  </a:moveTo>
                  <a:lnTo>
                    <a:pt x="864869" y="144017"/>
                  </a:lnTo>
                  <a:lnTo>
                    <a:pt x="936878" y="144017"/>
                  </a:lnTo>
                  <a:lnTo>
                    <a:pt x="919960" y="176328"/>
                  </a:lnTo>
                  <a:lnTo>
                    <a:pt x="876698" y="238272"/>
                  </a:lnTo>
                  <a:lnTo>
                    <a:pt x="850574" y="267803"/>
                  </a:lnTo>
                  <a:lnTo>
                    <a:pt x="821602" y="296308"/>
                  </a:lnTo>
                  <a:lnTo>
                    <a:pt x="789892" y="323735"/>
                  </a:lnTo>
                  <a:lnTo>
                    <a:pt x="755553" y="350033"/>
                  </a:lnTo>
                  <a:lnTo>
                    <a:pt x="718697" y="375152"/>
                  </a:lnTo>
                  <a:lnTo>
                    <a:pt x="679433" y="399041"/>
                  </a:lnTo>
                  <a:lnTo>
                    <a:pt x="637871" y="421650"/>
                  </a:lnTo>
                  <a:lnTo>
                    <a:pt x="594121" y="442928"/>
                  </a:lnTo>
                  <a:lnTo>
                    <a:pt x="548295" y="462824"/>
                  </a:lnTo>
                  <a:lnTo>
                    <a:pt x="500501" y="481289"/>
                  </a:lnTo>
                  <a:lnTo>
                    <a:pt x="450849" y="498270"/>
                  </a:lnTo>
                  <a:lnTo>
                    <a:pt x="399451" y="513719"/>
                  </a:lnTo>
                  <a:lnTo>
                    <a:pt x="346416" y="527583"/>
                  </a:lnTo>
                  <a:lnTo>
                    <a:pt x="291854" y="539813"/>
                  </a:lnTo>
                  <a:lnTo>
                    <a:pt x="235876" y="550358"/>
                  </a:lnTo>
                  <a:lnTo>
                    <a:pt x="178591" y="559167"/>
                  </a:lnTo>
                  <a:lnTo>
                    <a:pt x="120110" y="566190"/>
                  </a:lnTo>
                  <a:lnTo>
                    <a:pt x="60543" y="571376"/>
                  </a:lnTo>
                  <a:lnTo>
                    <a:pt x="0" y="574674"/>
                  </a:lnTo>
                  <a:lnTo>
                    <a:pt x="59865" y="576022"/>
                  </a:lnTo>
                  <a:lnTo>
                    <a:pt x="119176" y="575489"/>
                  </a:lnTo>
                  <a:lnTo>
                    <a:pt x="177823" y="573121"/>
                  </a:lnTo>
                  <a:lnTo>
                    <a:pt x="235699" y="568959"/>
                  </a:lnTo>
                  <a:lnTo>
                    <a:pt x="292695" y="563048"/>
                  </a:lnTo>
                  <a:lnTo>
                    <a:pt x="348702" y="555431"/>
                  </a:lnTo>
                  <a:lnTo>
                    <a:pt x="403613" y="546150"/>
                  </a:lnTo>
                  <a:lnTo>
                    <a:pt x="457317" y="535250"/>
                  </a:lnTo>
                  <a:lnTo>
                    <a:pt x="509708" y="522773"/>
                  </a:lnTo>
                  <a:lnTo>
                    <a:pt x="560677" y="508763"/>
                  </a:lnTo>
                  <a:lnTo>
                    <a:pt x="610115" y="493262"/>
                  </a:lnTo>
                  <a:lnTo>
                    <a:pt x="657913" y="476315"/>
                  </a:lnTo>
                  <a:lnTo>
                    <a:pt x="703964" y="457964"/>
                  </a:lnTo>
                  <a:lnTo>
                    <a:pt x="748159" y="438252"/>
                  </a:lnTo>
                  <a:lnTo>
                    <a:pt x="790389" y="417224"/>
                  </a:lnTo>
                  <a:lnTo>
                    <a:pt x="830545" y="394922"/>
                  </a:lnTo>
                  <a:lnTo>
                    <a:pt x="868521" y="371389"/>
                  </a:lnTo>
                  <a:lnTo>
                    <a:pt x="904206" y="346669"/>
                  </a:lnTo>
                  <a:lnTo>
                    <a:pt x="937492" y="320805"/>
                  </a:lnTo>
                  <a:lnTo>
                    <a:pt x="968272" y="293840"/>
                  </a:lnTo>
                  <a:lnTo>
                    <a:pt x="996436" y="265817"/>
                  </a:lnTo>
                  <a:lnTo>
                    <a:pt x="1021876" y="236781"/>
                  </a:lnTo>
                  <a:lnTo>
                    <a:pt x="1064152" y="175838"/>
                  </a:lnTo>
                  <a:lnTo>
                    <a:pt x="1080769" y="144017"/>
                  </a:lnTo>
                  <a:lnTo>
                    <a:pt x="1152651" y="144017"/>
                  </a:lnTo>
                  <a:lnTo>
                    <a:pt x="1041908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20590" y="3358134"/>
              <a:ext cx="1186180" cy="576580"/>
            </a:xfrm>
            <a:custGeom>
              <a:avLst/>
              <a:gdLst/>
              <a:ahLst/>
              <a:cxnLst/>
              <a:rect l="l" t="t" r="r" b="b"/>
              <a:pathLst>
                <a:path w="1186179" h="576579">
                  <a:moveTo>
                    <a:pt x="143890" y="0"/>
                  </a:moveTo>
                  <a:lnTo>
                    <a:pt x="0" y="0"/>
                  </a:lnTo>
                  <a:lnTo>
                    <a:pt x="1768" y="33846"/>
                  </a:lnTo>
                  <a:lnTo>
                    <a:pt x="15624" y="99941"/>
                  </a:lnTo>
                  <a:lnTo>
                    <a:pt x="42588" y="163544"/>
                  </a:lnTo>
                  <a:lnTo>
                    <a:pt x="81877" y="224224"/>
                  </a:lnTo>
                  <a:lnTo>
                    <a:pt x="132709" y="281548"/>
                  </a:lnTo>
                  <a:lnTo>
                    <a:pt x="162210" y="308816"/>
                  </a:lnTo>
                  <a:lnTo>
                    <a:pt x="194304" y="335083"/>
                  </a:lnTo>
                  <a:lnTo>
                    <a:pt x="228893" y="360294"/>
                  </a:lnTo>
                  <a:lnTo>
                    <a:pt x="265879" y="384397"/>
                  </a:lnTo>
                  <a:lnTo>
                    <a:pt x="305165" y="407336"/>
                  </a:lnTo>
                  <a:lnTo>
                    <a:pt x="346652" y="429058"/>
                  </a:lnTo>
                  <a:lnTo>
                    <a:pt x="390244" y="449508"/>
                  </a:lnTo>
                  <a:lnTo>
                    <a:pt x="435843" y="468633"/>
                  </a:lnTo>
                  <a:lnTo>
                    <a:pt x="483350" y="486379"/>
                  </a:lnTo>
                  <a:lnTo>
                    <a:pt x="532668" y="502691"/>
                  </a:lnTo>
                  <a:lnTo>
                    <a:pt x="583700" y="517515"/>
                  </a:lnTo>
                  <a:lnTo>
                    <a:pt x="636347" y="530798"/>
                  </a:lnTo>
                  <a:lnTo>
                    <a:pt x="690512" y="542485"/>
                  </a:lnTo>
                  <a:lnTo>
                    <a:pt x="746097" y="552522"/>
                  </a:lnTo>
                  <a:lnTo>
                    <a:pt x="803005" y="560856"/>
                  </a:lnTo>
                  <a:lnTo>
                    <a:pt x="861138" y="567432"/>
                  </a:lnTo>
                  <a:lnTo>
                    <a:pt x="920398" y="572196"/>
                  </a:lnTo>
                  <a:lnTo>
                    <a:pt x="980687" y="575094"/>
                  </a:lnTo>
                  <a:lnTo>
                    <a:pt x="1041908" y="576071"/>
                  </a:lnTo>
                  <a:lnTo>
                    <a:pt x="1185799" y="576071"/>
                  </a:lnTo>
                  <a:lnTo>
                    <a:pt x="1124578" y="575094"/>
                  </a:lnTo>
                  <a:lnTo>
                    <a:pt x="1064289" y="572196"/>
                  </a:lnTo>
                  <a:lnTo>
                    <a:pt x="1005029" y="567432"/>
                  </a:lnTo>
                  <a:lnTo>
                    <a:pt x="946896" y="560856"/>
                  </a:lnTo>
                  <a:lnTo>
                    <a:pt x="889988" y="552522"/>
                  </a:lnTo>
                  <a:lnTo>
                    <a:pt x="834403" y="542485"/>
                  </a:lnTo>
                  <a:lnTo>
                    <a:pt x="780238" y="530798"/>
                  </a:lnTo>
                  <a:lnTo>
                    <a:pt x="727591" y="517515"/>
                  </a:lnTo>
                  <a:lnTo>
                    <a:pt x="676559" y="502691"/>
                  </a:lnTo>
                  <a:lnTo>
                    <a:pt x="627241" y="486379"/>
                  </a:lnTo>
                  <a:lnTo>
                    <a:pt x="579734" y="468633"/>
                  </a:lnTo>
                  <a:lnTo>
                    <a:pt x="534135" y="449508"/>
                  </a:lnTo>
                  <a:lnTo>
                    <a:pt x="490543" y="429058"/>
                  </a:lnTo>
                  <a:lnTo>
                    <a:pt x="449056" y="407336"/>
                  </a:lnTo>
                  <a:lnTo>
                    <a:pt x="409770" y="384397"/>
                  </a:lnTo>
                  <a:lnTo>
                    <a:pt x="372784" y="360294"/>
                  </a:lnTo>
                  <a:lnTo>
                    <a:pt x="338195" y="335083"/>
                  </a:lnTo>
                  <a:lnTo>
                    <a:pt x="306101" y="308816"/>
                  </a:lnTo>
                  <a:lnTo>
                    <a:pt x="276600" y="281548"/>
                  </a:lnTo>
                  <a:lnTo>
                    <a:pt x="249790" y="253332"/>
                  </a:lnTo>
                  <a:lnTo>
                    <a:pt x="204632" y="194277"/>
                  </a:lnTo>
                  <a:lnTo>
                    <a:pt x="171408" y="132081"/>
                  </a:lnTo>
                  <a:lnTo>
                    <a:pt x="150900" y="67178"/>
                  </a:lnTo>
                  <a:lnTo>
                    <a:pt x="145659" y="33846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00A3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20590" y="3358134"/>
              <a:ext cx="2266950" cy="576580"/>
            </a:xfrm>
            <a:custGeom>
              <a:avLst/>
              <a:gdLst/>
              <a:ahLst/>
              <a:cxnLst/>
              <a:rect l="l" t="t" r="r" b="b"/>
              <a:pathLst>
                <a:path w="2266950" h="576579">
                  <a:moveTo>
                    <a:pt x="1113917" y="574674"/>
                  </a:moveTo>
                  <a:lnTo>
                    <a:pt x="1174460" y="571376"/>
                  </a:lnTo>
                  <a:lnTo>
                    <a:pt x="1234027" y="566190"/>
                  </a:lnTo>
                  <a:lnTo>
                    <a:pt x="1292508" y="559167"/>
                  </a:lnTo>
                  <a:lnTo>
                    <a:pt x="1349793" y="550358"/>
                  </a:lnTo>
                  <a:lnTo>
                    <a:pt x="1405771" y="539813"/>
                  </a:lnTo>
                  <a:lnTo>
                    <a:pt x="1460333" y="527583"/>
                  </a:lnTo>
                  <a:lnTo>
                    <a:pt x="1513368" y="513719"/>
                  </a:lnTo>
                  <a:lnTo>
                    <a:pt x="1564766" y="498270"/>
                  </a:lnTo>
                  <a:lnTo>
                    <a:pt x="1614418" y="481289"/>
                  </a:lnTo>
                  <a:lnTo>
                    <a:pt x="1662212" y="462824"/>
                  </a:lnTo>
                  <a:lnTo>
                    <a:pt x="1708038" y="442928"/>
                  </a:lnTo>
                  <a:lnTo>
                    <a:pt x="1751788" y="421650"/>
                  </a:lnTo>
                  <a:lnTo>
                    <a:pt x="1793350" y="399041"/>
                  </a:lnTo>
                  <a:lnTo>
                    <a:pt x="1832614" y="375152"/>
                  </a:lnTo>
                  <a:lnTo>
                    <a:pt x="1869470" y="350033"/>
                  </a:lnTo>
                  <a:lnTo>
                    <a:pt x="1903809" y="323735"/>
                  </a:lnTo>
                  <a:lnTo>
                    <a:pt x="1935519" y="296308"/>
                  </a:lnTo>
                  <a:lnTo>
                    <a:pt x="1964491" y="267803"/>
                  </a:lnTo>
                  <a:lnTo>
                    <a:pt x="1990615" y="238272"/>
                  </a:lnTo>
                  <a:lnTo>
                    <a:pt x="2013781" y="207763"/>
                  </a:lnTo>
                  <a:lnTo>
                    <a:pt x="2050795" y="144017"/>
                  </a:lnTo>
                  <a:lnTo>
                    <a:pt x="1978787" y="144017"/>
                  </a:lnTo>
                  <a:lnTo>
                    <a:pt x="2155825" y="0"/>
                  </a:lnTo>
                  <a:lnTo>
                    <a:pt x="2266568" y="144017"/>
                  </a:lnTo>
                  <a:lnTo>
                    <a:pt x="2194687" y="144017"/>
                  </a:lnTo>
                  <a:lnTo>
                    <a:pt x="2178317" y="175408"/>
                  </a:lnTo>
                  <a:lnTo>
                    <a:pt x="2136730" y="235617"/>
                  </a:lnTo>
                  <a:lnTo>
                    <a:pt x="2084027" y="292105"/>
                  </a:lnTo>
                  <a:lnTo>
                    <a:pt x="2053764" y="318843"/>
                  </a:lnTo>
                  <a:lnTo>
                    <a:pt x="2021030" y="344519"/>
                  </a:lnTo>
                  <a:lnTo>
                    <a:pt x="1985927" y="369090"/>
                  </a:lnTo>
                  <a:lnTo>
                    <a:pt x="1948558" y="392511"/>
                  </a:lnTo>
                  <a:lnTo>
                    <a:pt x="1909025" y="414738"/>
                  </a:lnTo>
                  <a:lnTo>
                    <a:pt x="1867431" y="435728"/>
                  </a:lnTo>
                  <a:lnTo>
                    <a:pt x="1823878" y="455437"/>
                  </a:lnTo>
                  <a:lnTo>
                    <a:pt x="1778470" y="473822"/>
                  </a:lnTo>
                  <a:lnTo>
                    <a:pt x="1731308" y="490837"/>
                  </a:lnTo>
                  <a:lnTo>
                    <a:pt x="1682495" y="506440"/>
                  </a:lnTo>
                  <a:lnTo>
                    <a:pt x="1632133" y="520587"/>
                  </a:lnTo>
                  <a:lnTo>
                    <a:pt x="1580325" y="533233"/>
                  </a:lnTo>
                  <a:lnTo>
                    <a:pt x="1527175" y="544335"/>
                  </a:lnTo>
                  <a:lnTo>
                    <a:pt x="1472783" y="553850"/>
                  </a:lnTo>
                  <a:lnTo>
                    <a:pt x="1417252" y="561733"/>
                  </a:lnTo>
                  <a:lnTo>
                    <a:pt x="1360686" y="567940"/>
                  </a:lnTo>
                  <a:lnTo>
                    <a:pt x="1303187" y="572428"/>
                  </a:lnTo>
                  <a:lnTo>
                    <a:pt x="1244857" y="575153"/>
                  </a:lnTo>
                  <a:lnTo>
                    <a:pt x="1185799" y="576071"/>
                  </a:lnTo>
                  <a:lnTo>
                    <a:pt x="1041908" y="576071"/>
                  </a:lnTo>
                  <a:lnTo>
                    <a:pt x="980687" y="575094"/>
                  </a:lnTo>
                  <a:lnTo>
                    <a:pt x="920398" y="572196"/>
                  </a:lnTo>
                  <a:lnTo>
                    <a:pt x="861138" y="567432"/>
                  </a:lnTo>
                  <a:lnTo>
                    <a:pt x="803005" y="560856"/>
                  </a:lnTo>
                  <a:lnTo>
                    <a:pt x="746097" y="552522"/>
                  </a:lnTo>
                  <a:lnTo>
                    <a:pt x="690512" y="542485"/>
                  </a:lnTo>
                  <a:lnTo>
                    <a:pt x="636347" y="530798"/>
                  </a:lnTo>
                  <a:lnTo>
                    <a:pt x="583700" y="517515"/>
                  </a:lnTo>
                  <a:lnTo>
                    <a:pt x="532668" y="502691"/>
                  </a:lnTo>
                  <a:lnTo>
                    <a:pt x="483350" y="486379"/>
                  </a:lnTo>
                  <a:lnTo>
                    <a:pt x="435843" y="468633"/>
                  </a:lnTo>
                  <a:lnTo>
                    <a:pt x="390244" y="449508"/>
                  </a:lnTo>
                  <a:lnTo>
                    <a:pt x="346652" y="429058"/>
                  </a:lnTo>
                  <a:lnTo>
                    <a:pt x="305165" y="407336"/>
                  </a:lnTo>
                  <a:lnTo>
                    <a:pt x="265879" y="384397"/>
                  </a:lnTo>
                  <a:lnTo>
                    <a:pt x="228893" y="360294"/>
                  </a:lnTo>
                  <a:lnTo>
                    <a:pt x="194304" y="335083"/>
                  </a:lnTo>
                  <a:lnTo>
                    <a:pt x="162210" y="308816"/>
                  </a:lnTo>
                  <a:lnTo>
                    <a:pt x="132709" y="281548"/>
                  </a:lnTo>
                  <a:lnTo>
                    <a:pt x="105899" y="253332"/>
                  </a:lnTo>
                  <a:lnTo>
                    <a:pt x="60741" y="194277"/>
                  </a:lnTo>
                  <a:lnTo>
                    <a:pt x="27517" y="132081"/>
                  </a:lnTo>
                  <a:lnTo>
                    <a:pt x="7009" y="67178"/>
                  </a:lnTo>
                  <a:lnTo>
                    <a:pt x="0" y="0"/>
                  </a:lnTo>
                  <a:lnTo>
                    <a:pt x="143890" y="0"/>
                  </a:lnTo>
                  <a:lnTo>
                    <a:pt x="145659" y="33846"/>
                  </a:lnTo>
                  <a:lnTo>
                    <a:pt x="150900" y="67178"/>
                  </a:lnTo>
                  <a:lnTo>
                    <a:pt x="171408" y="132081"/>
                  </a:lnTo>
                  <a:lnTo>
                    <a:pt x="204632" y="194277"/>
                  </a:lnTo>
                  <a:lnTo>
                    <a:pt x="249790" y="253332"/>
                  </a:lnTo>
                  <a:lnTo>
                    <a:pt x="276600" y="281548"/>
                  </a:lnTo>
                  <a:lnTo>
                    <a:pt x="306101" y="308816"/>
                  </a:lnTo>
                  <a:lnTo>
                    <a:pt x="338195" y="335083"/>
                  </a:lnTo>
                  <a:lnTo>
                    <a:pt x="372784" y="360294"/>
                  </a:lnTo>
                  <a:lnTo>
                    <a:pt x="409770" y="384397"/>
                  </a:lnTo>
                  <a:lnTo>
                    <a:pt x="449056" y="407336"/>
                  </a:lnTo>
                  <a:lnTo>
                    <a:pt x="490543" y="429058"/>
                  </a:lnTo>
                  <a:lnTo>
                    <a:pt x="534135" y="449508"/>
                  </a:lnTo>
                  <a:lnTo>
                    <a:pt x="579734" y="468633"/>
                  </a:lnTo>
                  <a:lnTo>
                    <a:pt x="627241" y="486379"/>
                  </a:lnTo>
                  <a:lnTo>
                    <a:pt x="676559" y="502691"/>
                  </a:lnTo>
                  <a:lnTo>
                    <a:pt x="727591" y="517515"/>
                  </a:lnTo>
                  <a:lnTo>
                    <a:pt x="780238" y="530798"/>
                  </a:lnTo>
                  <a:lnTo>
                    <a:pt x="834403" y="542485"/>
                  </a:lnTo>
                  <a:lnTo>
                    <a:pt x="889988" y="552522"/>
                  </a:lnTo>
                  <a:lnTo>
                    <a:pt x="946896" y="560856"/>
                  </a:lnTo>
                  <a:lnTo>
                    <a:pt x="1005029" y="567432"/>
                  </a:lnTo>
                  <a:lnTo>
                    <a:pt x="1064289" y="572196"/>
                  </a:lnTo>
                  <a:lnTo>
                    <a:pt x="1124578" y="575094"/>
                  </a:lnTo>
                  <a:lnTo>
                    <a:pt x="1185799" y="576071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80585" y="2206039"/>
              <a:ext cx="1155065" cy="576580"/>
            </a:xfrm>
            <a:custGeom>
              <a:avLst/>
              <a:gdLst/>
              <a:ahLst/>
              <a:cxnLst/>
              <a:rect l="l" t="t" r="r" b="b"/>
              <a:pathLst>
                <a:path w="1155064" h="576580">
                  <a:moveTo>
                    <a:pt x="1095063" y="0"/>
                  </a:moveTo>
                  <a:lnTo>
                    <a:pt x="1035619" y="532"/>
                  </a:lnTo>
                  <a:lnTo>
                    <a:pt x="976841" y="2900"/>
                  </a:lnTo>
                  <a:lnTo>
                    <a:pt x="918837" y="7062"/>
                  </a:lnTo>
                  <a:lnTo>
                    <a:pt x="861717" y="12973"/>
                  </a:lnTo>
                  <a:lnTo>
                    <a:pt x="805588" y="20590"/>
                  </a:lnTo>
                  <a:lnTo>
                    <a:pt x="750559" y="29871"/>
                  </a:lnTo>
                  <a:lnTo>
                    <a:pt x="696740" y="40771"/>
                  </a:lnTo>
                  <a:lnTo>
                    <a:pt x="644238" y="53248"/>
                  </a:lnTo>
                  <a:lnTo>
                    <a:pt x="593162" y="67259"/>
                  </a:lnTo>
                  <a:lnTo>
                    <a:pt x="543620" y="82759"/>
                  </a:lnTo>
                  <a:lnTo>
                    <a:pt x="495722" y="99706"/>
                  </a:lnTo>
                  <a:lnTo>
                    <a:pt x="449576" y="118057"/>
                  </a:lnTo>
                  <a:lnTo>
                    <a:pt x="405291" y="137769"/>
                  </a:lnTo>
                  <a:lnTo>
                    <a:pt x="362975" y="158797"/>
                  </a:lnTo>
                  <a:lnTo>
                    <a:pt x="322736" y="181099"/>
                  </a:lnTo>
                  <a:lnTo>
                    <a:pt x="284684" y="204632"/>
                  </a:lnTo>
                  <a:lnTo>
                    <a:pt x="248927" y="229352"/>
                  </a:lnTo>
                  <a:lnTo>
                    <a:pt x="215573" y="255216"/>
                  </a:lnTo>
                  <a:lnTo>
                    <a:pt x="184732" y="282181"/>
                  </a:lnTo>
                  <a:lnTo>
                    <a:pt x="156511" y="310204"/>
                  </a:lnTo>
                  <a:lnTo>
                    <a:pt x="131020" y="339240"/>
                  </a:lnTo>
                  <a:lnTo>
                    <a:pt x="88660" y="400184"/>
                  </a:lnTo>
                  <a:lnTo>
                    <a:pt x="72009" y="432004"/>
                  </a:lnTo>
                  <a:lnTo>
                    <a:pt x="0" y="432004"/>
                  </a:lnTo>
                  <a:lnTo>
                    <a:pt x="110870" y="576022"/>
                  </a:lnTo>
                  <a:lnTo>
                    <a:pt x="288036" y="432004"/>
                  </a:lnTo>
                  <a:lnTo>
                    <a:pt x="216026" y="432004"/>
                  </a:lnTo>
                  <a:lnTo>
                    <a:pt x="232982" y="399677"/>
                  </a:lnTo>
                  <a:lnTo>
                    <a:pt x="276339" y="337705"/>
                  </a:lnTo>
                  <a:lnTo>
                    <a:pt x="302519" y="308161"/>
                  </a:lnTo>
                  <a:lnTo>
                    <a:pt x="331553" y="279646"/>
                  </a:lnTo>
                  <a:lnTo>
                    <a:pt x="363332" y="252211"/>
                  </a:lnTo>
                  <a:lnTo>
                    <a:pt x="397744" y="225906"/>
                  </a:lnTo>
                  <a:lnTo>
                    <a:pt x="434681" y="200781"/>
                  </a:lnTo>
                  <a:lnTo>
                    <a:pt x="474030" y="176888"/>
                  </a:lnTo>
                  <a:lnTo>
                    <a:pt x="515684" y="154277"/>
                  </a:lnTo>
                  <a:lnTo>
                    <a:pt x="559530" y="132998"/>
                  </a:lnTo>
                  <a:lnTo>
                    <a:pt x="605459" y="113102"/>
                  </a:lnTo>
                  <a:lnTo>
                    <a:pt x="653361" y="94640"/>
                  </a:lnTo>
                  <a:lnTo>
                    <a:pt x="703125" y="77663"/>
                  </a:lnTo>
                  <a:lnTo>
                    <a:pt x="754642" y="62220"/>
                  </a:lnTo>
                  <a:lnTo>
                    <a:pt x="807800" y="48362"/>
                  </a:lnTo>
                  <a:lnTo>
                    <a:pt x="862491" y="36141"/>
                  </a:lnTo>
                  <a:lnTo>
                    <a:pt x="918603" y="25607"/>
                  </a:lnTo>
                  <a:lnTo>
                    <a:pt x="976027" y="16809"/>
                  </a:lnTo>
                  <a:lnTo>
                    <a:pt x="1034652" y="9800"/>
                  </a:lnTo>
                  <a:lnTo>
                    <a:pt x="1094368" y="4629"/>
                  </a:lnTo>
                  <a:lnTo>
                    <a:pt x="1155064" y="1347"/>
                  </a:lnTo>
                  <a:lnTo>
                    <a:pt x="1095063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763514" y="2205990"/>
              <a:ext cx="1188720" cy="576580"/>
            </a:xfrm>
            <a:custGeom>
              <a:avLst/>
              <a:gdLst/>
              <a:ahLst/>
              <a:cxnLst/>
              <a:rect l="l" t="t" r="r" b="b"/>
              <a:pathLst>
                <a:path w="1188720" h="576580">
                  <a:moveTo>
                    <a:pt x="144018" y="0"/>
                  </a:moveTo>
                  <a:lnTo>
                    <a:pt x="0" y="0"/>
                  </a:lnTo>
                  <a:lnTo>
                    <a:pt x="61355" y="977"/>
                  </a:lnTo>
                  <a:lnTo>
                    <a:pt x="121777" y="3875"/>
                  </a:lnTo>
                  <a:lnTo>
                    <a:pt x="181168" y="8639"/>
                  </a:lnTo>
                  <a:lnTo>
                    <a:pt x="239428" y="15215"/>
                  </a:lnTo>
                  <a:lnTo>
                    <a:pt x="296461" y="23549"/>
                  </a:lnTo>
                  <a:lnTo>
                    <a:pt x="352169" y="33586"/>
                  </a:lnTo>
                  <a:lnTo>
                    <a:pt x="406453" y="45273"/>
                  </a:lnTo>
                  <a:lnTo>
                    <a:pt x="459216" y="58556"/>
                  </a:lnTo>
                  <a:lnTo>
                    <a:pt x="510360" y="73380"/>
                  </a:lnTo>
                  <a:lnTo>
                    <a:pt x="559786" y="89692"/>
                  </a:lnTo>
                  <a:lnTo>
                    <a:pt x="607397" y="107438"/>
                  </a:lnTo>
                  <a:lnTo>
                    <a:pt x="653096" y="126563"/>
                  </a:lnTo>
                  <a:lnTo>
                    <a:pt x="696783" y="147013"/>
                  </a:lnTo>
                  <a:lnTo>
                    <a:pt x="738362" y="168735"/>
                  </a:lnTo>
                  <a:lnTo>
                    <a:pt x="777733" y="191674"/>
                  </a:lnTo>
                  <a:lnTo>
                    <a:pt x="814800" y="215777"/>
                  </a:lnTo>
                  <a:lnTo>
                    <a:pt x="849465" y="240988"/>
                  </a:lnTo>
                  <a:lnTo>
                    <a:pt x="881629" y="267255"/>
                  </a:lnTo>
                  <a:lnTo>
                    <a:pt x="911194" y="294523"/>
                  </a:lnTo>
                  <a:lnTo>
                    <a:pt x="938063" y="322739"/>
                  </a:lnTo>
                  <a:lnTo>
                    <a:pt x="983320" y="381794"/>
                  </a:lnTo>
                  <a:lnTo>
                    <a:pt x="1016616" y="443990"/>
                  </a:lnTo>
                  <a:lnTo>
                    <a:pt x="1037169" y="508893"/>
                  </a:lnTo>
                  <a:lnTo>
                    <a:pt x="1044193" y="576072"/>
                  </a:lnTo>
                  <a:lnTo>
                    <a:pt x="1188212" y="576072"/>
                  </a:lnTo>
                  <a:lnTo>
                    <a:pt x="1181187" y="508893"/>
                  </a:lnTo>
                  <a:lnTo>
                    <a:pt x="1160634" y="443990"/>
                  </a:lnTo>
                  <a:lnTo>
                    <a:pt x="1127338" y="381794"/>
                  </a:lnTo>
                  <a:lnTo>
                    <a:pt x="1082081" y="322739"/>
                  </a:lnTo>
                  <a:lnTo>
                    <a:pt x="1055212" y="294523"/>
                  </a:lnTo>
                  <a:lnTo>
                    <a:pt x="1025647" y="267255"/>
                  </a:lnTo>
                  <a:lnTo>
                    <a:pt x="993483" y="240988"/>
                  </a:lnTo>
                  <a:lnTo>
                    <a:pt x="958818" y="215777"/>
                  </a:lnTo>
                  <a:lnTo>
                    <a:pt x="921751" y="191674"/>
                  </a:lnTo>
                  <a:lnTo>
                    <a:pt x="882380" y="168735"/>
                  </a:lnTo>
                  <a:lnTo>
                    <a:pt x="840801" y="147013"/>
                  </a:lnTo>
                  <a:lnTo>
                    <a:pt x="797114" y="126563"/>
                  </a:lnTo>
                  <a:lnTo>
                    <a:pt x="751415" y="107438"/>
                  </a:lnTo>
                  <a:lnTo>
                    <a:pt x="703804" y="89692"/>
                  </a:lnTo>
                  <a:lnTo>
                    <a:pt x="654378" y="73380"/>
                  </a:lnTo>
                  <a:lnTo>
                    <a:pt x="603234" y="58556"/>
                  </a:lnTo>
                  <a:lnTo>
                    <a:pt x="550471" y="45273"/>
                  </a:lnTo>
                  <a:lnTo>
                    <a:pt x="496187" y="33586"/>
                  </a:lnTo>
                  <a:lnTo>
                    <a:pt x="440479" y="23549"/>
                  </a:lnTo>
                  <a:lnTo>
                    <a:pt x="383446" y="15215"/>
                  </a:lnTo>
                  <a:lnTo>
                    <a:pt x="325186" y="8639"/>
                  </a:lnTo>
                  <a:lnTo>
                    <a:pt x="265795" y="3875"/>
                  </a:lnTo>
                  <a:lnTo>
                    <a:pt x="205373" y="977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00A3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80585" y="2205990"/>
              <a:ext cx="2271395" cy="576580"/>
            </a:xfrm>
            <a:custGeom>
              <a:avLst/>
              <a:gdLst/>
              <a:ahLst/>
              <a:cxnLst/>
              <a:rect l="l" t="t" r="r" b="b"/>
              <a:pathLst>
                <a:path w="2271395" h="576580">
                  <a:moveTo>
                    <a:pt x="1154938" y="1397"/>
                  </a:moveTo>
                  <a:lnTo>
                    <a:pt x="1094257" y="4679"/>
                  </a:lnTo>
                  <a:lnTo>
                    <a:pt x="1034556" y="9850"/>
                  </a:lnTo>
                  <a:lnTo>
                    <a:pt x="975945" y="16859"/>
                  </a:lnTo>
                  <a:lnTo>
                    <a:pt x="918534" y="25656"/>
                  </a:lnTo>
                  <a:lnTo>
                    <a:pt x="862432" y="36191"/>
                  </a:lnTo>
                  <a:lnTo>
                    <a:pt x="807751" y="48412"/>
                  </a:lnTo>
                  <a:lnTo>
                    <a:pt x="754601" y="62270"/>
                  </a:lnTo>
                  <a:lnTo>
                    <a:pt x="703092" y="77713"/>
                  </a:lnTo>
                  <a:lnTo>
                    <a:pt x="653335" y="94690"/>
                  </a:lnTo>
                  <a:lnTo>
                    <a:pt x="605438" y="113152"/>
                  </a:lnTo>
                  <a:lnTo>
                    <a:pt x="559514" y="133048"/>
                  </a:lnTo>
                  <a:lnTo>
                    <a:pt x="515672" y="154327"/>
                  </a:lnTo>
                  <a:lnTo>
                    <a:pt x="474022" y="176938"/>
                  </a:lnTo>
                  <a:lnTo>
                    <a:pt x="434675" y="200831"/>
                  </a:lnTo>
                  <a:lnTo>
                    <a:pt x="397740" y="225956"/>
                  </a:lnTo>
                  <a:lnTo>
                    <a:pt x="363329" y="252261"/>
                  </a:lnTo>
                  <a:lnTo>
                    <a:pt x="331552" y="279696"/>
                  </a:lnTo>
                  <a:lnTo>
                    <a:pt x="302518" y="308211"/>
                  </a:lnTo>
                  <a:lnTo>
                    <a:pt x="276338" y="337755"/>
                  </a:lnTo>
                  <a:lnTo>
                    <a:pt x="253123" y="368277"/>
                  </a:lnTo>
                  <a:lnTo>
                    <a:pt x="216026" y="432054"/>
                  </a:lnTo>
                  <a:lnTo>
                    <a:pt x="288036" y="432054"/>
                  </a:lnTo>
                  <a:lnTo>
                    <a:pt x="110870" y="576072"/>
                  </a:lnTo>
                  <a:lnTo>
                    <a:pt x="0" y="432054"/>
                  </a:lnTo>
                  <a:lnTo>
                    <a:pt x="72009" y="432054"/>
                  </a:lnTo>
                  <a:lnTo>
                    <a:pt x="88413" y="400663"/>
                  </a:lnTo>
                  <a:lnTo>
                    <a:pt x="130089" y="340454"/>
                  </a:lnTo>
                  <a:lnTo>
                    <a:pt x="155156" y="311723"/>
                  </a:lnTo>
                  <a:lnTo>
                    <a:pt x="182905" y="283966"/>
                  </a:lnTo>
                  <a:lnTo>
                    <a:pt x="213232" y="257228"/>
                  </a:lnTo>
                  <a:lnTo>
                    <a:pt x="246037" y="231552"/>
                  </a:lnTo>
                  <a:lnTo>
                    <a:pt x="281215" y="206981"/>
                  </a:lnTo>
                  <a:lnTo>
                    <a:pt x="318664" y="183560"/>
                  </a:lnTo>
                  <a:lnTo>
                    <a:pt x="358282" y="161333"/>
                  </a:lnTo>
                  <a:lnTo>
                    <a:pt x="399965" y="140343"/>
                  </a:lnTo>
                  <a:lnTo>
                    <a:pt x="443610" y="120634"/>
                  </a:lnTo>
                  <a:lnTo>
                    <a:pt x="489116" y="102249"/>
                  </a:lnTo>
                  <a:lnTo>
                    <a:pt x="536379" y="85234"/>
                  </a:lnTo>
                  <a:lnTo>
                    <a:pt x="585297" y="69631"/>
                  </a:lnTo>
                  <a:lnTo>
                    <a:pt x="635766" y="55484"/>
                  </a:lnTo>
                  <a:lnTo>
                    <a:pt x="687685" y="42838"/>
                  </a:lnTo>
                  <a:lnTo>
                    <a:pt x="740949" y="31736"/>
                  </a:lnTo>
                  <a:lnTo>
                    <a:pt x="795457" y="22221"/>
                  </a:lnTo>
                  <a:lnTo>
                    <a:pt x="851106" y="14338"/>
                  </a:lnTo>
                  <a:lnTo>
                    <a:pt x="907794" y="8131"/>
                  </a:lnTo>
                  <a:lnTo>
                    <a:pt x="965416" y="3643"/>
                  </a:lnTo>
                  <a:lnTo>
                    <a:pt x="1023871" y="918"/>
                  </a:lnTo>
                  <a:lnTo>
                    <a:pt x="1083055" y="0"/>
                  </a:lnTo>
                  <a:lnTo>
                    <a:pt x="1226947" y="0"/>
                  </a:lnTo>
                  <a:lnTo>
                    <a:pt x="1288302" y="977"/>
                  </a:lnTo>
                  <a:lnTo>
                    <a:pt x="1348724" y="3875"/>
                  </a:lnTo>
                  <a:lnTo>
                    <a:pt x="1408115" y="8639"/>
                  </a:lnTo>
                  <a:lnTo>
                    <a:pt x="1466375" y="15215"/>
                  </a:lnTo>
                  <a:lnTo>
                    <a:pt x="1523408" y="23549"/>
                  </a:lnTo>
                  <a:lnTo>
                    <a:pt x="1579116" y="33586"/>
                  </a:lnTo>
                  <a:lnTo>
                    <a:pt x="1633400" y="45273"/>
                  </a:lnTo>
                  <a:lnTo>
                    <a:pt x="1686163" y="58556"/>
                  </a:lnTo>
                  <a:lnTo>
                    <a:pt x="1737307" y="73380"/>
                  </a:lnTo>
                  <a:lnTo>
                    <a:pt x="1786733" y="89692"/>
                  </a:lnTo>
                  <a:lnTo>
                    <a:pt x="1834344" y="107438"/>
                  </a:lnTo>
                  <a:lnTo>
                    <a:pt x="1880043" y="126563"/>
                  </a:lnTo>
                  <a:lnTo>
                    <a:pt x="1923730" y="147013"/>
                  </a:lnTo>
                  <a:lnTo>
                    <a:pt x="1965309" y="168735"/>
                  </a:lnTo>
                  <a:lnTo>
                    <a:pt x="2004680" y="191674"/>
                  </a:lnTo>
                  <a:lnTo>
                    <a:pt x="2041747" y="215777"/>
                  </a:lnTo>
                  <a:lnTo>
                    <a:pt x="2076412" y="240988"/>
                  </a:lnTo>
                  <a:lnTo>
                    <a:pt x="2108576" y="267255"/>
                  </a:lnTo>
                  <a:lnTo>
                    <a:pt x="2138141" y="294523"/>
                  </a:lnTo>
                  <a:lnTo>
                    <a:pt x="2165010" y="322739"/>
                  </a:lnTo>
                  <a:lnTo>
                    <a:pt x="2210267" y="381794"/>
                  </a:lnTo>
                  <a:lnTo>
                    <a:pt x="2243563" y="443990"/>
                  </a:lnTo>
                  <a:lnTo>
                    <a:pt x="2264116" y="508893"/>
                  </a:lnTo>
                  <a:lnTo>
                    <a:pt x="2271141" y="576072"/>
                  </a:lnTo>
                  <a:lnTo>
                    <a:pt x="2127122" y="576072"/>
                  </a:lnTo>
                  <a:lnTo>
                    <a:pt x="2125350" y="542225"/>
                  </a:lnTo>
                  <a:lnTo>
                    <a:pt x="2120098" y="508893"/>
                  </a:lnTo>
                  <a:lnTo>
                    <a:pt x="2099545" y="443990"/>
                  </a:lnTo>
                  <a:lnTo>
                    <a:pt x="2066249" y="381794"/>
                  </a:lnTo>
                  <a:lnTo>
                    <a:pt x="2020992" y="322739"/>
                  </a:lnTo>
                  <a:lnTo>
                    <a:pt x="1994123" y="294523"/>
                  </a:lnTo>
                  <a:lnTo>
                    <a:pt x="1964558" y="267255"/>
                  </a:lnTo>
                  <a:lnTo>
                    <a:pt x="1932394" y="240988"/>
                  </a:lnTo>
                  <a:lnTo>
                    <a:pt x="1897729" y="215777"/>
                  </a:lnTo>
                  <a:lnTo>
                    <a:pt x="1860662" y="191674"/>
                  </a:lnTo>
                  <a:lnTo>
                    <a:pt x="1821291" y="168735"/>
                  </a:lnTo>
                  <a:lnTo>
                    <a:pt x="1779712" y="147013"/>
                  </a:lnTo>
                  <a:lnTo>
                    <a:pt x="1736025" y="126563"/>
                  </a:lnTo>
                  <a:lnTo>
                    <a:pt x="1690326" y="107438"/>
                  </a:lnTo>
                  <a:lnTo>
                    <a:pt x="1642715" y="89692"/>
                  </a:lnTo>
                  <a:lnTo>
                    <a:pt x="1593289" y="73380"/>
                  </a:lnTo>
                  <a:lnTo>
                    <a:pt x="1542145" y="58556"/>
                  </a:lnTo>
                  <a:lnTo>
                    <a:pt x="1489382" y="45273"/>
                  </a:lnTo>
                  <a:lnTo>
                    <a:pt x="1435098" y="33586"/>
                  </a:lnTo>
                  <a:lnTo>
                    <a:pt x="1379390" y="23549"/>
                  </a:lnTo>
                  <a:lnTo>
                    <a:pt x="1322357" y="15215"/>
                  </a:lnTo>
                  <a:lnTo>
                    <a:pt x="1264097" y="8639"/>
                  </a:lnTo>
                  <a:lnTo>
                    <a:pt x="1204706" y="3875"/>
                  </a:lnTo>
                  <a:lnTo>
                    <a:pt x="1144284" y="977"/>
                  </a:lnTo>
                  <a:lnTo>
                    <a:pt x="1082928" y="0"/>
                  </a:lnTo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08753" y="1586560"/>
            <a:ext cx="2752090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T1</a:t>
            </a:r>
            <a:r>
              <a:rPr sz="1550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executes</a:t>
            </a:r>
            <a:r>
              <a:rPr sz="1550" spc="1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W(X)</a:t>
            </a:r>
            <a:r>
              <a:rPr sz="1550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after</a:t>
            </a:r>
            <a:r>
              <a:rPr sz="1550" spc="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T2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50" spc="-5" dirty="0">
                <a:solidFill>
                  <a:srgbClr val="001F5F"/>
                </a:solidFill>
                <a:latin typeface="Times New Roman"/>
                <a:cs typeface="Times New Roman"/>
              </a:rPr>
              <a:t>executes</a:t>
            </a:r>
            <a:r>
              <a:rPr sz="1550" spc="20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001F5F"/>
                </a:solidFill>
                <a:latin typeface="Times New Roman"/>
                <a:cs typeface="Times New Roman"/>
              </a:rPr>
              <a:t>R(X),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001F5F"/>
                </a:solidFill>
                <a:latin typeface="Times New Roman"/>
                <a:cs typeface="Times New Roman"/>
              </a:rPr>
              <a:t>then</a:t>
            </a:r>
            <a:r>
              <a:rPr sz="1550" spc="1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edge</a:t>
            </a:r>
            <a:r>
              <a:rPr sz="1550" spc="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T2-&gt;T1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0747" y="4027170"/>
            <a:ext cx="7205980" cy="1549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43300">
              <a:lnSpc>
                <a:spcPct val="100000"/>
              </a:lnSpc>
              <a:spcBef>
                <a:spcPts val="135"/>
              </a:spcBef>
            </a:pP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T2</a:t>
            </a:r>
            <a:r>
              <a:rPr sz="1550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executes</a:t>
            </a:r>
            <a:r>
              <a:rPr sz="1550" spc="1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W(X)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after</a:t>
            </a:r>
            <a:r>
              <a:rPr sz="1550" spc="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T1</a:t>
            </a:r>
            <a:endParaRPr sz="1550">
              <a:latin typeface="Times New Roman"/>
              <a:cs typeface="Times New Roman"/>
            </a:endParaRPr>
          </a:p>
          <a:p>
            <a:pPr marL="3543300">
              <a:lnSpc>
                <a:spcPct val="100000"/>
              </a:lnSpc>
              <a:spcBef>
                <a:spcPts val="45"/>
              </a:spcBef>
            </a:pPr>
            <a:r>
              <a:rPr sz="1550" spc="-5" dirty="0">
                <a:solidFill>
                  <a:srgbClr val="001F5F"/>
                </a:solidFill>
                <a:latin typeface="Times New Roman"/>
                <a:cs typeface="Times New Roman"/>
              </a:rPr>
              <a:t>executes</a:t>
            </a:r>
            <a:r>
              <a:rPr sz="1550" spc="1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W(X),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001F5F"/>
                </a:solidFill>
                <a:latin typeface="Times New Roman"/>
                <a:cs typeface="Times New Roman"/>
              </a:rPr>
              <a:t>then</a:t>
            </a:r>
            <a:r>
              <a:rPr sz="1550" spc="1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edge</a:t>
            </a:r>
            <a:r>
              <a:rPr sz="1550" spc="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T1-&gt;T2</a:t>
            </a:r>
            <a:endParaRPr sz="1550">
              <a:latin typeface="Times New Roman"/>
              <a:cs typeface="Times New Roman"/>
            </a:endParaRPr>
          </a:p>
          <a:p>
            <a:pPr marL="12700" marR="5080">
              <a:lnSpc>
                <a:spcPct val="207200"/>
              </a:lnSpc>
              <a:spcBef>
                <a:spcPts val="480"/>
              </a:spcBef>
            </a:pPr>
            <a:r>
              <a:rPr sz="15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Cycle</a:t>
            </a:r>
            <a:r>
              <a:rPr sz="155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55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created</a:t>
            </a:r>
            <a:r>
              <a:rPr sz="155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155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graph,</a:t>
            </a:r>
            <a:r>
              <a:rPr sz="155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 </a:t>
            </a:r>
            <a:r>
              <a:rPr sz="15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given</a:t>
            </a:r>
            <a:r>
              <a:rPr sz="155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/>
                <a:cs typeface="Times New Roman"/>
              </a:rPr>
              <a:t>schedule</a:t>
            </a:r>
            <a:r>
              <a:rPr sz="1550" b="1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55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/>
                <a:cs typeface="Times New Roman"/>
              </a:rPr>
              <a:t>non</a:t>
            </a:r>
            <a:r>
              <a:rPr sz="155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serializable</a:t>
            </a:r>
            <a:r>
              <a:rPr sz="1550" b="1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/>
                <a:cs typeface="Times New Roman"/>
              </a:rPr>
              <a:t>concurrent</a:t>
            </a:r>
            <a:r>
              <a:rPr sz="1550" b="1" spc="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/>
                <a:cs typeface="Times New Roman"/>
              </a:rPr>
              <a:t>schedule. </a:t>
            </a:r>
            <a:r>
              <a:rPr sz="1550" b="1" spc="-3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Hence</a:t>
            </a:r>
            <a:r>
              <a:rPr sz="15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we</a:t>
            </a:r>
            <a:r>
              <a:rPr sz="155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155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155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convert</a:t>
            </a:r>
            <a:r>
              <a:rPr sz="155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15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r>
              <a:rPr sz="155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/>
                <a:cs typeface="Times New Roman"/>
              </a:rPr>
              <a:t>equivalent</a:t>
            </a:r>
            <a:r>
              <a:rPr sz="1550" b="1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serial</a:t>
            </a:r>
            <a:r>
              <a:rPr sz="155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FF0000"/>
                </a:solidFill>
                <a:latin typeface="Times New Roman"/>
                <a:cs typeface="Times New Roman"/>
              </a:rPr>
              <a:t>schedule.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6588759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5" dirty="0">
                <a:solidFill>
                  <a:srgbClr val="000000"/>
                </a:solidFill>
                <a:latin typeface="Times New Roman"/>
                <a:cs typeface="Times New Roman"/>
              </a:rPr>
              <a:t>Testing</a:t>
            </a:r>
            <a:r>
              <a:rPr sz="28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10" dirty="0">
                <a:solidFill>
                  <a:srgbClr val="000000"/>
                </a:solidFill>
                <a:latin typeface="Times New Roman"/>
                <a:cs typeface="Times New Roman"/>
              </a:rPr>
              <a:t>conflict</a:t>
            </a:r>
            <a:r>
              <a:rPr sz="2800" spc="-9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80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2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sz="2800" spc="-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schedule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3241" y="1334388"/>
          <a:ext cx="2447925" cy="27736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T1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T2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30" dirty="0">
                          <a:latin typeface="Times New Roman"/>
                          <a:cs typeface="Times New Roman"/>
                        </a:rPr>
                        <a:t>X=X-50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R(X)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25" dirty="0">
                          <a:latin typeface="Times New Roman"/>
                          <a:cs typeface="Times New Roman"/>
                        </a:rPr>
                        <a:t>X=X-100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20" dirty="0">
                          <a:latin typeface="Times New Roman"/>
                          <a:cs typeface="Times New Roman"/>
                        </a:rPr>
                        <a:t>R(Y)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W(X)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25" dirty="0">
                          <a:latin typeface="Times New Roman"/>
                          <a:cs typeface="Times New Roman"/>
                        </a:rPr>
                        <a:t>Y=Y+50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150" b="1" spc="10" dirty="0">
                          <a:latin typeface="Times New Roman"/>
                          <a:cs typeface="Times New Roman"/>
                        </a:rPr>
                        <a:t>W(Y)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932046" y="1308557"/>
            <a:ext cx="409956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Step1-</a:t>
            </a:r>
            <a:r>
              <a:rPr sz="1550" b="1" spc="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001F5F"/>
                </a:solidFill>
                <a:latin typeface="Times New Roman"/>
                <a:cs typeface="Times New Roman"/>
              </a:rPr>
              <a:t>First,</a:t>
            </a:r>
            <a:r>
              <a:rPr sz="1550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01F5F"/>
                </a:solidFill>
                <a:latin typeface="Times New Roman"/>
                <a:cs typeface="Times New Roman"/>
              </a:rPr>
              <a:t>remove</a:t>
            </a:r>
            <a:r>
              <a:rPr sz="1550" spc="1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001F5F"/>
                </a:solidFill>
                <a:latin typeface="Times New Roman"/>
                <a:cs typeface="Times New Roman"/>
              </a:rPr>
              <a:t>all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001F5F"/>
                </a:solidFill>
                <a:latin typeface="Times New Roman"/>
                <a:cs typeface="Times New Roman"/>
              </a:rPr>
              <a:t>statements</a:t>
            </a:r>
            <a:r>
              <a:rPr sz="1550" spc="1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001F5F"/>
                </a:solidFill>
                <a:latin typeface="Times New Roman"/>
                <a:cs typeface="Times New Roman"/>
              </a:rPr>
              <a:t>except</a:t>
            </a:r>
            <a:r>
              <a:rPr sz="1550" spc="1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20" dirty="0">
                <a:solidFill>
                  <a:srgbClr val="001F5F"/>
                </a:solidFill>
                <a:latin typeface="Times New Roman"/>
                <a:cs typeface="Times New Roman"/>
              </a:rPr>
              <a:t>R</a:t>
            </a:r>
            <a:r>
              <a:rPr sz="1550" spc="25" dirty="0">
                <a:solidFill>
                  <a:srgbClr val="001F5F"/>
                </a:solidFill>
                <a:latin typeface="Times New Roman"/>
                <a:cs typeface="Times New Roman"/>
              </a:rPr>
              <a:t> &amp;</a:t>
            </a:r>
            <a:r>
              <a:rPr sz="155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550" spc="30" dirty="0">
                <a:solidFill>
                  <a:srgbClr val="001F5F"/>
                </a:solidFill>
                <a:latin typeface="Times New Roman"/>
                <a:cs typeface="Times New Roman"/>
              </a:rPr>
              <a:t>W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43272" y="1722754"/>
            <a:ext cx="2473960" cy="1976120"/>
            <a:chOff x="4343272" y="1722754"/>
            <a:chExt cx="2473960" cy="1976120"/>
          </a:xfrm>
        </p:grpSpPr>
        <p:sp>
          <p:nvSpPr>
            <p:cNvPr id="6" name="object 6"/>
            <p:cNvSpPr/>
            <p:nvPr/>
          </p:nvSpPr>
          <p:spPr>
            <a:xfrm>
              <a:off x="4355973" y="1735454"/>
              <a:ext cx="2448560" cy="304800"/>
            </a:xfrm>
            <a:custGeom>
              <a:avLst/>
              <a:gdLst/>
              <a:ahLst/>
              <a:cxnLst/>
              <a:rect l="l" t="t" r="r" b="b"/>
              <a:pathLst>
                <a:path w="2448559" h="304800">
                  <a:moveTo>
                    <a:pt x="1269479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1269479" y="304800"/>
                  </a:lnTo>
                  <a:lnTo>
                    <a:pt x="1269479" y="0"/>
                  </a:lnTo>
                  <a:close/>
                </a:path>
                <a:path w="2448559" h="304800">
                  <a:moveTo>
                    <a:pt x="2448293" y="0"/>
                  </a:moveTo>
                  <a:lnTo>
                    <a:pt x="1269492" y="0"/>
                  </a:lnTo>
                  <a:lnTo>
                    <a:pt x="1269492" y="304800"/>
                  </a:lnTo>
                  <a:lnTo>
                    <a:pt x="2448293" y="304800"/>
                  </a:lnTo>
                  <a:lnTo>
                    <a:pt x="2448293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9622" y="1729104"/>
              <a:ext cx="2461260" cy="1963420"/>
            </a:xfrm>
            <a:custGeom>
              <a:avLst/>
              <a:gdLst/>
              <a:ahLst/>
              <a:cxnLst/>
              <a:rect l="l" t="t" r="r" b="b"/>
              <a:pathLst>
                <a:path w="2461259" h="1963420">
                  <a:moveTo>
                    <a:pt x="1275841" y="0"/>
                  </a:moveTo>
                  <a:lnTo>
                    <a:pt x="1275841" y="1963420"/>
                  </a:lnTo>
                </a:path>
                <a:path w="2461259" h="1963420">
                  <a:moveTo>
                    <a:pt x="6350" y="0"/>
                  </a:moveTo>
                  <a:lnTo>
                    <a:pt x="6350" y="1963420"/>
                  </a:lnTo>
                </a:path>
                <a:path w="2461259" h="1963420">
                  <a:moveTo>
                    <a:pt x="2454655" y="0"/>
                  </a:moveTo>
                  <a:lnTo>
                    <a:pt x="2454655" y="1963420"/>
                  </a:lnTo>
                </a:path>
                <a:path w="2461259" h="1963420">
                  <a:moveTo>
                    <a:pt x="0" y="6350"/>
                  </a:moveTo>
                  <a:lnTo>
                    <a:pt x="2461005" y="6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7017" y="1799462"/>
              <a:ext cx="45720" cy="196850"/>
            </a:xfrm>
            <a:custGeom>
              <a:avLst/>
              <a:gdLst/>
              <a:ahLst/>
              <a:cxnLst/>
              <a:rect l="l" t="t" r="r" b="b"/>
              <a:pathLst>
                <a:path w="45720" h="196850">
                  <a:moveTo>
                    <a:pt x="45720" y="0"/>
                  </a:moveTo>
                  <a:lnTo>
                    <a:pt x="0" y="0"/>
                  </a:lnTo>
                  <a:lnTo>
                    <a:pt x="0" y="196596"/>
                  </a:lnTo>
                  <a:lnTo>
                    <a:pt x="45720" y="196596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76546" y="1765173"/>
            <a:ext cx="14579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36345" algn="l"/>
              </a:tabLst>
            </a:pPr>
            <a:r>
              <a:rPr sz="1400" b="1" spc="-5" dirty="0">
                <a:latin typeface="Times New Roman"/>
                <a:cs typeface="Times New Roman"/>
              </a:rPr>
              <a:t>T</a:t>
            </a:r>
            <a:r>
              <a:rPr sz="1400" b="1" dirty="0">
                <a:latin typeface="Times New Roman"/>
                <a:cs typeface="Times New Roman"/>
              </a:rPr>
              <a:t>1	</a:t>
            </a:r>
            <a:r>
              <a:rPr sz="1400" b="1" spc="-5" dirty="0">
                <a:latin typeface="Times New Roman"/>
                <a:cs typeface="Times New Roman"/>
              </a:rPr>
              <a:t>T2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0663" y="1799463"/>
            <a:ext cx="45720" cy="196850"/>
          </a:xfrm>
          <a:custGeom>
            <a:avLst/>
            <a:gdLst/>
            <a:ahLst/>
            <a:cxnLst/>
            <a:rect l="l" t="t" r="r" b="b"/>
            <a:pathLst>
              <a:path w="45720" h="196850">
                <a:moveTo>
                  <a:pt x="45720" y="0"/>
                </a:moveTo>
                <a:lnTo>
                  <a:pt x="0" y="0"/>
                </a:lnTo>
                <a:lnTo>
                  <a:pt x="0" y="196596"/>
                </a:lnTo>
                <a:lnTo>
                  <a:pt x="45720" y="196596"/>
                </a:lnTo>
                <a:lnTo>
                  <a:pt x="4572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55972" y="2040254"/>
            <a:ext cx="2448560" cy="2743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375"/>
              </a:spcBef>
            </a:pPr>
            <a:r>
              <a:rPr sz="1150" b="1" spc="20" dirty="0">
                <a:latin typeface="Times New Roman"/>
                <a:cs typeface="Times New Roman"/>
              </a:rPr>
              <a:t>R(X)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5972" y="2314575"/>
            <a:ext cx="2448560" cy="2743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R="417830" algn="r">
              <a:lnSpc>
                <a:spcPct val="100000"/>
              </a:lnSpc>
              <a:spcBef>
                <a:spcPts val="325"/>
              </a:spcBef>
            </a:pPr>
            <a:r>
              <a:rPr sz="1200" b="1" spc="-10" dirty="0">
                <a:latin typeface="Times New Roman"/>
                <a:cs typeface="Times New Roman"/>
              </a:rPr>
              <a:t>R(X)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55972" y="2588895"/>
            <a:ext cx="2448560" cy="2743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375"/>
              </a:spcBef>
            </a:pPr>
            <a:r>
              <a:rPr sz="1150" b="1" spc="10" dirty="0">
                <a:latin typeface="Times New Roman"/>
                <a:cs typeface="Times New Roman"/>
              </a:rPr>
              <a:t>W(X)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5972" y="2863214"/>
            <a:ext cx="2448560" cy="2743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325"/>
              </a:spcBef>
            </a:pPr>
            <a:r>
              <a:rPr sz="1200" b="1" spc="-5" dirty="0">
                <a:latin typeface="Times New Roman"/>
                <a:cs typeface="Times New Roman"/>
              </a:rPr>
              <a:t>R(Y)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5972" y="3137535"/>
            <a:ext cx="2448560" cy="2743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R="399415" algn="r">
              <a:lnSpc>
                <a:spcPct val="100000"/>
              </a:lnSpc>
              <a:spcBef>
                <a:spcPts val="375"/>
              </a:spcBef>
            </a:pPr>
            <a:r>
              <a:rPr sz="1150" b="1" spc="10" dirty="0">
                <a:latin typeface="Times New Roman"/>
                <a:cs typeface="Times New Roman"/>
              </a:rPr>
              <a:t>W(X)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55972" y="3411854"/>
            <a:ext cx="2448560" cy="27432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459740">
              <a:lnSpc>
                <a:spcPct val="100000"/>
              </a:lnSpc>
              <a:spcBef>
                <a:spcPts val="380"/>
              </a:spcBef>
            </a:pPr>
            <a:r>
              <a:rPr sz="1150" b="1" spc="10" dirty="0">
                <a:latin typeface="Times New Roman"/>
                <a:cs typeface="Times New Roman"/>
              </a:rPr>
              <a:t>W(Y)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9248" y="4531817"/>
            <a:ext cx="7282180" cy="1229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10" dirty="0">
                <a:latin typeface="Times New Roman"/>
                <a:cs typeface="Times New Roman"/>
              </a:rPr>
              <a:t>Step2-</a:t>
            </a:r>
            <a:r>
              <a:rPr sz="1550" b="1" spc="2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Try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convert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this</a:t>
            </a:r>
            <a:r>
              <a:rPr sz="1550" spc="12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given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into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its</a:t>
            </a:r>
            <a:r>
              <a:rPr sz="1550" spc="4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equivalent</a:t>
            </a:r>
            <a:r>
              <a:rPr sz="1550" spc="18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serial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5" dirty="0">
                <a:latin typeface="Times New Roman"/>
                <a:cs typeface="Times New Roman"/>
              </a:rPr>
              <a:t> swapping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50" spc="10" dirty="0">
                <a:latin typeface="Times New Roman"/>
                <a:cs typeface="Times New Roman"/>
              </a:rPr>
              <a:t>all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instructions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of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transactions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at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one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place.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Times New Roman"/>
              <a:cs typeface="Times New Roman"/>
            </a:endParaRPr>
          </a:p>
          <a:p>
            <a:pPr marL="15240" marR="205740">
              <a:lnSpc>
                <a:spcPct val="102699"/>
              </a:lnSpc>
            </a:pPr>
            <a:r>
              <a:rPr sz="15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Step3-</a:t>
            </a:r>
            <a:r>
              <a:rPr sz="155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FF0000"/>
                </a:solidFill>
                <a:latin typeface="Times New Roman"/>
                <a:cs typeface="Times New Roman"/>
              </a:rPr>
              <a:t>Since,</a:t>
            </a:r>
            <a:r>
              <a:rPr sz="155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0000"/>
                </a:solidFill>
                <a:latin typeface="Times New Roman"/>
                <a:cs typeface="Times New Roman"/>
              </a:rPr>
              <a:t>operations</a:t>
            </a:r>
            <a:r>
              <a:rPr sz="1550" spc="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155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-15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1550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15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FF0000"/>
                </a:solidFill>
                <a:latin typeface="Times New Roman"/>
                <a:cs typeface="Times New Roman"/>
              </a:rPr>
              <a:t>interchanged,</a:t>
            </a:r>
            <a:r>
              <a:rPr sz="1550" spc="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15" dirty="0">
                <a:solidFill>
                  <a:srgbClr val="FF0000"/>
                </a:solidFill>
                <a:latin typeface="Times New Roman"/>
                <a:cs typeface="Times New Roman"/>
              </a:rPr>
              <a:t>so</a:t>
            </a:r>
            <a:r>
              <a:rPr sz="155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FF0000"/>
                </a:solidFill>
                <a:latin typeface="Times New Roman"/>
                <a:cs typeface="Times New Roman"/>
              </a:rPr>
              <a:t>given</a:t>
            </a:r>
            <a:r>
              <a:rPr sz="155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0000"/>
                </a:solidFill>
                <a:latin typeface="Times New Roman"/>
                <a:cs typeface="Times New Roman"/>
              </a:rPr>
              <a:t>schedule</a:t>
            </a:r>
            <a:r>
              <a:rPr sz="155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55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FF0000"/>
                </a:solidFill>
                <a:latin typeface="Times New Roman"/>
                <a:cs typeface="Times New Roman"/>
              </a:rPr>
              <a:t>non</a:t>
            </a:r>
            <a:r>
              <a:rPr sz="155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10" dirty="0">
                <a:solidFill>
                  <a:srgbClr val="FF0000"/>
                </a:solidFill>
                <a:latin typeface="Times New Roman"/>
                <a:cs typeface="Times New Roman"/>
              </a:rPr>
              <a:t>serializable </a:t>
            </a:r>
            <a:r>
              <a:rPr sz="1550" spc="-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spc="5" dirty="0">
                <a:solidFill>
                  <a:srgbClr val="FF0000"/>
                </a:solidFill>
                <a:latin typeface="Times New Roman"/>
                <a:cs typeface="Times New Roman"/>
              </a:rPr>
              <a:t>concurrent</a:t>
            </a:r>
            <a:r>
              <a:rPr sz="1550" spc="1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FF0000"/>
                </a:solidFill>
                <a:latin typeface="Times New Roman"/>
                <a:cs typeface="Times New Roman"/>
              </a:rPr>
              <a:t>schedule.</a:t>
            </a:r>
            <a:endParaRPr sz="155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66359" y="2359177"/>
            <a:ext cx="996950" cy="1097280"/>
            <a:chOff x="5166359" y="2359177"/>
            <a:chExt cx="996950" cy="109728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4083" y="2359177"/>
              <a:ext cx="850214" cy="42961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288533" y="2474340"/>
              <a:ext cx="654050" cy="250825"/>
            </a:xfrm>
            <a:custGeom>
              <a:avLst/>
              <a:gdLst/>
              <a:ahLst/>
              <a:cxnLst/>
              <a:rect l="l" t="t" r="r" b="b"/>
              <a:pathLst>
                <a:path w="654050" h="250825">
                  <a:moveTo>
                    <a:pt x="543686" y="34712"/>
                  </a:moveTo>
                  <a:lnTo>
                    <a:pt x="0" y="215900"/>
                  </a:lnTo>
                  <a:lnTo>
                    <a:pt x="11683" y="250698"/>
                  </a:lnTo>
                  <a:lnTo>
                    <a:pt x="555232" y="69392"/>
                  </a:lnTo>
                  <a:lnTo>
                    <a:pt x="543686" y="34712"/>
                  </a:lnTo>
                  <a:close/>
                </a:path>
                <a:path w="654050" h="250825">
                  <a:moveTo>
                    <a:pt x="641984" y="28956"/>
                  </a:moveTo>
                  <a:lnTo>
                    <a:pt x="560958" y="28956"/>
                  </a:lnTo>
                  <a:lnTo>
                    <a:pt x="572515" y="63626"/>
                  </a:lnTo>
                  <a:lnTo>
                    <a:pt x="555232" y="69392"/>
                  </a:lnTo>
                  <a:lnTo>
                    <a:pt x="566801" y="104139"/>
                  </a:lnTo>
                  <a:lnTo>
                    <a:pt x="641984" y="28956"/>
                  </a:lnTo>
                  <a:close/>
                </a:path>
                <a:path w="654050" h="250825">
                  <a:moveTo>
                    <a:pt x="560958" y="28956"/>
                  </a:moveTo>
                  <a:lnTo>
                    <a:pt x="543686" y="34712"/>
                  </a:lnTo>
                  <a:lnTo>
                    <a:pt x="555232" y="69392"/>
                  </a:lnTo>
                  <a:lnTo>
                    <a:pt x="572515" y="63626"/>
                  </a:lnTo>
                  <a:lnTo>
                    <a:pt x="560958" y="28956"/>
                  </a:lnTo>
                  <a:close/>
                </a:path>
                <a:path w="654050" h="250825">
                  <a:moveTo>
                    <a:pt x="532129" y="0"/>
                  </a:moveTo>
                  <a:lnTo>
                    <a:pt x="543686" y="34712"/>
                  </a:lnTo>
                  <a:lnTo>
                    <a:pt x="560958" y="28956"/>
                  </a:lnTo>
                  <a:lnTo>
                    <a:pt x="641984" y="28956"/>
                  </a:lnTo>
                  <a:lnTo>
                    <a:pt x="653541" y="17399"/>
                  </a:lnTo>
                  <a:lnTo>
                    <a:pt x="53212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66359" y="2743161"/>
              <a:ext cx="996505" cy="7130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211444" y="2764281"/>
              <a:ext cx="802005" cy="518795"/>
            </a:xfrm>
            <a:custGeom>
              <a:avLst/>
              <a:gdLst/>
              <a:ahLst/>
              <a:cxnLst/>
              <a:rect l="l" t="t" r="r" b="b"/>
              <a:pathLst>
                <a:path w="802004" h="518795">
                  <a:moveTo>
                    <a:pt x="699574" y="475335"/>
                  </a:moveTo>
                  <a:lnTo>
                    <a:pt x="679957" y="506221"/>
                  </a:lnTo>
                  <a:lnTo>
                    <a:pt x="801877" y="518667"/>
                  </a:lnTo>
                  <a:lnTo>
                    <a:pt x="781728" y="485139"/>
                  </a:lnTo>
                  <a:lnTo>
                    <a:pt x="715009" y="485139"/>
                  </a:lnTo>
                  <a:lnTo>
                    <a:pt x="699574" y="475335"/>
                  </a:lnTo>
                  <a:close/>
                </a:path>
                <a:path w="802004" h="518795">
                  <a:moveTo>
                    <a:pt x="719163" y="444491"/>
                  </a:moveTo>
                  <a:lnTo>
                    <a:pt x="699574" y="475335"/>
                  </a:lnTo>
                  <a:lnTo>
                    <a:pt x="715009" y="485139"/>
                  </a:lnTo>
                  <a:lnTo>
                    <a:pt x="734567" y="454278"/>
                  </a:lnTo>
                  <a:lnTo>
                    <a:pt x="719163" y="444491"/>
                  </a:lnTo>
                  <a:close/>
                </a:path>
                <a:path w="802004" h="518795">
                  <a:moveTo>
                    <a:pt x="738758" y="413638"/>
                  </a:moveTo>
                  <a:lnTo>
                    <a:pt x="719163" y="444491"/>
                  </a:lnTo>
                  <a:lnTo>
                    <a:pt x="734567" y="454278"/>
                  </a:lnTo>
                  <a:lnTo>
                    <a:pt x="715009" y="485139"/>
                  </a:lnTo>
                  <a:lnTo>
                    <a:pt x="781728" y="485139"/>
                  </a:lnTo>
                  <a:lnTo>
                    <a:pt x="738758" y="413638"/>
                  </a:lnTo>
                  <a:close/>
                </a:path>
                <a:path w="802004" h="518795">
                  <a:moveTo>
                    <a:pt x="19557" y="0"/>
                  </a:moveTo>
                  <a:lnTo>
                    <a:pt x="0" y="30987"/>
                  </a:lnTo>
                  <a:lnTo>
                    <a:pt x="699574" y="475335"/>
                  </a:lnTo>
                  <a:lnTo>
                    <a:pt x="719163" y="444491"/>
                  </a:lnTo>
                  <a:lnTo>
                    <a:pt x="19557" y="0"/>
                  </a:lnTo>
                  <a:close/>
                </a:path>
              </a:pathLst>
            </a:custGeom>
            <a:solidFill>
              <a:srgbClr val="2525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886193" y="1803019"/>
            <a:ext cx="168021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100"/>
              </a:spcBef>
            </a:pP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Can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be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interchanged,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since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 R(X)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4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W(X)</a:t>
            </a:r>
            <a:r>
              <a:rPr sz="1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1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not </a:t>
            </a:r>
            <a:r>
              <a:rPr sz="1400" spc="-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0000"/>
                </a:solidFill>
                <a:latin typeface="Times New Roman"/>
                <a:cs typeface="Times New Roman"/>
              </a:rPr>
              <a:t>compatible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86193" y="3154502"/>
            <a:ext cx="1397000" cy="880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10"/>
              </a:spcBef>
            </a:pPr>
            <a:r>
              <a:rPr sz="1400" spc="-5" dirty="0">
                <a:solidFill>
                  <a:srgbClr val="001F5F"/>
                </a:solidFill>
                <a:latin typeface="Times New Roman"/>
                <a:cs typeface="Times New Roman"/>
              </a:rPr>
              <a:t>Can 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not </a:t>
            </a:r>
            <a:r>
              <a:rPr sz="1400" spc="-10" dirty="0">
                <a:solidFill>
                  <a:srgbClr val="001F5F"/>
                </a:solidFill>
                <a:latin typeface="Times New Roman"/>
                <a:cs typeface="Times New Roman"/>
              </a:rPr>
              <a:t>be </a:t>
            </a:r>
            <a:r>
              <a:rPr sz="1400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i</a:t>
            </a:r>
            <a:r>
              <a:rPr sz="1400" spc="15" dirty="0">
                <a:solidFill>
                  <a:srgbClr val="001F5F"/>
                </a:solidFill>
                <a:latin typeface="Times New Roman"/>
                <a:cs typeface="Times New Roman"/>
              </a:rPr>
              <a:t>n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t</a:t>
            </a:r>
            <a:r>
              <a:rPr sz="1400" spc="-15" dirty="0">
                <a:solidFill>
                  <a:srgbClr val="001F5F"/>
                </a:solidFill>
                <a:latin typeface="Times New Roman"/>
                <a:cs typeface="Times New Roman"/>
              </a:rPr>
              <a:t>e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r</a:t>
            </a:r>
            <a:r>
              <a:rPr sz="1400" spc="-15" dirty="0">
                <a:solidFill>
                  <a:srgbClr val="001F5F"/>
                </a:solidFill>
                <a:latin typeface="Times New Roman"/>
                <a:cs typeface="Times New Roman"/>
              </a:rPr>
              <a:t>c</a:t>
            </a:r>
            <a:r>
              <a:rPr sz="1400" spc="15" dirty="0">
                <a:solidFill>
                  <a:srgbClr val="001F5F"/>
                </a:solidFill>
                <a:latin typeface="Times New Roman"/>
                <a:cs typeface="Times New Roman"/>
              </a:rPr>
              <a:t>h</a:t>
            </a:r>
            <a:r>
              <a:rPr sz="1400" spc="-15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1400" spc="15" dirty="0">
                <a:solidFill>
                  <a:srgbClr val="001F5F"/>
                </a:solidFill>
                <a:latin typeface="Times New Roman"/>
                <a:cs typeface="Times New Roman"/>
              </a:rPr>
              <a:t>n</a:t>
            </a:r>
            <a:r>
              <a:rPr sz="1400" spc="-20" dirty="0">
                <a:solidFill>
                  <a:srgbClr val="001F5F"/>
                </a:solidFill>
                <a:latin typeface="Times New Roman"/>
                <a:cs typeface="Times New Roman"/>
              </a:rPr>
              <a:t>g</a:t>
            </a:r>
            <a:r>
              <a:rPr sz="1400" spc="-15" dirty="0">
                <a:solidFill>
                  <a:srgbClr val="001F5F"/>
                </a:solidFill>
                <a:latin typeface="Times New Roman"/>
                <a:cs typeface="Times New Roman"/>
              </a:rPr>
              <a:t>e</a:t>
            </a:r>
            <a:r>
              <a:rPr sz="1400" spc="15" dirty="0">
                <a:solidFill>
                  <a:srgbClr val="001F5F"/>
                </a:solidFill>
                <a:latin typeface="Times New Roman"/>
                <a:cs typeface="Times New Roman"/>
              </a:rPr>
              <a:t>d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,</a:t>
            </a:r>
            <a:r>
              <a:rPr sz="1400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01F5F"/>
                </a:solidFill>
                <a:latin typeface="Times New Roman"/>
                <a:cs typeface="Times New Roman"/>
              </a:rPr>
              <a:t>s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i</a:t>
            </a:r>
            <a:r>
              <a:rPr sz="1400" spc="15" dirty="0">
                <a:solidFill>
                  <a:srgbClr val="001F5F"/>
                </a:solidFill>
                <a:latin typeface="Times New Roman"/>
                <a:cs typeface="Times New Roman"/>
              </a:rPr>
              <a:t>n</a:t>
            </a:r>
            <a:r>
              <a:rPr sz="1400" spc="-15" dirty="0">
                <a:solidFill>
                  <a:srgbClr val="001F5F"/>
                </a:solidFill>
                <a:latin typeface="Times New Roman"/>
                <a:cs typeface="Times New Roman"/>
              </a:rPr>
              <a:t>c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e  W(X)</a:t>
            </a:r>
            <a:r>
              <a:rPr sz="1400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and</a:t>
            </a:r>
            <a:r>
              <a:rPr sz="14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W(X)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5" dirty="0">
                <a:solidFill>
                  <a:srgbClr val="001F5F"/>
                </a:solidFill>
                <a:latin typeface="Times New Roman"/>
                <a:cs typeface="Times New Roman"/>
              </a:rPr>
              <a:t>are</a:t>
            </a:r>
            <a:r>
              <a:rPr sz="1400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01F5F"/>
                </a:solidFill>
                <a:latin typeface="Times New Roman"/>
                <a:cs typeface="Times New Roman"/>
              </a:rPr>
              <a:t>not</a:t>
            </a:r>
            <a:r>
              <a:rPr sz="1400" spc="-15" dirty="0">
                <a:solidFill>
                  <a:srgbClr val="001F5F"/>
                </a:solidFill>
                <a:latin typeface="Times New Roman"/>
                <a:cs typeface="Times New Roman"/>
              </a:rPr>
              <a:t> compatible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320" y="1095120"/>
            <a:ext cx="7548245" cy="32651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535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will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view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serializable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if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view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equivalent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schedule.</a:t>
            </a:r>
            <a:endParaRPr sz="180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34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5" dirty="0">
                <a:latin typeface="Times New Roman"/>
                <a:cs typeface="Times New Roman"/>
              </a:rPr>
              <a:t>If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conflict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serializable,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will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view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serializable.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25" dirty="0">
                <a:latin typeface="Times New Roman"/>
                <a:cs typeface="Times New Roman"/>
              </a:rPr>
              <a:t>View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Equivalent-</a:t>
            </a:r>
            <a:endParaRPr sz="180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34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35" dirty="0">
                <a:latin typeface="Times New Roman"/>
                <a:cs typeface="Times New Roman"/>
              </a:rPr>
              <a:t>Two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said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view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equivalent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if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satisfy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</a:pPr>
            <a:r>
              <a:rPr sz="1800" spc="-25" dirty="0">
                <a:latin typeface="Times New Roman"/>
                <a:cs typeface="Times New Roman"/>
              </a:rPr>
              <a:t>following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conditions: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15633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Initial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(First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Read)</a:t>
            </a:r>
            <a:endParaRPr sz="1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1156335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Final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Write </a:t>
            </a:r>
            <a:r>
              <a:rPr sz="1800" b="1" spc="-5" dirty="0">
                <a:latin typeface="Times New Roman"/>
                <a:cs typeface="Times New Roman"/>
              </a:rPr>
              <a:t>(Last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Write)</a:t>
            </a:r>
            <a:endParaRPr sz="18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1156335" algn="l"/>
              </a:tabLst>
            </a:pPr>
            <a:r>
              <a:rPr sz="1800" b="1" dirty="0">
                <a:latin typeface="Times New Roman"/>
                <a:cs typeface="Times New Roman"/>
              </a:rPr>
              <a:t>Updated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3182620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View</a:t>
            </a:r>
            <a:r>
              <a:rPr sz="2800" spc="-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Serializability: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320" y="1095120"/>
            <a:ext cx="7503159" cy="12884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 dirty="0">
                <a:latin typeface="Times New Roman"/>
                <a:cs typeface="Times New Roman"/>
              </a:rPr>
              <a:t>1.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Initial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endParaRPr sz="180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34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25" dirty="0">
                <a:latin typeface="Times New Roman"/>
                <a:cs typeface="Times New Roman"/>
              </a:rPr>
              <a:t>An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initial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both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schedules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must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same.</a:t>
            </a:r>
            <a:endParaRPr sz="180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30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dirty="0">
                <a:latin typeface="Times New Roman"/>
                <a:cs typeface="Times New Roman"/>
              </a:rPr>
              <a:t>Suppose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two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</a:t>
            </a:r>
            <a:r>
              <a:rPr sz="1800" spc="-20" dirty="0">
                <a:latin typeface="Times New Roman"/>
                <a:cs typeface="Times New Roman"/>
              </a:rPr>
              <a:t> 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S2. </a:t>
            </a:r>
            <a:r>
              <a:rPr sz="1800" spc="5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if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T1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reading</a:t>
            </a: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data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item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A,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S2,</a:t>
            </a:r>
            <a:r>
              <a:rPr sz="1800" spc="-5" dirty="0">
                <a:latin typeface="Times New Roman"/>
                <a:cs typeface="Times New Roman"/>
              </a:rPr>
              <a:t> transaction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T1</a:t>
            </a:r>
            <a:r>
              <a:rPr sz="1800" spc="-20" dirty="0">
                <a:latin typeface="Times New Roman"/>
                <a:cs typeface="Times New Roman"/>
              </a:rPr>
              <a:t> should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also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A.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320" y="5047945"/>
            <a:ext cx="760158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20" dirty="0">
                <a:latin typeface="Times New Roman"/>
                <a:cs typeface="Times New Roman"/>
              </a:rPr>
              <a:t>Above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two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view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equivalent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because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Initial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done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by </a:t>
            </a:r>
            <a:r>
              <a:rPr sz="1800" spc="5" dirty="0">
                <a:latin typeface="Times New Roman"/>
                <a:cs typeface="Times New Roman"/>
              </a:rPr>
              <a:t>T1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also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done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by </a:t>
            </a:r>
            <a:r>
              <a:rPr sz="1800" dirty="0">
                <a:latin typeface="Times New Roman"/>
                <a:cs typeface="Times New Roman"/>
              </a:rPr>
              <a:t>T1.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4453255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View</a:t>
            </a:r>
            <a:r>
              <a:rPr sz="28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800" spc="-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Cont.…: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216" y="2734055"/>
            <a:ext cx="6017956" cy="19921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320" y="1095120"/>
            <a:ext cx="7112634" cy="128841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 dirty="0">
                <a:latin typeface="Times New Roman"/>
                <a:cs typeface="Times New Roman"/>
              </a:rPr>
              <a:t>2.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Final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Write</a:t>
            </a:r>
            <a:endParaRPr sz="180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34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final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write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must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same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between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both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schedules.</a:t>
            </a:r>
            <a:endParaRPr sz="180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30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5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if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T1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updates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last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final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writes</a:t>
            </a: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/>
                <a:cs typeface="Times New Roman"/>
              </a:rPr>
              <a:t>operations </a:t>
            </a:r>
            <a:r>
              <a:rPr sz="1800" spc="-20" dirty="0">
                <a:latin typeface="Times New Roman"/>
                <a:cs typeface="Times New Roman"/>
              </a:rPr>
              <a:t>should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also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done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T1.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320" y="5047945"/>
            <a:ext cx="75279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20" dirty="0">
                <a:latin typeface="Times New Roman"/>
                <a:cs typeface="Times New Roman"/>
              </a:rPr>
              <a:t>Above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two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view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equal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because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Final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write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done</a:t>
            </a: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Times New Roman"/>
                <a:cs typeface="Times New Roman"/>
              </a:rPr>
              <a:t>by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T3</a:t>
            </a:r>
            <a:r>
              <a:rPr sz="1800" spc="-20" dirty="0">
                <a:latin typeface="Times New Roman"/>
                <a:cs typeface="Times New Roman"/>
              </a:rPr>
              <a:t> and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S2,</a:t>
            </a:r>
            <a:r>
              <a:rPr sz="1800" spc="-5" dirty="0">
                <a:latin typeface="Times New Roman"/>
                <a:cs typeface="Times New Roman"/>
              </a:rPr>
              <a:t> the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final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write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also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done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by </a:t>
            </a:r>
            <a:r>
              <a:rPr sz="1800" dirty="0">
                <a:latin typeface="Times New Roman"/>
                <a:cs typeface="Times New Roman"/>
              </a:rPr>
              <a:t>T3.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4453255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View</a:t>
            </a:r>
            <a:r>
              <a:rPr sz="28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800" spc="-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Cont.…: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601" y="2741676"/>
            <a:ext cx="6880797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320" y="1095120"/>
            <a:ext cx="7172325" cy="95948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 dirty="0">
                <a:latin typeface="Times New Roman"/>
                <a:cs typeface="Times New Roman"/>
              </a:rPr>
              <a:t>3.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Updated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Read</a:t>
            </a:r>
            <a:endParaRPr sz="180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34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5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if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Ti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reading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which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updated</a:t>
            </a:r>
            <a:r>
              <a:rPr sz="1800" spc="-20" dirty="0">
                <a:latin typeface="Times New Roman"/>
                <a:cs typeface="Times New Roman"/>
              </a:rPr>
              <a:t> by</a:t>
            </a:r>
            <a:r>
              <a:rPr sz="1800" spc="5" dirty="0">
                <a:latin typeface="Times New Roman"/>
                <a:cs typeface="Times New Roman"/>
              </a:rPr>
              <a:t> Tj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also,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Times New Roman"/>
                <a:cs typeface="Times New Roman"/>
              </a:rPr>
              <a:t>Ti</a:t>
            </a: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should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which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updated</a:t>
            </a:r>
            <a:r>
              <a:rPr sz="1800" spc="-20" dirty="0">
                <a:latin typeface="Times New Roman"/>
                <a:cs typeface="Times New Roman"/>
              </a:rPr>
              <a:t> by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Tj.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3320" y="4719066"/>
            <a:ext cx="69024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20" dirty="0">
                <a:latin typeface="Times New Roman"/>
                <a:cs typeface="Times New Roman"/>
              </a:rPr>
              <a:t>Above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two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view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equal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because,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T3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reading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updated</a:t>
            </a:r>
            <a:r>
              <a:rPr sz="1800" spc="-20" dirty="0">
                <a:latin typeface="Times New Roman"/>
                <a:cs typeface="Times New Roman"/>
              </a:rPr>
              <a:t> by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T2</a:t>
            </a:r>
            <a:r>
              <a:rPr sz="1800" spc="-20" dirty="0">
                <a:latin typeface="Times New Roman"/>
                <a:cs typeface="Times New Roman"/>
              </a:rPr>
              <a:t> 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in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S2,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T3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reading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updated</a:t>
            </a:r>
            <a:r>
              <a:rPr sz="1800" spc="-20" dirty="0">
                <a:latin typeface="Times New Roman"/>
                <a:cs typeface="Times New Roman"/>
              </a:rPr>
              <a:t> by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T1.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4453255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View</a:t>
            </a:r>
            <a:r>
              <a:rPr sz="2800" spc="-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800" spc="-1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Cont.…: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479" y="2433470"/>
            <a:ext cx="7088457" cy="20005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320" y="3785742"/>
            <a:ext cx="4506595" cy="969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00355" algn="l"/>
                <a:tab pos="301625" algn="l"/>
              </a:tabLst>
            </a:pPr>
            <a:r>
              <a:rPr sz="1800" spc="-25" dirty="0">
                <a:latin typeface="Times New Roman"/>
                <a:cs typeface="Times New Roman"/>
              </a:rPr>
              <a:t>First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convert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into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its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equivalent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S1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 marR="70485" algn="r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Schedule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4864735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View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80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Example</a:t>
            </a:r>
            <a:r>
              <a:rPr sz="28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Times New Roman"/>
                <a:cs typeface="Times New Roman"/>
              </a:rPr>
              <a:t>1: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1556" y="1937145"/>
            <a:ext cx="4950407" cy="145049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3320" y="1150365"/>
            <a:ext cx="6395720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Times New Roman"/>
                <a:cs typeface="Times New Roman"/>
              </a:rPr>
              <a:t>Consider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schedule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S, </a:t>
            </a:r>
            <a:r>
              <a:rPr sz="1800" b="1" spc="-10" dirty="0">
                <a:latin typeface="Times New Roman"/>
                <a:cs typeface="Times New Roman"/>
              </a:rPr>
              <a:t>check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whether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is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view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equivalent</a:t>
            </a:r>
            <a:r>
              <a:rPr sz="1800" b="1" spc="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or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Times New Roman"/>
                <a:cs typeface="Times New Roman"/>
              </a:rPr>
              <a:t>not-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Times New Roman"/>
              <a:cs typeface="Times New Roman"/>
            </a:endParaRPr>
          </a:p>
          <a:p>
            <a:pPr marL="3325495">
              <a:lnSpc>
                <a:spcPct val="100000"/>
              </a:lnSpc>
            </a:pPr>
            <a:r>
              <a:rPr sz="1800" b="1" spc="-5" dirty="0">
                <a:latin typeface="Times New Roman"/>
                <a:cs typeface="Times New Roman"/>
              </a:rPr>
              <a:t>Schedule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2400" y="4794522"/>
            <a:ext cx="4949679" cy="144814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3320" y="2861031"/>
            <a:ext cx="7581900" cy="34423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550" b="1" spc="15" dirty="0">
                <a:latin typeface="Times New Roman"/>
                <a:cs typeface="Times New Roman"/>
              </a:rPr>
              <a:t>Step</a:t>
            </a:r>
            <a:r>
              <a:rPr sz="1550" b="1" spc="10" dirty="0">
                <a:latin typeface="Times New Roman"/>
                <a:cs typeface="Times New Roman"/>
              </a:rPr>
              <a:t> 1:</a:t>
            </a:r>
            <a:r>
              <a:rPr sz="1550" b="1" spc="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Initial</a:t>
            </a:r>
            <a:r>
              <a:rPr sz="1550" b="1" spc="125" dirty="0">
                <a:latin typeface="Times New Roman"/>
                <a:cs typeface="Times New Roman"/>
              </a:rPr>
              <a:t> </a:t>
            </a:r>
            <a:r>
              <a:rPr sz="1550" b="1" spc="20" dirty="0">
                <a:latin typeface="Times New Roman"/>
                <a:cs typeface="Times New Roman"/>
              </a:rPr>
              <a:t>Read</a:t>
            </a:r>
            <a:endParaRPr sz="155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40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The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initial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read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operation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S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done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T1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S1,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it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also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done</a:t>
            </a:r>
            <a:r>
              <a:rPr sz="1550" spc="1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dirty="0">
                <a:latin typeface="Times New Roman"/>
                <a:cs typeface="Times New Roman"/>
              </a:rPr>
              <a:t> T1.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spc="15" dirty="0">
                <a:latin typeface="Times New Roman"/>
                <a:cs typeface="Times New Roman"/>
              </a:rPr>
              <a:t>Step</a:t>
            </a:r>
            <a:r>
              <a:rPr sz="1550" b="1" spc="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2:</a:t>
            </a:r>
            <a:r>
              <a:rPr sz="1550" b="1" spc="-5" dirty="0">
                <a:latin typeface="Times New Roman"/>
                <a:cs typeface="Times New Roman"/>
              </a:rPr>
              <a:t> Final</a:t>
            </a:r>
            <a:r>
              <a:rPr sz="1550" b="1" spc="114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Write</a:t>
            </a:r>
            <a:endParaRPr sz="1550">
              <a:latin typeface="Times New Roman"/>
              <a:cs typeface="Times New Roman"/>
            </a:endParaRPr>
          </a:p>
          <a:p>
            <a:pPr marL="300990" marR="5080" indent="-288925">
              <a:lnSpc>
                <a:spcPct val="102699"/>
              </a:lnSpc>
              <a:spcBef>
                <a:spcPts val="395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spc="-10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final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write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operation</a:t>
            </a:r>
            <a:r>
              <a:rPr sz="1550" spc="19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done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T3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in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S1,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it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also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Times New Roman"/>
                <a:cs typeface="Times New Roman"/>
              </a:rPr>
              <a:t>done</a:t>
            </a:r>
            <a:r>
              <a:rPr sz="1550" spc="1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by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T3.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So,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S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S1 </a:t>
            </a:r>
            <a:r>
              <a:rPr sz="1550" spc="-3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are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view</a:t>
            </a:r>
            <a:r>
              <a:rPr sz="1550" spc="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Equivalent.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spc="15" dirty="0">
                <a:latin typeface="Times New Roman"/>
                <a:cs typeface="Times New Roman"/>
              </a:rPr>
              <a:t>Step</a:t>
            </a:r>
            <a:r>
              <a:rPr sz="1550" b="1" spc="2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3: </a:t>
            </a:r>
            <a:r>
              <a:rPr sz="1550" b="1" spc="-5" dirty="0">
                <a:latin typeface="Times New Roman"/>
                <a:cs typeface="Times New Roman"/>
              </a:rPr>
              <a:t>Final</a:t>
            </a:r>
            <a:r>
              <a:rPr sz="1550" b="1" spc="13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update</a:t>
            </a:r>
            <a:r>
              <a:rPr sz="1550" b="1" spc="12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on</a:t>
            </a:r>
            <a:r>
              <a:rPr sz="1550" b="1" spc="2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data</a:t>
            </a:r>
            <a:r>
              <a:rPr sz="1550" b="1" spc="7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items</a:t>
            </a:r>
            <a:endParaRPr sz="1550">
              <a:latin typeface="Times New Roman"/>
              <a:cs typeface="Times New Roman"/>
            </a:endParaRPr>
          </a:p>
          <a:p>
            <a:pPr marL="300990" indent="-288925">
              <a:lnSpc>
                <a:spcPct val="100000"/>
              </a:lnSpc>
              <a:spcBef>
                <a:spcPts val="445"/>
              </a:spcBef>
              <a:buChar char="•"/>
              <a:tabLst>
                <a:tab pos="300355" algn="l"/>
                <a:tab pos="301625" algn="l"/>
              </a:tabLst>
            </a:pP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both</a:t>
            </a:r>
            <a:r>
              <a:rPr sz="1550" spc="114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schedules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S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and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S1,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there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is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no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read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except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the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initial</a:t>
            </a:r>
            <a:r>
              <a:rPr sz="1550" spc="1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read </a:t>
            </a:r>
            <a:r>
              <a:rPr sz="1550" dirty="0">
                <a:latin typeface="Times New Roman"/>
                <a:cs typeface="Times New Roman"/>
              </a:rPr>
              <a:t>that's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why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we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don't</a:t>
            </a:r>
            <a:endParaRPr sz="155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  <a:spcBef>
                <a:spcPts val="85"/>
              </a:spcBef>
            </a:pPr>
            <a:r>
              <a:rPr sz="1550" spc="-5" dirty="0">
                <a:latin typeface="Times New Roman"/>
                <a:cs typeface="Times New Roman"/>
              </a:rPr>
              <a:t>need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Times New Roman"/>
                <a:cs typeface="Times New Roman"/>
              </a:rPr>
              <a:t>to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check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that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condition.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50" b="1" spc="-5" dirty="0">
                <a:latin typeface="Times New Roman"/>
                <a:cs typeface="Times New Roman"/>
              </a:rPr>
              <a:t>The</a:t>
            </a:r>
            <a:r>
              <a:rPr sz="1550" b="1" spc="9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schedule</a:t>
            </a:r>
            <a:r>
              <a:rPr sz="1550" b="1" spc="170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S1</a:t>
            </a:r>
            <a:r>
              <a:rPr sz="1550" b="1" spc="45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satisfies</a:t>
            </a:r>
            <a:r>
              <a:rPr sz="1550" b="1" spc="114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all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3</a:t>
            </a:r>
            <a:r>
              <a:rPr sz="1550" b="1" spc="10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conditions.</a:t>
            </a:r>
            <a:r>
              <a:rPr sz="1550" b="1" spc="18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Hence,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view </a:t>
            </a:r>
            <a:r>
              <a:rPr sz="1550" b="1" dirty="0">
                <a:latin typeface="Times New Roman"/>
                <a:cs typeface="Times New Roman"/>
              </a:rPr>
              <a:t>equivalent</a:t>
            </a:r>
            <a:r>
              <a:rPr sz="1550" b="1" spc="200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serial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Times New Roman"/>
                <a:cs typeface="Times New Roman"/>
              </a:rPr>
              <a:t>schedule</a:t>
            </a:r>
            <a:r>
              <a:rPr sz="1550" b="1" spc="170" dirty="0">
                <a:latin typeface="Times New Roman"/>
                <a:cs typeface="Times New Roman"/>
              </a:rPr>
              <a:t> </a:t>
            </a:r>
            <a:r>
              <a:rPr sz="1550" b="1" spc="5" dirty="0">
                <a:latin typeface="Times New Roman"/>
                <a:cs typeface="Times New Roman"/>
              </a:rPr>
              <a:t>is: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652145" algn="l"/>
              </a:tabLst>
            </a:pPr>
            <a:r>
              <a:rPr sz="1550" b="1" spc="10" dirty="0">
                <a:latin typeface="Times New Roman"/>
                <a:cs typeface="Times New Roman"/>
              </a:rPr>
              <a:t>T1</a:t>
            </a:r>
            <a:r>
              <a:rPr sz="1550" b="1" spc="40" dirty="0">
                <a:latin typeface="Times New Roman"/>
                <a:cs typeface="Times New Roman"/>
              </a:rPr>
              <a:t> </a:t>
            </a:r>
            <a:r>
              <a:rPr sz="1550" b="1" spc="35" dirty="0">
                <a:latin typeface="Times New Roman"/>
                <a:cs typeface="Times New Roman"/>
              </a:rPr>
              <a:t>→	</a:t>
            </a:r>
            <a:r>
              <a:rPr sz="1550" b="1" spc="10" dirty="0">
                <a:latin typeface="Times New Roman"/>
                <a:cs typeface="Times New Roman"/>
              </a:rPr>
              <a:t>T2</a:t>
            </a:r>
            <a:r>
              <a:rPr sz="1550" b="1" spc="405" dirty="0">
                <a:latin typeface="Times New Roman"/>
                <a:cs typeface="Times New Roman"/>
              </a:rPr>
              <a:t> </a:t>
            </a:r>
            <a:r>
              <a:rPr sz="1550" b="1" spc="35" dirty="0">
                <a:latin typeface="Times New Roman"/>
                <a:cs typeface="Times New Roman"/>
              </a:rPr>
              <a:t>→</a:t>
            </a:r>
            <a:r>
              <a:rPr sz="1550" b="1" spc="37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T3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7875" y="428498"/>
            <a:ext cx="6057900" cy="3981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45"/>
              </a:lnSpc>
            </a:pPr>
            <a:r>
              <a:rPr sz="2800" spc="-30" dirty="0">
                <a:solidFill>
                  <a:srgbClr val="000000"/>
                </a:solidFill>
                <a:latin typeface="Times New Roman"/>
                <a:cs typeface="Times New Roman"/>
              </a:rPr>
              <a:t>View</a:t>
            </a:r>
            <a:r>
              <a:rPr sz="280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Serializability</a:t>
            </a:r>
            <a:r>
              <a:rPr sz="2800" spc="-1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0000"/>
                </a:solidFill>
                <a:latin typeface="Times New Roman"/>
                <a:cs typeface="Times New Roman"/>
              </a:rPr>
              <a:t>Example</a:t>
            </a:r>
            <a:r>
              <a:rPr sz="280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800" spc="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spc="5" dirty="0">
                <a:solidFill>
                  <a:srgbClr val="000000"/>
                </a:solidFill>
                <a:latin typeface="Times New Roman"/>
                <a:cs typeface="Times New Roman"/>
              </a:rPr>
              <a:t>cont.…: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972" y="1384890"/>
            <a:ext cx="4128302" cy="12080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9517" y="1403987"/>
            <a:ext cx="4183763" cy="12234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43532" y="1114755"/>
            <a:ext cx="96901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-5" dirty="0">
                <a:latin typeface="Times New Roman"/>
                <a:cs typeface="Times New Roman"/>
              </a:rPr>
              <a:t>Schedule</a:t>
            </a:r>
            <a:r>
              <a:rPr sz="1550" b="1" spc="145" dirty="0">
                <a:latin typeface="Times New Roman"/>
                <a:cs typeface="Times New Roman"/>
              </a:rPr>
              <a:t> </a:t>
            </a:r>
            <a:r>
              <a:rPr sz="1550" b="1" spc="20" dirty="0">
                <a:latin typeface="Times New Roman"/>
                <a:cs typeface="Times New Roman"/>
              </a:rPr>
              <a:t>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4214" y="1081785"/>
            <a:ext cx="1069340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dirty="0">
                <a:latin typeface="Times New Roman"/>
                <a:cs typeface="Times New Roman"/>
              </a:rPr>
              <a:t>Schedule</a:t>
            </a:r>
            <a:r>
              <a:rPr sz="1550" b="1" spc="12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S1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5181" y="290602"/>
            <a:ext cx="1396788" cy="3299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6003" y="167462"/>
            <a:ext cx="14262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Outline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27226" y="1194942"/>
            <a:ext cx="4057015" cy="18141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Concurrency</a:t>
            </a:r>
            <a:r>
              <a:rPr sz="2000" b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Control</a:t>
            </a:r>
            <a:r>
              <a:rPr sz="20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FF0000"/>
                </a:solidFill>
                <a:latin typeface="Arial"/>
                <a:cs typeface="Arial"/>
              </a:rPr>
              <a:t>Techniques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Lock-Based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Protocols</a:t>
            </a:r>
            <a:endParaRPr sz="18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76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latin typeface="Arial MT"/>
                <a:cs typeface="Arial MT"/>
              </a:rPr>
              <a:t>Timestamp-Based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Protocols</a:t>
            </a:r>
            <a:endParaRPr sz="1800">
              <a:latin typeface="Arial MT"/>
              <a:cs typeface="Arial MT"/>
            </a:endParaRPr>
          </a:p>
          <a:p>
            <a:pPr marL="354965" indent="-342900">
              <a:lnSpc>
                <a:spcPct val="100000"/>
              </a:lnSpc>
              <a:spcBef>
                <a:spcPts val="76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Validation-Based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Protocols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4265" y="54902"/>
            <a:ext cx="4533900" cy="905510"/>
            <a:chOff x="2694265" y="54902"/>
            <a:chExt cx="4533900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4265" y="290602"/>
              <a:ext cx="939912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1276" y="54902"/>
              <a:ext cx="676490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88436" y="54902"/>
              <a:ext cx="3739641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54935" y="167462"/>
            <a:ext cx="4307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Lock-Based </a:t>
            </a:r>
            <a:r>
              <a:rPr spc="-5" dirty="0"/>
              <a:t>Protocols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4747" y="1108964"/>
            <a:ext cx="6523990" cy="395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mechanism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control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concurrent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access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spc="10" dirty="0">
                <a:latin typeface="Arial MT"/>
                <a:cs typeface="Arial MT"/>
              </a:rPr>
              <a:t>item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37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items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5" dirty="0">
                <a:latin typeface="Arial MT"/>
                <a:cs typeface="Arial MT"/>
              </a:rPr>
              <a:t> locked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:</a:t>
            </a:r>
            <a:endParaRPr sz="1800">
              <a:latin typeface="Arial MT"/>
              <a:cs typeface="Arial MT"/>
            </a:endParaRPr>
          </a:p>
          <a:p>
            <a:pPr marL="584200" lvl="1" indent="-31623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 MT"/>
              <a:buAutoNum type="arabicPeriod"/>
              <a:tabLst>
                <a:tab pos="584835" algn="l"/>
              </a:tabLst>
            </a:pPr>
            <a:r>
              <a:rPr sz="1800" i="1" spc="-10" dirty="0">
                <a:solidFill>
                  <a:srgbClr val="000099"/>
                </a:solidFill>
                <a:latin typeface="Arial"/>
                <a:cs typeface="Arial"/>
              </a:rPr>
              <a:t>exclusive</a:t>
            </a:r>
            <a:r>
              <a:rPr sz="1800" i="1" spc="5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(X)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spc="5" dirty="0">
                <a:latin typeface="Arial"/>
                <a:cs typeface="Arial"/>
              </a:rPr>
              <a:t>mode</a:t>
            </a:r>
            <a:r>
              <a:rPr sz="1800" spc="5" dirty="0">
                <a:latin typeface="Arial MT"/>
                <a:cs typeface="Arial MT"/>
              </a:rPr>
              <a:t>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item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 </a:t>
            </a:r>
            <a:r>
              <a:rPr sz="1800" spc="-5" dirty="0">
                <a:latin typeface="Arial MT"/>
                <a:cs typeface="Arial MT"/>
              </a:rPr>
              <a:t>well </a:t>
            </a:r>
            <a:r>
              <a:rPr sz="1800" dirty="0">
                <a:latin typeface="Arial MT"/>
                <a:cs typeface="Arial MT"/>
              </a:rPr>
              <a:t>as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written.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X-lock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requested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using</a:t>
            </a:r>
            <a:r>
              <a:rPr sz="1800" spc="484" dirty="0">
                <a:latin typeface="Arial MT"/>
                <a:cs typeface="Arial MT"/>
              </a:rPr>
              <a:t> </a:t>
            </a:r>
            <a:r>
              <a:rPr sz="1800" b="1" spc="5" dirty="0">
                <a:latin typeface="Arial"/>
                <a:cs typeface="Arial"/>
              </a:rPr>
              <a:t>lock-X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instruction.</a:t>
            </a:r>
            <a:endParaRPr sz="1800">
              <a:latin typeface="Arial MT"/>
              <a:cs typeface="Arial MT"/>
            </a:endParaRPr>
          </a:p>
          <a:p>
            <a:pPr marL="584200" lvl="1" indent="-31623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 MT"/>
              <a:buAutoNum type="arabicPeriod" startAt="2"/>
              <a:tabLst>
                <a:tab pos="584835" algn="l"/>
              </a:tabLst>
            </a:pPr>
            <a:r>
              <a:rPr sz="1800" i="1" dirty="0">
                <a:solidFill>
                  <a:srgbClr val="000099"/>
                </a:solidFill>
                <a:latin typeface="Arial"/>
                <a:cs typeface="Arial"/>
              </a:rPr>
              <a:t>shared</a:t>
            </a:r>
            <a:r>
              <a:rPr sz="1800" i="1" spc="-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(S)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5" dirty="0">
                <a:latin typeface="Arial"/>
                <a:cs typeface="Arial"/>
              </a:rPr>
              <a:t>mode</a:t>
            </a:r>
            <a:r>
              <a:rPr sz="1800" spc="5" dirty="0">
                <a:latin typeface="Arial MT"/>
                <a:cs typeface="Arial MT"/>
              </a:rPr>
              <a:t>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item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only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S-lock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requested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using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b="1" spc="5" dirty="0">
                <a:latin typeface="Arial"/>
                <a:cs typeface="Arial"/>
              </a:rPr>
              <a:t>lock-S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instruction.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 marL="355600" marR="39370" indent="-342900">
              <a:lnSpc>
                <a:spcPct val="110100"/>
              </a:lnSpc>
              <a:spcBef>
                <a:spcPts val="119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Lock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requests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made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concurrency-control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manager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 the </a:t>
            </a:r>
            <a:r>
              <a:rPr sz="1800" spc="-5" dirty="0">
                <a:latin typeface="Arial MT"/>
                <a:cs typeface="Arial MT"/>
              </a:rPr>
              <a:t>programmer. </a:t>
            </a:r>
            <a:r>
              <a:rPr sz="1800" spc="5" dirty="0">
                <a:latin typeface="Arial MT"/>
                <a:cs typeface="Arial MT"/>
              </a:rPr>
              <a:t>Transaction </a:t>
            </a:r>
            <a:r>
              <a:rPr sz="1800" dirty="0">
                <a:latin typeface="Arial MT"/>
                <a:cs typeface="Arial MT"/>
              </a:rPr>
              <a:t>can </a:t>
            </a:r>
            <a:r>
              <a:rPr sz="1800" spc="5" dirty="0">
                <a:latin typeface="Arial MT"/>
                <a:cs typeface="Arial MT"/>
              </a:rPr>
              <a:t>proceed </a:t>
            </a:r>
            <a:r>
              <a:rPr sz="1800" spc="10" dirty="0">
                <a:latin typeface="Arial MT"/>
                <a:cs typeface="Arial MT"/>
              </a:rPr>
              <a:t>only </a:t>
            </a:r>
            <a:r>
              <a:rPr sz="1800" dirty="0">
                <a:latin typeface="Arial MT"/>
                <a:cs typeface="Arial MT"/>
              </a:rPr>
              <a:t>after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request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granted.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033" y="54902"/>
            <a:ext cx="5960745" cy="905510"/>
            <a:chOff x="1981033" y="54902"/>
            <a:chExt cx="5960745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033" y="290602"/>
              <a:ext cx="939912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8044" y="54902"/>
              <a:ext cx="676490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5204" y="54902"/>
              <a:ext cx="5166106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41322" y="167462"/>
            <a:ext cx="57270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Lock-Based</a:t>
            </a:r>
            <a:r>
              <a:rPr spc="25" dirty="0"/>
              <a:t> </a:t>
            </a:r>
            <a:r>
              <a:rPr spc="-10" dirty="0"/>
              <a:t>Protocols </a:t>
            </a:r>
            <a:r>
              <a:rPr spc="-5"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4747" y="1108964"/>
            <a:ext cx="3140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Lock-compatibility</a:t>
            </a:r>
            <a:r>
              <a:rPr sz="1800" b="1" spc="-10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0099"/>
                </a:solidFill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4747" y="2961894"/>
            <a:ext cx="6938645" cy="250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6685" indent="-342900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may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granted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item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requested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 </a:t>
            </a:r>
            <a:r>
              <a:rPr sz="1800" spc="15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compatible </a:t>
            </a:r>
            <a:r>
              <a:rPr sz="1800" spc="-5" dirty="0">
                <a:latin typeface="Arial MT"/>
                <a:cs typeface="Arial MT"/>
              </a:rPr>
              <a:t>with </a:t>
            </a:r>
            <a:r>
              <a:rPr sz="1800" spc="5" dirty="0">
                <a:latin typeface="Arial MT"/>
                <a:cs typeface="Arial MT"/>
              </a:rPr>
              <a:t>locks already </a:t>
            </a:r>
            <a:r>
              <a:rPr sz="1800" spc="10" dirty="0">
                <a:latin typeface="Arial MT"/>
                <a:cs typeface="Arial MT"/>
              </a:rPr>
              <a:t>held </a:t>
            </a:r>
            <a:r>
              <a:rPr sz="1800" dirty="0">
                <a:latin typeface="Arial MT"/>
                <a:cs typeface="Arial MT"/>
              </a:rPr>
              <a:t>on the </a:t>
            </a:r>
            <a:r>
              <a:rPr sz="1800" spc="10" dirty="0">
                <a:latin typeface="Arial MT"/>
                <a:cs typeface="Arial MT"/>
              </a:rPr>
              <a:t>item </a:t>
            </a:r>
            <a:r>
              <a:rPr sz="1800" spc="5" dirty="0">
                <a:latin typeface="Arial MT"/>
                <a:cs typeface="Arial MT"/>
              </a:rPr>
              <a:t>by other 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transactions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latin typeface="Arial MT"/>
                <a:cs typeface="Arial MT"/>
              </a:rPr>
              <a:t>Any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number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transactions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hold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shared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item,</a:t>
            </a:r>
            <a:endParaRPr sz="1800">
              <a:latin typeface="Arial MT"/>
              <a:cs typeface="Arial MT"/>
            </a:endParaRPr>
          </a:p>
          <a:p>
            <a:pPr marL="758190" lvl="1" indent="-288290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57555" algn="l"/>
                <a:tab pos="758190" algn="l"/>
              </a:tabLst>
            </a:pPr>
            <a:r>
              <a:rPr sz="1800" spc="-5" dirty="0">
                <a:latin typeface="Arial MT"/>
                <a:cs typeface="Arial MT"/>
              </a:rPr>
              <a:t>But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holds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exclusive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item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</a:t>
            </a:r>
            <a:endParaRPr sz="1800">
              <a:latin typeface="Arial MT"/>
              <a:cs typeface="Arial MT"/>
            </a:endParaRPr>
          </a:p>
          <a:p>
            <a:pPr marL="758190">
              <a:lnSpc>
                <a:spcPct val="100000"/>
              </a:lnSpc>
              <a:spcBef>
                <a:spcPts val="5"/>
              </a:spcBef>
            </a:pP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may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hold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item.</a:t>
            </a:r>
            <a:endParaRPr sz="1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granted,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requesting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made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wait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till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all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incompatible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released.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53511" y="1574715"/>
            <a:ext cx="2088275" cy="1196731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946133" y="1574715"/>
          <a:ext cx="2089149" cy="1196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2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5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4775" y="54902"/>
            <a:ext cx="6674484" cy="905510"/>
            <a:chOff x="1614775" y="54902"/>
            <a:chExt cx="6674484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775" y="290602"/>
              <a:ext cx="1653218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660" y="54902"/>
              <a:ext cx="676503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19" y="54902"/>
              <a:ext cx="5157088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The</a:t>
            </a:r>
            <a:r>
              <a:rPr spc="-35" dirty="0"/>
              <a:t> </a:t>
            </a:r>
            <a:r>
              <a:rPr spc="-5" dirty="0"/>
              <a:t>Two-Phase</a:t>
            </a:r>
            <a:r>
              <a:rPr spc="-30" dirty="0"/>
              <a:t> </a:t>
            </a:r>
            <a:r>
              <a:rPr spc="-10" dirty="0"/>
              <a:t>Locking</a:t>
            </a:r>
            <a:r>
              <a:rPr spc="1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5864" y="1256411"/>
            <a:ext cx="1229995" cy="2286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55"/>
              </a:lnSpc>
            </a:pPr>
            <a:r>
              <a:rPr sz="1550" b="1" spc="5" dirty="0">
                <a:latin typeface="Arial"/>
                <a:cs typeface="Arial"/>
              </a:rPr>
              <a:t>read_lock(x)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0541" y="1467586"/>
            <a:ext cx="3029585" cy="134366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  <a:tabLst>
                <a:tab pos="382905" algn="l"/>
              </a:tabLst>
            </a:pPr>
            <a:r>
              <a:rPr sz="1550" spc="10" dirty="0">
                <a:latin typeface="Arial MT"/>
                <a:cs typeface="Arial MT"/>
              </a:rPr>
              <a:t>B:	if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lock(x)=“unlocked”</a:t>
            </a:r>
            <a:endParaRPr sz="1550">
              <a:latin typeface="Arial MT"/>
              <a:cs typeface="Arial MT"/>
            </a:endParaRPr>
          </a:p>
          <a:p>
            <a:pPr marL="840740" marR="5080">
              <a:lnSpc>
                <a:spcPct val="139400"/>
              </a:lnSpc>
              <a:spcBef>
                <a:spcPts val="5"/>
              </a:spcBef>
              <a:tabLst>
                <a:tab pos="2490470" algn="l"/>
              </a:tabLst>
            </a:pPr>
            <a:r>
              <a:rPr sz="1550" dirty="0">
                <a:latin typeface="Arial MT"/>
                <a:cs typeface="Arial MT"/>
              </a:rPr>
              <a:t>then,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lock(x)=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“readlock” </a:t>
            </a:r>
            <a:r>
              <a:rPr sz="1550" spc="-41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no_of_reads(x)	</a:t>
            </a:r>
            <a:r>
              <a:rPr sz="1550" spc="20" dirty="0">
                <a:latin typeface="Arial MT"/>
                <a:cs typeface="Arial MT"/>
              </a:rPr>
              <a:t>1 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1254" y="2785465"/>
            <a:ext cx="2333625" cy="1343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 algn="just">
              <a:lnSpc>
                <a:spcPct val="139400"/>
              </a:lnSpc>
              <a:spcBef>
                <a:spcPts val="95"/>
              </a:spcBef>
            </a:pPr>
            <a:r>
              <a:rPr sz="1550" spc="10" dirty="0">
                <a:latin typeface="Arial MT"/>
                <a:cs typeface="Arial MT"/>
              </a:rPr>
              <a:t>else if </a:t>
            </a:r>
            <a:r>
              <a:rPr sz="1550" spc="15" dirty="0">
                <a:latin typeface="Arial MT"/>
                <a:cs typeface="Arial MT"/>
              </a:rPr>
              <a:t>lock(x)= </a:t>
            </a:r>
            <a:r>
              <a:rPr sz="1550" spc="10" dirty="0">
                <a:latin typeface="Arial MT"/>
                <a:cs typeface="Arial MT"/>
              </a:rPr>
              <a:t>“readlock” </a:t>
            </a:r>
            <a:r>
              <a:rPr sz="1550" spc="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then, </a:t>
            </a:r>
            <a:r>
              <a:rPr sz="1550" spc="5" dirty="0">
                <a:latin typeface="Arial MT"/>
                <a:cs typeface="Arial MT"/>
              </a:rPr>
              <a:t>no_of_reads(x) </a:t>
            </a:r>
            <a:r>
              <a:rPr sz="1550" spc="-42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550" spc="10" dirty="0">
                <a:latin typeface="Arial MT"/>
                <a:cs typeface="Arial MT"/>
              </a:rPr>
              <a:t>else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2153" y="3202940"/>
            <a:ext cx="167830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5" dirty="0">
                <a:latin typeface="Arial MT"/>
                <a:cs typeface="Arial MT"/>
              </a:rPr>
              <a:t>no_of_reads(x)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+1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1254" y="4191127"/>
            <a:ext cx="5544185" cy="11728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sz="1550" spc="20" dirty="0">
                <a:latin typeface="Arial MT"/>
                <a:cs typeface="Arial MT"/>
              </a:rPr>
              <a:t>wait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(until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lock(x)=“unlocked”)</a:t>
            </a:r>
            <a:r>
              <a:rPr sz="1550" spc="18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lock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manager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wakeup</a:t>
            </a:r>
            <a:endParaRPr sz="15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</a:pPr>
            <a:r>
              <a:rPr sz="1550" spc="5" dirty="0">
                <a:latin typeface="Arial MT"/>
                <a:cs typeface="Arial MT"/>
              </a:rPr>
              <a:t>transaction</a:t>
            </a:r>
            <a:endParaRPr sz="1550">
              <a:latin typeface="Arial MT"/>
              <a:cs typeface="Arial MT"/>
            </a:endParaRPr>
          </a:p>
          <a:p>
            <a:pPr marL="12700" marR="4883785">
              <a:lnSpc>
                <a:spcPct val="139500"/>
              </a:lnSpc>
            </a:pPr>
            <a:r>
              <a:rPr sz="1550" spc="10" dirty="0">
                <a:latin typeface="Arial MT"/>
                <a:cs typeface="Arial MT"/>
              </a:rPr>
              <a:t>goto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B; </a:t>
            </a:r>
            <a:r>
              <a:rPr sz="1550" spc="-415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93008" y="2321051"/>
            <a:ext cx="255904" cy="76200"/>
          </a:xfrm>
          <a:custGeom>
            <a:avLst/>
            <a:gdLst/>
            <a:ahLst/>
            <a:cxnLst/>
            <a:rect l="l" t="t" r="r" b="b"/>
            <a:pathLst>
              <a:path w="25590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5590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55904" h="76200">
                <a:moveTo>
                  <a:pt x="25552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55524" y="44450"/>
                </a:lnTo>
                <a:lnTo>
                  <a:pt x="25552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95928" y="3317747"/>
            <a:ext cx="255904" cy="76200"/>
          </a:xfrm>
          <a:custGeom>
            <a:avLst/>
            <a:gdLst/>
            <a:ahLst/>
            <a:cxnLst/>
            <a:rect l="l" t="t" r="r" b="b"/>
            <a:pathLst>
              <a:path w="25590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5590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55904" h="76200">
                <a:moveTo>
                  <a:pt x="25565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55650" y="44450"/>
                </a:lnTo>
                <a:lnTo>
                  <a:pt x="25565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4775" y="54902"/>
            <a:ext cx="6674484" cy="905510"/>
            <a:chOff x="1614775" y="54902"/>
            <a:chExt cx="6674484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775" y="290602"/>
              <a:ext cx="1653218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660" y="54902"/>
              <a:ext cx="676503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19" y="54902"/>
              <a:ext cx="5157088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The</a:t>
            </a:r>
            <a:r>
              <a:rPr spc="-35" dirty="0"/>
              <a:t> </a:t>
            </a:r>
            <a:r>
              <a:rPr spc="-5" dirty="0"/>
              <a:t>Two-Phase</a:t>
            </a:r>
            <a:r>
              <a:rPr spc="-30" dirty="0"/>
              <a:t> </a:t>
            </a:r>
            <a:r>
              <a:rPr spc="-10" dirty="0"/>
              <a:t>Locking</a:t>
            </a:r>
            <a:r>
              <a:rPr spc="1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5864" y="1256411"/>
            <a:ext cx="1280160" cy="2286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55"/>
              </a:lnSpc>
            </a:pPr>
            <a:r>
              <a:rPr sz="1550" b="1" spc="10" dirty="0">
                <a:latin typeface="Arial"/>
                <a:cs typeface="Arial"/>
              </a:rPr>
              <a:t>write_lock(x)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0541" y="1467586"/>
            <a:ext cx="5915025" cy="257873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  <a:tabLst>
                <a:tab pos="382905" algn="l"/>
              </a:tabLst>
            </a:pPr>
            <a:r>
              <a:rPr sz="1550" spc="10" dirty="0">
                <a:latin typeface="Arial MT"/>
                <a:cs typeface="Arial MT"/>
              </a:rPr>
              <a:t>B:	if</a:t>
            </a:r>
            <a:r>
              <a:rPr sz="1550" spc="-1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lock(x)=“unlocked”</a:t>
            </a:r>
            <a:endParaRPr sz="1550">
              <a:latin typeface="Arial MT"/>
              <a:cs typeface="Arial MT"/>
            </a:endParaRPr>
          </a:p>
          <a:p>
            <a:pPr marL="840740">
              <a:lnSpc>
                <a:spcPct val="100000"/>
              </a:lnSpc>
              <a:spcBef>
                <a:spcPts val="735"/>
              </a:spcBef>
            </a:pPr>
            <a:r>
              <a:rPr sz="1550" dirty="0">
                <a:latin typeface="Arial MT"/>
                <a:cs typeface="Arial MT"/>
              </a:rPr>
              <a:t>then,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lock(x)=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“writelock”</a:t>
            </a:r>
            <a:endParaRPr sz="1550">
              <a:latin typeface="Arial MT"/>
              <a:cs typeface="Arial MT"/>
            </a:endParaRPr>
          </a:p>
          <a:p>
            <a:pPr marL="840740">
              <a:lnSpc>
                <a:spcPct val="100000"/>
              </a:lnSpc>
              <a:spcBef>
                <a:spcPts val="735"/>
              </a:spcBef>
            </a:pP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  <a:p>
            <a:pPr marL="382905">
              <a:lnSpc>
                <a:spcPct val="100000"/>
              </a:lnSpc>
              <a:spcBef>
                <a:spcPts val="735"/>
              </a:spcBef>
            </a:pPr>
            <a:r>
              <a:rPr sz="1550" spc="10" dirty="0">
                <a:latin typeface="Arial MT"/>
                <a:cs typeface="Arial MT"/>
              </a:rPr>
              <a:t>else</a:t>
            </a:r>
            <a:endParaRPr sz="1550">
              <a:latin typeface="Arial MT"/>
              <a:cs typeface="Arial MT"/>
            </a:endParaRPr>
          </a:p>
          <a:p>
            <a:pPr marL="840740">
              <a:lnSpc>
                <a:spcPct val="100000"/>
              </a:lnSpc>
              <a:spcBef>
                <a:spcPts val="735"/>
              </a:spcBef>
            </a:pPr>
            <a:r>
              <a:rPr sz="1550" spc="20" dirty="0">
                <a:latin typeface="Arial MT"/>
                <a:cs typeface="Arial MT"/>
              </a:rPr>
              <a:t>wait</a:t>
            </a:r>
            <a:r>
              <a:rPr sz="1550" spc="-1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(until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lock(x)=“unlocked”)</a:t>
            </a:r>
            <a:r>
              <a:rPr sz="1550" spc="18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lock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manager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wakeup</a:t>
            </a:r>
            <a:endParaRPr sz="1550">
              <a:latin typeface="Arial MT"/>
              <a:cs typeface="Arial MT"/>
            </a:endParaRPr>
          </a:p>
          <a:p>
            <a:pPr marL="840740">
              <a:lnSpc>
                <a:spcPct val="100000"/>
              </a:lnSpc>
              <a:spcBef>
                <a:spcPts val="80"/>
              </a:spcBef>
            </a:pPr>
            <a:r>
              <a:rPr sz="1550" spc="5" dirty="0">
                <a:latin typeface="Arial MT"/>
                <a:cs typeface="Arial MT"/>
              </a:rPr>
              <a:t>transaction</a:t>
            </a:r>
            <a:endParaRPr sz="1550">
              <a:latin typeface="Arial MT"/>
              <a:cs typeface="Arial MT"/>
            </a:endParaRPr>
          </a:p>
          <a:p>
            <a:pPr marL="382905">
              <a:lnSpc>
                <a:spcPct val="100000"/>
              </a:lnSpc>
              <a:spcBef>
                <a:spcPts val="735"/>
              </a:spcBef>
            </a:pPr>
            <a:r>
              <a:rPr sz="1550" spc="10" dirty="0">
                <a:latin typeface="Arial MT"/>
                <a:cs typeface="Arial MT"/>
              </a:rPr>
              <a:t>goto</a:t>
            </a:r>
            <a:r>
              <a:rPr sz="1550" spc="1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B;</a:t>
            </a:r>
            <a:endParaRPr sz="1550">
              <a:latin typeface="Arial MT"/>
              <a:cs typeface="Arial MT"/>
            </a:endParaRPr>
          </a:p>
          <a:p>
            <a:pPr marL="382905">
              <a:lnSpc>
                <a:spcPct val="100000"/>
              </a:lnSpc>
              <a:spcBef>
                <a:spcPts val="735"/>
              </a:spcBef>
            </a:pP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4775" y="54902"/>
            <a:ext cx="6674484" cy="905510"/>
            <a:chOff x="1614775" y="54902"/>
            <a:chExt cx="6674484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775" y="290602"/>
              <a:ext cx="1653218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660" y="54902"/>
              <a:ext cx="676503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19" y="54902"/>
              <a:ext cx="5157088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The</a:t>
            </a:r>
            <a:r>
              <a:rPr spc="-35" dirty="0"/>
              <a:t> </a:t>
            </a:r>
            <a:r>
              <a:rPr spc="-5" dirty="0"/>
              <a:t>Two-Phase</a:t>
            </a:r>
            <a:r>
              <a:rPr spc="-30" dirty="0"/>
              <a:t> </a:t>
            </a:r>
            <a:r>
              <a:rPr spc="-10" dirty="0"/>
              <a:t>Locking</a:t>
            </a:r>
            <a:r>
              <a:rPr spc="1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05864" y="1256411"/>
            <a:ext cx="946785" cy="2286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55"/>
              </a:lnSpc>
            </a:pPr>
            <a:r>
              <a:rPr sz="1550" b="1" spc="10" dirty="0">
                <a:latin typeface="Arial"/>
                <a:cs typeface="Arial"/>
              </a:rPr>
              <a:t>unlock(x)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0541" y="1467586"/>
            <a:ext cx="3067050" cy="134366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  <a:tabLst>
                <a:tab pos="382905" algn="l"/>
              </a:tabLst>
            </a:pPr>
            <a:r>
              <a:rPr sz="1550" spc="10" dirty="0">
                <a:latin typeface="Arial MT"/>
                <a:cs typeface="Arial MT"/>
              </a:rPr>
              <a:t>B:	if</a:t>
            </a:r>
            <a:r>
              <a:rPr sz="1550" spc="-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lock(x)=“writelock”</a:t>
            </a:r>
            <a:endParaRPr sz="1550">
              <a:latin typeface="Arial MT"/>
              <a:cs typeface="Arial MT"/>
            </a:endParaRPr>
          </a:p>
          <a:p>
            <a:pPr marL="840740">
              <a:lnSpc>
                <a:spcPct val="100000"/>
              </a:lnSpc>
              <a:spcBef>
                <a:spcPts val="735"/>
              </a:spcBef>
            </a:pPr>
            <a:r>
              <a:rPr sz="1550" dirty="0">
                <a:latin typeface="Arial MT"/>
                <a:cs typeface="Arial MT"/>
              </a:rPr>
              <a:t>then,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lock(x)=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“unlocked”</a:t>
            </a:r>
            <a:endParaRPr sz="1550">
              <a:latin typeface="Arial MT"/>
              <a:cs typeface="Arial MT"/>
            </a:endParaRPr>
          </a:p>
          <a:p>
            <a:pPr marL="840740">
              <a:lnSpc>
                <a:spcPct val="100000"/>
              </a:lnSpc>
              <a:spcBef>
                <a:spcPts val="735"/>
              </a:spcBef>
            </a:pP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  <a:p>
            <a:pPr marL="382905">
              <a:lnSpc>
                <a:spcPct val="100000"/>
              </a:lnSpc>
              <a:spcBef>
                <a:spcPts val="735"/>
              </a:spcBef>
            </a:pPr>
            <a:r>
              <a:rPr sz="1550" spc="10" dirty="0">
                <a:latin typeface="Arial MT"/>
                <a:cs typeface="Arial MT"/>
              </a:rPr>
              <a:t>else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if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lock(x)=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“readlock”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2153" y="2873502"/>
            <a:ext cx="162877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5" dirty="0">
                <a:latin typeface="Arial MT"/>
                <a:cs typeface="Arial MT"/>
              </a:rPr>
              <a:t>no_of_reads(x)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-1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08707" y="2785465"/>
            <a:ext cx="2181225" cy="10140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14629">
              <a:lnSpc>
                <a:spcPct val="139500"/>
              </a:lnSpc>
              <a:spcBef>
                <a:spcPts val="90"/>
              </a:spcBef>
            </a:pPr>
            <a:r>
              <a:rPr sz="1550" dirty="0">
                <a:latin typeface="Arial MT"/>
                <a:cs typeface="Arial MT"/>
              </a:rPr>
              <a:t>then,</a:t>
            </a:r>
            <a:r>
              <a:rPr sz="1550" spc="4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no_of_reads(x) </a:t>
            </a:r>
            <a:r>
              <a:rPr sz="1550" spc="-41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if</a:t>
            </a:r>
            <a:r>
              <a:rPr sz="1550" spc="1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(no_of_reads(x)</a:t>
            </a:r>
            <a:r>
              <a:rPr sz="1550" spc="18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=0)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550" spc="5" dirty="0">
                <a:latin typeface="Arial MT"/>
                <a:cs typeface="Arial MT"/>
              </a:rPr>
              <a:t>then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lock(x)=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“unlocked”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1254" y="3773398"/>
            <a:ext cx="4469765" cy="10140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900" marR="5080">
              <a:lnSpc>
                <a:spcPct val="139500"/>
              </a:lnSpc>
              <a:spcBef>
                <a:spcPts val="90"/>
              </a:spcBef>
            </a:pPr>
            <a:r>
              <a:rPr sz="1550" spc="15" dirty="0">
                <a:latin typeface="Arial MT"/>
                <a:cs typeface="Arial MT"/>
              </a:rPr>
              <a:t>wakeup </a:t>
            </a:r>
            <a:r>
              <a:rPr sz="1550" spc="5" dirty="0">
                <a:latin typeface="Arial MT"/>
                <a:cs typeface="Arial MT"/>
              </a:rPr>
              <a:t>one </a:t>
            </a:r>
            <a:r>
              <a:rPr sz="1550" dirty="0">
                <a:latin typeface="Arial MT"/>
                <a:cs typeface="Arial MT"/>
              </a:rPr>
              <a:t>of </a:t>
            </a:r>
            <a:r>
              <a:rPr sz="1550" spc="5" dirty="0">
                <a:latin typeface="Arial MT"/>
                <a:cs typeface="Arial MT"/>
              </a:rPr>
              <a:t>the </a:t>
            </a:r>
            <a:r>
              <a:rPr sz="1550" spc="10" dirty="0">
                <a:latin typeface="Arial MT"/>
                <a:cs typeface="Arial MT"/>
              </a:rPr>
              <a:t>waiting </a:t>
            </a:r>
            <a:r>
              <a:rPr sz="1550" spc="5" dirty="0">
                <a:latin typeface="Arial MT"/>
                <a:cs typeface="Arial MT"/>
              </a:rPr>
              <a:t>transaction,</a:t>
            </a:r>
            <a:r>
              <a:rPr sz="1550" spc="10" dirty="0">
                <a:latin typeface="Arial MT"/>
                <a:cs typeface="Arial MT"/>
              </a:rPr>
              <a:t> if </a:t>
            </a:r>
            <a:r>
              <a:rPr sz="1550" dirty="0">
                <a:latin typeface="Arial MT"/>
                <a:cs typeface="Arial MT"/>
              </a:rPr>
              <a:t>any </a:t>
            </a:r>
            <a:r>
              <a:rPr sz="1550" spc="-420" dirty="0">
                <a:latin typeface="Arial MT"/>
                <a:cs typeface="Arial MT"/>
              </a:rPr>
              <a:t> </a:t>
            </a: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550" spc="-5" dirty="0">
                <a:latin typeface="Arial MT"/>
                <a:cs typeface="Arial MT"/>
              </a:rPr>
              <a:t>end;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27932" y="2983992"/>
            <a:ext cx="255904" cy="76200"/>
          </a:xfrm>
          <a:custGeom>
            <a:avLst/>
            <a:gdLst/>
            <a:ahLst/>
            <a:cxnLst/>
            <a:rect l="l" t="t" r="r" b="b"/>
            <a:pathLst>
              <a:path w="25590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25590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255904" h="76200">
                <a:moveTo>
                  <a:pt x="25565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255650" y="44450"/>
                </a:lnTo>
                <a:lnTo>
                  <a:pt x="25565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4775" y="54902"/>
            <a:ext cx="6674484" cy="905510"/>
            <a:chOff x="1614775" y="54902"/>
            <a:chExt cx="6674484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775" y="290602"/>
              <a:ext cx="1653218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660" y="54902"/>
              <a:ext cx="676503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19" y="54902"/>
              <a:ext cx="5157088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The</a:t>
            </a:r>
            <a:r>
              <a:rPr spc="-35" dirty="0"/>
              <a:t> </a:t>
            </a:r>
            <a:r>
              <a:rPr spc="-5" dirty="0"/>
              <a:t>Two-Phase</a:t>
            </a:r>
            <a:r>
              <a:rPr spc="-30" dirty="0"/>
              <a:t> </a:t>
            </a:r>
            <a:r>
              <a:rPr spc="-10" dirty="0"/>
              <a:t>Locking</a:t>
            </a:r>
            <a:r>
              <a:rPr spc="1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93698" y="1226007"/>
            <a:ext cx="6889750" cy="393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spc="10" dirty="0">
                <a:latin typeface="Arial MT"/>
                <a:cs typeface="Arial MT"/>
              </a:rPr>
              <a:t>This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protocol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conflict-serializable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schedules.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8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b="1" spc="-10" dirty="0">
                <a:latin typeface="Arial"/>
                <a:cs typeface="Arial"/>
              </a:rPr>
              <a:t>Phase </a:t>
            </a:r>
            <a:r>
              <a:rPr sz="1800" b="1" dirty="0">
                <a:latin typeface="Arial"/>
                <a:cs typeface="Arial"/>
              </a:rPr>
              <a:t>1: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Growing Phase</a:t>
            </a:r>
            <a:endParaRPr sz="1800">
              <a:latin typeface="Arial"/>
              <a:cs typeface="Arial"/>
            </a:endParaRPr>
          </a:p>
          <a:p>
            <a:pPr marL="758190" lvl="1" indent="-28892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this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phase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only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acquire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cannot</a:t>
            </a:r>
            <a:endParaRPr sz="1800">
              <a:latin typeface="Arial MT"/>
              <a:cs typeface="Arial MT"/>
            </a:endParaRPr>
          </a:p>
          <a:p>
            <a:pPr marL="758190">
              <a:lnSpc>
                <a:spcPct val="100000"/>
              </a:lnSpc>
            </a:pPr>
            <a:r>
              <a:rPr sz="1800" spc="5" dirty="0">
                <a:latin typeface="Arial MT"/>
                <a:cs typeface="Arial MT"/>
              </a:rPr>
              <a:t>release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8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b="1" spc="-10" dirty="0">
                <a:latin typeface="Arial"/>
                <a:cs typeface="Arial"/>
              </a:rPr>
              <a:t>Phase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2: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Shrinking</a:t>
            </a:r>
            <a:r>
              <a:rPr sz="1800" b="1" spc="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Phase</a:t>
            </a:r>
            <a:endParaRPr sz="1800">
              <a:latin typeface="Arial"/>
              <a:cs typeface="Arial"/>
            </a:endParaRPr>
          </a:p>
          <a:p>
            <a:pPr marL="758190" lvl="1" indent="-28892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may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release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locks</a:t>
            </a:r>
            <a:endParaRPr sz="1800">
              <a:latin typeface="Arial MT"/>
              <a:cs typeface="Arial MT"/>
            </a:endParaRPr>
          </a:p>
          <a:p>
            <a:pPr marL="758190" lvl="1" indent="-288925">
              <a:lnSpc>
                <a:spcPct val="100000"/>
              </a:lnSpc>
              <a:spcBef>
                <a:spcPts val="760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may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 </a:t>
            </a:r>
            <a:r>
              <a:rPr sz="1800" spc="5" dirty="0">
                <a:latin typeface="Arial MT"/>
                <a:cs typeface="Arial MT"/>
              </a:rPr>
              <a:t>obtain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buClr>
                <a:srgbClr val="FF9933"/>
              </a:buClr>
              <a:buFont typeface="Wingdings"/>
              <a:buChar char=""/>
            </a:pP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55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protocol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assures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serializability.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4775" y="54902"/>
            <a:ext cx="6674484" cy="905510"/>
            <a:chOff x="1614775" y="54902"/>
            <a:chExt cx="6674484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4775" y="290602"/>
              <a:ext cx="1653218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660" y="54902"/>
              <a:ext cx="676503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1819" y="54902"/>
              <a:ext cx="5157088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The</a:t>
            </a:r>
            <a:r>
              <a:rPr spc="-35" dirty="0"/>
              <a:t> </a:t>
            </a:r>
            <a:r>
              <a:rPr spc="-5" dirty="0"/>
              <a:t>Two-Phase</a:t>
            </a:r>
            <a:r>
              <a:rPr spc="-30" dirty="0"/>
              <a:t> </a:t>
            </a:r>
            <a:r>
              <a:rPr spc="-10" dirty="0"/>
              <a:t>Locking</a:t>
            </a:r>
            <a:r>
              <a:rPr spc="10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93698" y="1226007"/>
            <a:ext cx="4938395" cy="2894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spc="-5" dirty="0">
                <a:latin typeface="Arial MT"/>
                <a:cs typeface="Arial MT"/>
              </a:rPr>
              <a:t>Problems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phase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locking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8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b="1" spc="-5" dirty="0">
                <a:latin typeface="Arial"/>
                <a:cs typeface="Arial"/>
              </a:rPr>
              <a:t>Advantage-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Always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ensures</a:t>
            </a:r>
            <a:r>
              <a:rPr sz="1800" b="1" spc="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serializability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0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137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b="1" dirty="0">
                <a:latin typeface="Arial"/>
                <a:cs typeface="Arial"/>
              </a:rPr>
              <a:t>Disadvantages-</a:t>
            </a:r>
            <a:endParaRPr sz="1800">
              <a:latin typeface="Arial"/>
              <a:cs typeface="Arial"/>
            </a:endParaRPr>
          </a:p>
          <a:p>
            <a:pPr marL="758190" lvl="1" indent="-28892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free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from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deadlock</a:t>
            </a:r>
            <a:endParaRPr sz="1800">
              <a:latin typeface="Arial MT"/>
              <a:cs typeface="Arial MT"/>
            </a:endParaRPr>
          </a:p>
          <a:p>
            <a:pPr marL="758190" lvl="1" indent="-288925">
              <a:lnSpc>
                <a:spcPct val="100000"/>
              </a:lnSpc>
              <a:spcBef>
                <a:spcPts val="760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free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from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cascading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rollback</a:t>
            </a:r>
            <a:endParaRPr sz="1800">
              <a:latin typeface="Arial MT"/>
              <a:cs typeface="Arial MT"/>
            </a:endParaRPr>
          </a:p>
          <a:p>
            <a:pPr marL="758190" lvl="1" indent="-28892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800" spc="-25" dirty="0">
                <a:latin typeface="Arial MT"/>
                <a:cs typeface="Arial MT"/>
              </a:rPr>
              <a:t>M</a:t>
            </a:r>
            <a:r>
              <a:rPr sz="1800" spc="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5" dirty="0">
                <a:latin typeface="Arial MT"/>
                <a:cs typeface="Arial MT"/>
              </a:rPr>
              <a:t> no</a:t>
            </a:r>
            <a:r>
              <a:rPr sz="1800" dirty="0">
                <a:latin typeface="Arial MT"/>
                <a:cs typeface="Arial MT"/>
              </a:rPr>
              <a:t>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</a:t>
            </a:r>
            <a:r>
              <a:rPr sz="1800" spc="15" dirty="0">
                <a:latin typeface="Arial MT"/>
                <a:cs typeface="Arial MT"/>
              </a:rPr>
              <a:t>r</a:t>
            </a:r>
            <a:r>
              <a:rPr sz="1800" spc="5" dirty="0">
                <a:latin typeface="Arial MT"/>
                <a:cs typeface="Arial MT"/>
              </a:rPr>
              <a:t>e</a:t>
            </a:r>
            <a:r>
              <a:rPr sz="1800" dirty="0">
                <a:latin typeface="Arial MT"/>
                <a:cs typeface="Arial MT"/>
              </a:rPr>
              <a:t>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</a:t>
            </a:r>
            <a:r>
              <a:rPr sz="1800" spc="15" dirty="0">
                <a:latin typeface="Arial MT"/>
                <a:cs typeface="Arial MT"/>
              </a:rPr>
              <a:t>r</a:t>
            </a:r>
            <a:r>
              <a:rPr sz="1800" spc="5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30" dirty="0">
                <a:latin typeface="Arial MT"/>
                <a:cs typeface="Arial MT"/>
              </a:rPr>
              <a:t>i</a:t>
            </a:r>
            <a:r>
              <a:rPr sz="1800" spc="10" dirty="0">
                <a:latin typeface="Arial MT"/>
                <a:cs typeface="Arial MT"/>
              </a:rPr>
              <a:t>rr</a:t>
            </a:r>
            <a:r>
              <a:rPr sz="1800" spc="5" dirty="0">
                <a:latin typeface="Arial MT"/>
                <a:cs typeface="Arial MT"/>
              </a:rPr>
              <a:t>e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5" dirty="0">
                <a:latin typeface="Arial MT"/>
                <a:cs typeface="Arial MT"/>
              </a:rPr>
              <a:t>o</a:t>
            </a:r>
            <a:r>
              <a:rPr sz="1800" dirty="0">
                <a:latin typeface="Arial MT"/>
                <a:cs typeface="Arial MT"/>
              </a:rPr>
              <a:t>v</a:t>
            </a:r>
            <a:r>
              <a:rPr sz="1800" spc="5" dirty="0">
                <a:latin typeface="Arial MT"/>
                <a:cs typeface="Arial MT"/>
              </a:rPr>
              <a:t>e</a:t>
            </a:r>
            <a:r>
              <a:rPr sz="1800" spc="10" dirty="0">
                <a:latin typeface="Arial MT"/>
                <a:cs typeface="Arial MT"/>
              </a:rPr>
              <a:t>r</a:t>
            </a:r>
            <a:r>
              <a:rPr sz="1800" spc="5" dirty="0">
                <a:latin typeface="Arial MT"/>
                <a:cs typeface="Arial MT"/>
              </a:rPr>
              <a:t>ab</a:t>
            </a:r>
            <a:r>
              <a:rPr sz="1800" dirty="0">
                <a:latin typeface="Arial MT"/>
                <a:cs typeface="Arial MT"/>
              </a:rPr>
              <a:t>le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</a:t>
            </a:r>
            <a:r>
              <a:rPr sz="1800" spc="5" dirty="0">
                <a:latin typeface="Arial MT"/>
                <a:cs typeface="Arial MT"/>
              </a:rPr>
              <a:t>hedu</a:t>
            </a:r>
            <a:r>
              <a:rPr sz="1800" spc="30" dirty="0">
                <a:latin typeface="Arial MT"/>
                <a:cs typeface="Arial MT"/>
              </a:rPr>
              <a:t>l</a:t>
            </a:r>
            <a:r>
              <a:rPr sz="180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4237" y="290602"/>
            <a:ext cx="2008081" cy="3299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84853" y="167462"/>
            <a:ext cx="20510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</a:t>
            </a:r>
            <a:r>
              <a:rPr spc="-30" dirty="0"/>
              <a:t>e</a:t>
            </a:r>
            <a:r>
              <a:rPr spc="-20" dirty="0"/>
              <a:t>a</a:t>
            </a:r>
            <a:r>
              <a:rPr spc="-15" dirty="0"/>
              <a:t>d</a:t>
            </a:r>
            <a:r>
              <a:rPr dirty="0"/>
              <a:t>lo</a:t>
            </a:r>
            <a:r>
              <a:rPr spc="-20" dirty="0"/>
              <a:t>ck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4747" y="1081532"/>
            <a:ext cx="333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5" dirty="0">
                <a:latin typeface="Arial MT"/>
                <a:cs typeface="Arial MT"/>
              </a:rPr>
              <a:t>Consider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partial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schedule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347" y="4320667"/>
            <a:ext cx="6828790" cy="17272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0" marR="30480" indent="-342900">
              <a:lnSpc>
                <a:spcPct val="90000"/>
              </a:lnSpc>
              <a:spcBef>
                <a:spcPts val="31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1800" spc="5" dirty="0">
                <a:latin typeface="Arial MT"/>
                <a:cs typeface="Arial MT"/>
              </a:rPr>
              <a:t>Neither </a:t>
            </a:r>
            <a:r>
              <a:rPr sz="1800" i="1" spc="15" dirty="0">
                <a:latin typeface="Arial"/>
                <a:cs typeface="Arial"/>
              </a:rPr>
              <a:t>T</a:t>
            </a:r>
            <a:r>
              <a:rPr sz="1725" i="1" spc="22" baseline="-21739" dirty="0">
                <a:latin typeface="Arial"/>
                <a:cs typeface="Arial"/>
              </a:rPr>
              <a:t>3</a:t>
            </a:r>
            <a:r>
              <a:rPr sz="1725" i="1" spc="30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nor </a:t>
            </a:r>
            <a:r>
              <a:rPr sz="1800" i="1" spc="15" dirty="0">
                <a:latin typeface="Arial"/>
                <a:cs typeface="Arial"/>
              </a:rPr>
              <a:t>T</a:t>
            </a:r>
            <a:r>
              <a:rPr sz="1725" i="1" spc="22" baseline="-21739" dirty="0">
                <a:latin typeface="Arial"/>
                <a:cs typeface="Arial"/>
              </a:rPr>
              <a:t>4</a:t>
            </a:r>
            <a:r>
              <a:rPr sz="1725" i="1" spc="30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can </a:t>
            </a:r>
            <a:r>
              <a:rPr sz="1800" spc="-15" dirty="0">
                <a:latin typeface="Arial MT"/>
                <a:cs typeface="Arial MT"/>
              </a:rPr>
              <a:t>make </a:t>
            </a:r>
            <a:r>
              <a:rPr sz="1800" dirty="0">
                <a:latin typeface="Arial MT"/>
                <a:cs typeface="Arial MT"/>
              </a:rPr>
              <a:t>progress — executing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lock-S</a:t>
            </a:r>
            <a:r>
              <a:rPr sz="1800" i="1" dirty="0">
                <a:latin typeface="Arial"/>
                <a:cs typeface="Arial"/>
              </a:rPr>
              <a:t>(B) </a:t>
            </a:r>
            <a:r>
              <a:rPr sz="1800" i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causes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i="1" spc="5" dirty="0">
                <a:latin typeface="Arial"/>
                <a:cs typeface="Arial"/>
              </a:rPr>
              <a:t>T</a:t>
            </a:r>
            <a:r>
              <a:rPr sz="1800" i="1" spc="7" baseline="-20833" dirty="0">
                <a:latin typeface="Arial"/>
                <a:cs typeface="Arial"/>
              </a:rPr>
              <a:t>4</a:t>
            </a:r>
            <a:r>
              <a:rPr sz="1800" i="1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wait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i="1" spc="5" dirty="0">
                <a:latin typeface="Arial"/>
                <a:cs typeface="Arial"/>
              </a:rPr>
              <a:t>T</a:t>
            </a:r>
            <a:r>
              <a:rPr sz="1800" i="1" spc="7" baseline="-20833" dirty="0">
                <a:latin typeface="Arial"/>
                <a:cs typeface="Arial"/>
              </a:rPr>
              <a:t>3</a:t>
            </a:r>
            <a:r>
              <a:rPr sz="1800" i="1" spc="179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release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B</a:t>
            </a:r>
            <a:r>
              <a:rPr sz="1800" spc="-10" dirty="0">
                <a:latin typeface="Arial MT"/>
                <a:cs typeface="Arial MT"/>
              </a:rPr>
              <a:t>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while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executing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lock-X</a:t>
            </a:r>
            <a:r>
              <a:rPr sz="1800" i="1" dirty="0">
                <a:latin typeface="Arial"/>
                <a:cs typeface="Arial"/>
              </a:rPr>
              <a:t>(A)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causes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i="1" spc="15" dirty="0">
                <a:latin typeface="Arial"/>
                <a:cs typeface="Arial"/>
              </a:rPr>
              <a:t>T</a:t>
            </a:r>
            <a:r>
              <a:rPr sz="1725" i="1" spc="22" baseline="-21739" dirty="0">
                <a:latin typeface="Arial"/>
                <a:cs typeface="Arial"/>
              </a:rPr>
              <a:t>3</a:t>
            </a:r>
            <a:r>
              <a:rPr sz="1725" i="1" spc="517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wait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spc="15" dirty="0">
                <a:latin typeface="Arial"/>
                <a:cs typeface="Arial"/>
              </a:rPr>
              <a:t>T</a:t>
            </a:r>
            <a:r>
              <a:rPr sz="1725" i="1" spc="22" baseline="-21739" dirty="0">
                <a:latin typeface="Arial"/>
                <a:cs typeface="Arial"/>
              </a:rPr>
              <a:t>4</a:t>
            </a:r>
            <a:r>
              <a:rPr sz="1725" i="1" spc="254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release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 </a:t>
            </a:r>
            <a:r>
              <a:rPr sz="1800" i="1" spc="-10" dirty="0">
                <a:latin typeface="Arial"/>
                <a:cs typeface="Arial"/>
              </a:rPr>
              <a:t>A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54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1800" spc="-5" dirty="0">
                <a:latin typeface="Arial MT"/>
                <a:cs typeface="Arial MT"/>
              </a:rPr>
              <a:t>Such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situation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called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</a:t>
            </a:r>
            <a:r>
              <a:rPr sz="1800" b="1" spc="5" dirty="0">
                <a:solidFill>
                  <a:srgbClr val="000099"/>
                </a:solidFill>
                <a:latin typeface="Arial"/>
                <a:cs typeface="Arial"/>
              </a:rPr>
              <a:t>deadlock</a:t>
            </a:r>
            <a:r>
              <a:rPr sz="1800" spc="5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783590" lvl="1" indent="-288290">
              <a:lnSpc>
                <a:spcPts val="2055"/>
              </a:lnSpc>
              <a:spcBef>
                <a:spcPts val="540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82955" algn="l"/>
                <a:tab pos="783590" algn="l"/>
              </a:tabLst>
            </a:pPr>
            <a:r>
              <a:rPr sz="1800" spc="5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handle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5" dirty="0">
                <a:latin typeface="Arial MT"/>
                <a:cs typeface="Arial MT"/>
              </a:rPr>
              <a:t>deadlock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i="1" spc="5" dirty="0">
                <a:latin typeface="Arial"/>
                <a:cs typeface="Arial"/>
              </a:rPr>
              <a:t>T</a:t>
            </a:r>
            <a:r>
              <a:rPr sz="1800" i="1" spc="7" baseline="-20833" dirty="0">
                <a:latin typeface="Arial"/>
                <a:cs typeface="Arial"/>
              </a:rPr>
              <a:t>3</a:t>
            </a:r>
            <a:r>
              <a:rPr sz="1800" i="1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i="1" spc="5" dirty="0">
                <a:latin typeface="Arial"/>
                <a:cs typeface="Arial"/>
              </a:rPr>
              <a:t>T</a:t>
            </a:r>
            <a:r>
              <a:rPr sz="1800" i="1" spc="7" baseline="-20833" dirty="0">
                <a:latin typeface="Arial"/>
                <a:cs typeface="Arial"/>
              </a:rPr>
              <a:t>4</a:t>
            </a:r>
            <a:r>
              <a:rPr sz="1800" i="1" spc="179" baseline="-20833" dirty="0">
                <a:latin typeface="Arial"/>
                <a:cs typeface="Arial"/>
              </a:rPr>
              <a:t> </a:t>
            </a:r>
            <a:r>
              <a:rPr sz="1800" spc="-15" dirty="0">
                <a:latin typeface="Arial MT"/>
                <a:cs typeface="Arial MT"/>
              </a:rPr>
              <a:t>must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rolled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</a:t>
            </a:r>
            <a:endParaRPr sz="1800">
              <a:latin typeface="Arial MT"/>
              <a:cs typeface="Arial MT"/>
            </a:endParaRPr>
          </a:p>
          <a:p>
            <a:pPr marL="783590">
              <a:lnSpc>
                <a:spcPts val="2055"/>
              </a:lnSpc>
            </a:pP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released.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6060" y="1586483"/>
            <a:ext cx="2958084" cy="244144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5624" y="1195781"/>
            <a:ext cx="6534784" cy="2199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0965" indent="-342900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5" dirty="0">
                <a:latin typeface="Arial MT"/>
                <a:cs typeface="Arial MT"/>
              </a:rPr>
              <a:t>To avoid this, </a:t>
            </a:r>
            <a:r>
              <a:rPr sz="1800" dirty="0">
                <a:latin typeface="Arial MT"/>
                <a:cs typeface="Arial MT"/>
              </a:rPr>
              <a:t>a modified </a:t>
            </a:r>
            <a:r>
              <a:rPr sz="1800" spc="5" dirty="0">
                <a:latin typeface="Arial MT"/>
                <a:cs typeface="Arial MT"/>
              </a:rPr>
              <a:t>protocol </a:t>
            </a:r>
            <a:r>
              <a:rPr sz="1800" spc="10" dirty="0">
                <a:latin typeface="Arial MT"/>
                <a:cs typeface="Arial MT"/>
              </a:rPr>
              <a:t>called </a:t>
            </a: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strict two-phase </a:t>
            </a:r>
            <a:r>
              <a:rPr sz="1800" b="1" spc="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locking</a:t>
            </a:r>
            <a:r>
              <a:rPr sz="1800" b="1" spc="-1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--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transaction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must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hold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all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exclusive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locks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till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it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commits/aborts.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000">
              <a:latin typeface="Arial MT"/>
              <a:cs typeface="Arial MT"/>
            </a:endParaRPr>
          </a:p>
          <a:p>
            <a:pPr marL="355600" marR="5080" indent="-342900" algn="just">
              <a:lnSpc>
                <a:spcPct val="110000"/>
              </a:lnSpc>
              <a:spcBef>
                <a:spcPts val="12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</a:tabLst>
            </a:pP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Rigorous</a:t>
            </a:r>
            <a:r>
              <a:rPr sz="1800" b="1" spc="-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two-phase</a:t>
            </a:r>
            <a:r>
              <a:rPr sz="1800" b="1" spc="-6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locking</a:t>
            </a:r>
            <a:r>
              <a:rPr sz="1800" b="1" spc="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stricter.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Here,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all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locks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held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till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commit/abort.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this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protocol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transactions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serialized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order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commit.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35723" y="182918"/>
            <a:ext cx="7249795" cy="905510"/>
            <a:chOff x="1135723" y="182918"/>
            <a:chExt cx="7249795" cy="9055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723" y="418618"/>
              <a:ext cx="4152338" cy="41483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5484" y="182918"/>
              <a:ext cx="676490" cy="9050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2643" y="182918"/>
              <a:ext cx="3232277" cy="90509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04087" y="296113"/>
            <a:ext cx="701548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000099"/>
                </a:solidFill>
              </a:rPr>
              <a:t>Strict</a:t>
            </a:r>
            <a:r>
              <a:rPr spc="-35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&amp;</a:t>
            </a:r>
            <a:r>
              <a:rPr spc="-20" dirty="0">
                <a:solidFill>
                  <a:srgbClr val="000099"/>
                </a:solidFill>
              </a:rPr>
              <a:t> </a:t>
            </a:r>
            <a:r>
              <a:rPr spc="-5" dirty="0">
                <a:solidFill>
                  <a:srgbClr val="000099"/>
                </a:solidFill>
              </a:rPr>
              <a:t>Rigorous</a:t>
            </a:r>
            <a:r>
              <a:rPr spc="-30" dirty="0">
                <a:solidFill>
                  <a:srgbClr val="000099"/>
                </a:solidFill>
              </a:rPr>
              <a:t> </a:t>
            </a:r>
            <a:r>
              <a:rPr dirty="0">
                <a:solidFill>
                  <a:srgbClr val="000099"/>
                </a:solidFill>
              </a:rPr>
              <a:t>two-phase</a:t>
            </a:r>
            <a:r>
              <a:rPr spc="-60" dirty="0">
                <a:solidFill>
                  <a:srgbClr val="000099"/>
                </a:solidFill>
              </a:rPr>
              <a:t> </a:t>
            </a:r>
            <a:r>
              <a:rPr spc="-5" dirty="0">
                <a:solidFill>
                  <a:srgbClr val="000099"/>
                </a:solidFill>
              </a:rPr>
              <a:t>locking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76518" y="54902"/>
            <a:ext cx="5750560" cy="905510"/>
            <a:chOff x="2076518" y="54902"/>
            <a:chExt cx="5750560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6518" y="290602"/>
              <a:ext cx="2147052" cy="4054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50207" y="54902"/>
              <a:ext cx="676490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7367" y="54902"/>
              <a:ext cx="3739641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55622" y="167462"/>
            <a:ext cx="55054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Timestamp-Based </a:t>
            </a:r>
            <a:r>
              <a:rPr spc="-5" dirty="0"/>
              <a:t>Protocols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347" y="1086444"/>
            <a:ext cx="7554595" cy="373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287655" indent="-342900">
              <a:lnSpc>
                <a:spcPct val="110000"/>
              </a:lnSpc>
              <a:spcBef>
                <a:spcPts val="9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1800" spc="-5" dirty="0">
                <a:latin typeface="Arial MT"/>
                <a:cs typeface="Arial MT"/>
              </a:rPr>
              <a:t>Each </a:t>
            </a:r>
            <a:r>
              <a:rPr sz="1800" spc="5" dirty="0">
                <a:latin typeface="Arial MT"/>
                <a:cs typeface="Arial MT"/>
              </a:rPr>
              <a:t>transaction </a:t>
            </a:r>
            <a:r>
              <a:rPr sz="1800" spc="10" dirty="0">
                <a:latin typeface="Arial MT"/>
                <a:cs typeface="Arial MT"/>
              </a:rPr>
              <a:t>is </a:t>
            </a:r>
            <a:r>
              <a:rPr sz="1800" spc="5" dirty="0">
                <a:latin typeface="Arial MT"/>
                <a:cs typeface="Arial MT"/>
              </a:rPr>
              <a:t>issued </a:t>
            </a:r>
            <a:r>
              <a:rPr sz="1800" spc="-5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timestamp when </a:t>
            </a:r>
            <a:r>
              <a:rPr sz="1800" spc="15" dirty="0">
                <a:latin typeface="Arial MT"/>
                <a:cs typeface="Arial MT"/>
              </a:rPr>
              <a:t>it </a:t>
            </a:r>
            <a:r>
              <a:rPr sz="1800" dirty="0">
                <a:latin typeface="Arial MT"/>
                <a:cs typeface="Arial MT"/>
              </a:rPr>
              <a:t>enters the </a:t>
            </a:r>
            <a:r>
              <a:rPr sz="1800" spc="-10" dirty="0">
                <a:latin typeface="Arial MT"/>
                <a:cs typeface="Arial MT"/>
              </a:rPr>
              <a:t>system. </a:t>
            </a:r>
            <a:r>
              <a:rPr sz="1800" dirty="0">
                <a:latin typeface="Arial MT"/>
                <a:cs typeface="Arial MT"/>
              </a:rPr>
              <a:t>If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 </a:t>
            </a:r>
            <a:r>
              <a:rPr sz="1800" spc="10" dirty="0">
                <a:latin typeface="Arial MT"/>
                <a:cs typeface="Arial MT"/>
              </a:rPr>
              <a:t>old </a:t>
            </a:r>
            <a:r>
              <a:rPr sz="1800" spc="5" dirty="0">
                <a:latin typeface="Arial MT"/>
                <a:cs typeface="Arial MT"/>
              </a:rPr>
              <a:t>transaction </a:t>
            </a:r>
            <a:r>
              <a:rPr sz="1800" i="1" spc="5" dirty="0">
                <a:latin typeface="Arial"/>
                <a:cs typeface="Arial"/>
              </a:rPr>
              <a:t>T</a:t>
            </a:r>
            <a:r>
              <a:rPr sz="1800" i="1" spc="7" baseline="-20833" dirty="0">
                <a:latin typeface="Arial"/>
                <a:cs typeface="Arial"/>
              </a:rPr>
              <a:t>i</a:t>
            </a:r>
            <a:r>
              <a:rPr sz="1800" i="1" spc="15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has </a:t>
            </a:r>
            <a:r>
              <a:rPr sz="1800" spc="-10" dirty="0">
                <a:latin typeface="Arial MT"/>
                <a:cs typeface="Arial MT"/>
              </a:rPr>
              <a:t>time-stamp </a:t>
            </a:r>
            <a:r>
              <a:rPr sz="1800" spc="-5" dirty="0">
                <a:latin typeface="Arial MT"/>
                <a:cs typeface="Arial MT"/>
              </a:rPr>
              <a:t>TS(</a:t>
            </a:r>
            <a:r>
              <a:rPr sz="1800" i="1" spc="-5" dirty="0">
                <a:latin typeface="Arial"/>
                <a:cs typeface="Arial"/>
              </a:rPr>
              <a:t>T</a:t>
            </a:r>
            <a:r>
              <a:rPr sz="1800" i="1" spc="-7" baseline="-20833" dirty="0">
                <a:latin typeface="Arial"/>
                <a:cs typeface="Arial"/>
              </a:rPr>
              <a:t>i</a:t>
            </a:r>
            <a:r>
              <a:rPr sz="1800" spc="-5" dirty="0">
                <a:latin typeface="Arial MT"/>
                <a:cs typeface="Arial MT"/>
              </a:rPr>
              <a:t>),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5" dirty="0">
                <a:latin typeface="Arial MT"/>
                <a:cs typeface="Arial MT"/>
              </a:rPr>
              <a:t>new transaction </a:t>
            </a:r>
            <a:r>
              <a:rPr sz="1800" i="1" spc="5" dirty="0">
                <a:latin typeface="Arial"/>
                <a:cs typeface="Arial"/>
              </a:rPr>
              <a:t>T</a:t>
            </a:r>
            <a:r>
              <a:rPr sz="1800" i="1" spc="7" baseline="-20833" dirty="0">
                <a:latin typeface="Arial"/>
                <a:cs typeface="Arial"/>
              </a:rPr>
              <a:t>j</a:t>
            </a:r>
            <a:r>
              <a:rPr sz="1800" i="1" spc="15" baseline="-20833" dirty="0">
                <a:latin typeface="Arial"/>
                <a:cs typeface="Arial"/>
              </a:rPr>
              <a:t> </a:t>
            </a:r>
            <a:r>
              <a:rPr sz="1800" spc="15" dirty="0">
                <a:latin typeface="Arial MT"/>
                <a:cs typeface="Arial MT"/>
              </a:rPr>
              <a:t>is 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assigned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time-stamp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TS(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725" i="1" baseline="-21739" dirty="0">
                <a:latin typeface="Arial"/>
                <a:cs typeface="Arial"/>
              </a:rPr>
              <a:t>j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TS(</a:t>
            </a:r>
            <a:r>
              <a:rPr sz="1800" i="1" spc="-5" dirty="0">
                <a:latin typeface="Arial"/>
                <a:cs typeface="Arial"/>
              </a:rPr>
              <a:t>T</a:t>
            </a:r>
            <a:r>
              <a:rPr sz="1725" i="1" spc="-7" baseline="-21739" dirty="0">
                <a:latin typeface="Arial"/>
                <a:cs typeface="Arial"/>
              </a:rPr>
              <a:t>i</a:t>
            </a:r>
            <a:r>
              <a:rPr sz="1800" spc="-5" dirty="0">
                <a:latin typeface="Arial MT"/>
                <a:cs typeface="Arial MT"/>
              </a:rPr>
              <a:t>)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&lt;TS(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725" i="1" baseline="-21739" dirty="0">
                <a:latin typeface="Arial"/>
                <a:cs typeface="Arial"/>
              </a:rPr>
              <a:t>j</a:t>
            </a:r>
            <a:r>
              <a:rPr sz="1800" dirty="0">
                <a:latin typeface="Arial MT"/>
                <a:cs typeface="Arial MT"/>
              </a:rPr>
              <a:t>).</a:t>
            </a:r>
            <a:endParaRPr sz="1800">
              <a:latin typeface="Arial MT"/>
              <a:cs typeface="Arial MT"/>
            </a:endParaRPr>
          </a:p>
          <a:p>
            <a:pPr marL="381000" marR="30480" indent="-342900">
              <a:lnSpc>
                <a:spcPct val="110100"/>
              </a:lnSpc>
              <a:spcBef>
                <a:spcPts val="76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1800" spc="5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protocol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manages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concurrent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time-stamps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determine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serializability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order.</a:t>
            </a:r>
            <a:endParaRPr sz="18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969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order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assure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behavior,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protocol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maintains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  <a:p>
            <a:pPr marL="381000">
              <a:lnSpc>
                <a:spcPct val="100000"/>
              </a:lnSpc>
              <a:spcBef>
                <a:spcPts val="220"/>
              </a:spcBef>
            </a:pPr>
            <a:r>
              <a:rPr sz="1800" i="1" dirty="0">
                <a:latin typeface="Arial"/>
                <a:cs typeface="Arial"/>
              </a:rPr>
              <a:t>Q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spc="-15" dirty="0">
                <a:latin typeface="Arial MT"/>
                <a:cs typeface="Arial MT"/>
              </a:rPr>
              <a:t>two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timestamp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values:</a:t>
            </a:r>
            <a:endParaRPr sz="1800">
              <a:latin typeface="Arial MT"/>
              <a:cs typeface="Arial MT"/>
            </a:endParaRPr>
          </a:p>
          <a:p>
            <a:pPr marL="783590" marR="130810" lvl="1" indent="-288290">
              <a:lnSpc>
                <a:spcPct val="1101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82955" algn="l"/>
                <a:tab pos="783590" algn="l"/>
              </a:tabLst>
            </a:pPr>
            <a:r>
              <a:rPr sz="1800" b="1" dirty="0">
                <a:latin typeface="Arial"/>
                <a:cs typeface="Arial"/>
              </a:rPr>
              <a:t>W-timestamp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largest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time-stamp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executed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write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successfully.</a:t>
            </a:r>
            <a:endParaRPr sz="1800">
              <a:latin typeface="Arial MT"/>
              <a:cs typeface="Arial MT"/>
            </a:endParaRPr>
          </a:p>
          <a:p>
            <a:pPr marL="783590" marR="181610" lvl="1" indent="-288290">
              <a:lnSpc>
                <a:spcPct val="1101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82955" algn="l"/>
                <a:tab pos="783590" algn="l"/>
              </a:tabLst>
            </a:pPr>
            <a:r>
              <a:rPr sz="1800" b="1" dirty="0">
                <a:latin typeface="Arial"/>
                <a:cs typeface="Arial"/>
              </a:rPr>
              <a:t>R-timestamp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largest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time-stamp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executed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read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successfully.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8402" y="73190"/>
            <a:ext cx="7177405" cy="905510"/>
            <a:chOff x="1148402" y="73190"/>
            <a:chExt cx="7177405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8402" y="308890"/>
              <a:ext cx="2147052" cy="4054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2091" y="73190"/>
              <a:ext cx="676503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9252" y="73190"/>
              <a:ext cx="5166233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6032" y="184861"/>
            <a:ext cx="692975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Timestamp-Based</a:t>
            </a:r>
            <a:r>
              <a:rPr spc="20" dirty="0"/>
              <a:t> </a:t>
            </a:r>
            <a:r>
              <a:rPr spc="-5" dirty="0"/>
              <a:t>Protocols 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9347" y="1013384"/>
            <a:ext cx="7259955" cy="287972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5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1800" dirty="0">
                <a:latin typeface="Arial MT"/>
                <a:cs typeface="Arial MT"/>
              </a:rPr>
              <a:t>Suppose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transaction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</a:t>
            </a:r>
            <a:r>
              <a:rPr sz="1725" spc="7" baseline="-21739" dirty="0">
                <a:latin typeface="Arial MT"/>
                <a:cs typeface="Arial MT"/>
              </a:rPr>
              <a:t>i</a:t>
            </a:r>
            <a:r>
              <a:rPr sz="1725" spc="240" baseline="-21739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issues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read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838200" lvl="1" indent="-34353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AutoNum type="arabicPeriod"/>
              <a:tabLst>
                <a:tab pos="838200" algn="l"/>
                <a:tab pos="838835" algn="l"/>
              </a:tabLst>
            </a:pPr>
            <a:r>
              <a:rPr sz="1800" dirty="0">
                <a:latin typeface="Arial MT"/>
                <a:cs typeface="Arial MT"/>
              </a:rPr>
              <a:t>If </a:t>
            </a:r>
            <a:r>
              <a:rPr sz="1800" spc="-5" dirty="0">
                <a:latin typeface="Arial MT"/>
                <a:cs typeface="Arial MT"/>
              </a:rPr>
              <a:t>TS(</a:t>
            </a:r>
            <a:r>
              <a:rPr sz="1800" i="1" spc="-5" dirty="0">
                <a:latin typeface="Arial"/>
                <a:cs typeface="Arial"/>
              </a:rPr>
              <a:t>T</a:t>
            </a:r>
            <a:r>
              <a:rPr sz="1725" i="1" spc="-7" baseline="-21739" dirty="0">
                <a:latin typeface="Arial"/>
                <a:cs typeface="Arial"/>
              </a:rPr>
              <a:t>i</a:t>
            </a:r>
            <a:r>
              <a:rPr sz="1800" spc="-5" dirty="0">
                <a:latin typeface="Arial MT"/>
                <a:cs typeface="Arial MT"/>
              </a:rPr>
              <a:t>)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Arial"/>
                <a:cs typeface="Arial"/>
              </a:rPr>
              <a:t>W</a:t>
            </a:r>
            <a:r>
              <a:rPr sz="1800" spc="-5" dirty="0">
                <a:latin typeface="Arial MT"/>
                <a:cs typeface="Arial MT"/>
              </a:rPr>
              <a:t>-timestamp(</a:t>
            </a:r>
            <a:r>
              <a:rPr sz="1800" i="1" spc="-5" dirty="0">
                <a:latin typeface="Arial"/>
                <a:cs typeface="Arial"/>
              </a:rPr>
              <a:t>Q</a:t>
            </a:r>
            <a:r>
              <a:rPr sz="1800" spc="-5" dirty="0">
                <a:latin typeface="Arial MT"/>
                <a:cs typeface="Arial MT"/>
              </a:rPr>
              <a:t>),</a:t>
            </a:r>
            <a:r>
              <a:rPr sz="1800" dirty="0">
                <a:latin typeface="Arial MT"/>
                <a:cs typeface="Arial MT"/>
              </a:rPr>
              <a:t> then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54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needs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value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  <a:p>
            <a:pPr marL="83820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was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already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overwritten.</a:t>
            </a:r>
            <a:endParaRPr sz="1800">
              <a:latin typeface="Arial MT"/>
              <a:cs typeface="Arial MT"/>
            </a:endParaRPr>
          </a:p>
          <a:p>
            <a:pPr marL="1240790" marR="30480" lvl="2" indent="-343535" algn="just">
              <a:lnSpc>
                <a:spcPct val="100000"/>
              </a:lnSpc>
              <a:spcBef>
                <a:spcPts val="760"/>
              </a:spcBef>
              <a:buClr>
                <a:srgbClr val="33CC33"/>
              </a:buClr>
              <a:buSzPct val="75000"/>
              <a:buFont typeface="Wingdings"/>
              <a:buChar char=""/>
              <a:tabLst>
                <a:tab pos="1241425" algn="l"/>
              </a:tabLst>
            </a:pPr>
            <a:r>
              <a:rPr sz="1800" dirty="0">
                <a:latin typeface="Arial MT"/>
                <a:cs typeface="Arial MT"/>
              </a:rPr>
              <a:t>Hence,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spc="-5" dirty="0">
                <a:latin typeface="Arial"/>
                <a:cs typeface="Arial"/>
              </a:rPr>
              <a:t>read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rejected,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44" baseline="-21739" dirty="0">
                <a:latin typeface="Arial"/>
                <a:cs typeface="Arial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rolled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because </a:t>
            </a:r>
            <a:r>
              <a:rPr sz="1800" spc="-15" dirty="0">
                <a:latin typeface="Arial MT"/>
                <a:cs typeface="Arial MT"/>
              </a:rPr>
              <a:t>some </a:t>
            </a:r>
            <a:r>
              <a:rPr sz="1800" dirty="0">
                <a:latin typeface="Arial MT"/>
                <a:cs typeface="Arial MT"/>
              </a:rPr>
              <a:t>another younger </a:t>
            </a:r>
            <a:r>
              <a:rPr sz="1800" spc="5" dirty="0">
                <a:latin typeface="Arial MT"/>
                <a:cs typeface="Arial MT"/>
              </a:rPr>
              <a:t>transaction </a:t>
            </a:r>
            <a:r>
              <a:rPr sz="1800" spc="15" dirty="0">
                <a:latin typeface="Arial MT"/>
                <a:cs typeface="Arial MT"/>
              </a:rPr>
              <a:t>is </a:t>
            </a:r>
            <a:r>
              <a:rPr sz="1800" spc="5" dirty="0">
                <a:latin typeface="Arial MT"/>
                <a:cs typeface="Arial MT"/>
              </a:rPr>
              <a:t>having large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timestamp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i="1" spc="-15" dirty="0">
                <a:latin typeface="Arial"/>
                <a:cs typeface="Arial"/>
              </a:rPr>
              <a:t>T</a:t>
            </a:r>
            <a:r>
              <a:rPr sz="1800" i="1" spc="-22" baseline="-20833" dirty="0">
                <a:latin typeface="Arial"/>
                <a:cs typeface="Arial"/>
              </a:rPr>
              <a:t>i.</a:t>
            </a:r>
            <a:r>
              <a:rPr sz="1800" i="1" spc="3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838200" marR="151765" lvl="1" indent="-342900">
              <a:lnSpc>
                <a:spcPct val="100000"/>
              </a:lnSpc>
              <a:spcBef>
                <a:spcPts val="760"/>
              </a:spcBef>
              <a:buClr>
                <a:srgbClr val="FF9933"/>
              </a:buClr>
              <a:buSzPct val="80555"/>
              <a:buAutoNum type="arabicPeriod" startAt="2"/>
              <a:tabLst>
                <a:tab pos="838200" algn="l"/>
                <a:tab pos="838835" algn="l"/>
              </a:tabLst>
            </a:pPr>
            <a:r>
              <a:rPr sz="1800" dirty="0">
                <a:latin typeface="Arial MT"/>
                <a:cs typeface="Arial MT"/>
              </a:rPr>
              <a:t>If </a:t>
            </a:r>
            <a:r>
              <a:rPr sz="1800" spc="-5" dirty="0">
                <a:latin typeface="Arial MT"/>
                <a:cs typeface="Arial MT"/>
              </a:rPr>
              <a:t>TS(</a:t>
            </a:r>
            <a:r>
              <a:rPr sz="1800" i="1" spc="-5" dirty="0">
                <a:latin typeface="Arial"/>
                <a:cs typeface="Arial"/>
              </a:rPr>
              <a:t>T</a:t>
            </a:r>
            <a:r>
              <a:rPr sz="1725" i="1" spc="-7" baseline="-21739" dirty="0">
                <a:latin typeface="Arial"/>
                <a:cs typeface="Arial"/>
              </a:rPr>
              <a:t>i</a:t>
            </a:r>
            <a:r>
              <a:rPr sz="1800" spc="-5" dirty="0">
                <a:latin typeface="Arial MT"/>
                <a:cs typeface="Arial MT"/>
              </a:rPr>
              <a:t>) </a:t>
            </a:r>
            <a:r>
              <a:rPr sz="1800" dirty="0">
                <a:latin typeface="Symbol"/>
                <a:cs typeface="Symbol"/>
              </a:rPr>
              <a:t>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Arial"/>
                <a:cs typeface="Arial"/>
              </a:rPr>
              <a:t>W</a:t>
            </a:r>
            <a:r>
              <a:rPr sz="1800" spc="-5" dirty="0">
                <a:latin typeface="Arial MT"/>
                <a:cs typeface="Arial MT"/>
              </a:rPr>
              <a:t>-timestamp(</a:t>
            </a:r>
            <a:r>
              <a:rPr sz="1800" i="1" spc="-5" dirty="0">
                <a:latin typeface="Arial"/>
                <a:cs typeface="Arial"/>
              </a:rPr>
              <a:t>Q</a:t>
            </a:r>
            <a:r>
              <a:rPr sz="1800" spc="-5" dirty="0">
                <a:latin typeface="Arial MT"/>
                <a:cs typeface="Arial MT"/>
              </a:rPr>
              <a:t>), </a:t>
            </a:r>
            <a:r>
              <a:rPr sz="1800" dirty="0">
                <a:latin typeface="Arial MT"/>
                <a:cs typeface="Arial MT"/>
              </a:rPr>
              <a:t>then the </a:t>
            </a:r>
            <a:r>
              <a:rPr sz="1800" b="1" spc="-5" dirty="0">
                <a:latin typeface="Arial"/>
                <a:cs typeface="Arial"/>
              </a:rPr>
              <a:t>read </a:t>
            </a:r>
            <a:r>
              <a:rPr sz="1800" spc="5" dirty="0">
                <a:latin typeface="Arial MT"/>
                <a:cs typeface="Arial MT"/>
              </a:rPr>
              <a:t>operation </a:t>
            </a:r>
            <a:r>
              <a:rPr sz="1800" spc="10" dirty="0">
                <a:latin typeface="Arial MT"/>
                <a:cs typeface="Arial MT"/>
              </a:rPr>
              <a:t>is 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executed,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spc="-5" dirty="0">
                <a:latin typeface="Arial MT"/>
                <a:cs typeface="Arial MT"/>
              </a:rPr>
              <a:t>R-timestamp(</a:t>
            </a:r>
            <a:r>
              <a:rPr sz="1800" i="1" spc="-5" dirty="0">
                <a:latin typeface="Arial"/>
                <a:cs typeface="Arial"/>
              </a:rPr>
              <a:t>Q</a:t>
            </a:r>
            <a:r>
              <a:rPr sz="1800" spc="-5" dirty="0">
                <a:latin typeface="Arial MT"/>
                <a:cs typeface="Arial MT"/>
              </a:rPr>
              <a:t>) </a:t>
            </a:r>
            <a:r>
              <a:rPr sz="1800" spc="10" dirty="0">
                <a:latin typeface="Arial MT"/>
                <a:cs typeface="Arial MT"/>
              </a:rPr>
              <a:t>is </a:t>
            </a:r>
            <a:r>
              <a:rPr sz="1800" dirty="0">
                <a:latin typeface="Arial MT"/>
                <a:cs typeface="Arial MT"/>
              </a:rPr>
              <a:t>set to </a:t>
            </a:r>
            <a:r>
              <a:rPr sz="1800" b="1" spc="-5" dirty="0">
                <a:latin typeface="Arial"/>
                <a:cs typeface="Arial"/>
              </a:rPr>
              <a:t>max</a:t>
            </a:r>
            <a:r>
              <a:rPr sz="1800" spc="-5" dirty="0">
                <a:latin typeface="Arial MT"/>
                <a:cs typeface="Arial MT"/>
              </a:rPr>
              <a:t>(R-timestamp(</a:t>
            </a:r>
            <a:r>
              <a:rPr sz="1800" i="1" spc="-5" dirty="0">
                <a:latin typeface="Arial"/>
                <a:cs typeface="Arial"/>
              </a:rPr>
              <a:t>Q</a:t>
            </a:r>
            <a:r>
              <a:rPr sz="1800" spc="-5" dirty="0">
                <a:latin typeface="Arial MT"/>
                <a:cs typeface="Arial MT"/>
              </a:rPr>
              <a:t>),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TS(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baseline="-20833" dirty="0">
                <a:latin typeface="Arial"/>
                <a:cs typeface="Arial"/>
              </a:rPr>
              <a:t>i</a:t>
            </a:r>
            <a:r>
              <a:rPr sz="1800" dirty="0">
                <a:latin typeface="Arial MT"/>
                <a:cs typeface="Arial MT"/>
              </a:rPr>
              <a:t>)).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63286" y="54902"/>
            <a:ext cx="7177405" cy="905510"/>
            <a:chOff x="1363286" y="54902"/>
            <a:chExt cx="7177405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3286" y="290602"/>
              <a:ext cx="2147052" cy="4054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36975" y="54902"/>
              <a:ext cx="676490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4136" y="54902"/>
              <a:ext cx="5166233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42136" y="167462"/>
            <a:ext cx="692530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Timestamp-Based</a:t>
            </a:r>
            <a:r>
              <a:rPr spc="25" dirty="0"/>
              <a:t> </a:t>
            </a:r>
            <a:r>
              <a:rPr spc="-10" dirty="0"/>
              <a:t>Protocols</a:t>
            </a:r>
            <a:r>
              <a:rPr spc="-5" dirty="0"/>
              <a:t> 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42670" y="1027735"/>
            <a:ext cx="7537450" cy="408749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06400" indent="-343535">
              <a:lnSpc>
                <a:spcPct val="100000"/>
              </a:lnSpc>
              <a:spcBef>
                <a:spcPts val="85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406400" algn="l"/>
                <a:tab pos="407034" algn="l"/>
              </a:tabLst>
            </a:pPr>
            <a:r>
              <a:rPr sz="1800" dirty="0">
                <a:latin typeface="Arial MT"/>
                <a:cs typeface="Arial MT"/>
              </a:rPr>
              <a:t>Suppose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195" baseline="-21739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issues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write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).</a:t>
            </a:r>
            <a:endParaRPr sz="1800">
              <a:latin typeface="Arial MT"/>
              <a:cs typeface="Arial MT"/>
            </a:endParaRPr>
          </a:p>
          <a:p>
            <a:pPr marL="863600" marR="537210" lvl="1" indent="-34353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AutoNum type="arabicPeriod"/>
              <a:tabLst>
                <a:tab pos="863600" algn="l"/>
                <a:tab pos="864235" algn="l"/>
              </a:tabLst>
            </a:pPr>
            <a:r>
              <a:rPr sz="1800" dirty="0">
                <a:latin typeface="Arial MT"/>
                <a:cs typeface="Arial MT"/>
              </a:rPr>
              <a:t>If </a:t>
            </a:r>
            <a:r>
              <a:rPr sz="1800" spc="-5" dirty="0">
                <a:latin typeface="Arial MT"/>
                <a:cs typeface="Arial MT"/>
              </a:rPr>
              <a:t>TS(</a:t>
            </a:r>
            <a:r>
              <a:rPr sz="1800" i="1" spc="-5" dirty="0">
                <a:latin typeface="Arial"/>
                <a:cs typeface="Arial"/>
              </a:rPr>
              <a:t>T</a:t>
            </a:r>
            <a:r>
              <a:rPr sz="1725" i="1" spc="-7" baseline="-21739" dirty="0">
                <a:latin typeface="Arial"/>
                <a:cs typeface="Arial"/>
              </a:rPr>
              <a:t>i</a:t>
            </a:r>
            <a:r>
              <a:rPr sz="1800" spc="-5" dirty="0">
                <a:latin typeface="Arial MT"/>
                <a:cs typeface="Arial MT"/>
              </a:rPr>
              <a:t>)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 </a:t>
            </a:r>
            <a:r>
              <a:rPr sz="1800" spc="-5" dirty="0">
                <a:latin typeface="Arial MT"/>
                <a:cs typeface="Arial MT"/>
              </a:rPr>
              <a:t>R-timestamp(</a:t>
            </a:r>
            <a:r>
              <a:rPr sz="1800" i="1" spc="-5" dirty="0">
                <a:latin typeface="Arial"/>
                <a:cs typeface="Arial"/>
              </a:rPr>
              <a:t>Q</a:t>
            </a:r>
            <a:r>
              <a:rPr sz="1800" spc="-5" dirty="0">
                <a:latin typeface="Arial MT"/>
                <a:cs typeface="Arial MT"/>
              </a:rPr>
              <a:t>),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70" baseline="-21739" dirty="0">
                <a:latin typeface="Arial"/>
                <a:cs typeface="Arial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aborted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rollbacked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because </a:t>
            </a:r>
            <a:r>
              <a:rPr sz="1800" spc="-15" dirty="0">
                <a:latin typeface="Arial MT"/>
                <a:cs typeface="Arial MT"/>
              </a:rPr>
              <a:t>some </a:t>
            </a:r>
            <a:r>
              <a:rPr sz="1800" dirty="0">
                <a:latin typeface="Arial MT"/>
                <a:cs typeface="Arial MT"/>
              </a:rPr>
              <a:t>another younger </a:t>
            </a:r>
            <a:r>
              <a:rPr sz="1800" spc="5" dirty="0">
                <a:latin typeface="Arial MT"/>
                <a:cs typeface="Arial MT"/>
              </a:rPr>
              <a:t>transaction </a:t>
            </a:r>
            <a:r>
              <a:rPr sz="1800" spc="10" dirty="0">
                <a:latin typeface="Arial MT"/>
                <a:cs typeface="Arial MT"/>
              </a:rPr>
              <a:t>is </a:t>
            </a:r>
            <a:r>
              <a:rPr sz="1800" spc="5" dirty="0">
                <a:latin typeface="Arial MT"/>
                <a:cs typeface="Arial MT"/>
              </a:rPr>
              <a:t>having large 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timestamp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T</a:t>
            </a:r>
            <a:r>
              <a:rPr sz="1725" i="1" spc="-15" baseline="-21739" dirty="0">
                <a:latin typeface="Arial"/>
                <a:cs typeface="Arial"/>
              </a:rPr>
              <a:t>i.</a:t>
            </a:r>
            <a:endParaRPr sz="1725" baseline="-21739">
              <a:latin typeface="Arial"/>
              <a:cs typeface="Arial"/>
            </a:endParaRPr>
          </a:p>
          <a:p>
            <a:pPr marL="1266190" lvl="2" indent="-343535">
              <a:lnSpc>
                <a:spcPct val="100000"/>
              </a:lnSpc>
              <a:spcBef>
                <a:spcPts val="765"/>
              </a:spcBef>
              <a:buClr>
                <a:srgbClr val="33CC33"/>
              </a:buClr>
              <a:buSzPct val="75000"/>
              <a:buFont typeface="Wingdings"/>
              <a:buChar char=""/>
              <a:tabLst>
                <a:tab pos="1266190" algn="l"/>
                <a:tab pos="1266825" algn="l"/>
              </a:tabLst>
            </a:pPr>
            <a:r>
              <a:rPr sz="1800" dirty="0">
                <a:latin typeface="Arial MT"/>
                <a:cs typeface="Arial MT"/>
              </a:rPr>
              <a:t>Hence,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write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rejected,</a:t>
            </a:r>
            <a:r>
              <a:rPr sz="1800" dirty="0">
                <a:latin typeface="Arial MT"/>
                <a:cs typeface="Arial MT"/>
              </a:rPr>
              <a:t> and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54" baseline="-21739" dirty="0">
                <a:latin typeface="Arial"/>
                <a:cs typeface="Arial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rolled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back.</a:t>
            </a:r>
            <a:endParaRPr sz="18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Clr>
                <a:srgbClr val="33CC33"/>
              </a:buClr>
              <a:buFont typeface="Wingdings"/>
              <a:buChar char=""/>
            </a:pPr>
            <a:endParaRPr sz="3150">
              <a:latin typeface="Arial MT"/>
              <a:cs typeface="Arial MT"/>
            </a:endParaRPr>
          </a:p>
          <a:p>
            <a:pPr marL="863600" lvl="1" indent="-343535">
              <a:lnSpc>
                <a:spcPct val="100000"/>
              </a:lnSpc>
              <a:buClr>
                <a:srgbClr val="FF9933"/>
              </a:buClr>
              <a:buSzPct val="80555"/>
              <a:buAutoNum type="arabicPeriod"/>
              <a:tabLst>
                <a:tab pos="863600" algn="l"/>
                <a:tab pos="864235" algn="l"/>
              </a:tabLst>
            </a:pPr>
            <a:r>
              <a:rPr sz="1800" dirty="0">
                <a:latin typeface="Arial MT"/>
                <a:cs typeface="Arial MT"/>
              </a:rPr>
              <a:t>If </a:t>
            </a:r>
            <a:r>
              <a:rPr sz="1800" spc="-5" dirty="0">
                <a:latin typeface="Arial MT"/>
                <a:cs typeface="Arial MT"/>
              </a:rPr>
              <a:t>TS(</a:t>
            </a:r>
            <a:r>
              <a:rPr sz="1800" i="1" spc="-5" dirty="0">
                <a:latin typeface="Arial"/>
                <a:cs typeface="Arial"/>
              </a:rPr>
              <a:t>T</a:t>
            </a:r>
            <a:r>
              <a:rPr sz="1725" i="1" spc="-7" baseline="-21739" dirty="0">
                <a:latin typeface="Arial"/>
                <a:cs typeface="Arial"/>
              </a:rPr>
              <a:t>i</a:t>
            </a:r>
            <a:r>
              <a:rPr sz="1800" spc="-5" dirty="0">
                <a:latin typeface="Arial MT"/>
                <a:cs typeface="Arial MT"/>
              </a:rPr>
              <a:t>)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&lt;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W-timestamp(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),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62" baseline="-21739" dirty="0">
                <a:latin typeface="Arial"/>
                <a:cs typeface="Arial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attempting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endParaRPr sz="1800">
              <a:latin typeface="Arial MT"/>
              <a:cs typeface="Arial MT"/>
            </a:endParaRPr>
          </a:p>
          <a:p>
            <a:pPr marL="863600">
              <a:lnSpc>
                <a:spcPct val="100000"/>
              </a:lnSpc>
              <a:spcBef>
                <a:spcPts val="5"/>
              </a:spcBef>
            </a:pPr>
            <a:r>
              <a:rPr sz="1800" spc="5" dirty="0">
                <a:latin typeface="Arial MT"/>
                <a:cs typeface="Arial MT"/>
              </a:rPr>
              <a:t>obsolete(old)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value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266190" lvl="2" indent="-343535">
              <a:lnSpc>
                <a:spcPct val="100000"/>
              </a:lnSpc>
              <a:spcBef>
                <a:spcPts val="755"/>
              </a:spcBef>
              <a:buClr>
                <a:srgbClr val="33CC33"/>
              </a:buClr>
              <a:buSzPct val="75000"/>
              <a:buFont typeface="Wingdings"/>
              <a:buChar char=""/>
              <a:tabLst>
                <a:tab pos="1266190" algn="l"/>
                <a:tab pos="1266825" algn="l"/>
              </a:tabLst>
            </a:pPr>
            <a:r>
              <a:rPr sz="1800" dirty="0">
                <a:latin typeface="Arial MT"/>
                <a:cs typeface="Arial MT"/>
              </a:rPr>
              <a:t>Hence,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this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write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rejected,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54" baseline="-21739" dirty="0">
                <a:latin typeface="Arial"/>
                <a:cs typeface="Arial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rolled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back.</a:t>
            </a:r>
            <a:endParaRPr sz="18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Clr>
                <a:srgbClr val="33CC33"/>
              </a:buClr>
              <a:buFont typeface="Wingdings"/>
              <a:buChar char=""/>
            </a:pPr>
            <a:endParaRPr sz="3150">
              <a:latin typeface="Arial MT"/>
              <a:cs typeface="Arial MT"/>
            </a:endParaRPr>
          </a:p>
          <a:p>
            <a:pPr marL="863600" lvl="1" indent="-343535">
              <a:lnSpc>
                <a:spcPct val="100000"/>
              </a:lnSpc>
              <a:buClr>
                <a:srgbClr val="FF9933"/>
              </a:buClr>
              <a:buSzPct val="80555"/>
              <a:buAutoNum type="arabicPeriod" startAt="3"/>
              <a:tabLst>
                <a:tab pos="863600" algn="l"/>
                <a:tab pos="864235" algn="l"/>
              </a:tabLst>
            </a:pPr>
            <a:r>
              <a:rPr sz="1800" dirty="0">
                <a:latin typeface="Arial MT"/>
                <a:cs typeface="Arial MT"/>
              </a:rPr>
              <a:t>Otherwise,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49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write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executed,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W-timestamp(</a:t>
            </a:r>
            <a:r>
              <a:rPr sz="1800" i="1" spc="-5" dirty="0">
                <a:latin typeface="Arial"/>
                <a:cs typeface="Arial"/>
              </a:rPr>
              <a:t>Q</a:t>
            </a:r>
            <a:r>
              <a:rPr sz="1800" spc="-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86360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TS(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725" i="1" baseline="-21739" dirty="0">
                <a:latin typeface="Arial"/>
                <a:cs typeface="Arial"/>
              </a:rPr>
              <a:t>i</a:t>
            </a:r>
            <a:r>
              <a:rPr sz="1800" dirty="0">
                <a:latin typeface="Arial MT"/>
                <a:cs typeface="Arial MT"/>
              </a:rPr>
              <a:t>).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1730" y="54902"/>
            <a:ext cx="5330825" cy="905510"/>
            <a:chOff x="2281730" y="54902"/>
            <a:chExt cx="5330825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1730" y="290602"/>
              <a:ext cx="1946240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3923" y="54902"/>
              <a:ext cx="676490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1083" y="54902"/>
              <a:ext cx="3511041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70886" y="167462"/>
            <a:ext cx="50761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Validation-Based </a:t>
            </a:r>
            <a:r>
              <a:rPr spc="-5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4747" y="1013384"/>
            <a:ext cx="7619365" cy="30721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called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certification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method.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No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checking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done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while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executing.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latin typeface="Arial MT"/>
                <a:cs typeface="Arial MT"/>
              </a:rPr>
              <a:t>Means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updates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directly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applied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until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reaches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end.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5" dirty="0">
                <a:latin typeface="Arial MT"/>
                <a:cs typeface="Arial MT"/>
              </a:rPr>
              <a:t>During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applied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copy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database.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10" dirty="0">
                <a:latin typeface="Arial MT"/>
                <a:cs typeface="Arial MT"/>
              </a:rPr>
              <a:t>At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transaction,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validation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phase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whether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any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violates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serializability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not.</a:t>
            </a:r>
            <a:endParaRPr sz="18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violated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committed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otherwise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aborted.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1730" y="54902"/>
            <a:ext cx="5330825" cy="905510"/>
            <a:chOff x="2281730" y="54902"/>
            <a:chExt cx="5330825" cy="9055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1730" y="290602"/>
              <a:ext cx="1946240" cy="329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3923" y="54902"/>
              <a:ext cx="676490" cy="9050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1083" y="54902"/>
              <a:ext cx="3511041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70886" y="167462"/>
            <a:ext cx="50761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Validation-Based </a:t>
            </a:r>
            <a:r>
              <a:rPr spc="-5" dirty="0"/>
              <a:t>Protocol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3947" y="1013384"/>
            <a:ext cx="7484745" cy="477393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06400" indent="-342900">
              <a:lnSpc>
                <a:spcPct val="100000"/>
              </a:lnSpc>
              <a:spcBef>
                <a:spcPts val="85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405765" algn="l"/>
                <a:tab pos="406400" algn="l"/>
              </a:tabLst>
            </a:pPr>
            <a:r>
              <a:rPr sz="1800" spc="-5" dirty="0">
                <a:latin typeface="Arial MT"/>
                <a:cs typeface="Arial MT"/>
              </a:rPr>
              <a:t>Execution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-7" baseline="-21739" dirty="0">
                <a:latin typeface="Arial"/>
                <a:cs typeface="Arial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done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three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phases.</a:t>
            </a:r>
            <a:endParaRPr sz="1800">
              <a:latin typeface="Arial MT"/>
              <a:cs typeface="Arial MT"/>
            </a:endParaRPr>
          </a:p>
          <a:p>
            <a:pPr marL="406400" marR="870585" lvl="1" indent="36830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762000" algn="l"/>
                <a:tab pos="762635" algn="l"/>
              </a:tabLst>
            </a:pPr>
            <a:r>
              <a:rPr sz="1800" b="1" dirty="0">
                <a:latin typeface="Arial"/>
                <a:cs typeface="Arial"/>
              </a:rPr>
              <a:t>Read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and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execution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phase</a:t>
            </a:r>
            <a:r>
              <a:rPr sz="1800" spc="5" dirty="0">
                <a:latin typeface="Arial MT"/>
                <a:cs typeface="Arial MT"/>
              </a:rPr>
              <a:t>: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47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writes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only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temporary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local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variables</a:t>
            </a:r>
            <a:endParaRPr sz="1800">
              <a:latin typeface="Arial MT"/>
              <a:cs typeface="Arial MT"/>
            </a:endParaRPr>
          </a:p>
          <a:p>
            <a:pPr marL="406400" marR="238125" lvl="1" indent="36830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762000" algn="l"/>
                <a:tab pos="762635" algn="l"/>
              </a:tabLst>
            </a:pPr>
            <a:r>
              <a:rPr sz="1800" b="1" dirty="0">
                <a:latin typeface="Arial"/>
                <a:cs typeface="Arial"/>
              </a:rPr>
              <a:t>Validation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phase</a:t>
            </a:r>
            <a:r>
              <a:rPr sz="1800" spc="5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54" baseline="-21739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performs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48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''validation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test''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determine </a:t>
            </a:r>
            <a:r>
              <a:rPr sz="1800" spc="15" dirty="0">
                <a:latin typeface="Arial MT"/>
                <a:cs typeface="Arial MT"/>
              </a:rPr>
              <a:t>if </a:t>
            </a:r>
            <a:r>
              <a:rPr sz="1800" spc="5" dirty="0">
                <a:latin typeface="Arial MT"/>
                <a:cs typeface="Arial MT"/>
              </a:rPr>
              <a:t>local </a:t>
            </a:r>
            <a:r>
              <a:rPr sz="1800" spc="10" dirty="0">
                <a:latin typeface="Arial MT"/>
                <a:cs typeface="Arial MT"/>
              </a:rPr>
              <a:t>variables </a:t>
            </a:r>
            <a:r>
              <a:rPr sz="1800" dirty="0">
                <a:latin typeface="Arial MT"/>
                <a:cs typeface="Arial MT"/>
              </a:rPr>
              <a:t>can be written without </a:t>
            </a:r>
            <a:r>
              <a:rPr sz="1800" spc="5" dirty="0">
                <a:latin typeface="Arial MT"/>
                <a:cs typeface="Arial MT"/>
              </a:rPr>
              <a:t>violating 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serializability.</a:t>
            </a:r>
            <a:endParaRPr sz="1800">
              <a:latin typeface="Arial MT"/>
              <a:cs typeface="Arial MT"/>
            </a:endParaRPr>
          </a:p>
          <a:p>
            <a:pPr marL="406400" marR="574675" lvl="1" indent="36830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762000" algn="l"/>
                <a:tab pos="762635" algn="l"/>
              </a:tabLst>
            </a:pPr>
            <a:r>
              <a:rPr sz="1800" b="1" spc="-5" dirty="0">
                <a:latin typeface="Arial"/>
                <a:cs typeface="Arial"/>
              </a:rPr>
              <a:t>Write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phase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09" baseline="-21739" dirty="0">
                <a:latin typeface="Arial"/>
                <a:cs typeface="Arial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validated,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applied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database;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otherwise,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</a:t>
            </a:r>
            <a:r>
              <a:rPr sz="1725" spc="7" baseline="-21739" dirty="0">
                <a:latin typeface="Arial MT"/>
                <a:cs typeface="Arial MT"/>
              </a:rPr>
              <a:t>i</a:t>
            </a:r>
            <a:r>
              <a:rPr sz="1725" spc="247" baseline="-21739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rolled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back.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AutoNum type="arabicPeriod"/>
            </a:pPr>
            <a:endParaRPr sz="2250">
              <a:latin typeface="Arial MT"/>
              <a:cs typeface="Arial MT"/>
            </a:endParaRPr>
          </a:p>
          <a:p>
            <a:pPr marL="406400" marR="30480" indent="-342900">
              <a:lnSpc>
                <a:spcPct val="100000"/>
              </a:lnSpc>
              <a:spcBef>
                <a:spcPts val="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405765" algn="l"/>
                <a:tab pos="406400" algn="l"/>
              </a:tabLst>
            </a:pPr>
            <a:r>
              <a:rPr sz="1800" spc="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three phases of </a:t>
            </a:r>
            <a:r>
              <a:rPr sz="1800" spc="5" dirty="0">
                <a:latin typeface="Arial MT"/>
                <a:cs typeface="Arial MT"/>
              </a:rPr>
              <a:t>concurrently </a:t>
            </a:r>
            <a:r>
              <a:rPr sz="1800" dirty="0">
                <a:latin typeface="Arial MT"/>
                <a:cs typeface="Arial MT"/>
              </a:rPr>
              <a:t>executing </a:t>
            </a:r>
            <a:r>
              <a:rPr sz="1800" spc="5" dirty="0">
                <a:latin typeface="Arial MT"/>
                <a:cs typeface="Arial MT"/>
              </a:rPr>
              <a:t>transactions </a:t>
            </a:r>
            <a:r>
              <a:rPr sz="1800" dirty="0">
                <a:latin typeface="Arial MT"/>
                <a:cs typeface="Arial MT"/>
              </a:rPr>
              <a:t>can be </a:t>
            </a:r>
            <a:r>
              <a:rPr sz="1800" spc="5" dirty="0">
                <a:latin typeface="Arial MT"/>
                <a:cs typeface="Arial MT"/>
              </a:rPr>
              <a:t> interleaved,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must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through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three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phases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in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order.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000">
              <a:latin typeface="Arial MT"/>
              <a:cs typeface="Arial MT"/>
            </a:endParaRPr>
          </a:p>
          <a:p>
            <a:pPr marL="406400" indent="-342900">
              <a:lnSpc>
                <a:spcPct val="100000"/>
              </a:lnSpc>
              <a:spcBef>
                <a:spcPts val="138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405765" algn="l"/>
                <a:tab pos="406400" algn="l"/>
              </a:tabLst>
            </a:pP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called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optimistic</a:t>
            </a:r>
            <a:r>
              <a:rPr sz="1800" b="1" spc="-5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0099"/>
                </a:solidFill>
                <a:latin typeface="Arial"/>
                <a:cs typeface="Arial"/>
              </a:rPr>
              <a:t>concurrency</a:t>
            </a:r>
            <a:r>
              <a:rPr sz="1800" b="1" spc="5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0099"/>
                </a:solidFill>
                <a:latin typeface="Arial"/>
                <a:cs typeface="Arial"/>
              </a:rPr>
              <a:t>control</a:t>
            </a:r>
            <a:r>
              <a:rPr sz="1800" b="1" spc="2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since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endParaRPr sz="18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executes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fully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hope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all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will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well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during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validation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690880" cy="855344"/>
          </a:xfrm>
          <a:custGeom>
            <a:avLst/>
            <a:gdLst/>
            <a:ahLst/>
            <a:cxnLst/>
            <a:rect l="l" t="t" r="r" b="b"/>
            <a:pathLst>
              <a:path w="690880" h="855344">
                <a:moveTo>
                  <a:pt x="690372" y="0"/>
                </a:moveTo>
                <a:lnTo>
                  <a:pt x="0" y="0"/>
                </a:lnTo>
                <a:lnTo>
                  <a:pt x="0" y="854963"/>
                </a:lnTo>
                <a:lnTo>
                  <a:pt x="690372" y="854963"/>
                </a:lnTo>
                <a:lnTo>
                  <a:pt x="690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435" y="6574535"/>
            <a:ext cx="9025255" cy="283845"/>
          </a:xfrm>
          <a:custGeom>
            <a:avLst/>
            <a:gdLst/>
            <a:ahLst/>
            <a:cxnLst/>
            <a:rect l="l" t="t" r="r" b="b"/>
            <a:pathLst>
              <a:path w="9025255" h="283845">
                <a:moveTo>
                  <a:pt x="9025128" y="0"/>
                </a:moveTo>
                <a:lnTo>
                  <a:pt x="0" y="0"/>
                </a:lnTo>
                <a:lnTo>
                  <a:pt x="0" y="283464"/>
                </a:lnTo>
                <a:lnTo>
                  <a:pt x="9025128" y="283464"/>
                </a:lnTo>
                <a:lnTo>
                  <a:pt x="90251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329145"/>
            <a:ext cx="4178554" cy="7998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4948" y="1352169"/>
            <a:ext cx="7168515" cy="38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Recovery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means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that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restored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to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most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recent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consistent</a:t>
            </a:r>
            <a:endParaRPr sz="18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spc="5" dirty="0">
                <a:latin typeface="Times New Roman"/>
                <a:cs typeface="Times New Roman"/>
              </a:rPr>
              <a:t>state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just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before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time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of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failure.</a:t>
            </a:r>
            <a:endParaRPr sz="18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non-serializable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is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guaranteed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same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effect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as</a:t>
            </a:r>
            <a:endParaRPr sz="18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produced</a:t>
            </a:r>
            <a:r>
              <a:rPr sz="1800" spc="-20" dirty="0">
                <a:latin typeface="Times New Roman"/>
                <a:cs typeface="Times New Roman"/>
              </a:rPr>
              <a:t> by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some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consistent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database.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Times New Roman"/>
                <a:cs typeface="Times New Roman"/>
              </a:rPr>
              <a:t>Characteristics</a:t>
            </a:r>
            <a:r>
              <a:rPr sz="1800" b="1" spc="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Non-serializable</a:t>
            </a:r>
            <a:r>
              <a:rPr sz="1800" b="1" spc="11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schedules-</a:t>
            </a:r>
            <a:endParaRPr sz="18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spcBef>
                <a:spcPts val="434"/>
              </a:spcBef>
              <a:buFont typeface="Wingdings"/>
              <a:buChar char=""/>
              <a:tabLst>
                <a:tab pos="300990" algn="l"/>
              </a:tabLst>
            </a:pP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consistent-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Times New Roman"/>
                <a:cs typeface="Times New Roman"/>
              </a:rPr>
              <a:t>Conflict</a:t>
            </a:r>
            <a:r>
              <a:rPr sz="1800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Times New Roman"/>
                <a:cs typeface="Times New Roman"/>
              </a:rPr>
              <a:t>&amp;</a:t>
            </a:r>
            <a:r>
              <a:rPr sz="1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Times New Roman"/>
                <a:cs typeface="Times New Roman"/>
              </a:rPr>
              <a:t>View</a:t>
            </a:r>
            <a:r>
              <a:rPr sz="18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Serializability</a:t>
            </a:r>
            <a:endParaRPr sz="18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spcBef>
                <a:spcPts val="434"/>
              </a:spcBef>
              <a:buFont typeface="Wingdings"/>
              <a:buChar char=""/>
              <a:tabLst>
                <a:tab pos="300990" algn="l"/>
              </a:tabLst>
            </a:pP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recoverable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"/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Times New Roman"/>
                <a:cs typeface="Times New Roman"/>
              </a:rPr>
              <a:t>A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Times New Roman"/>
                <a:cs typeface="Times New Roman"/>
              </a:rPr>
              <a:t>Concurrent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Schedule</a:t>
            </a:r>
            <a:r>
              <a:rPr sz="1800" b="1" spc="3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may</a:t>
            </a:r>
            <a:r>
              <a:rPr sz="1800" b="1" spc="5" dirty="0">
                <a:latin typeface="Times New Roman"/>
                <a:cs typeface="Times New Roman"/>
              </a:rPr>
              <a:t> be-</a:t>
            </a:r>
            <a:endParaRPr sz="1800">
              <a:latin typeface="Times New Roman"/>
              <a:cs typeface="Times New Roman"/>
            </a:endParaRPr>
          </a:p>
          <a:p>
            <a:pPr marL="1059815" lvl="1" indent="-133350">
              <a:lnSpc>
                <a:spcPct val="100000"/>
              </a:lnSpc>
              <a:spcBef>
                <a:spcPts val="430"/>
              </a:spcBef>
              <a:buChar char="-"/>
              <a:tabLst>
                <a:tab pos="1060450" algn="l"/>
              </a:tabLst>
            </a:pPr>
            <a:r>
              <a:rPr sz="1800" b="1" spc="-10" dirty="0">
                <a:latin typeface="Times New Roman"/>
                <a:cs typeface="Times New Roman"/>
              </a:rPr>
              <a:t>Recoverable</a:t>
            </a:r>
            <a:r>
              <a:rPr sz="1800" b="1" spc="9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Schedule</a:t>
            </a:r>
            <a:endParaRPr sz="1800">
              <a:latin typeface="Times New Roman"/>
              <a:cs typeface="Times New Roman"/>
            </a:endParaRPr>
          </a:p>
          <a:p>
            <a:pPr marL="1059815" lvl="1" indent="-133350">
              <a:lnSpc>
                <a:spcPct val="100000"/>
              </a:lnSpc>
              <a:spcBef>
                <a:spcPts val="434"/>
              </a:spcBef>
              <a:buChar char="-"/>
              <a:tabLst>
                <a:tab pos="1060450" algn="l"/>
              </a:tabLst>
            </a:pPr>
            <a:r>
              <a:rPr sz="1800" b="1" spc="-20" dirty="0">
                <a:latin typeface="Times New Roman"/>
                <a:cs typeface="Times New Roman"/>
              </a:rPr>
              <a:t>Irrecoverable</a:t>
            </a:r>
            <a:r>
              <a:rPr sz="1800" b="1" spc="14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Schedule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7240" y="475361"/>
            <a:ext cx="3799840" cy="40259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85"/>
              </a:lnSpc>
            </a:pPr>
            <a:r>
              <a:rPr sz="2800" spc="-5" dirty="0">
                <a:solidFill>
                  <a:srgbClr val="000000"/>
                </a:solidFill>
              </a:rPr>
              <a:t>Transaction</a:t>
            </a:r>
            <a:r>
              <a:rPr sz="2800" dirty="0">
                <a:solidFill>
                  <a:srgbClr val="000000"/>
                </a:solidFill>
              </a:rPr>
              <a:t> </a:t>
            </a:r>
            <a:r>
              <a:rPr sz="2800" spc="-15" dirty="0">
                <a:solidFill>
                  <a:srgbClr val="000000"/>
                </a:solidFill>
              </a:rPr>
              <a:t>Recovery</a:t>
            </a:r>
            <a:endParaRPr sz="2800"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Sudarshan15.27Database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  <a:tabLst>
                <a:tab pos="4447540" algn="l"/>
                <a:tab pos="6766559" algn="l"/>
              </a:tabLst>
            </a:pP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D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b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y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m</a:t>
            </a:r>
            <a:r>
              <a:rPr sz="1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Con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ce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p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-7" baseline="25641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975" b="1" spc="30" baseline="25641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975" b="1" spc="127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d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i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i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on	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15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.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4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3	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©S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il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b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r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c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r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n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d</a:t>
            </a:r>
            <a:r>
              <a:rPr sz="1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ud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r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5655945" cy="1193165"/>
            <a:chOff x="0" y="0"/>
            <a:chExt cx="5655945" cy="1193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62940" cy="8138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208" y="288074"/>
              <a:ext cx="5134229" cy="90509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77240" y="453770"/>
            <a:ext cx="4709160" cy="4572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5"/>
              </a:lnSpc>
            </a:pPr>
            <a:r>
              <a:rPr spc="-10" dirty="0">
                <a:solidFill>
                  <a:srgbClr val="000000"/>
                </a:solidFill>
              </a:rPr>
              <a:t>Irrecoverable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Schedule: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4948" y="1229309"/>
            <a:ext cx="7033259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5080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performs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dirty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uncommitted 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commits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before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which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has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value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such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known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</a:t>
            </a:r>
            <a:r>
              <a:rPr sz="1800" spc="-5" dirty="0">
                <a:latin typeface="Times New Roman"/>
                <a:cs typeface="Times New Roman"/>
              </a:rPr>
              <a:t> an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Irrecoverable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Schedule.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203575" y="2333625"/>
          <a:ext cx="1945005" cy="2743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50" dirty="0">
                          <a:latin typeface="Arial"/>
                          <a:cs typeface="Arial"/>
                        </a:rPr>
                        <a:t>T1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50" dirty="0">
                          <a:latin typeface="Arial"/>
                          <a:cs typeface="Arial"/>
                        </a:rPr>
                        <a:t>T2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5" dirty="0">
                          <a:latin typeface="Arial"/>
                          <a:cs typeface="Arial"/>
                        </a:rPr>
                        <a:t>R(X)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0" dirty="0">
                          <a:latin typeface="Arial"/>
                          <a:cs typeface="Arial"/>
                        </a:rPr>
                        <a:t>X=X-100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W(X)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R(X)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X=X+50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W(X)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Commit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50" b="1" spc="5" dirty="0">
                          <a:latin typeface="Arial"/>
                          <a:cs typeface="Arial"/>
                        </a:rPr>
                        <a:t>(Fail)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208" y="288074"/>
            <a:ext cx="4996942" cy="9050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7240" y="453770"/>
            <a:ext cx="4572000" cy="4572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5"/>
              </a:lnSpc>
            </a:pPr>
            <a:r>
              <a:rPr spc="-15" dirty="0">
                <a:solidFill>
                  <a:srgbClr val="000000"/>
                </a:solidFill>
              </a:rPr>
              <a:t>Recoverable</a:t>
            </a:r>
            <a:r>
              <a:rPr spc="50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Schedule: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4948" y="1229309"/>
            <a:ext cx="71704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355" marR="5080" indent="-28829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performs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dirty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from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an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uncommitted 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 </a:t>
            </a:r>
            <a:r>
              <a:rPr sz="1800" spc="-20" dirty="0">
                <a:latin typeface="Times New Roman"/>
                <a:cs typeface="Times New Roman"/>
              </a:rPr>
              <a:t>and </a:t>
            </a:r>
            <a:r>
              <a:rPr sz="1800" spc="-15" dirty="0">
                <a:latin typeface="Times New Roman"/>
                <a:cs typeface="Times New Roman"/>
              </a:rPr>
              <a:t>its </a:t>
            </a:r>
            <a:r>
              <a:rPr sz="1800" spc="-35" dirty="0">
                <a:latin typeface="Times New Roman"/>
                <a:cs typeface="Times New Roman"/>
              </a:rPr>
              <a:t>commit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operation </a:t>
            </a:r>
            <a:r>
              <a:rPr sz="1800" spc="-40" dirty="0">
                <a:latin typeface="Times New Roman"/>
                <a:cs typeface="Times New Roman"/>
              </a:rPr>
              <a:t>is </a:t>
            </a:r>
            <a:r>
              <a:rPr sz="1800" spc="-25" dirty="0">
                <a:latin typeface="Times New Roman"/>
                <a:cs typeface="Times New Roman"/>
              </a:rPr>
              <a:t>delayed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till </a:t>
            </a:r>
            <a:r>
              <a:rPr sz="1800" spc="-5" dirty="0">
                <a:latin typeface="Times New Roman"/>
                <a:cs typeface="Times New Roman"/>
              </a:rPr>
              <a:t>the </a:t>
            </a:r>
            <a:r>
              <a:rPr sz="1800" spc="-15" dirty="0">
                <a:latin typeface="Times New Roman"/>
                <a:cs typeface="Times New Roman"/>
              </a:rPr>
              <a:t>uncommitted 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transaction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either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commits</a:t>
            </a:r>
            <a:r>
              <a:rPr sz="1800" spc="14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roll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backs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such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known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as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Recoverable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27425" y="2382901"/>
          <a:ext cx="1945005" cy="2743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15" dirty="0">
                          <a:latin typeface="Arial"/>
                          <a:cs typeface="Arial"/>
                        </a:rPr>
                        <a:t>T1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15" dirty="0">
                          <a:latin typeface="Arial"/>
                          <a:cs typeface="Arial"/>
                        </a:rPr>
                        <a:t>T2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R(X)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X=X-100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W(X)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R(X)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5" dirty="0">
                          <a:latin typeface="Arial"/>
                          <a:cs typeface="Arial"/>
                        </a:rPr>
                        <a:t>X=X+50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W(X)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b="1" spc="-15" dirty="0">
                          <a:latin typeface="Arial"/>
                          <a:cs typeface="Arial"/>
                        </a:rPr>
                        <a:t>Commit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150" b="1" spc="15" dirty="0">
                          <a:latin typeface="Arial"/>
                          <a:cs typeface="Arial"/>
                        </a:rPr>
                        <a:t>Commit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Sudarshan15.44Database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648" y="521271"/>
            <a:ext cx="7936865" cy="575945"/>
            <a:chOff x="612648" y="521271"/>
            <a:chExt cx="7936865" cy="575945"/>
          </a:xfrm>
        </p:grpSpPr>
        <p:sp>
          <p:nvSpPr>
            <p:cNvPr id="3" name="object 3"/>
            <p:cNvSpPr/>
            <p:nvPr/>
          </p:nvSpPr>
          <p:spPr>
            <a:xfrm>
              <a:off x="777240" y="627506"/>
              <a:ext cx="7507605" cy="288290"/>
            </a:xfrm>
            <a:custGeom>
              <a:avLst/>
              <a:gdLst/>
              <a:ahLst/>
              <a:cxnLst/>
              <a:rect l="l" t="t" r="r" b="b"/>
              <a:pathLst>
                <a:path w="7507605" h="288290">
                  <a:moveTo>
                    <a:pt x="750722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507224" y="288036"/>
                  </a:lnTo>
                  <a:lnTo>
                    <a:pt x="7507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521271"/>
              <a:ext cx="7854442" cy="57588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84464" y="627506"/>
              <a:ext cx="82550" cy="288290"/>
            </a:xfrm>
            <a:custGeom>
              <a:avLst/>
              <a:gdLst/>
              <a:ahLst/>
              <a:cxnLst/>
              <a:rect l="l" t="t" r="r" b="b"/>
              <a:pathLst>
                <a:path w="82550" h="288290">
                  <a:moveTo>
                    <a:pt x="8229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82296" y="288036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9871" y="521271"/>
              <a:ext cx="429615" cy="57588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7240" y="627506"/>
            <a:ext cx="76631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spc="5" dirty="0">
                <a:solidFill>
                  <a:srgbClr val="000000"/>
                </a:solidFill>
              </a:rPr>
              <a:t>Checking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Whether</a:t>
            </a:r>
            <a:r>
              <a:rPr sz="2000" spc="-75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a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Schedule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spc="10" dirty="0">
                <a:solidFill>
                  <a:srgbClr val="000000"/>
                </a:solidFill>
              </a:rPr>
              <a:t>is</a:t>
            </a:r>
            <a:r>
              <a:rPr sz="2000" spc="-50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Recoverable</a:t>
            </a:r>
            <a:r>
              <a:rPr sz="2000" spc="-55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or</a:t>
            </a:r>
            <a:r>
              <a:rPr sz="2000" spc="-1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Irrecoverable-</a:t>
            </a:r>
            <a:endParaRPr sz="2000"/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8440420" cy="915669"/>
            <a:chOff x="0" y="0"/>
            <a:chExt cx="8440420" cy="915669"/>
          </a:xfrm>
        </p:grpSpPr>
        <p:sp>
          <p:nvSpPr>
            <p:cNvPr id="9" name="object 9"/>
            <p:cNvSpPr/>
            <p:nvPr/>
          </p:nvSpPr>
          <p:spPr>
            <a:xfrm>
              <a:off x="8366759" y="627506"/>
              <a:ext cx="73660" cy="288290"/>
            </a:xfrm>
            <a:custGeom>
              <a:avLst/>
              <a:gdLst/>
              <a:ahLst/>
              <a:cxnLst/>
              <a:rect l="l" t="t" r="r" b="b"/>
              <a:pathLst>
                <a:path w="73659" h="288290">
                  <a:moveTo>
                    <a:pt x="73151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3151" y="288036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676910" cy="836930"/>
            </a:xfrm>
            <a:custGeom>
              <a:avLst/>
              <a:gdLst/>
              <a:ahLst/>
              <a:cxnLst/>
              <a:rect l="l" t="t" r="r" b="b"/>
              <a:pathLst>
                <a:path w="676910" h="836930">
                  <a:moveTo>
                    <a:pt x="676656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676656" y="836676"/>
                  </a:lnTo>
                  <a:lnTo>
                    <a:pt x="67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4948" y="1229309"/>
            <a:ext cx="7092950" cy="2167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Method-01: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spc="-15" dirty="0">
                <a:latin typeface="Times New Roman"/>
                <a:cs typeface="Times New Roman"/>
              </a:rPr>
              <a:t>Check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whether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given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conflict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serializable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not.</a:t>
            </a:r>
            <a:endParaRPr sz="18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spc="5" dirty="0">
                <a:latin typeface="Times New Roman"/>
                <a:cs typeface="Times New Roman"/>
              </a:rPr>
              <a:t>If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25" dirty="0">
                <a:latin typeface="Times New Roman"/>
                <a:cs typeface="Times New Roman"/>
              </a:rPr>
              <a:t> given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conflict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serializable,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surely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recoverable.</a:t>
            </a:r>
            <a:endParaRPr sz="18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spc="15" dirty="0">
                <a:latin typeface="Times New Roman"/>
                <a:cs typeface="Times New Roman"/>
              </a:rPr>
              <a:t>Stop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report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your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answer.</a:t>
            </a:r>
            <a:endParaRPr sz="18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spc="5" dirty="0">
                <a:latin typeface="Times New Roman"/>
                <a:cs typeface="Times New Roman"/>
              </a:rPr>
              <a:t>If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given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conflict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serializable,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it</a:t>
            </a:r>
            <a:r>
              <a:rPr sz="1800" spc="9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be</a:t>
            </a:r>
            <a:endParaRPr sz="18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spc="-15" dirty="0">
                <a:latin typeface="Times New Roman"/>
                <a:cs typeface="Times New Roman"/>
              </a:rPr>
              <a:t>recoverable.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Go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check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using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methods.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Sudarshan15.44Database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648" y="521271"/>
            <a:ext cx="7936865" cy="575945"/>
            <a:chOff x="612648" y="521271"/>
            <a:chExt cx="7936865" cy="575945"/>
          </a:xfrm>
        </p:grpSpPr>
        <p:sp>
          <p:nvSpPr>
            <p:cNvPr id="3" name="object 3"/>
            <p:cNvSpPr/>
            <p:nvPr/>
          </p:nvSpPr>
          <p:spPr>
            <a:xfrm>
              <a:off x="777240" y="627506"/>
              <a:ext cx="7507605" cy="288290"/>
            </a:xfrm>
            <a:custGeom>
              <a:avLst/>
              <a:gdLst/>
              <a:ahLst/>
              <a:cxnLst/>
              <a:rect l="l" t="t" r="r" b="b"/>
              <a:pathLst>
                <a:path w="7507605" h="288290">
                  <a:moveTo>
                    <a:pt x="7507224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507224" y="288036"/>
                  </a:lnTo>
                  <a:lnTo>
                    <a:pt x="75072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521271"/>
              <a:ext cx="7854442" cy="57588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284464" y="627506"/>
              <a:ext cx="82550" cy="288290"/>
            </a:xfrm>
            <a:custGeom>
              <a:avLst/>
              <a:gdLst/>
              <a:ahLst/>
              <a:cxnLst/>
              <a:rect l="l" t="t" r="r" b="b"/>
              <a:pathLst>
                <a:path w="82550" h="288290">
                  <a:moveTo>
                    <a:pt x="82296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82296" y="288036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19871" y="521271"/>
              <a:ext cx="429615" cy="57588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7240" y="627506"/>
            <a:ext cx="76631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spc="5" dirty="0">
                <a:solidFill>
                  <a:srgbClr val="000000"/>
                </a:solidFill>
              </a:rPr>
              <a:t>Checking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Whether</a:t>
            </a:r>
            <a:r>
              <a:rPr sz="2000" spc="-75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a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Schedule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spc="10" dirty="0">
                <a:solidFill>
                  <a:srgbClr val="000000"/>
                </a:solidFill>
              </a:rPr>
              <a:t>is</a:t>
            </a:r>
            <a:r>
              <a:rPr sz="2000" spc="-50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Recoverable</a:t>
            </a:r>
            <a:r>
              <a:rPr sz="2000" spc="-55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or</a:t>
            </a:r>
            <a:r>
              <a:rPr sz="2000" spc="-1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Irrecoverable-</a:t>
            </a:r>
            <a:endParaRPr sz="2000"/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8440420" cy="915669"/>
            <a:chOff x="0" y="0"/>
            <a:chExt cx="8440420" cy="915669"/>
          </a:xfrm>
        </p:grpSpPr>
        <p:sp>
          <p:nvSpPr>
            <p:cNvPr id="9" name="object 9"/>
            <p:cNvSpPr/>
            <p:nvPr/>
          </p:nvSpPr>
          <p:spPr>
            <a:xfrm>
              <a:off x="8366759" y="627506"/>
              <a:ext cx="73660" cy="288290"/>
            </a:xfrm>
            <a:custGeom>
              <a:avLst/>
              <a:gdLst/>
              <a:ahLst/>
              <a:cxnLst/>
              <a:rect l="l" t="t" r="r" b="b"/>
              <a:pathLst>
                <a:path w="73659" h="288290">
                  <a:moveTo>
                    <a:pt x="73151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3151" y="288036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676910" cy="836930"/>
            </a:xfrm>
            <a:custGeom>
              <a:avLst/>
              <a:gdLst/>
              <a:ahLst/>
              <a:cxnLst/>
              <a:rect l="l" t="t" r="r" b="b"/>
              <a:pathLst>
                <a:path w="676910" h="836930">
                  <a:moveTo>
                    <a:pt x="676656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676656" y="836676"/>
                  </a:lnTo>
                  <a:lnTo>
                    <a:pt x="67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580121" y="6267958"/>
            <a:ext cx="530860" cy="389255"/>
            <a:chOff x="7580121" y="6267958"/>
            <a:chExt cx="530860" cy="389255"/>
          </a:xfrm>
        </p:grpSpPr>
        <p:sp>
          <p:nvSpPr>
            <p:cNvPr id="12" name="object 12"/>
            <p:cNvSpPr/>
            <p:nvPr/>
          </p:nvSpPr>
          <p:spPr>
            <a:xfrm>
              <a:off x="7594091" y="6281928"/>
              <a:ext cx="502920" cy="292735"/>
            </a:xfrm>
            <a:custGeom>
              <a:avLst/>
              <a:gdLst/>
              <a:ahLst/>
              <a:cxnLst/>
              <a:rect l="l" t="t" r="r" b="b"/>
              <a:pathLst>
                <a:path w="502920" h="292734">
                  <a:moveTo>
                    <a:pt x="0" y="292608"/>
                  </a:moveTo>
                  <a:lnTo>
                    <a:pt x="502920" y="29260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94091" y="6281928"/>
              <a:ext cx="502920" cy="361315"/>
            </a:xfrm>
            <a:custGeom>
              <a:avLst/>
              <a:gdLst/>
              <a:ahLst/>
              <a:cxnLst/>
              <a:rect l="l" t="t" r="r" b="b"/>
              <a:pathLst>
                <a:path w="502920" h="361315">
                  <a:moveTo>
                    <a:pt x="0" y="361188"/>
                  </a:moveTo>
                  <a:lnTo>
                    <a:pt x="502920" y="36118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27432">
              <a:solidFill>
                <a:srgbClr val="E1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34948" y="1174430"/>
            <a:ext cx="7000240" cy="452501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b="1" dirty="0">
                <a:latin typeface="Times New Roman"/>
                <a:cs typeface="Times New Roman"/>
              </a:rPr>
              <a:t>Method-02: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15" dirty="0">
                <a:latin typeface="Times New Roman"/>
                <a:cs typeface="Times New Roman"/>
              </a:rPr>
              <a:t>Check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if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there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exists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dirty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spc="5" dirty="0">
                <a:latin typeface="Times New Roman"/>
                <a:cs typeface="Times New Roman"/>
              </a:rPr>
              <a:t>If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no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dirty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operation, then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Times New Roman"/>
                <a:cs typeface="Times New Roman"/>
              </a:rPr>
              <a:t>is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surely</a:t>
            </a:r>
            <a:endParaRPr sz="18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spc="-15" dirty="0">
                <a:latin typeface="Times New Roman"/>
                <a:cs typeface="Times New Roman"/>
              </a:rPr>
              <a:t>recoverable.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Stop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report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your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answer.</a:t>
            </a:r>
            <a:endParaRPr sz="1800">
              <a:latin typeface="Times New Roman"/>
              <a:cs typeface="Times New Roman"/>
            </a:endParaRPr>
          </a:p>
          <a:p>
            <a:pPr marL="300355" indent="-28829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1800" spc="5" dirty="0">
                <a:latin typeface="Times New Roman"/>
                <a:cs typeface="Times New Roman"/>
              </a:rPr>
              <a:t>If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exists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any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dirty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read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operation, then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schedule</a:t>
            </a:r>
            <a:r>
              <a:rPr sz="1800" spc="15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Times New Roman"/>
                <a:cs typeface="Times New Roman"/>
              </a:rPr>
              <a:t>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may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endParaRPr sz="18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spc="-20" dirty="0">
                <a:latin typeface="Times New Roman"/>
                <a:cs typeface="Times New Roman"/>
              </a:rPr>
              <a:t>be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Times New Roman"/>
                <a:cs typeface="Times New Roman"/>
              </a:rPr>
              <a:t>recoverable.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10" dirty="0">
                <a:latin typeface="Times New Roman"/>
                <a:cs typeface="Times New Roman"/>
              </a:rPr>
              <a:t>Case-01:</a:t>
            </a:r>
            <a:endParaRPr sz="2400">
              <a:latin typeface="Times New Roman"/>
              <a:cs typeface="Times New Roman"/>
            </a:endParaRPr>
          </a:p>
          <a:p>
            <a:pPr marL="300355" marR="177800" indent="-28829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00355" algn="l"/>
                <a:tab pos="300990" algn="l"/>
              </a:tabLst>
            </a:pPr>
            <a:r>
              <a:rPr sz="2400" spc="-40" dirty="0">
                <a:latin typeface="Times New Roman"/>
                <a:cs typeface="Times New Roman"/>
              </a:rPr>
              <a:t>If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commit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operation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spc="1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transaction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performing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dirty </a:t>
            </a:r>
            <a:r>
              <a:rPr sz="2400" spc="-5" dirty="0">
                <a:latin typeface="Times New Roman"/>
                <a:cs typeface="Times New Roman"/>
              </a:rPr>
              <a:t>read </a:t>
            </a:r>
            <a:r>
              <a:rPr sz="2400" dirty="0">
                <a:latin typeface="Times New Roman"/>
                <a:cs typeface="Times New Roman"/>
              </a:rPr>
              <a:t>occurs </a:t>
            </a:r>
            <a:r>
              <a:rPr sz="2400" spc="-10" dirty="0">
                <a:latin typeface="Times New Roman"/>
                <a:cs typeface="Times New Roman"/>
              </a:rPr>
              <a:t>before </a:t>
            </a:r>
            <a:r>
              <a:rPr sz="2400" spc="10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commit </a:t>
            </a:r>
            <a:r>
              <a:rPr sz="2400" spc="-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abort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operation of </a:t>
            </a:r>
            <a:r>
              <a:rPr sz="2400" spc="10" dirty="0">
                <a:latin typeface="Times New Roman"/>
                <a:cs typeface="Times New Roman"/>
              </a:rPr>
              <a:t>the </a:t>
            </a:r>
            <a:r>
              <a:rPr sz="2400" spc="5" dirty="0">
                <a:latin typeface="Times New Roman"/>
                <a:cs typeface="Times New Roman"/>
              </a:rPr>
              <a:t>transaction </a:t>
            </a:r>
            <a:r>
              <a:rPr sz="2400" spc="-5" dirty="0">
                <a:latin typeface="Times New Roman"/>
                <a:cs typeface="Times New Roman"/>
              </a:rPr>
              <a:t>which </a:t>
            </a:r>
            <a:r>
              <a:rPr sz="2400" spc="5" dirty="0">
                <a:latin typeface="Times New Roman"/>
                <a:cs typeface="Times New Roman"/>
              </a:rPr>
              <a:t>updated </a:t>
            </a:r>
            <a:r>
              <a:rPr sz="2400" spc="1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value,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irrecoverable.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4948" y="6184188"/>
            <a:ext cx="117284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b="1" spc="-5" dirty="0">
                <a:latin typeface="Times New Roman"/>
                <a:cs typeface="Times New Roman"/>
              </a:rPr>
              <a:t>C</a:t>
            </a:r>
            <a:r>
              <a:rPr sz="2400" b="1" spc="15" dirty="0">
                <a:latin typeface="Times New Roman"/>
                <a:cs typeface="Times New Roman"/>
              </a:rPr>
              <a:t>a</a:t>
            </a:r>
            <a:r>
              <a:rPr sz="2400" b="1" spc="5" dirty="0">
                <a:latin typeface="Times New Roman"/>
                <a:cs typeface="Times New Roman"/>
              </a:rPr>
              <a:t>s</a:t>
            </a:r>
            <a:r>
              <a:rPr sz="2400" b="1" spc="10" dirty="0">
                <a:latin typeface="Times New Roman"/>
                <a:cs typeface="Times New Roman"/>
              </a:rPr>
              <a:t>e</a:t>
            </a:r>
            <a:r>
              <a:rPr sz="2400" b="1" spc="-15" dirty="0">
                <a:latin typeface="Times New Roman"/>
                <a:cs typeface="Times New Roman"/>
              </a:rPr>
              <a:t>-</a:t>
            </a:r>
            <a:r>
              <a:rPr sz="2400" b="1" spc="20" dirty="0">
                <a:latin typeface="Times New Roman"/>
                <a:cs typeface="Times New Roman"/>
              </a:rPr>
              <a:t>02: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33190" y="6378346"/>
            <a:ext cx="168465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20" dirty="0">
                <a:solidFill>
                  <a:srgbClr val="404040"/>
                </a:solidFill>
                <a:latin typeface="Calibri"/>
                <a:cs typeface="Calibri"/>
              </a:rPr>
              <a:t>Prepared</a:t>
            </a:r>
            <a:r>
              <a:rPr sz="115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50" b="1" spc="15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150" b="1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50" b="1" spc="20" dirty="0">
                <a:solidFill>
                  <a:srgbClr val="404040"/>
                </a:solidFill>
                <a:latin typeface="Calibri"/>
                <a:cs typeface="Calibri"/>
              </a:rPr>
              <a:t>compiled</a:t>
            </a:r>
            <a:r>
              <a:rPr sz="1150" b="1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50" b="1" spc="2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39" y="6665151"/>
            <a:ext cx="8969375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40"/>
              </a:lnSpc>
              <a:tabLst>
                <a:tab pos="-5723255" algn="l"/>
              </a:tabLst>
            </a:pP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©S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il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b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r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c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r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n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d</a:t>
            </a:r>
            <a:r>
              <a:rPr sz="1000" b="1" spc="-7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ud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r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35600" dirty="0">
                <a:solidFill>
                  <a:srgbClr val="CC3300"/>
                </a:solidFill>
                <a:latin typeface="Arial"/>
                <a:cs typeface="Arial"/>
              </a:rPr>
              <a:t>n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15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.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4</a:t>
            </a:r>
            <a:r>
              <a:rPr sz="1000" b="1" spc="-3760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D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b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a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y</a:t>
            </a:r>
            <a:r>
              <a:rPr sz="1000" b="1" spc="-25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m</a:t>
            </a:r>
            <a:r>
              <a:rPr sz="1000" b="1" spc="-6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Con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ce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p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-7" baseline="25641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975" b="1" spc="30" baseline="25641" dirty="0">
                <a:solidFill>
                  <a:srgbClr val="CC3300"/>
                </a:solidFill>
                <a:latin typeface="Arial"/>
                <a:cs typeface="Arial"/>
              </a:rPr>
              <a:t>h</a:t>
            </a:r>
            <a:r>
              <a:rPr sz="975" b="1" spc="127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E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d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i</a:t>
            </a:r>
            <a:r>
              <a:rPr sz="1000" b="1" spc="-15" dirty="0">
                <a:solidFill>
                  <a:srgbClr val="CC3300"/>
                </a:solidFill>
                <a:latin typeface="Arial"/>
                <a:cs typeface="Arial"/>
              </a:rPr>
              <a:t>t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i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o</a:t>
            </a:r>
            <a:r>
              <a:rPr sz="1000" b="1" spc="-12890" dirty="0">
                <a:solidFill>
                  <a:srgbClr val="CC3300"/>
                </a:solidFill>
                <a:latin typeface="Arial"/>
                <a:cs typeface="Arial"/>
              </a:rPr>
              <a:t>n</a:t>
            </a:r>
            <a:r>
              <a:rPr sz="3600" spc="7" baseline="-27777" dirty="0">
                <a:latin typeface="Arial MT"/>
                <a:cs typeface="Arial MT"/>
              </a:rPr>
              <a:t>•</a:t>
            </a:r>
            <a:r>
              <a:rPr sz="3600" baseline="-27777" dirty="0">
                <a:latin typeface="Arial MT"/>
                <a:cs typeface="Arial MT"/>
              </a:rPr>
              <a:t>	</a:t>
            </a:r>
            <a:r>
              <a:rPr sz="3600" spc="-127" baseline="-27777" dirty="0">
                <a:latin typeface="Times New Roman"/>
                <a:cs typeface="Times New Roman"/>
              </a:rPr>
              <a:t>I</a:t>
            </a:r>
            <a:r>
              <a:rPr sz="3600" baseline="-27777" dirty="0">
                <a:latin typeface="Times New Roman"/>
                <a:cs typeface="Times New Roman"/>
              </a:rPr>
              <a:t>f</a:t>
            </a:r>
            <a:r>
              <a:rPr sz="3600" spc="97" baseline="-27777" dirty="0">
                <a:latin typeface="Times New Roman"/>
                <a:cs typeface="Times New Roman"/>
              </a:rPr>
              <a:t> </a:t>
            </a:r>
            <a:r>
              <a:rPr sz="3600" spc="7" baseline="-27777" dirty="0">
                <a:latin typeface="Times New Roman"/>
                <a:cs typeface="Times New Roman"/>
              </a:rPr>
              <a:t>t</a:t>
            </a:r>
            <a:r>
              <a:rPr sz="3600" spc="22" baseline="-27777" dirty="0">
                <a:latin typeface="Times New Roman"/>
                <a:cs typeface="Times New Roman"/>
              </a:rPr>
              <a:t>h</a:t>
            </a:r>
            <a:r>
              <a:rPr sz="3600" spc="7" baseline="-27777" dirty="0">
                <a:latin typeface="Times New Roman"/>
                <a:cs typeface="Times New Roman"/>
              </a:rPr>
              <a:t>e</a:t>
            </a:r>
            <a:r>
              <a:rPr sz="3600" spc="-82" baseline="-27777" dirty="0">
                <a:latin typeface="Times New Roman"/>
                <a:cs typeface="Times New Roman"/>
              </a:rPr>
              <a:t> </a:t>
            </a:r>
            <a:r>
              <a:rPr sz="3600" spc="15" baseline="-27777" dirty="0">
                <a:latin typeface="Times New Roman"/>
                <a:cs typeface="Times New Roman"/>
              </a:rPr>
              <a:t>c</a:t>
            </a:r>
            <a:r>
              <a:rPr sz="3600" spc="-22" baseline="-27777" dirty="0">
                <a:latin typeface="Times New Roman"/>
                <a:cs typeface="Times New Roman"/>
              </a:rPr>
              <a:t>o</a:t>
            </a:r>
            <a:r>
              <a:rPr sz="3600" spc="15" baseline="-27777" dirty="0">
                <a:latin typeface="Times New Roman"/>
                <a:cs typeface="Times New Roman"/>
              </a:rPr>
              <a:t>m</a:t>
            </a:r>
            <a:r>
              <a:rPr sz="3600" spc="-7" baseline="-27777" dirty="0">
                <a:latin typeface="Times New Roman"/>
                <a:cs typeface="Times New Roman"/>
              </a:rPr>
              <a:t>m</a:t>
            </a:r>
            <a:r>
              <a:rPr sz="3600" spc="7" baseline="-27777" dirty="0">
                <a:latin typeface="Times New Roman"/>
                <a:cs typeface="Times New Roman"/>
              </a:rPr>
              <a:t>i</a:t>
            </a:r>
            <a:r>
              <a:rPr sz="3600" baseline="-27777" dirty="0">
                <a:latin typeface="Times New Roman"/>
                <a:cs typeface="Times New Roman"/>
              </a:rPr>
              <a:t>t</a:t>
            </a:r>
            <a:r>
              <a:rPr sz="3600" spc="-75" baseline="-27777" dirty="0">
                <a:latin typeface="Times New Roman"/>
                <a:cs typeface="Times New Roman"/>
              </a:rPr>
              <a:t> </a:t>
            </a:r>
            <a:r>
              <a:rPr sz="3600" spc="-22" baseline="-27777" dirty="0">
                <a:latin typeface="Times New Roman"/>
                <a:cs typeface="Times New Roman"/>
              </a:rPr>
              <a:t>o</a:t>
            </a:r>
            <a:r>
              <a:rPr sz="3600" spc="22" baseline="-27777" dirty="0">
                <a:latin typeface="Times New Roman"/>
                <a:cs typeface="Times New Roman"/>
              </a:rPr>
              <a:t>p</a:t>
            </a:r>
            <a:r>
              <a:rPr sz="3600" spc="-37" baseline="-27777" dirty="0">
                <a:latin typeface="Times New Roman"/>
                <a:cs typeface="Times New Roman"/>
              </a:rPr>
              <a:t>e</a:t>
            </a:r>
            <a:r>
              <a:rPr sz="3600" spc="-22" baseline="-27777" dirty="0">
                <a:latin typeface="Times New Roman"/>
                <a:cs typeface="Times New Roman"/>
              </a:rPr>
              <a:t>r</a:t>
            </a:r>
            <a:r>
              <a:rPr sz="3600" spc="7" baseline="-27777" dirty="0">
                <a:latin typeface="Times New Roman"/>
                <a:cs typeface="Times New Roman"/>
              </a:rPr>
              <a:t>ati</a:t>
            </a:r>
            <a:r>
              <a:rPr sz="3600" spc="-22" baseline="-27777" dirty="0">
                <a:latin typeface="Times New Roman"/>
                <a:cs typeface="Times New Roman"/>
              </a:rPr>
              <a:t>o</a:t>
            </a:r>
            <a:r>
              <a:rPr sz="3600" spc="7" baseline="-27777" dirty="0">
                <a:latin typeface="Times New Roman"/>
                <a:cs typeface="Times New Roman"/>
              </a:rPr>
              <a:t>n</a:t>
            </a:r>
            <a:r>
              <a:rPr sz="3600" spc="-67" baseline="-27777" dirty="0">
                <a:latin typeface="Times New Roman"/>
                <a:cs typeface="Times New Roman"/>
              </a:rPr>
              <a:t> </a:t>
            </a:r>
            <a:r>
              <a:rPr sz="3600" spc="-22" baseline="-27777" dirty="0">
                <a:latin typeface="Times New Roman"/>
                <a:cs typeface="Times New Roman"/>
              </a:rPr>
              <a:t>o</a:t>
            </a:r>
            <a:r>
              <a:rPr sz="3600" baseline="-27777" dirty="0">
                <a:latin typeface="Times New Roman"/>
                <a:cs typeface="Times New Roman"/>
              </a:rPr>
              <a:t>f</a:t>
            </a:r>
            <a:r>
              <a:rPr sz="3600" spc="-7" baseline="-27777" dirty="0">
                <a:latin typeface="Times New Roman"/>
                <a:cs typeface="Times New Roman"/>
              </a:rPr>
              <a:t> </a:t>
            </a:r>
            <a:r>
              <a:rPr sz="3600" spc="7" baseline="-27777" dirty="0">
                <a:latin typeface="Times New Roman"/>
                <a:cs typeface="Times New Roman"/>
              </a:rPr>
              <a:t>t</a:t>
            </a:r>
            <a:r>
              <a:rPr sz="3600" spc="22" baseline="-27777" dirty="0">
                <a:latin typeface="Times New Roman"/>
                <a:cs typeface="Times New Roman"/>
              </a:rPr>
              <a:t>h</a:t>
            </a:r>
            <a:r>
              <a:rPr sz="3600" spc="7" baseline="-27777" dirty="0">
                <a:latin typeface="Times New Roman"/>
                <a:cs typeface="Times New Roman"/>
              </a:rPr>
              <a:t>e</a:t>
            </a:r>
            <a:r>
              <a:rPr sz="3600" spc="-82" baseline="-27777" dirty="0">
                <a:latin typeface="Times New Roman"/>
                <a:cs typeface="Times New Roman"/>
              </a:rPr>
              <a:t> </a:t>
            </a:r>
            <a:r>
              <a:rPr sz="3600" spc="-944" baseline="-27777" dirty="0">
                <a:latin typeface="Times New Roman"/>
                <a:cs typeface="Times New Roman"/>
              </a:rPr>
              <a:t>t</a:t>
            </a:r>
            <a:r>
              <a:rPr sz="3600" spc="-975" baseline="-27777" dirty="0">
                <a:latin typeface="Times New Roman"/>
                <a:cs typeface="Times New Roman"/>
              </a:rPr>
              <a:t>r</a:t>
            </a:r>
            <a:r>
              <a:rPr sz="3600" spc="-937" baseline="-27777" dirty="0">
                <a:latin typeface="Times New Roman"/>
                <a:cs typeface="Times New Roman"/>
              </a:rPr>
              <a:t>a</a:t>
            </a:r>
            <a:r>
              <a:rPr sz="3600" spc="-930" baseline="-27777" dirty="0">
                <a:latin typeface="Times New Roman"/>
                <a:cs typeface="Times New Roman"/>
              </a:rPr>
              <a:t>n</a:t>
            </a:r>
            <a:r>
              <a:rPr sz="3600" spc="-944" baseline="-27777" dirty="0">
                <a:latin typeface="Times New Roman"/>
                <a:cs typeface="Times New Roman"/>
              </a:rPr>
              <a:t>sa</a:t>
            </a:r>
            <a:r>
              <a:rPr sz="3600" spc="-937" baseline="-27777" dirty="0">
                <a:latin typeface="Times New Roman"/>
                <a:cs typeface="Times New Roman"/>
              </a:rPr>
              <a:t>c</a:t>
            </a:r>
            <a:r>
              <a:rPr sz="3600" spc="-944" baseline="-27777" dirty="0">
                <a:latin typeface="Times New Roman"/>
                <a:cs typeface="Times New Roman"/>
              </a:rPr>
              <a:t>t</a:t>
            </a:r>
            <a:r>
              <a:rPr sz="3600" spc="-989" baseline="-27777" dirty="0">
                <a:latin typeface="Times New Roman"/>
                <a:cs typeface="Times New Roman"/>
              </a:rPr>
              <a:t>i</a:t>
            </a:r>
            <a:r>
              <a:rPr sz="3600" spc="-975" baseline="-27777" dirty="0">
                <a:latin typeface="Times New Roman"/>
                <a:cs typeface="Times New Roman"/>
              </a:rPr>
              <a:t>o</a:t>
            </a:r>
            <a:r>
              <a:rPr sz="3600" spc="-944" baseline="-27777" dirty="0">
                <a:latin typeface="Times New Roman"/>
                <a:cs typeface="Times New Roman"/>
              </a:rPr>
              <a:t>n </a:t>
            </a:r>
            <a:r>
              <a:rPr sz="3600" spc="-127" baseline="-27777" dirty="0">
                <a:latin typeface="Times New Roman"/>
                <a:cs typeface="Times New Roman"/>
              </a:rPr>
              <a:t> </a:t>
            </a:r>
            <a:r>
              <a:rPr sz="3600" baseline="-27777" dirty="0">
                <a:latin typeface="Times New Roman"/>
                <a:cs typeface="Times New Roman"/>
              </a:rPr>
              <a:t>performing</a:t>
            </a:r>
            <a:endParaRPr sz="3600" baseline="-27777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35171" y="6598945"/>
            <a:ext cx="2489200" cy="17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0"/>
              </a:lnSpc>
            </a:pPr>
            <a:r>
              <a:rPr sz="1150" spc="5" dirty="0">
                <a:solidFill>
                  <a:srgbClr val="404040"/>
                </a:solidFill>
                <a:latin typeface="Calibri"/>
                <a:cs typeface="Calibri"/>
              </a:rPr>
              <a:t>Bhupendra</a:t>
            </a:r>
            <a:r>
              <a:rPr sz="115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50" spc="10" dirty="0">
                <a:solidFill>
                  <a:srgbClr val="404040"/>
                </a:solidFill>
                <a:latin typeface="Calibri"/>
                <a:cs typeface="Calibri"/>
              </a:rPr>
              <a:t>Panchal,</a:t>
            </a:r>
            <a:r>
              <a:rPr sz="115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50" spc="10" dirty="0">
                <a:solidFill>
                  <a:srgbClr val="404040"/>
                </a:solidFill>
                <a:latin typeface="Calibri"/>
                <a:cs typeface="Calibri"/>
              </a:rPr>
              <a:t>Asst.</a:t>
            </a:r>
            <a:r>
              <a:rPr sz="11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50" spc="-5" dirty="0">
                <a:solidFill>
                  <a:srgbClr val="404040"/>
                </a:solidFill>
                <a:latin typeface="Calibri"/>
                <a:cs typeface="Calibri"/>
              </a:rPr>
              <a:t>Professor,</a:t>
            </a:r>
            <a:r>
              <a:rPr sz="115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150" spc="15" dirty="0">
                <a:solidFill>
                  <a:srgbClr val="404040"/>
                </a:solidFill>
                <a:latin typeface="Calibri"/>
                <a:cs typeface="Calibri"/>
              </a:rPr>
              <a:t>CSE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648" y="521271"/>
            <a:ext cx="4407535" cy="575945"/>
            <a:chOff x="612648" y="521271"/>
            <a:chExt cx="4407535" cy="575945"/>
          </a:xfrm>
        </p:grpSpPr>
        <p:sp>
          <p:nvSpPr>
            <p:cNvPr id="3" name="object 3"/>
            <p:cNvSpPr/>
            <p:nvPr/>
          </p:nvSpPr>
          <p:spPr>
            <a:xfrm>
              <a:off x="777240" y="627506"/>
              <a:ext cx="3973195" cy="288290"/>
            </a:xfrm>
            <a:custGeom>
              <a:avLst/>
              <a:gdLst/>
              <a:ahLst/>
              <a:cxnLst/>
              <a:rect l="l" t="t" r="r" b="b"/>
              <a:pathLst>
                <a:path w="3973195" h="288290">
                  <a:moveTo>
                    <a:pt x="39730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3973067" y="288036"/>
                  </a:lnTo>
                  <a:lnTo>
                    <a:pt x="39730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521271"/>
              <a:ext cx="4320286" cy="57588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50307" y="627506"/>
              <a:ext cx="86995" cy="288290"/>
            </a:xfrm>
            <a:custGeom>
              <a:avLst/>
              <a:gdLst/>
              <a:ahLst/>
              <a:cxnLst/>
              <a:rect l="l" t="t" r="r" b="b"/>
              <a:pathLst>
                <a:path w="86995" h="288290">
                  <a:moveTo>
                    <a:pt x="868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86867" y="288036"/>
                  </a:lnTo>
                  <a:lnTo>
                    <a:pt x="868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715" y="521271"/>
              <a:ext cx="434136" cy="57588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7240" y="627506"/>
            <a:ext cx="413321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dirty="0">
                <a:solidFill>
                  <a:srgbClr val="000000"/>
                </a:solidFill>
              </a:rPr>
              <a:t>Types</a:t>
            </a:r>
            <a:r>
              <a:rPr sz="2000" spc="-35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of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spc="5" dirty="0">
                <a:solidFill>
                  <a:srgbClr val="000000"/>
                </a:solidFill>
              </a:rPr>
              <a:t>Recoverable</a:t>
            </a:r>
            <a:r>
              <a:rPr sz="2000" spc="-6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Schedules-</a:t>
            </a:r>
            <a:endParaRPr sz="2000"/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4910455" cy="915669"/>
            <a:chOff x="0" y="0"/>
            <a:chExt cx="4910455" cy="915669"/>
          </a:xfrm>
        </p:grpSpPr>
        <p:sp>
          <p:nvSpPr>
            <p:cNvPr id="9" name="object 9"/>
            <p:cNvSpPr/>
            <p:nvPr/>
          </p:nvSpPr>
          <p:spPr>
            <a:xfrm>
              <a:off x="4837176" y="627506"/>
              <a:ext cx="73660" cy="288290"/>
            </a:xfrm>
            <a:custGeom>
              <a:avLst/>
              <a:gdLst/>
              <a:ahLst/>
              <a:cxnLst/>
              <a:rect l="l" t="t" r="r" b="b"/>
              <a:pathLst>
                <a:path w="73660" h="288290">
                  <a:moveTo>
                    <a:pt x="73151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3151" y="288036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676910" cy="836930"/>
            </a:xfrm>
            <a:custGeom>
              <a:avLst/>
              <a:gdLst/>
              <a:ahLst/>
              <a:cxnLst/>
              <a:rect l="l" t="t" r="r" b="b"/>
              <a:pathLst>
                <a:path w="676910" h="836930">
                  <a:moveTo>
                    <a:pt x="676656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676656" y="836676"/>
                  </a:lnTo>
                  <a:lnTo>
                    <a:pt x="67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0" y="6268211"/>
            <a:ext cx="9144000" cy="589915"/>
            <a:chOff x="0" y="6268211"/>
            <a:chExt cx="9144000" cy="589915"/>
          </a:xfrm>
        </p:grpSpPr>
        <p:sp>
          <p:nvSpPr>
            <p:cNvPr id="12" name="object 12"/>
            <p:cNvSpPr/>
            <p:nvPr/>
          </p:nvSpPr>
          <p:spPr>
            <a:xfrm>
              <a:off x="7594092" y="6281927"/>
              <a:ext cx="502920" cy="292735"/>
            </a:xfrm>
            <a:custGeom>
              <a:avLst/>
              <a:gdLst/>
              <a:ahLst/>
              <a:cxnLst/>
              <a:rect l="l" t="t" r="r" b="b"/>
              <a:pathLst>
                <a:path w="502920" h="292734">
                  <a:moveTo>
                    <a:pt x="0" y="292608"/>
                  </a:moveTo>
                  <a:lnTo>
                    <a:pt x="502920" y="29260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94092" y="6281927"/>
              <a:ext cx="502920" cy="361315"/>
            </a:xfrm>
            <a:custGeom>
              <a:avLst/>
              <a:gdLst/>
              <a:ahLst/>
              <a:cxnLst/>
              <a:rect l="l" t="t" r="r" b="b"/>
              <a:pathLst>
                <a:path w="502920" h="361315">
                  <a:moveTo>
                    <a:pt x="0" y="361188"/>
                  </a:moveTo>
                  <a:lnTo>
                    <a:pt x="502920" y="36118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27432">
              <a:solidFill>
                <a:srgbClr val="E1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574535"/>
              <a:ext cx="9144000" cy="283845"/>
            </a:xfrm>
            <a:custGeom>
              <a:avLst/>
              <a:gdLst/>
              <a:ahLst/>
              <a:cxnLst/>
              <a:rect l="l" t="t" r="r" b="b"/>
              <a:pathLst>
                <a:path w="9144000" h="283845">
                  <a:moveTo>
                    <a:pt x="9144000" y="0"/>
                  </a:moveTo>
                  <a:lnTo>
                    <a:pt x="0" y="0"/>
                  </a:lnTo>
                  <a:lnTo>
                    <a:pt x="0" y="283464"/>
                  </a:lnTo>
                  <a:lnTo>
                    <a:pt x="9144000" y="28346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34948" y="1178101"/>
            <a:ext cx="5311775" cy="16668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b="1" dirty="0">
                <a:latin typeface="Times New Roman"/>
                <a:cs typeface="Times New Roman"/>
              </a:rPr>
              <a:t>A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Times New Roman"/>
                <a:cs typeface="Times New Roman"/>
              </a:rPr>
              <a:t>recoverable</a:t>
            </a:r>
            <a:r>
              <a:rPr sz="1800" b="1" spc="114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schedule</a:t>
            </a:r>
            <a:r>
              <a:rPr sz="1800" b="1" spc="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may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any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one</a:t>
            </a:r>
            <a:r>
              <a:rPr sz="1800" b="1" spc="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these</a:t>
            </a:r>
            <a:r>
              <a:rPr sz="1800" b="1" spc="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kinds-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55"/>
              </a:spcBef>
              <a:buAutoNum type="arabicPeriod"/>
              <a:tabLst>
                <a:tab pos="355600" algn="l"/>
              </a:tabLst>
            </a:pPr>
            <a:r>
              <a:rPr sz="2400" spc="5" dirty="0">
                <a:latin typeface="Times New Roman"/>
                <a:cs typeface="Times New Roman"/>
              </a:rPr>
              <a:t>Cascading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355600" algn="l"/>
              </a:tabLst>
            </a:pPr>
            <a:r>
              <a:rPr sz="2400" spc="10" dirty="0">
                <a:latin typeface="Times New Roman"/>
                <a:cs typeface="Times New Roman"/>
              </a:rPr>
              <a:t>Cascade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less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Strict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648" y="521271"/>
            <a:ext cx="4407535" cy="575945"/>
            <a:chOff x="612648" y="521271"/>
            <a:chExt cx="4407535" cy="575945"/>
          </a:xfrm>
        </p:grpSpPr>
        <p:sp>
          <p:nvSpPr>
            <p:cNvPr id="3" name="object 3"/>
            <p:cNvSpPr/>
            <p:nvPr/>
          </p:nvSpPr>
          <p:spPr>
            <a:xfrm>
              <a:off x="777240" y="627506"/>
              <a:ext cx="3973195" cy="288290"/>
            </a:xfrm>
            <a:custGeom>
              <a:avLst/>
              <a:gdLst/>
              <a:ahLst/>
              <a:cxnLst/>
              <a:rect l="l" t="t" r="r" b="b"/>
              <a:pathLst>
                <a:path w="3973195" h="288290">
                  <a:moveTo>
                    <a:pt x="39730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3973067" y="288036"/>
                  </a:lnTo>
                  <a:lnTo>
                    <a:pt x="39730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521271"/>
              <a:ext cx="4320286" cy="57588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50307" y="627506"/>
              <a:ext cx="86995" cy="288290"/>
            </a:xfrm>
            <a:custGeom>
              <a:avLst/>
              <a:gdLst/>
              <a:ahLst/>
              <a:cxnLst/>
              <a:rect l="l" t="t" r="r" b="b"/>
              <a:pathLst>
                <a:path w="86995" h="288290">
                  <a:moveTo>
                    <a:pt x="868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86867" y="288036"/>
                  </a:lnTo>
                  <a:lnTo>
                    <a:pt x="868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715" y="521271"/>
              <a:ext cx="434136" cy="57588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7240" y="627506"/>
            <a:ext cx="413321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b="1" dirty="0">
                <a:latin typeface="Arial"/>
                <a:cs typeface="Arial"/>
              </a:rPr>
              <a:t>Types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of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Recoverable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Schedules-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4910455" cy="915669"/>
            <a:chOff x="0" y="0"/>
            <a:chExt cx="4910455" cy="915669"/>
          </a:xfrm>
        </p:grpSpPr>
        <p:sp>
          <p:nvSpPr>
            <p:cNvPr id="9" name="object 9"/>
            <p:cNvSpPr/>
            <p:nvPr/>
          </p:nvSpPr>
          <p:spPr>
            <a:xfrm>
              <a:off x="4837176" y="627506"/>
              <a:ext cx="73660" cy="288290"/>
            </a:xfrm>
            <a:custGeom>
              <a:avLst/>
              <a:gdLst/>
              <a:ahLst/>
              <a:cxnLst/>
              <a:rect l="l" t="t" r="r" b="b"/>
              <a:pathLst>
                <a:path w="73660" h="288290">
                  <a:moveTo>
                    <a:pt x="73151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3151" y="288036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676910" cy="836930"/>
            </a:xfrm>
            <a:custGeom>
              <a:avLst/>
              <a:gdLst/>
              <a:ahLst/>
              <a:cxnLst/>
              <a:rect l="l" t="t" r="r" b="b"/>
              <a:pathLst>
                <a:path w="676910" h="836930">
                  <a:moveTo>
                    <a:pt x="676656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676656" y="836676"/>
                  </a:lnTo>
                  <a:lnTo>
                    <a:pt x="67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580121" y="6267958"/>
            <a:ext cx="530860" cy="389255"/>
            <a:chOff x="7580121" y="6267958"/>
            <a:chExt cx="530860" cy="389255"/>
          </a:xfrm>
        </p:grpSpPr>
        <p:sp>
          <p:nvSpPr>
            <p:cNvPr id="12" name="object 12"/>
            <p:cNvSpPr/>
            <p:nvPr/>
          </p:nvSpPr>
          <p:spPr>
            <a:xfrm>
              <a:off x="7594091" y="6281928"/>
              <a:ext cx="502920" cy="292735"/>
            </a:xfrm>
            <a:custGeom>
              <a:avLst/>
              <a:gdLst/>
              <a:ahLst/>
              <a:cxnLst/>
              <a:rect l="l" t="t" r="r" b="b"/>
              <a:pathLst>
                <a:path w="502920" h="292734">
                  <a:moveTo>
                    <a:pt x="0" y="292608"/>
                  </a:moveTo>
                  <a:lnTo>
                    <a:pt x="502920" y="29260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94091" y="6281928"/>
              <a:ext cx="502920" cy="361315"/>
            </a:xfrm>
            <a:custGeom>
              <a:avLst/>
              <a:gdLst/>
              <a:ahLst/>
              <a:cxnLst/>
              <a:rect l="l" t="t" r="r" b="b"/>
              <a:pathLst>
                <a:path w="502920" h="361315">
                  <a:moveTo>
                    <a:pt x="0" y="361188"/>
                  </a:moveTo>
                  <a:lnTo>
                    <a:pt x="502920" y="36118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27432">
              <a:solidFill>
                <a:srgbClr val="E1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34948" y="1225422"/>
            <a:ext cx="297116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10" dirty="0">
                <a:solidFill>
                  <a:srgbClr val="000000"/>
                </a:solidFill>
                <a:latin typeface="Times New Roman"/>
                <a:cs typeface="Times New Roman"/>
              </a:rPr>
              <a:t>1.</a:t>
            </a:r>
            <a:r>
              <a:rPr sz="2400" spc="2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Cascading</a:t>
            </a:r>
            <a:r>
              <a:rPr sz="2400" spc="-10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6992" y="3201365"/>
            <a:ext cx="241109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1465" indent="-27940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291465" algn="l"/>
                <a:tab pos="292100" algn="l"/>
              </a:tabLst>
            </a:pPr>
            <a:r>
              <a:rPr sz="2400" spc="-40" dirty="0">
                <a:latin typeface="Times New Roman"/>
                <a:cs typeface="Times New Roman"/>
              </a:rPr>
              <a:t>It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leads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to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6083" y="2808286"/>
            <a:ext cx="4359910" cy="1595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30"/>
              </a:lnSpc>
            </a:pPr>
            <a:r>
              <a:rPr sz="2400" spc="1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d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spc="5" dirty="0">
                <a:latin typeface="Times New Roman"/>
                <a:cs typeface="Times New Roman"/>
              </a:rPr>
              <a:t>g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R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spc="-25" dirty="0">
                <a:latin typeface="Times New Roman"/>
                <a:cs typeface="Times New Roman"/>
              </a:rPr>
              <a:t>ll</a:t>
            </a:r>
            <a:r>
              <a:rPr sz="2400" spc="15" dirty="0">
                <a:latin typeface="Times New Roman"/>
                <a:cs typeface="Times New Roman"/>
              </a:rPr>
              <a:t>b</a:t>
            </a:r>
            <a:r>
              <a:rPr sz="2400" spc="10" dirty="0">
                <a:latin typeface="Times New Roman"/>
                <a:cs typeface="Times New Roman"/>
              </a:rPr>
              <a:t>ac</a:t>
            </a:r>
            <a:r>
              <a:rPr sz="2400" spc="5" dirty="0">
                <a:latin typeface="Times New Roman"/>
                <a:cs typeface="Times New Roman"/>
              </a:rPr>
              <a:t>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Ca</a:t>
            </a:r>
            <a:r>
              <a:rPr sz="2400" spc="5" dirty="0">
                <a:latin typeface="Times New Roman"/>
                <a:cs typeface="Times New Roman"/>
              </a:rPr>
              <a:t>sc</a:t>
            </a:r>
            <a:r>
              <a:rPr sz="2400" spc="10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d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spc="5" dirty="0">
                <a:latin typeface="Times New Roman"/>
                <a:cs typeface="Times New Roman"/>
              </a:rPr>
              <a:t>g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A</a:t>
            </a:r>
            <a:r>
              <a:rPr sz="2400" spc="15" dirty="0">
                <a:latin typeface="Times New Roman"/>
                <a:cs typeface="Times New Roman"/>
              </a:rPr>
              <a:t>b</a:t>
            </a:r>
            <a:r>
              <a:rPr sz="2400" spc="-15" dirty="0">
                <a:latin typeface="Times New Roman"/>
                <a:cs typeface="Times New Roman"/>
              </a:rPr>
              <a:t>or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.</a:t>
            </a:r>
          </a:p>
          <a:p>
            <a:pPr marL="49530">
              <a:spcBef>
                <a:spcPts val="575"/>
              </a:spcBef>
            </a:pPr>
            <a:r>
              <a:rPr sz="2400" spc="10" dirty="0">
                <a:latin typeface="Times New Roman"/>
                <a:cs typeface="Times New Roman"/>
              </a:rPr>
              <a:t>the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wastage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CPU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time.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r>
              <a:rPr lang="en-IN" sz="2400" b="1" dirty="0">
                <a:solidFill>
                  <a:srgbClr val="2F2F2F"/>
                </a:solidFill>
                <a:latin typeface="Arial"/>
                <a:cs typeface="Arial"/>
              </a:rPr>
              <a:t>In</a:t>
            </a:r>
            <a:r>
              <a:rPr lang="en-IN" sz="2400" b="1" spc="-5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lang="en-IN" sz="2400" b="1" dirty="0">
                <a:solidFill>
                  <a:srgbClr val="2F2F2F"/>
                </a:solidFill>
                <a:latin typeface="Arial"/>
                <a:cs typeface="Arial"/>
              </a:rPr>
              <a:t>this</a:t>
            </a:r>
            <a:r>
              <a:rPr lang="en-IN" sz="2400" b="1" spc="-4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lang="en-IN" sz="2400" b="1" dirty="0">
                <a:solidFill>
                  <a:srgbClr val="2F2F2F"/>
                </a:solidFill>
                <a:latin typeface="Arial"/>
                <a:cs typeface="Arial"/>
              </a:rPr>
              <a:t>schedule,</a:t>
            </a:r>
            <a:endParaRPr lang="en-IN" sz="2400" dirty="0">
              <a:latin typeface="Arial"/>
              <a:cs typeface="Arial"/>
            </a:endParaRPr>
          </a:p>
          <a:p>
            <a:pPr marL="49530">
              <a:lnSpc>
                <a:spcPct val="100000"/>
              </a:lnSpc>
              <a:spcBef>
                <a:spcPts val="575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29000" y="3766728"/>
            <a:ext cx="5715000" cy="3091526"/>
            <a:chOff x="0" y="2866644"/>
            <a:chExt cx="9144000" cy="3991610"/>
          </a:xfrm>
        </p:grpSpPr>
        <p:sp>
          <p:nvSpPr>
            <p:cNvPr id="18" name="object 18"/>
            <p:cNvSpPr/>
            <p:nvPr/>
          </p:nvSpPr>
          <p:spPr>
            <a:xfrm>
              <a:off x="0" y="6574535"/>
              <a:ext cx="9144000" cy="283845"/>
            </a:xfrm>
            <a:custGeom>
              <a:avLst/>
              <a:gdLst/>
              <a:ahLst/>
              <a:cxnLst/>
              <a:rect l="l" t="t" r="r" b="b"/>
              <a:pathLst>
                <a:path w="9144000" h="283845">
                  <a:moveTo>
                    <a:pt x="9144000" y="0"/>
                  </a:moveTo>
                  <a:lnTo>
                    <a:pt x="0" y="0"/>
                  </a:lnTo>
                  <a:lnTo>
                    <a:pt x="0" y="283464"/>
                  </a:lnTo>
                  <a:lnTo>
                    <a:pt x="9144000" y="28346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89603" y="2866644"/>
              <a:ext cx="5033772" cy="376275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64870" y="1664589"/>
            <a:ext cx="7096759" cy="149143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22960" marR="5080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822960" algn="l"/>
                <a:tab pos="823594" algn="l"/>
              </a:tabLst>
            </a:pPr>
            <a:r>
              <a:rPr sz="2400" spc="-40" dirty="0">
                <a:latin typeface="Times New Roman"/>
                <a:cs typeface="Times New Roman"/>
              </a:rPr>
              <a:t>If </a:t>
            </a:r>
            <a:r>
              <a:rPr sz="2400" spc="5" dirty="0">
                <a:latin typeface="Times New Roman"/>
                <a:cs typeface="Times New Roman"/>
              </a:rPr>
              <a:t>in a </a:t>
            </a:r>
            <a:r>
              <a:rPr sz="2400" dirty="0">
                <a:latin typeface="Times New Roman"/>
                <a:cs typeface="Times New Roman"/>
              </a:rPr>
              <a:t>schedule, failure </a:t>
            </a:r>
            <a:r>
              <a:rPr sz="2400" spc="-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5" dirty="0">
                <a:latin typeface="Times New Roman"/>
                <a:cs typeface="Times New Roman"/>
              </a:rPr>
              <a:t>transaction </a:t>
            </a:r>
            <a:r>
              <a:rPr sz="2400" dirty="0">
                <a:latin typeface="Times New Roman"/>
                <a:cs typeface="Times New Roman"/>
              </a:rPr>
              <a:t>causes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several </a:t>
            </a:r>
            <a:r>
              <a:rPr sz="2400" spc="-5" dirty="0">
                <a:latin typeface="Times New Roman"/>
                <a:cs typeface="Times New Roman"/>
              </a:rPr>
              <a:t>other </a:t>
            </a:r>
            <a:r>
              <a:rPr sz="2400" dirty="0">
                <a:latin typeface="Times New Roman"/>
                <a:cs typeface="Times New Roman"/>
              </a:rPr>
              <a:t>dependent transactions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spc="-5" dirty="0">
                <a:latin typeface="Times New Roman"/>
                <a:cs typeface="Times New Roman"/>
              </a:rPr>
              <a:t>rollback or </a:t>
            </a:r>
            <a:r>
              <a:rPr sz="2400" dirty="0">
                <a:latin typeface="Times New Roman"/>
                <a:cs typeface="Times New Roman"/>
              </a:rPr>
              <a:t> abort,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such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called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Cascading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 </a:t>
            </a:r>
            <a:r>
              <a:rPr sz="2400" spc="5" dirty="0" err="1">
                <a:latin typeface="Times New Roman"/>
                <a:cs typeface="Times New Roman"/>
              </a:rPr>
              <a:t>Casc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1006" y="3745183"/>
            <a:ext cx="2284095" cy="669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800"/>
              </a:lnSpc>
              <a:spcBef>
                <a:spcPts val="90"/>
              </a:spcBef>
              <a:buSzPct val="92857"/>
              <a:buChar char="•"/>
              <a:tabLst>
                <a:tab pos="76835" algn="l"/>
              </a:tabLst>
            </a:pPr>
            <a:r>
              <a:rPr sz="1400" spc="-35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h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spc="-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35" dirty="0">
                <a:solidFill>
                  <a:srgbClr val="2F2F2F"/>
                </a:solidFill>
                <a:latin typeface="Arial MT"/>
                <a:cs typeface="Arial MT"/>
              </a:rPr>
              <a:t>f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ailu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re</a:t>
            </a:r>
            <a:r>
              <a:rPr sz="1400" spc="-9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f</a:t>
            </a:r>
            <a:r>
              <a:rPr sz="1400" spc="-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an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io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n</a:t>
            </a:r>
            <a:r>
              <a:rPr sz="1400" spc="-16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1  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au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-5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h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spc="-5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an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10" dirty="0">
                <a:solidFill>
                  <a:srgbClr val="2F2F2F"/>
                </a:solidFill>
                <a:latin typeface="Arial MT"/>
                <a:cs typeface="Arial MT"/>
              </a:rPr>
              <a:t>i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n</a:t>
            </a:r>
            <a:r>
              <a:rPr sz="1400" spc="-1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2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to  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rollback.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0682" y="4462482"/>
            <a:ext cx="2507615" cy="21615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95885">
              <a:lnSpc>
                <a:spcPct val="99700"/>
              </a:lnSpc>
              <a:spcBef>
                <a:spcPts val="110"/>
              </a:spcBef>
              <a:buSzPct val="92857"/>
              <a:buChar char="•"/>
              <a:tabLst>
                <a:tab pos="76835" algn="l"/>
              </a:tabLst>
            </a:pPr>
            <a:r>
              <a:rPr sz="1400" spc="-35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h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spc="-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ollba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k</a:t>
            </a:r>
            <a:r>
              <a:rPr sz="1400" spc="-9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f</a:t>
            </a:r>
            <a:r>
              <a:rPr sz="1400" spc="-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an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io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n</a:t>
            </a:r>
            <a:r>
              <a:rPr sz="1400" spc="-1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-35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2  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au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-5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h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spc="-5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an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10" dirty="0">
                <a:solidFill>
                  <a:srgbClr val="2F2F2F"/>
                </a:solidFill>
                <a:latin typeface="Arial MT"/>
                <a:cs typeface="Arial MT"/>
              </a:rPr>
              <a:t>i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n</a:t>
            </a:r>
            <a:r>
              <a:rPr sz="1400" spc="-1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3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to  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rollback.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2F2F2F"/>
              </a:buClr>
              <a:buFont typeface="Arial MT"/>
              <a:buChar char="•"/>
            </a:pPr>
            <a:endParaRPr sz="1450" dirty="0">
              <a:latin typeface="Arial MT"/>
              <a:cs typeface="Arial MT"/>
            </a:endParaRPr>
          </a:p>
          <a:p>
            <a:pPr marL="12700" marR="95885">
              <a:lnSpc>
                <a:spcPct val="99700"/>
              </a:lnSpc>
              <a:buSzPct val="92857"/>
              <a:buChar char="•"/>
              <a:tabLst>
                <a:tab pos="76835" algn="l"/>
              </a:tabLst>
            </a:pPr>
            <a:r>
              <a:rPr sz="1400" spc="-3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h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spc="10" dirty="0">
                <a:solidFill>
                  <a:srgbClr val="2F2F2F"/>
                </a:solidFill>
                <a:latin typeface="Arial MT"/>
                <a:cs typeface="Arial MT"/>
              </a:rPr>
              <a:t>ll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ba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k</a:t>
            </a:r>
            <a:r>
              <a:rPr sz="1400" spc="-8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f</a:t>
            </a:r>
            <a:r>
              <a:rPr sz="1400" spc="-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an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spc="10" dirty="0">
                <a:solidFill>
                  <a:srgbClr val="2F2F2F"/>
                </a:solidFill>
                <a:latin typeface="Arial MT"/>
                <a:cs typeface="Arial MT"/>
              </a:rPr>
              <a:t>i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n</a:t>
            </a:r>
            <a:r>
              <a:rPr sz="1400" spc="-13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2F2F2F"/>
                </a:solidFill>
                <a:latin typeface="Arial MT"/>
                <a:cs typeface="Arial MT"/>
              </a:rPr>
              <a:t>T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3  causes the transaction </a:t>
            </a:r>
            <a:r>
              <a:rPr sz="1400" spc="-15" dirty="0">
                <a:solidFill>
                  <a:srgbClr val="2F2F2F"/>
                </a:solidFill>
                <a:latin typeface="Arial MT"/>
                <a:cs typeface="Arial MT"/>
              </a:rPr>
              <a:t>T4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to 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 rollback.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 dirty="0">
              <a:latin typeface="Arial MT"/>
              <a:cs typeface="Arial MT"/>
            </a:endParaRPr>
          </a:p>
          <a:p>
            <a:pPr marL="342900"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u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h</a:t>
            </a:r>
            <a:r>
              <a:rPr sz="1400" spc="-5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r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o</a:t>
            </a:r>
            <a:r>
              <a:rPr sz="1400" spc="10" dirty="0">
                <a:solidFill>
                  <a:srgbClr val="2F2F2F"/>
                </a:solidFill>
                <a:latin typeface="Arial MT"/>
                <a:cs typeface="Arial MT"/>
              </a:rPr>
              <a:t>ll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ba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k</a:t>
            </a:r>
            <a:r>
              <a:rPr sz="1400" spc="-1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10" dirty="0">
                <a:solidFill>
                  <a:srgbClr val="2F2F2F"/>
                </a:solidFill>
                <a:latin typeface="Arial MT"/>
                <a:cs typeface="Arial MT"/>
              </a:rPr>
              <a:t>i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r>
              <a:rPr sz="1400" spc="-1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15" dirty="0">
                <a:solidFill>
                  <a:srgbClr val="2F2F2F"/>
                </a:solidFill>
                <a:latin typeface="Arial MT"/>
                <a:cs typeface="Arial MT"/>
              </a:rPr>
              <a:t>c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10" dirty="0">
                <a:solidFill>
                  <a:srgbClr val="2F2F2F"/>
                </a:solidFill>
                <a:latin typeface="Arial MT"/>
                <a:cs typeface="Arial MT"/>
              </a:rPr>
              <a:t>ll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e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d</a:t>
            </a:r>
            <a:r>
              <a:rPr sz="1400" spc="-9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spc="5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s</a:t>
            </a:r>
            <a:endParaRPr sz="1400" dirty="0">
              <a:latin typeface="Arial MT"/>
              <a:cs typeface="Arial MT"/>
            </a:endParaRPr>
          </a:p>
          <a:p>
            <a:pPr marL="344170" algn="ctr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400" b="1" spc="-10" dirty="0">
                <a:solidFill>
                  <a:srgbClr val="2F2F2F"/>
                </a:solidFill>
                <a:latin typeface="Arial"/>
                <a:cs typeface="Arial"/>
              </a:rPr>
              <a:t>C</a:t>
            </a:r>
            <a:r>
              <a:rPr sz="1400" b="1" spc="5" dirty="0">
                <a:solidFill>
                  <a:srgbClr val="2F2F2F"/>
                </a:solidFill>
                <a:latin typeface="Arial"/>
                <a:cs typeface="Arial"/>
              </a:rPr>
              <a:t>asca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ding</a:t>
            </a:r>
            <a:r>
              <a:rPr sz="1400" b="1" spc="-10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F2F2F"/>
                </a:solidFill>
                <a:latin typeface="Arial"/>
                <a:cs typeface="Arial"/>
              </a:rPr>
              <a:t>R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ollb</a:t>
            </a:r>
            <a:r>
              <a:rPr sz="1400" b="1" spc="5" dirty="0">
                <a:solidFill>
                  <a:srgbClr val="2F2F2F"/>
                </a:solidFill>
                <a:latin typeface="Arial"/>
                <a:cs typeface="Arial"/>
              </a:rPr>
              <a:t>ac</a:t>
            </a:r>
            <a:r>
              <a:rPr sz="1400" b="1" spc="35" dirty="0">
                <a:solidFill>
                  <a:srgbClr val="2F2F2F"/>
                </a:solidFill>
                <a:latin typeface="Arial"/>
                <a:cs typeface="Arial"/>
              </a:rPr>
              <a:t>k</a:t>
            </a:r>
            <a:r>
              <a:rPr sz="1400" dirty="0">
                <a:solidFill>
                  <a:srgbClr val="2F2F2F"/>
                </a:solidFill>
                <a:latin typeface="Arial MT"/>
                <a:cs typeface="Arial MT"/>
              </a:rPr>
              <a:t>.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648" y="521271"/>
            <a:ext cx="4407535" cy="575945"/>
            <a:chOff x="612648" y="521271"/>
            <a:chExt cx="4407535" cy="575945"/>
          </a:xfrm>
        </p:grpSpPr>
        <p:sp>
          <p:nvSpPr>
            <p:cNvPr id="3" name="object 3"/>
            <p:cNvSpPr/>
            <p:nvPr/>
          </p:nvSpPr>
          <p:spPr>
            <a:xfrm>
              <a:off x="777240" y="627506"/>
              <a:ext cx="3973195" cy="288290"/>
            </a:xfrm>
            <a:custGeom>
              <a:avLst/>
              <a:gdLst/>
              <a:ahLst/>
              <a:cxnLst/>
              <a:rect l="l" t="t" r="r" b="b"/>
              <a:pathLst>
                <a:path w="3973195" h="288290">
                  <a:moveTo>
                    <a:pt x="39730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3973067" y="288036"/>
                  </a:lnTo>
                  <a:lnTo>
                    <a:pt x="39730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521271"/>
              <a:ext cx="4320286" cy="57588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50307" y="627506"/>
              <a:ext cx="86995" cy="288290"/>
            </a:xfrm>
            <a:custGeom>
              <a:avLst/>
              <a:gdLst/>
              <a:ahLst/>
              <a:cxnLst/>
              <a:rect l="l" t="t" r="r" b="b"/>
              <a:pathLst>
                <a:path w="86995" h="288290">
                  <a:moveTo>
                    <a:pt x="868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86867" y="288036"/>
                  </a:lnTo>
                  <a:lnTo>
                    <a:pt x="868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715" y="521271"/>
              <a:ext cx="434136" cy="57588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7240" y="627506"/>
            <a:ext cx="413321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b="1" dirty="0">
                <a:latin typeface="Arial"/>
                <a:cs typeface="Arial"/>
              </a:rPr>
              <a:t>Types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of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Recoverable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Schedules-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4910455" cy="915669"/>
            <a:chOff x="0" y="0"/>
            <a:chExt cx="4910455" cy="915669"/>
          </a:xfrm>
        </p:grpSpPr>
        <p:sp>
          <p:nvSpPr>
            <p:cNvPr id="9" name="object 9"/>
            <p:cNvSpPr/>
            <p:nvPr/>
          </p:nvSpPr>
          <p:spPr>
            <a:xfrm>
              <a:off x="4837176" y="627506"/>
              <a:ext cx="73660" cy="288290"/>
            </a:xfrm>
            <a:custGeom>
              <a:avLst/>
              <a:gdLst/>
              <a:ahLst/>
              <a:cxnLst/>
              <a:rect l="l" t="t" r="r" b="b"/>
              <a:pathLst>
                <a:path w="73660" h="288290">
                  <a:moveTo>
                    <a:pt x="73151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3151" y="288036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676910" cy="836930"/>
            </a:xfrm>
            <a:custGeom>
              <a:avLst/>
              <a:gdLst/>
              <a:ahLst/>
              <a:cxnLst/>
              <a:rect l="l" t="t" r="r" b="b"/>
              <a:pathLst>
                <a:path w="676910" h="836930">
                  <a:moveTo>
                    <a:pt x="676656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676656" y="836676"/>
                  </a:lnTo>
                  <a:lnTo>
                    <a:pt x="67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580121" y="6267958"/>
            <a:ext cx="530860" cy="389255"/>
            <a:chOff x="7580121" y="6267958"/>
            <a:chExt cx="530860" cy="389255"/>
          </a:xfrm>
        </p:grpSpPr>
        <p:sp>
          <p:nvSpPr>
            <p:cNvPr id="12" name="object 12"/>
            <p:cNvSpPr/>
            <p:nvPr/>
          </p:nvSpPr>
          <p:spPr>
            <a:xfrm>
              <a:off x="7594091" y="6281928"/>
              <a:ext cx="502920" cy="292735"/>
            </a:xfrm>
            <a:custGeom>
              <a:avLst/>
              <a:gdLst/>
              <a:ahLst/>
              <a:cxnLst/>
              <a:rect l="l" t="t" r="r" b="b"/>
              <a:pathLst>
                <a:path w="502920" h="292734">
                  <a:moveTo>
                    <a:pt x="0" y="292608"/>
                  </a:moveTo>
                  <a:lnTo>
                    <a:pt x="502920" y="29260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94091" y="6281928"/>
              <a:ext cx="502920" cy="361315"/>
            </a:xfrm>
            <a:custGeom>
              <a:avLst/>
              <a:gdLst/>
              <a:ahLst/>
              <a:cxnLst/>
              <a:rect l="l" t="t" r="r" b="b"/>
              <a:pathLst>
                <a:path w="502920" h="361315">
                  <a:moveTo>
                    <a:pt x="0" y="361188"/>
                  </a:moveTo>
                  <a:lnTo>
                    <a:pt x="502920" y="361188"/>
                  </a:lnTo>
                  <a:lnTo>
                    <a:pt x="502920" y="0"/>
                  </a:lnTo>
                  <a:lnTo>
                    <a:pt x="0" y="0"/>
                  </a:lnTo>
                  <a:lnTo>
                    <a:pt x="0" y="361188"/>
                  </a:lnTo>
                  <a:close/>
                </a:path>
              </a:pathLst>
            </a:custGeom>
            <a:ln w="27432">
              <a:solidFill>
                <a:srgbClr val="E1F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34948" y="1225422"/>
            <a:ext cx="342201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46100" algn="l"/>
              </a:tabLst>
            </a:pP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2.	Cascade</a:t>
            </a:r>
            <a:r>
              <a:rPr sz="2400" spc="-11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less</a:t>
            </a:r>
            <a:r>
              <a:rPr sz="2400" spc="-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1564" y="1664589"/>
            <a:ext cx="6780530" cy="1490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5910" algn="l"/>
                <a:tab pos="296545" algn="l"/>
              </a:tabLst>
            </a:pPr>
            <a:r>
              <a:rPr sz="2400" spc="-40" dirty="0">
                <a:latin typeface="Times New Roman"/>
                <a:cs typeface="Times New Roman"/>
              </a:rPr>
              <a:t>If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transaction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allowed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read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data </a:t>
            </a:r>
            <a:r>
              <a:rPr sz="2400" dirty="0">
                <a:latin typeface="Times New Roman"/>
                <a:cs typeface="Times New Roman"/>
              </a:rPr>
              <a:t>item </a:t>
            </a:r>
            <a:r>
              <a:rPr sz="2400" spc="10" dirty="0">
                <a:latin typeface="Times New Roman"/>
                <a:cs typeface="Times New Roman"/>
              </a:rPr>
              <a:t>until the </a:t>
            </a:r>
            <a:r>
              <a:rPr sz="2400" spc="-5" dirty="0">
                <a:latin typeface="Times New Roman"/>
                <a:cs typeface="Times New Roman"/>
              </a:rPr>
              <a:t>last </a:t>
            </a:r>
            <a:r>
              <a:rPr sz="2400" dirty="0">
                <a:latin typeface="Times New Roman"/>
                <a:cs typeface="Times New Roman"/>
              </a:rPr>
              <a:t>transaction </a:t>
            </a:r>
            <a:r>
              <a:rPr sz="2400" spc="10" dirty="0">
                <a:latin typeface="Times New Roman"/>
                <a:cs typeface="Times New Roman"/>
              </a:rPr>
              <a:t>that has </a:t>
            </a:r>
            <a:r>
              <a:rPr sz="2400" spc="-10" dirty="0">
                <a:latin typeface="Times New Roman"/>
                <a:cs typeface="Times New Roman"/>
              </a:rPr>
              <a:t>written </a:t>
            </a:r>
            <a:r>
              <a:rPr sz="2400" spc="5" dirty="0">
                <a:latin typeface="Times New Roman"/>
                <a:cs typeface="Times New Roman"/>
              </a:rPr>
              <a:t>it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committed </a:t>
            </a:r>
            <a:r>
              <a:rPr sz="2400" spc="-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aborted, then </a:t>
            </a:r>
            <a:r>
              <a:rPr sz="2400" spc="10" dirty="0">
                <a:latin typeface="Times New Roman"/>
                <a:cs typeface="Times New Roman"/>
              </a:rPr>
              <a:t>such </a:t>
            </a:r>
            <a:r>
              <a:rPr sz="2400" spc="5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schedule </a:t>
            </a:r>
            <a:r>
              <a:rPr sz="2400" spc="5" dirty="0">
                <a:latin typeface="Times New Roman"/>
                <a:cs typeface="Times New Roman"/>
              </a:rPr>
              <a:t>is 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called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Cascade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less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lang="en-IN" sz="2400" dirty="0">
                <a:latin typeface="Times New Roman"/>
                <a:cs typeface="Times New Roman"/>
              </a:rPr>
              <a:t>c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1564" y="3201365"/>
            <a:ext cx="350329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295910" algn="l"/>
                <a:tab pos="296545" algn="l"/>
              </a:tabLst>
            </a:pPr>
            <a:r>
              <a:rPr lang="en-US" sz="2400" spc="-40" dirty="0">
                <a:latin typeface="Times New Roman"/>
                <a:cs typeface="Times New Roman"/>
              </a:rPr>
              <a:t>In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other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words,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it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allows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o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5358" y="3567810"/>
            <a:ext cx="325755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2400" dirty="0">
                <a:latin typeface="Times New Roman"/>
                <a:cs typeface="Times New Roman"/>
              </a:rPr>
              <a:t>operations</a:t>
            </a:r>
            <a:r>
              <a:rPr lang="en-IN" sz="2400" spc="-85" dirty="0">
                <a:latin typeface="Times New Roman"/>
                <a:cs typeface="Times New Roman"/>
              </a:rPr>
              <a:t> </a:t>
            </a:r>
            <a:r>
              <a:rPr lang="en-IN" sz="2400" spc="10" dirty="0">
                <a:latin typeface="Times New Roman"/>
                <a:cs typeface="Times New Roman"/>
              </a:rPr>
              <a:t>and</a:t>
            </a:r>
            <a:r>
              <a:rPr lang="en-IN" sz="2400" spc="-65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Times New Roman"/>
                <a:cs typeface="Times New Roman"/>
              </a:rPr>
              <a:t>save</a:t>
            </a:r>
            <a:r>
              <a:rPr lang="en-IN" sz="2400" spc="-40" dirty="0">
                <a:latin typeface="Times New Roman"/>
                <a:cs typeface="Times New Roman"/>
              </a:rPr>
              <a:t> </a:t>
            </a:r>
            <a:r>
              <a:rPr lang="en-IN" sz="2400" spc="5" dirty="0">
                <a:latin typeface="Times New Roman"/>
                <a:cs typeface="Times New Roman"/>
              </a:rPr>
              <a:t>CPU</a:t>
            </a:r>
            <a:r>
              <a:rPr lang="en-IN"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79582" y="2808286"/>
            <a:ext cx="2362835" cy="1144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835">
              <a:lnSpc>
                <a:spcPts val="2630"/>
              </a:lnSpc>
            </a:pPr>
            <a:r>
              <a:rPr sz="2400" spc="-5" dirty="0" err="1">
                <a:latin typeface="Times New Roman"/>
                <a:cs typeface="Times New Roman"/>
              </a:rPr>
              <a:t>hedule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41275" indent="-41910">
              <a:lnSpc>
                <a:spcPct val="100000"/>
              </a:lnSpc>
              <a:spcBef>
                <a:spcPts val="575"/>
              </a:spcBef>
            </a:pPr>
            <a:r>
              <a:rPr lang="en-IN" sz="2400" dirty="0" err="1">
                <a:latin typeface="Times New Roman"/>
                <a:cs typeface="Times New Roman"/>
              </a:rPr>
              <a:t>nly</a:t>
            </a:r>
            <a:r>
              <a:rPr lang="en-IN" sz="2400" spc="-55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Times New Roman"/>
                <a:cs typeface="Times New Roman"/>
              </a:rPr>
              <a:t>committed</a:t>
            </a:r>
            <a:r>
              <a:rPr lang="en-IN" sz="2400" spc="-120" dirty="0">
                <a:latin typeface="Times New Roman"/>
                <a:cs typeface="Times New Roman"/>
              </a:rPr>
              <a:t> </a:t>
            </a:r>
            <a:r>
              <a:rPr lang="en-IN" sz="2400" spc="-5" dirty="0">
                <a:latin typeface="Times New Roman"/>
                <a:cs typeface="Times New Roman"/>
              </a:rPr>
              <a:t>read </a:t>
            </a:r>
            <a:r>
              <a:rPr lang="en-IN" sz="2400" spc="-585" dirty="0">
                <a:latin typeface="Times New Roman"/>
                <a:cs typeface="Times New Roman"/>
              </a:rPr>
              <a:t> </a:t>
            </a:r>
            <a:r>
              <a:rPr sz="2400" spc="-5" dirty="0" err="1">
                <a:latin typeface="Times New Roman"/>
                <a:cs typeface="Times New Roman"/>
              </a:rPr>
              <a:t>ime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186" y="3977639"/>
            <a:ext cx="9060814" cy="2880742"/>
            <a:chOff x="0" y="3977639"/>
            <a:chExt cx="9144000" cy="2880742"/>
          </a:xfrm>
        </p:grpSpPr>
        <p:sp>
          <p:nvSpPr>
            <p:cNvPr id="20" name="object 20"/>
            <p:cNvSpPr/>
            <p:nvPr/>
          </p:nvSpPr>
          <p:spPr>
            <a:xfrm>
              <a:off x="0" y="6574536"/>
              <a:ext cx="9144000" cy="283845"/>
            </a:xfrm>
            <a:custGeom>
              <a:avLst/>
              <a:gdLst/>
              <a:ahLst/>
              <a:cxnLst/>
              <a:rect l="l" t="t" r="r" b="b"/>
              <a:pathLst>
                <a:path w="9144000" h="283845">
                  <a:moveTo>
                    <a:pt x="9144000" y="0"/>
                  </a:moveTo>
                  <a:lnTo>
                    <a:pt x="0" y="0"/>
                  </a:lnTo>
                  <a:lnTo>
                    <a:pt x="0" y="283464"/>
                  </a:lnTo>
                  <a:lnTo>
                    <a:pt x="9144000" y="28346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7447" y="4092829"/>
              <a:ext cx="4023359" cy="247402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7101" y="3977639"/>
              <a:ext cx="3524858" cy="255342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245404" y="3684195"/>
            <a:ext cx="27266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2F2F2F"/>
                </a:solidFill>
                <a:latin typeface="Arial"/>
                <a:cs typeface="Arial"/>
              </a:rPr>
              <a:t>H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o</a:t>
            </a:r>
            <a:r>
              <a:rPr sz="1400" b="1" spc="20" dirty="0">
                <a:solidFill>
                  <a:srgbClr val="2F2F2F"/>
                </a:solidFill>
                <a:latin typeface="Arial"/>
                <a:cs typeface="Arial"/>
              </a:rPr>
              <a:t>w</a:t>
            </a:r>
            <a:r>
              <a:rPr sz="1400" b="1" spc="5" dirty="0">
                <a:solidFill>
                  <a:srgbClr val="2F2F2F"/>
                </a:solidFill>
                <a:latin typeface="Arial"/>
                <a:cs typeface="Arial"/>
              </a:rPr>
              <a:t>e</a:t>
            </a:r>
            <a:r>
              <a:rPr sz="1400" b="1" spc="-30" dirty="0">
                <a:solidFill>
                  <a:srgbClr val="2F2F2F"/>
                </a:solidFill>
                <a:latin typeface="Arial"/>
                <a:cs typeface="Arial"/>
              </a:rPr>
              <a:t>v</a:t>
            </a:r>
            <a:r>
              <a:rPr sz="1400" b="1" spc="5" dirty="0">
                <a:solidFill>
                  <a:srgbClr val="2F2F2F"/>
                </a:solidFill>
                <a:latin typeface="Arial"/>
                <a:cs typeface="Arial"/>
              </a:rPr>
              <a:t>e</a:t>
            </a:r>
            <a:r>
              <a:rPr sz="1400" b="1" spc="-80" dirty="0">
                <a:solidFill>
                  <a:srgbClr val="2F2F2F"/>
                </a:solidFill>
                <a:latin typeface="Arial"/>
                <a:cs typeface="Arial"/>
              </a:rPr>
              <a:t>r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,</a:t>
            </a:r>
            <a:r>
              <a:rPr sz="1400" b="1" spc="-6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it</a:t>
            </a:r>
            <a:r>
              <a:rPr sz="1400" b="1" spc="5" dirty="0">
                <a:solidFill>
                  <a:srgbClr val="2F2F2F"/>
                </a:solidFill>
                <a:latin typeface="Arial"/>
                <a:cs typeface="Arial"/>
              </a:rPr>
              <a:t> a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llo</a:t>
            </a:r>
            <a:r>
              <a:rPr sz="1400" b="1" spc="20" dirty="0">
                <a:solidFill>
                  <a:srgbClr val="2F2F2F"/>
                </a:solidFill>
                <a:latin typeface="Arial"/>
                <a:cs typeface="Arial"/>
              </a:rPr>
              <a:t>w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s</a:t>
            </a:r>
            <a:r>
              <a:rPr sz="1400" b="1" spc="-9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un</a:t>
            </a:r>
            <a:r>
              <a:rPr sz="1400" b="1" spc="5" dirty="0">
                <a:solidFill>
                  <a:srgbClr val="2F2F2F"/>
                </a:solidFill>
                <a:latin typeface="Arial"/>
                <a:cs typeface="Arial"/>
              </a:rPr>
              <a:t>c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o</a:t>
            </a:r>
            <a:r>
              <a:rPr sz="1400" b="1" spc="5" dirty="0">
                <a:solidFill>
                  <a:srgbClr val="2F2F2F"/>
                </a:solidFill>
                <a:latin typeface="Arial"/>
                <a:cs typeface="Arial"/>
              </a:rPr>
              <a:t>mm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itt</a:t>
            </a:r>
            <a:r>
              <a:rPr sz="1400" b="1" spc="10" dirty="0">
                <a:solidFill>
                  <a:srgbClr val="2F2F2F"/>
                </a:solidFill>
                <a:latin typeface="Arial"/>
                <a:cs typeface="Arial"/>
              </a:rPr>
              <a:t>e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d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72094" y="3684195"/>
            <a:ext cx="14535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write</a:t>
            </a:r>
            <a:r>
              <a:rPr sz="1400" b="1" spc="-9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2F2F2F"/>
                </a:solidFill>
                <a:latin typeface="Arial"/>
                <a:cs typeface="Arial"/>
              </a:rPr>
              <a:t>operations.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2648" y="521271"/>
            <a:ext cx="4407535" cy="575945"/>
            <a:chOff x="612648" y="521271"/>
            <a:chExt cx="4407535" cy="575945"/>
          </a:xfrm>
        </p:grpSpPr>
        <p:sp>
          <p:nvSpPr>
            <p:cNvPr id="3" name="object 3"/>
            <p:cNvSpPr/>
            <p:nvPr/>
          </p:nvSpPr>
          <p:spPr>
            <a:xfrm>
              <a:off x="777240" y="627506"/>
              <a:ext cx="3973195" cy="288290"/>
            </a:xfrm>
            <a:custGeom>
              <a:avLst/>
              <a:gdLst/>
              <a:ahLst/>
              <a:cxnLst/>
              <a:rect l="l" t="t" r="r" b="b"/>
              <a:pathLst>
                <a:path w="3973195" h="288290">
                  <a:moveTo>
                    <a:pt x="39730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3973067" y="288036"/>
                  </a:lnTo>
                  <a:lnTo>
                    <a:pt x="39730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48" y="521271"/>
              <a:ext cx="4320286" cy="57588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750307" y="627506"/>
              <a:ext cx="86995" cy="288290"/>
            </a:xfrm>
            <a:custGeom>
              <a:avLst/>
              <a:gdLst/>
              <a:ahLst/>
              <a:cxnLst/>
              <a:rect l="l" t="t" r="r" b="b"/>
              <a:pathLst>
                <a:path w="86995" h="288290">
                  <a:moveTo>
                    <a:pt x="8686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86867" y="288036"/>
                  </a:lnTo>
                  <a:lnTo>
                    <a:pt x="8686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715" y="521271"/>
              <a:ext cx="434136" cy="57588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77240" y="627506"/>
            <a:ext cx="4133215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05"/>
              </a:lnSpc>
            </a:pPr>
            <a:r>
              <a:rPr sz="2000" b="1" dirty="0">
                <a:latin typeface="Arial"/>
                <a:cs typeface="Arial"/>
              </a:rPr>
              <a:t>Types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of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5" dirty="0">
                <a:latin typeface="Arial"/>
                <a:cs typeface="Arial"/>
              </a:rPr>
              <a:t>Recoverable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Schedules-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4910455" cy="915669"/>
            <a:chOff x="0" y="0"/>
            <a:chExt cx="4910455" cy="915669"/>
          </a:xfrm>
        </p:grpSpPr>
        <p:sp>
          <p:nvSpPr>
            <p:cNvPr id="9" name="object 9"/>
            <p:cNvSpPr/>
            <p:nvPr/>
          </p:nvSpPr>
          <p:spPr>
            <a:xfrm>
              <a:off x="4837176" y="627506"/>
              <a:ext cx="73660" cy="288290"/>
            </a:xfrm>
            <a:custGeom>
              <a:avLst/>
              <a:gdLst/>
              <a:ahLst/>
              <a:cxnLst/>
              <a:rect l="l" t="t" r="r" b="b"/>
              <a:pathLst>
                <a:path w="73660" h="288290">
                  <a:moveTo>
                    <a:pt x="73151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73151" y="288036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676910" cy="836930"/>
            </a:xfrm>
            <a:custGeom>
              <a:avLst/>
              <a:gdLst/>
              <a:ahLst/>
              <a:cxnLst/>
              <a:rect l="l" t="t" r="r" b="b"/>
              <a:pathLst>
                <a:path w="676910" h="836930">
                  <a:moveTo>
                    <a:pt x="676656" y="0"/>
                  </a:moveTo>
                  <a:lnTo>
                    <a:pt x="0" y="0"/>
                  </a:lnTo>
                  <a:lnTo>
                    <a:pt x="0" y="836676"/>
                  </a:lnTo>
                  <a:lnTo>
                    <a:pt x="676656" y="836676"/>
                  </a:lnTo>
                  <a:lnTo>
                    <a:pt x="6766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34948" y="1225422"/>
            <a:ext cx="230314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5" dirty="0">
                <a:solidFill>
                  <a:srgbClr val="000000"/>
                </a:solidFill>
                <a:latin typeface="Times New Roman"/>
                <a:cs typeface="Times New Roman"/>
              </a:rPr>
              <a:t>3.</a:t>
            </a:r>
            <a:r>
              <a:rPr sz="240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Strict</a:t>
            </a:r>
            <a:r>
              <a:rPr sz="2400" spc="-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Times New Roman"/>
                <a:cs typeface="Times New Roman"/>
              </a:rPr>
              <a:t>Schedule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5910" algn="l"/>
                <a:tab pos="296545" algn="l"/>
              </a:tabLst>
            </a:pPr>
            <a:r>
              <a:rPr spc="-40" dirty="0"/>
              <a:t>If </a:t>
            </a:r>
            <a:r>
              <a:rPr spc="5" dirty="0"/>
              <a:t>in a </a:t>
            </a:r>
            <a:r>
              <a:rPr dirty="0"/>
              <a:t>schedule, </a:t>
            </a:r>
            <a:r>
              <a:rPr spc="5" dirty="0"/>
              <a:t>a transaction is </a:t>
            </a:r>
            <a:r>
              <a:rPr dirty="0"/>
              <a:t>neither </a:t>
            </a:r>
            <a:r>
              <a:rPr spc="-20" dirty="0"/>
              <a:t>allowed </a:t>
            </a:r>
            <a:r>
              <a:rPr spc="5" dirty="0"/>
              <a:t>to </a:t>
            </a:r>
            <a:r>
              <a:rPr spc="10" dirty="0"/>
              <a:t> </a:t>
            </a:r>
            <a:r>
              <a:rPr spc="-5" dirty="0"/>
              <a:t>read</a:t>
            </a:r>
            <a:r>
              <a:rPr spc="-10" dirty="0"/>
              <a:t> </a:t>
            </a:r>
            <a:r>
              <a:rPr dirty="0"/>
              <a:t>nor</a:t>
            </a:r>
            <a:r>
              <a:rPr spc="-5" dirty="0"/>
              <a:t> </a:t>
            </a:r>
            <a:r>
              <a:rPr spc="-10" dirty="0"/>
              <a:t>write</a:t>
            </a:r>
            <a:r>
              <a:rPr spc="-25" dirty="0"/>
              <a:t> </a:t>
            </a:r>
            <a:r>
              <a:rPr spc="5" dirty="0"/>
              <a:t>a</a:t>
            </a:r>
            <a:r>
              <a:rPr spc="-20" dirty="0"/>
              <a:t> </a:t>
            </a:r>
            <a:r>
              <a:rPr spc="10" dirty="0"/>
              <a:t>data</a:t>
            </a:r>
            <a:r>
              <a:rPr spc="-55" dirty="0"/>
              <a:t> </a:t>
            </a:r>
            <a:r>
              <a:rPr dirty="0"/>
              <a:t>item</a:t>
            </a:r>
            <a:r>
              <a:rPr spc="-25" dirty="0"/>
              <a:t> </a:t>
            </a:r>
            <a:r>
              <a:rPr spc="10" dirty="0"/>
              <a:t>until</a:t>
            </a:r>
            <a:r>
              <a:rPr spc="-120" dirty="0"/>
              <a:t> </a:t>
            </a:r>
            <a:r>
              <a:rPr spc="10" dirty="0"/>
              <a:t>the</a:t>
            </a:r>
            <a:r>
              <a:rPr spc="-55" dirty="0"/>
              <a:t> </a:t>
            </a:r>
            <a:r>
              <a:rPr spc="-5" dirty="0"/>
              <a:t>last</a:t>
            </a:r>
            <a:r>
              <a:rPr spc="-20" dirty="0"/>
              <a:t> </a:t>
            </a:r>
            <a:r>
              <a:rPr dirty="0"/>
              <a:t>transaction</a:t>
            </a:r>
            <a:r>
              <a:rPr spc="-85" dirty="0"/>
              <a:t> </a:t>
            </a:r>
            <a:r>
              <a:rPr spc="5" dirty="0"/>
              <a:t>is </a:t>
            </a:r>
            <a:r>
              <a:rPr spc="-585" dirty="0"/>
              <a:t> </a:t>
            </a:r>
            <a:r>
              <a:rPr dirty="0"/>
              <a:t>committed</a:t>
            </a:r>
            <a:r>
              <a:rPr spc="-85" dirty="0"/>
              <a:t> </a:t>
            </a:r>
            <a:r>
              <a:rPr spc="-5" dirty="0"/>
              <a:t>or </a:t>
            </a:r>
            <a:r>
              <a:rPr dirty="0"/>
              <a:t>aborted,</a:t>
            </a:r>
            <a:r>
              <a:rPr spc="-55" dirty="0"/>
              <a:t> </a:t>
            </a:r>
            <a:r>
              <a:rPr dirty="0"/>
              <a:t>then</a:t>
            </a:r>
            <a:r>
              <a:rPr spc="-45" dirty="0"/>
              <a:t> </a:t>
            </a:r>
            <a:r>
              <a:rPr spc="10" dirty="0"/>
              <a:t>such</a:t>
            </a:r>
            <a:r>
              <a:rPr spc="-45" dirty="0"/>
              <a:t> </a:t>
            </a:r>
            <a:r>
              <a:rPr spc="5" dirty="0"/>
              <a:t>a</a:t>
            </a:r>
            <a:r>
              <a:rPr spc="10" dirty="0"/>
              <a:t> </a:t>
            </a:r>
            <a:r>
              <a:rPr dirty="0"/>
              <a:t>schedule</a:t>
            </a:r>
            <a:r>
              <a:rPr spc="-90" dirty="0"/>
              <a:t> </a:t>
            </a:r>
            <a:r>
              <a:rPr spc="5" dirty="0"/>
              <a:t>is</a:t>
            </a:r>
            <a:r>
              <a:rPr spc="-30" dirty="0"/>
              <a:t> </a:t>
            </a:r>
            <a:r>
              <a:rPr spc="-10" dirty="0"/>
              <a:t>called </a:t>
            </a:r>
            <a:r>
              <a:rPr spc="-585" dirty="0"/>
              <a:t> </a:t>
            </a:r>
            <a:r>
              <a:rPr spc="5" dirty="0"/>
              <a:t>as</a:t>
            </a:r>
            <a:r>
              <a:rPr spc="-35" dirty="0"/>
              <a:t> </a:t>
            </a:r>
            <a:r>
              <a:rPr spc="5" dirty="0"/>
              <a:t>a</a:t>
            </a:r>
            <a:r>
              <a:rPr spc="-20" dirty="0"/>
              <a:t> </a:t>
            </a:r>
            <a:r>
              <a:rPr dirty="0"/>
              <a:t>Strict</a:t>
            </a:r>
            <a:r>
              <a:rPr spc="-50" dirty="0"/>
              <a:t> </a:t>
            </a:r>
            <a:r>
              <a:rPr dirty="0"/>
              <a:t>Sc</a:t>
            </a:r>
          </a:p>
          <a:p>
            <a:pPr marL="295910" indent="-283845">
              <a:lnSpc>
                <a:spcPct val="100000"/>
              </a:lnSpc>
              <a:spcBef>
                <a:spcPts val="585"/>
              </a:spcBef>
              <a:buFont typeface="Arial MT"/>
              <a:buChar char="•"/>
              <a:tabLst>
                <a:tab pos="295910" algn="l"/>
                <a:tab pos="296545" algn="l"/>
                <a:tab pos="5118100" algn="l"/>
              </a:tabLst>
            </a:pPr>
            <a:r>
              <a:rPr spc="-40" dirty="0"/>
              <a:t>In</a:t>
            </a:r>
            <a:r>
              <a:rPr spc="70" dirty="0"/>
              <a:t> </a:t>
            </a:r>
            <a:r>
              <a:rPr spc="-5" dirty="0"/>
              <a:t>other</a:t>
            </a:r>
            <a:r>
              <a:rPr spc="10" dirty="0"/>
              <a:t> </a:t>
            </a:r>
            <a:r>
              <a:rPr spc="-20" dirty="0"/>
              <a:t>word	</a:t>
            </a:r>
            <a:r>
              <a:rPr dirty="0"/>
              <a:t>nly</a:t>
            </a:r>
          </a:p>
          <a:p>
            <a:pPr marL="295910">
              <a:lnSpc>
                <a:spcPct val="100000"/>
              </a:lnSpc>
            </a:pPr>
            <a:r>
              <a:rPr dirty="0"/>
              <a:t>committed</a:t>
            </a:r>
            <a:r>
              <a:rPr spc="-114" dirty="0"/>
              <a:t> </a:t>
            </a:r>
            <a:r>
              <a:rPr spc="-5" dirty="0"/>
              <a:t>re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067333" y="2808286"/>
            <a:ext cx="3245485" cy="1144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30"/>
              </a:lnSpc>
            </a:pPr>
            <a:r>
              <a:rPr sz="2400" spc="-5" dirty="0">
                <a:latin typeface="Times New Roman"/>
                <a:cs typeface="Times New Roman"/>
              </a:rPr>
              <a:t>hedule.</a:t>
            </a:r>
            <a:endParaRPr sz="2400">
              <a:latin typeface="Times New Roman"/>
              <a:cs typeface="Times New Roman"/>
            </a:endParaRPr>
          </a:p>
          <a:p>
            <a:pPr marL="28575" indent="4445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s,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Strict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schedule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allows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o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write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2127" y="4135172"/>
            <a:ext cx="3250691" cy="228599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0774" y="290602"/>
            <a:ext cx="4061037" cy="3299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51201" y="167462"/>
            <a:ext cx="41090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Failure</a:t>
            </a:r>
            <a:r>
              <a:rPr spc="-65" dirty="0"/>
              <a:t> </a:t>
            </a:r>
            <a:r>
              <a:rPr spc="-5" dirty="0"/>
              <a:t>Classification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3470" y="1035970"/>
            <a:ext cx="7433309" cy="39687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19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b="1" spc="10" dirty="0">
                <a:latin typeface="Arial"/>
                <a:cs typeface="Arial"/>
              </a:rPr>
              <a:t>Transaction</a:t>
            </a:r>
            <a:r>
              <a:rPr sz="1550" b="1" spc="114" dirty="0">
                <a:latin typeface="Arial"/>
                <a:cs typeface="Arial"/>
              </a:rPr>
              <a:t> </a:t>
            </a:r>
            <a:r>
              <a:rPr sz="1550" b="1" spc="10" dirty="0">
                <a:latin typeface="Arial"/>
                <a:cs typeface="Arial"/>
              </a:rPr>
              <a:t>failure</a:t>
            </a:r>
            <a:r>
              <a:rPr sz="1550" b="1" spc="80" dirty="0">
                <a:latin typeface="Arial"/>
                <a:cs typeface="Arial"/>
              </a:rPr>
              <a:t> </a:t>
            </a:r>
            <a:r>
              <a:rPr sz="1550" spc="5" dirty="0">
                <a:latin typeface="Arial MT"/>
                <a:cs typeface="Arial MT"/>
              </a:rPr>
              <a:t>:</a:t>
            </a:r>
            <a:endParaRPr sz="1550">
              <a:latin typeface="Arial MT"/>
              <a:cs typeface="Arial MT"/>
            </a:endParaRPr>
          </a:p>
          <a:p>
            <a:pPr marL="758190" lvl="1" indent="-288925">
              <a:lnSpc>
                <a:spcPct val="100000"/>
              </a:lnSpc>
              <a:spcBef>
                <a:spcPts val="730"/>
              </a:spcBef>
              <a:buClr>
                <a:srgbClr val="FF9933"/>
              </a:buClr>
              <a:buSzPct val="83870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550" b="1" spc="10" dirty="0">
                <a:latin typeface="Arial"/>
                <a:cs typeface="Arial"/>
              </a:rPr>
              <a:t>Logical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spc="5" dirty="0">
                <a:latin typeface="Arial"/>
                <a:cs typeface="Arial"/>
              </a:rPr>
              <a:t>errors</a:t>
            </a:r>
            <a:r>
              <a:rPr sz="1550" spc="5" dirty="0">
                <a:latin typeface="Arial MT"/>
                <a:cs typeface="Arial MT"/>
              </a:rPr>
              <a:t>:</a:t>
            </a:r>
            <a:r>
              <a:rPr sz="1550" spc="14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</a:t>
            </a:r>
            <a:r>
              <a:rPr sz="1550" spc="1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cannot</a:t>
            </a:r>
            <a:r>
              <a:rPr sz="1550" spc="14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complete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due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to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some </a:t>
            </a:r>
            <a:r>
              <a:rPr sz="1550" dirty="0">
                <a:latin typeface="Arial MT"/>
                <a:cs typeface="Arial MT"/>
              </a:rPr>
              <a:t>internal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error</a:t>
            </a:r>
            <a:endParaRPr sz="1550">
              <a:latin typeface="Arial MT"/>
              <a:cs typeface="Arial MT"/>
            </a:endParaRPr>
          </a:p>
          <a:p>
            <a:pPr marL="758190">
              <a:lnSpc>
                <a:spcPct val="100000"/>
              </a:lnSpc>
              <a:spcBef>
                <a:spcPts val="90"/>
              </a:spcBef>
            </a:pPr>
            <a:r>
              <a:rPr sz="1550" spc="5" dirty="0">
                <a:latin typeface="Arial MT"/>
                <a:cs typeface="Arial MT"/>
              </a:rPr>
              <a:t>condition</a:t>
            </a:r>
            <a:endParaRPr sz="1550">
              <a:latin typeface="Arial MT"/>
              <a:cs typeface="Arial MT"/>
            </a:endParaRPr>
          </a:p>
          <a:p>
            <a:pPr marL="758190" lvl="1" indent="-288925">
              <a:lnSpc>
                <a:spcPct val="100000"/>
              </a:lnSpc>
              <a:spcBef>
                <a:spcPts val="730"/>
              </a:spcBef>
              <a:buClr>
                <a:srgbClr val="FF9933"/>
              </a:buClr>
              <a:buSzPct val="83870"/>
              <a:buFont typeface="Wingdings"/>
              <a:buChar char=""/>
              <a:tabLst>
                <a:tab pos="758190" algn="l"/>
                <a:tab pos="758825" algn="l"/>
              </a:tabLst>
            </a:pPr>
            <a:r>
              <a:rPr sz="1550" b="1" spc="5" dirty="0">
                <a:latin typeface="Arial"/>
                <a:cs typeface="Arial"/>
              </a:rPr>
              <a:t>System</a:t>
            </a:r>
            <a:r>
              <a:rPr sz="1550" b="1" spc="110" dirty="0">
                <a:latin typeface="Arial"/>
                <a:cs typeface="Arial"/>
              </a:rPr>
              <a:t> </a:t>
            </a:r>
            <a:r>
              <a:rPr sz="1550" b="1" spc="5" dirty="0">
                <a:latin typeface="Arial"/>
                <a:cs typeface="Arial"/>
              </a:rPr>
              <a:t>errors</a:t>
            </a:r>
            <a:r>
              <a:rPr sz="1550" spc="5" dirty="0">
                <a:latin typeface="Arial MT"/>
                <a:cs typeface="Arial MT"/>
              </a:rPr>
              <a:t>:</a:t>
            </a:r>
            <a:r>
              <a:rPr sz="1550" spc="14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database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system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must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terminate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an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active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</a:t>
            </a:r>
            <a:endParaRPr sz="1550">
              <a:latin typeface="Arial MT"/>
              <a:cs typeface="Arial MT"/>
            </a:endParaRPr>
          </a:p>
          <a:p>
            <a:pPr marL="758190">
              <a:lnSpc>
                <a:spcPct val="100000"/>
              </a:lnSpc>
              <a:spcBef>
                <a:spcPts val="50"/>
              </a:spcBef>
            </a:pPr>
            <a:r>
              <a:rPr sz="1550" spc="5" dirty="0">
                <a:latin typeface="Arial MT"/>
                <a:cs typeface="Arial MT"/>
              </a:rPr>
              <a:t>due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to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error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condition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(e.g.,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deadlock)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70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b="1" spc="5" dirty="0">
                <a:latin typeface="Arial"/>
                <a:cs typeface="Arial"/>
              </a:rPr>
              <a:t>System</a:t>
            </a:r>
            <a:r>
              <a:rPr sz="1550" b="1" spc="105" dirty="0">
                <a:latin typeface="Arial"/>
                <a:cs typeface="Arial"/>
              </a:rPr>
              <a:t> </a:t>
            </a:r>
            <a:r>
              <a:rPr sz="1550" b="1" spc="5" dirty="0">
                <a:latin typeface="Arial"/>
                <a:cs typeface="Arial"/>
              </a:rPr>
              <a:t>crash</a:t>
            </a:r>
            <a:r>
              <a:rPr sz="1550" spc="5" dirty="0">
                <a:latin typeface="Arial MT"/>
                <a:cs typeface="Arial MT"/>
              </a:rPr>
              <a:t>:</a:t>
            </a:r>
            <a:r>
              <a:rPr sz="1550" spc="14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a power </a:t>
            </a:r>
            <a:r>
              <a:rPr sz="1550" spc="10" dirty="0">
                <a:latin typeface="Arial MT"/>
                <a:cs typeface="Arial MT"/>
              </a:rPr>
              <a:t>failure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or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other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hardware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or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software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failure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causes</a:t>
            </a:r>
            <a:endParaRPr sz="15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system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to</a:t>
            </a:r>
            <a:r>
              <a:rPr sz="155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crash.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75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b="1" spc="10" dirty="0">
                <a:latin typeface="Arial"/>
                <a:cs typeface="Arial"/>
              </a:rPr>
              <a:t>Disk</a:t>
            </a:r>
            <a:r>
              <a:rPr sz="1550" b="1" spc="50" dirty="0">
                <a:latin typeface="Arial"/>
                <a:cs typeface="Arial"/>
              </a:rPr>
              <a:t> </a:t>
            </a:r>
            <a:r>
              <a:rPr sz="1550" b="1" spc="5" dirty="0">
                <a:latin typeface="Arial"/>
                <a:cs typeface="Arial"/>
              </a:rPr>
              <a:t>failure</a:t>
            </a:r>
            <a:r>
              <a:rPr sz="1550" spc="5" dirty="0">
                <a:latin typeface="Arial MT"/>
                <a:cs typeface="Arial MT"/>
              </a:rPr>
              <a:t>: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disk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failure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destroys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all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or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part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of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disk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storage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17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75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b="1" dirty="0">
                <a:latin typeface="Arial"/>
                <a:cs typeface="Arial"/>
              </a:rPr>
              <a:t>Physical</a:t>
            </a:r>
            <a:r>
              <a:rPr sz="1550" b="1" spc="170" dirty="0">
                <a:latin typeface="Arial"/>
                <a:cs typeface="Arial"/>
              </a:rPr>
              <a:t> </a:t>
            </a:r>
            <a:r>
              <a:rPr sz="1550" b="1" spc="15" dirty="0">
                <a:latin typeface="Arial"/>
                <a:cs typeface="Arial"/>
              </a:rPr>
              <a:t>Problems:</a:t>
            </a:r>
            <a:r>
              <a:rPr sz="1550" b="1" spc="140" dirty="0">
                <a:latin typeface="Arial"/>
                <a:cs typeface="Arial"/>
              </a:rPr>
              <a:t> </a:t>
            </a:r>
            <a:r>
              <a:rPr sz="1550" spc="5" dirty="0">
                <a:latin typeface="Arial MT"/>
                <a:cs typeface="Arial MT"/>
              </a:rPr>
              <a:t>including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fire,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power</a:t>
            </a:r>
            <a:r>
              <a:rPr sz="1550" spc="10" dirty="0">
                <a:latin typeface="Arial MT"/>
                <a:cs typeface="Arial MT"/>
              </a:rPr>
              <a:t> failure,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theft,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overwriting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disks/taps</a:t>
            </a:r>
            <a:endParaRPr sz="15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1550" spc="5" dirty="0">
                <a:latin typeface="Arial MT"/>
                <a:cs typeface="Arial MT"/>
              </a:rPr>
              <a:t>etc.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6400" y="290602"/>
            <a:ext cx="5683762" cy="4148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45894" y="167462"/>
            <a:ext cx="57302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Database</a:t>
            </a:r>
            <a:r>
              <a:rPr dirty="0"/>
              <a:t> </a:t>
            </a:r>
            <a:r>
              <a:rPr spc="-15" dirty="0"/>
              <a:t>Recovery</a:t>
            </a:r>
            <a:r>
              <a:rPr spc="3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2121" y="1112596"/>
            <a:ext cx="7673975" cy="4110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indent="-343535">
              <a:lnSpc>
                <a:spcPts val="1795"/>
              </a:lnSpc>
              <a:spcBef>
                <a:spcPts val="135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spc="15" dirty="0">
                <a:latin typeface="Arial MT"/>
                <a:cs typeface="Arial MT"/>
              </a:rPr>
              <a:t>Recovery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means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that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database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is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restored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to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most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recent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consistent</a:t>
            </a:r>
            <a:r>
              <a:rPr sz="1550" spc="17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state</a:t>
            </a:r>
            <a:endParaRPr sz="1550">
              <a:latin typeface="Arial MT"/>
              <a:cs typeface="Arial MT"/>
            </a:endParaRPr>
          </a:p>
          <a:p>
            <a:pPr marL="355600">
              <a:lnSpc>
                <a:spcPts val="1795"/>
              </a:lnSpc>
            </a:pPr>
            <a:r>
              <a:rPr sz="1550" spc="5" dirty="0">
                <a:latin typeface="Arial MT"/>
                <a:cs typeface="Arial MT"/>
              </a:rPr>
              <a:t>just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before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time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failure.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00">
              <a:latin typeface="Arial MT"/>
              <a:cs typeface="Arial MT"/>
            </a:endParaRPr>
          </a:p>
          <a:p>
            <a:pPr marL="355600" indent="-343535">
              <a:lnSpc>
                <a:spcPts val="1795"/>
              </a:lnSpc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spc="10" dirty="0">
                <a:latin typeface="Arial MT"/>
                <a:cs typeface="Arial MT"/>
              </a:rPr>
              <a:t>For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this,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system</a:t>
            </a:r>
            <a:r>
              <a:rPr sz="1550" spc="16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keeps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update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information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that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are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made </a:t>
            </a:r>
            <a:r>
              <a:rPr sz="1550" spc="5" dirty="0">
                <a:latin typeface="Arial MT"/>
                <a:cs typeface="Arial MT"/>
              </a:rPr>
              <a:t>to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database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into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endParaRPr sz="1550">
              <a:latin typeface="Arial MT"/>
              <a:cs typeface="Arial MT"/>
            </a:endParaRPr>
          </a:p>
          <a:p>
            <a:pPr marL="355600">
              <a:lnSpc>
                <a:spcPts val="1795"/>
              </a:lnSpc>
            </a:pPr>
            <a:r>
              <a:rPr sz="1550" spc="5" dirty="0">
                <a:latin typeface="Arial MT"/>
                <a:cs typeface="Arial MT"/>
              </a:rPr>
              <a:t>system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log.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355600" indent="-343535">
              <a:lnSpc>
                <a:spcPts val="1795"/>
              </a:lnSpc>
              <a:spcBef>
                <a:spcPts val="1015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dirty="0">
                <a:latin typeface="Arial MT"/>
                <a:cs typeface="Arial MT"/>
              </a:rPr>
              <a:t>System</a:t>
            </a:r>
            <a:r>
              <a:rPr sz="1550" spc="15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log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contains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information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about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start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end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6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each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</a:t>
            </a:r>
            <a:r>
              <a:rPr sz="1550" spc="13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any</a:t>
            </a:r>
            <a:endParaRPr sz="1550">
              <a:latin typeface="Arial MT"/>
              <a:cs typeface="Arial MT"/>
            </a:endParaRPr>
          </a:p>
          <a:p>
            <a:pPr marL="355600">
              <a:lnSpc>
                <a:spcPts val="1795"/>
              </a:lnSpc>
            </a:pPr>
            <a:r>
              <a:rPr sz="1550" spc="5" dirty="0">
                <a:latin typeface="Arial MT"/>
                <a:cs typeface="Arial MT"/>
              </a:rPr>
              <a:t>updates</a:t>
            </a:r>
            <a:r>
              <a:rPr sz="1550" spc="10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which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occur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in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975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dirty="0">
                <a:latin typeface="Arial MT"/>
                <a:cs typeface="Arial MT"/>
              </a:rPr>
              <a:t>This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information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is</a:t>
            </a:r>
            <a:r>
              <a:rPr sz="1550" spc="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needed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to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recover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from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</a:t>
            </a:r>
            <a:r>
              <a:rPr sz="1550" spc="16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failure.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1700">
              <a:latin typeface="Arial MT"/>
              <a:cs typeface="Arial MT"/>
            </a:endParaRPr>
          </a:p>
          <a:p>
            <a:pPr marL="758190" lvl="1" indent="-288925">
              <a:lnSpc>
                <a:spcPts val="1795"/>
              </a:lnSpc>
              <a:spcBef>
                <a:spcPts val="980"/>
              </a:spcBef>
              <a:buClr>
                <a:srgbClr val="FF9933"/>
              </a:buClr>
              <a:buSzPct val="83870"/>
              <a:buFont typeface="Wingdings"/>
              <a:buChar char=""/>
              <a:tabLst>
                <a:tab pos="757555" algn="l"/>
                <a:tab pos="758825" algn="l"/>
              </a:tabLst>
            </a:pPr>
            <a:r>
              <a:rPr sz="1550" i="1" dirty="0">
                <a:latin typeface="Arial"/>
                <a:cs typeface="Arial"/>
              </a:rPr>
              <a:t>If</a:t>
            </a:r>
            <a:r>
              <a:rPr sz="1550" i="1" spc="30" dirty="0">
                <a:latin typeface="Arial"/>
                <a:cs typeface="Arial"/>
              </a:rPr>
              <a:t> </a:t>
            </a:r>
            <a:r>
              <a:rPr sz="1550" i="1" spc="15" dirty="0">
                <a:latin typeface="Arial"/>
                <a:cs typeface="Arial"/>
              </a:rPr>
              <a:t>a</a:t>
            </a:r>
            <a:r>
              <a:rPr sz="1550" i="1" spc="60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system</a:t>
            </a:r>
            <a:r>
              <a:rPr sz="1550" i="1" spc="90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is</a:t>
            </a:r>
            <a:r>
              <a:rPr sz="1550" i="1" spc="35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physically</a:t>
            </a:r>
            <a:r>
              <a:rPr sz="1550" i="1" spc="80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damaged</a:t>
            </a:r>
            <a:r>
              <a:rPr sz="1550" i="1" spc="204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such</a:t>
            </a:r>
            <a:r>
              <a:rPr sz="1550" i="1" spc="60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as</a:t>
            </a:r>
            <a:r>
              <a:rPr sz="1550" i="1" spc="35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disk</a:t>
            </a:r>
            <a:r>
              <a:rPr sz="1550" i="1" spc="80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crash,</a:t>
            </a:r>
            <a:r>
              <a:rPr sz="1550" i="1" spc="65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then</a:t>
            </a:r>
            <a:r>
              <a:rPr sz="1550" i="1" spc="100" dirty="0">
                <a:latin typeface="Arial"/>
                <a:cs typeface="Arial"/>
              </a:rPr>
              <a:t> </a:t>
            </a:r>
            <a:r>
              <a:rPr sz="1550" i="1" spc="15" dirty="0">
                <a:latin typeface="Arial"/>
                <a:cs typeface="Arial"/>
              </a:rPr>
              <a:t>a</a:t>
            </a:r>
            <a:r>
              <a:rPr sz="1550" i="1" spc="20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past</a:t>
            </a:r>
            <a:r>
              <a:rPr sz="1550" i="1" spc="105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copy</a:t>
            </a:r>
            <a:r>
              <a:rPr sz="1550" i="1" spc="75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of</a:t>
            </a:r>
            <a:endParaRPr sz="1550">
              <a:latin typeface="Arial"/>
              <a:cs typeface="Arial"/>
            </a:endParaRPr>
          </a:p>
          <a:p>
            <a:pPr marL="758190">
              <a:lnSpc>
                <a:spcPts val="1795"/>
              </a:lnSpc>
            </a:pPr>
            <a:r>
              <a:rPr sz="1550" i="1" dirty="0">
                <a:latin typeface="Arial"/>
                <a:cs typeface="Arial"/>
              </a:rPr>
              <a:t>database</a:t>
            </a:r>
            <a:r>
              <a:rPr sz="1550" i="1" spc="150" dirty="0">
                <a:latin typeface="Arial"/>
                <a:cs typeface="Arial"/>
              </a:rPr>
              <a:t> </a:t>
            </a:r>
            <a:r>
              <a:rPr sz="1550" i="1" spc="15" dirty="0">
                <a:latin typeface="Arial"/>
                <a:cs typeface="Arial"/>
              </a:rPr>
              <a:t>is</a:t>
            </a:r>
            <a:r>
              <a:rPr sz="1550" i="1" spc="25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restored.</a:t>
            </a:r>
            <a:endParaRPr sz="1550">
              <a:latin typeface="Arial"/>
              <a:cs typeface="Arial"/>
            </a:endParaRPr>
          </a:p>
          <a:p>
            <a:pPr marL="758190" lvl="1" indent="-288925">
              <a:lnSpc>
                <a:spcPts val="1795"/>
              </a:lnSpc>
              <a:spcBef>
                <a:spcPts val="550"/>
              </a:spcBef>
              <a:buClr>
                <a:srgbClr val="FF9933"/>
              </a:buClr>
              <a:buSzPct val="83870"/>
              <a:buFont typeface="Wingdings"/>
              <a:buChar char=""/>
              <a:tabLst>
                <a:tab pos="757555" algn="l"/>
                <a:tab pos="758825" algn="l"/>
              </a:tabLst>
            </a:pPr>
            <a:r>
              <a:rPr sz="1550" i="1" spc="5" dirty="0">
                <a:latin typeface="Arial"/>
                <a:cs typeface="Arial"/>
              </a:rPr>
              <a:t>If</a:t>
            </a:r>
            <a:r>
              <a:rPr sz="1550" i="1" spc="25" dirty="0">
                <a:latin typeface="Arial"/>
                <a:cs typeface="Arial"/>
              </a:rPr>
              <a:t> </a:t>
            </a:r>
            <a:r>
              <a:rPr sz="1550" i="1" spc="15" dirty="0">
                <a:latin typeface="Arial"/>
                <a:cs typeface="Arial"/>
              </a:rPr>
              <a:t>system</a:t>
            </a:r>
            <a:r>
              <a:rPr sz="1550" i="1" spc="120" dirty="0">
                <a:latin typeface="Arial"/>
                <a:cs typeface="Arial"/>
              </a:rPr>
              <a:t> </a:t>
            </a:r>
            <a:r>
              <a:rPr sz="1550" i="1" dirty="0">
                <a:latin typeface="Arial"/>
                <a:cs typeface="Arial"/>
              </a:rPr>
              <a:t>becomes</a:t>
            </a:r>
            <a:r>
              <a:rPr sz="1550" i="1" spc="215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inconsistent</a:t>
            </a:r>
            <a:r>
              <a:rPr sz="1550" i="1" spc="170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due</a:t>
            </a:r>
            <a:r>
              <a:rPr sz="1550" i="1" spc="55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to</a:t>
            </a:r>
            <a:r>
              <a:rPr sz="1550" i="1" spc="55" dirty="0">
                <a:latin typeface="Arial"/>
                <a:cs typeface="Arial"/>
              </a:rPr>
              <a:t> </a:t>
            </a:r>
            <a:r>
              <a:rPr sz="1550" i="1" dirty="0">
                <a:latin typeface="Arial"/>
                <a:cs typeface="Arial"/>
              </a:rPr>
              <a:t>other</a:t>
            </a:r>
            <a:r>
              <a:rPr sz="1550" i="1" spc="120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failure</a:t>
            </a:r>
            <a:r>
              <a:rPr sz="1550" i="1" spc="55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then</a:t>
            </a:r>
            <a:r>
              <a:rPr sz="1550" i="1" spc="90" dirty="0">
                <a:latin typeface="Arial"/>
                <a:cs typeface="Arial"/>
              </a:rPr>
              <a:t> </a:t>
            </a:r>
            <a:r>
              <a:rPr sz="1550" i="1" spc="15" dirty="0">
                <a:latin typeface="Arial"/>
                <a:cs typeface="Arial"/>
              </a:rPr>
              <a:t>reverse</a:t>
            </a:r>
            <a:r>
              <a:rPr sz="1550" i="1" spc="95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the</a:t>
            </a:r>
            <a:endParaRPr sz="1550">
              <a:latin typeface="Arial"/>
              <a:cs typeface="Arial"/>
            </a:endParaRPr>
          </a:p>
          <a:p>
            <a:pPr marL="758190">
              <a:lnSpc>
                <a:spcPts val="1795"/>
              </a:lnSpc>
            </a:pPr>
            <a:r>
              <a:rPr sz="1550" i="1" spc="5" dirty="0">
                <a:latin typeface="Arial"/>
                <a:cs typeface="Arial"/>
              </a:rPr>
              <a:t>changes</a:t>
            </a:r>
            <a:r>
              <a:rPr sz="1550" i="1" spc="130" dirty="0">
                <a:latin typeface="Arial"/>
                <a:cs typeface="Arial"/>
              </a:rPr>
              <a:t> </a:t>
            </a:r>
            <a:r>
              <a:rPr sz="1550" i="1" spc="10" dirty="0">
                <a:latin typeface="Arial"/>
                <a:cs typeface="Arial"/>
              </a:rPr>
              <a:t>by</a:t>
            </a:r>
            <a:r>
              <a:rPr sz="1550" i="1" spc="65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undoing</a:t>
            </a:r>
            <a:r>
              <a:rPr sz="1550" i="1" spc="120" dirty="0">
                <a:latin typeface="Arial"/>
                <a:cs typeface="Arial"/>
              </a:rPr>
              <a:t> </a:t>
            </a:r>
            <a:r>
              <a:rPr sz="1550" i="1" spc="5" dirty="0">
                <a:latin typeface="Arial"/>
                <a:cs typeface="Arial"/>
              </a:rPr>
              <a:t>operations.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0302" y="167462"/>
            <a:ext cx="52749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Undo</a:t>
            </a:r>
            <a:r>
              <a:rPr spc="-40" dirty="0"/>
              <a:t> </a:t>
            </a:r>
            <a:r>
              <a:rPr spc="-10" dirty="0"/>
              <a:t>and</a:t>
            </a:r>
            <a:r>
              <a:rPr dirty="0"/>
              <a:t> </a:t>
            </a:r>
            <a:r>
              <a:rPr spc="-10" dirty="0"/>
              <a:t>Redo</a:t>
            </a:r>
            <a:r>
              <a:rPr spc="-35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8070" y="1027735"/>
            <a:ext cx="7454265" cy="104076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85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1000" algn="l"/>
                <a:tab pos="381635" algn="l"/>
                <a:tab pos="3329940" algn="l"/>
                <a:tab pos="3756660" algn="l"/>
              </a:tabLst>
            </a:pPr>
            <a:r>
              <a:rPr sz="1800" b="1" spc="-5" dirty="0">
                <a:solidFill>
                  <a:srgbClr val="000099"/>
                </a:solidFill>
                <a:latin typeface="Arial"/>
                <a:cs typeface="Arial"/>
              </a:rPr>
              <a:t>Undo</a:t>
            </a:r>
            <a:r>
              <a:rPr sz="1800" b="1" spc="3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log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record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&lt;T</a:t>
            </a:r>
            <a:r>
              <a:rPr sz="1725" i="1" spc="-15" baseline="-21739" dirty="0">
                <a:latin typeface="Arial"/>
                <a:cs typeface="Arial"/>
              </a:rPr>
              <a:t>i</a:t>
            </a:r>
            <a:r>
              <a:rPr sz="1800" i="1" spc="-10" dirty="0">
                <a:latin typeface="Arial"/>
                <a:cs typeface="Arial"/>
              </a:rPr>
              <a:t>,</a:t>
            </a:r>
            <a:r>
              <a:rPr sz="1800" i="1" spc="5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X,	</a:t>
            </a:r>
            <a:r>
              <a:rPr sz="1800" i="1" dirty="0">
                <a:latin typeface="Arial"/>
                <a:cs typeface="Arial"/>
              </a:rPr>
              <a:t>V</a:t>
            </a:r>
            <a:r>
              <a:rPr sz="1725" i="1" baseline="-21739" dirty="0">
                <a:latin typeface="Arial"/>
                <a:cs typeface="Arial"/>
              </a:rPr>
              <a:t>1</a:t>
            </a:r>
            <a:r>
              <a:rPr sz="1800" i="1" dirty="0">
                <a:latin typeface="Arial"/>
                <a:cs typeface="Arial"/>
              </a:rPr>
              <a:t>,	</a:t>
            </a:r>
            <a:r>
              <a:rPr sz="1800" i="1" spc="-5" dirty="0">
                <a:latin typeface="Arial"/>
                <a:cs typeface="Arial"/>
              </a:rPr>
              <a:t>V</a:t>
            </a:r>
            <a:r>
              <a:rPr sz="1725" i="1" spc="-7" baseline="-21739" dirty="0">
                <a:latin typeface="Arial"/>
                <a:cs typeface="Arial"/>
              </a:rPr>
              <a:t>2</a:t>
            </a:r>
            <a:r>
              <a:rPr sz="1800" i="1" spc="-5" dirty="0">
                <a:latin typeface="Arial"/>
                <a:cs typeface="Arial"/>
              </a:rPr>
              <a:t>&gt;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writes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old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value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V</a:t>
            </a:r>
            <a:r>
              <a:rPr sz="1725" i="1" baseline="-21739" dirty="0">
                <a:latin typeface="Arial"/>
                <a:cs typeface="Arial"/>
              </a:rPr>
              <a:t>1</a:t>
            </a:r>
            <a:r>
              <a:rPr sz="1725" i="1" spc="300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  <a:p>
            <a:pPr marL="783590" lvl="1" indent="-288925">
              <a:lnSpc>
                <a:spcPct val="100000"/>
              </a:lnSpc>
              <a:spcBef>
                <a:spcPts val="755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83590" algn="l"/>
                <a:tab pos="784225" algn="l"/>
              </a:tabLst>
            </a:pPr>
            <a:r>
              <a:rPr sz="1800" b="1" dirty="0">
                <a:latin typeface="Arial"/>
                <a:cs typeface="Arial"/>
              </a:rPr>
              <a:t>undo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725" baseline="-21739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restores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value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10" dirty="0">
                <a:latin typeface="Arial MT"/>
                <a:cs typeface="Arial MT"/>
              </a:rPr>
              <a:t>all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items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r>
              <a:rPr sz="1725" i="1" spc="254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their</a:t>
            </a:r>
            <a:endParaRPr sz="1800">
              <a:latin typeface="Arial MT"/>
              <a:cs typeface="Arial MT"/>
            </a:endParaRPr>
          </a:p>
          <a:p>
            <a:pPr marL="78359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latin typeface="Arial MT"/>
                <a:cs typeface="Arial MT"/>
              </a:rPr>
              <a:t>old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values,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going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backwards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last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log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record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endParaRPr sz="1725" baseline="-2173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070" y="2783647"/>
            <a:ext cx="7330440" cy="104140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85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81000" algn="l"/>
                <a:tab pos="381635" algn="l"/>
                <a:tab pos="3316604" algn="l"/>
                <a:tab pos="3742690" algn="l"/>
              </a:tabLst>
            </a:pPr>
            <a:r>
              <a:rPr sz="1800" b="1" dirty="0">
                <a:solidFill>
                  <a:srgbClr val="000099"/>
                </a:solidFill>
                <a:latin typeface="Arial"/>
                <a:cs typeface="Arial"/>
              </a:rPr>
              <a:t>Redo</a:t>
            </a:r>
            <a:r>
              <a:rPr sz="1800" b="1" spc="-1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log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record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i="1" spc="-10" dirty="0">
                <a:latin typeface="Arial"/>
                <a:cs typeface="Arial"/>
              </a:rPr>
              <a:t>&lt;T</a:t>
            </a:r>
            <a:r>
              <a:rPr sz="1725" i="1" spc="-15" baseline="-21739" dirty="0">
                <a:latin typeface="Arial"/>
                <a:cs typeface="Arial"/>
              </a:rPr>
              <a:t>i</a:t>
            </a:r>
            <a:r>
              <a:rPr sz="1800" i="1" spc="-10" dirty="0">
                <a:latin typeface="Arial"/>
                <a:cs typeface="Arial"/>
              </a:rPr>
              <a:t>,</a:t>
            </a:r>
            <a:r>
              <a:rPr sz="1800" i="1" spc="5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X,	</a:t>
            </a:r>
            <a:r>
              <a:rPr sz="1800" i="1" dirty="0">
                <a:latin typeface="Arial"/>
                <a:cs typeface="Arial"/>
              </a:rPr>
              <a:t>V</a:t>
            </a:r>
            <a:r>
              <a:rPr sz="1725" i="1" baseline="-21739" dirty="0">
                <a:latin typeface="Arial"/>
                <a:cs typeface="Arial"/>
              </a:rPr>
              <a:t>1</a:t>
            </a:r>
            <a:r>
              <a:rPr sz="1800" i="1" dirty="0">
                <a:latin typeface="Arial"/>
                <a:cs typeface="Arial"/>
              </a:rPr>
              <a:t>,	</a:t>
            </a:r>
            <a:r>
              <a:rPr sz="1800" i="1" spc="-5" dirty="0">
                <a:latin typeface="Arial"/>
                <a:cs typeface="Arial"/>
              </a:rPr>
              <a:t>V</a:t>
            </a:r>
            <a:r>
              <a:rPr sz="1725" i="1" spc="-7" baseline="-21739" dirty="0">
                <a:latin typeface="Arial"/>
                <a:cs typeface="Arial"/>
              </a:rPr>
              <a:t>2</a:t>
            </a:r>
            <a:r>
              <a:rPr sz="1800" i="1" spc="-5" dirty="0">
                <a:latin typeface="Arial"/>
                <a:cs typeface="Arial"/>
              </a:rPr>
              <a:t>&gt;</a:t>
            </a:r>
            <a:r>
              <a:rPr sz="1800" i="1" spc="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writes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new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spc="5" dirty="0">
                <a:latin typeface="Arial MT"/>
                <a:cs typeface="Arial MT"/>
              </a:rPr>
              <a:t>value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V</a:t>
            </a:r>
            <a:r>
              <a:rPr sz="1725" i="1" baseline="-21739" dirty="0">
                <a:latin typeface="Arial"/>
                <a:cs typeface="Arial"/>
              </a:rPr>
              <a:t>2</a:t>
            </a:r>
            <a:r>
              <a:rPr sz="1725" i="1" spc="300" baseline="-21739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  <a:p>
            <a:pPr marL="783590" lvl="1" indent="-288925">
              <a:lnSpc>
                <a:spcPct val="100000"/>
              </a:lnSpc>
              <a:spcBef>
                <a:spcPts val="760"/>
              </a:spcBef>
              <a:buClr>
                <a:srgbClr val="FF9933"/>
              </a:buClr>
              <a:buSzPct val="80555"/>
              <a:buFont typeface="Wingdings"/>
              <a:buChar char=""/>
              <a:tabLst>
                <a:tab pos="783590" algn="l"/>
                <a:tab pos="784225" algn="l"/>
              </a:tabLst>
            </a:pPr>
            <a:r>
              <a:rPr sz="1800" b="1" dirty="0">
                <a:latin typeface="Arial"/>
                <a:cs typeface="Arial"/>
              </a:rPr>
              <a:t>redo</a:t>
            </a:r>
            <a:r>
              <a:rPr sz="1800" dirty="0">
                <a:latin typeface="Arial MT"/>
                <a:cs typeface="Arial MT"/>
              </a:rPr>
              <a:t>(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baseline="-20833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)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sets 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value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all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items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60" dirty="0">
                <a:latin typeface="Arial MT"/>
                <a:cs typeface="Arial MT"/>
              </a:rPr>
              <a:t> </a:t>
            </a:r>
            <a:r>
              <a:rPr sz="1800" i="1" spc="5" dirty="0">
                <a:latin typeface="Arial"/>
                <a:cs typeface="Arial"/>
              </a:rPr>
              <a:t>T</a:t>
            </a:r>
            <a:r>
              <a:rPr sz="1800" i="1" spc="7" baseline="-20833" dirty="0">
                <a:latin typeface="Arial"/>
                <a:cs typeface="Arial"/>
              </a:rPr>
              <a:t>i</a:t>
            </a:r>
            <a:r>
              <a:rPr sz="1800" i="1" spc="18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 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endParaRPr sz="1800">
              <a:latin typeface="Arial MT"/>
              <a:cs typeface="Arial MT"/>
            </a:endParaRPr>
          </a:p>
          <a:p>
            <a:pPr marL="783590">
              <a:lnSpc>
                <a:spcPct val="100000"/>
              </a:lnSpc>
            </a:pPr>
            <a:r>
              <a:rPr sz="1800" spc="5" dirty="0">
                <a:latin typeface="Arial MT"/>
                <a:cs typeface="Arial MT"/>
              </a:rPr>
              <a:t>values,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going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forward</a:t>
            </a:r>
            <a:r>
              <a:rPr sz="1800" spc="5" dirty="0">
                <a:latin typeface="Arial MT"/>
                <a:cs typeface="Arial MT"/>
              </a:rPr>
              <a:t> 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first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log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record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i="1" spc="10" dirty="0">
                <a:latin typeface="Arial"/>
                <a:cs typeface="Arial"/>
              </a:rPr>
              <a:t>T</a:t>
            </a:r>
            <a:r>
              <a:rPr sz="1725" i="1" spc="15" baseline="-21739" dirty="0">
                <a:latin typeface="Arial"/>
                <a:cs typeface="Arial"/>
              </a:rPr>
              <a:t>i</a:t>
            </a:r>
            <a:endParaRPr sz="1725" baseline="-21739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5338" y="290602"/>
            <a:ext cx="6085892" cy="41483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44726" y="167462"/>
            <a:ext cx="61245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Database</a:t>
            </a:r>
            <a:r>
              <a:rPr spc="-5" dirty="0"/>
              <a:t> </a:t>
            </a:r>
            <a:r>
              <a:rPr spc="-15" dirty="0"/>
              <a:t>Recovery</a:t>
            </a:r>
            <a:r>
              <a:rPr spc="30" dirty="0"/>
              <a:t> </a:t>
            </a:r>
            <a:r>
              <a:rPr spc="-15" dirty="0"/>
              <a:t>Techniques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2121" y="1047219"/>
            <a:ext cx="7487284" cy="315087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550" b="1" spc="5" dirty="0">
                <a:latin typeface="Arial"/>
                <a:cs typeface="Arial"/>
              </a:rPr>
              <a:t>1.</a:t>
            </a:r>
            <a:r>
              <a:rPr sz="1550" b="1" spc="35" dirty="0">
                <a:latin typeface="Arial"/>
                <a:cs typeface="Arial"/>
              </a:rPr>
              <a:t> </a:t>
            </a:r>
            <a:r>
              <a:rPr sz="1550" b="1" spc="15" dirty="0">
                <a:latin typeface="Arial"/>
                <a:cs typeface="Arial"/>
              </a:rPr>
              <a:t>Undoing</a:t>
            </a:r>
            <a:r>
              <a:rPr sz="1550" b="1" spc="30" dirty="0">
                <a:latin typeface="Arial"/>
                <a:cs typeface="Arial"/>
              </a:rPr>
              <a:t> </a:t>
            </a:r>
            <a:r>
              <a:rPr sz="1550" b="1" spc="20" dirty="0">
                <a:latin typeface="Arial"/>
                <a:cs typeface="Arial"/>
              </a:rPr>
              <a:t>–</a:t>
            </a:r>
            <a:endParaRPr sz="155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735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dirty="0">
                <a:latin typeface="Arial MT"/>
                <a:cs typeface="Arial MT"/>
              </a:rPr>
              <a:t>If</a:t>
            </a:r>
            <a:r>
              <a:rPr sz="1550" spc="2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crashes,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then</a:t>
            </a:r>
            <a:r>
              <a:rPr sz="1550" spc="9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recovery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manager</a:t>
            </a:r>
            <a:r>
              <a:rPr sz="1550" spc="85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may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undo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transactions</a:t>
            </a:r>
            <a:r>
              <a:rPr sz="1550" spc="18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i.e.</a:t>
            </a:r>
            <a:endParaRPr sz="15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85"/>
              </a:spcBef>
            </a:pPr>
            <a:r>
              <a:rPr sz="1550" spc="15" dirty="0">
                <a:latin typeface="Arial MT"/>
                <a:cs typeface="Arial MT"/>
              </a:rPr>
              <a:t>reverse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4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operations</a:t>
            </a:r>
            <a:r>
              <a:rPr sz="1550" spc="13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of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a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70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dirty="0">
                <a:latin typeface="Arial MT"/>
                <a:cs typeface="Arial MT"/>
              </a:rPr>
              <a:t>This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involves</a:t>
            </a:r>
            <a:r>
              <a:rPr sz="1550" spc="4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examining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a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</a:t>
            </a:r>
            <a:r>
              <a:rPr sz="1550" spc="17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for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log</a:t>
            </a:r>
            <a:r>
              <a:rPr sz="1550" spc="6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entry</a:t>
            </a:r>
            <a:r>
              <a:rPr sz="1550" spc="15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write_item</a:t>
            </a:r>
            <a:r>
              <a:rPr sz="1550" spc="10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(T,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X,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V1,</a:t>
            </a:r>
            <a:r>
              <a:rPr sz="1550" spc="7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V2)</a:t>
            </a:r>
            <a:endParaRPr sz="155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sz="1550" spc="5" dirty="0">
                <a:latin typeface="Arial MT"/>
                <a:cs typeface="Arial MT"/>
              </a:rPr>
              <a:t>and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setting</a:t>
            </a:r>
            <a:r>
              <a:rPr sz="1550" spc="125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value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of</a:t>
            </a:r>
            <a:r>
              <a:rPr sz="1550" spc="3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item</a:t>
            </a:r>
            <a:r>
              <a:rPr sz="1550" spc="8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x</a:t>
            </a:r>
            <a:r>
              <a:rPr sz="1550" spc="5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in </a:t>
            </a:r>
            <a:r>
              <a:rPr sz="1550" spc="5" dirty="0">
                <a:latin typeface="Arial MT"/>
                <a:cs typeface="Arial MT"/>
              </a:rPr>
              <a:t>the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database</a:t>
            </a:r>
            <a:r>
              <a:rPr sz="1550" spc="12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to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old-value.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sz="1550" dirty="0">
                <a:latin typeface="Arial MT"/>
                <a:cs typeface="Arial MT"/>
              </a:rPr>
              <a:t>There</a:t>
            </a:r>
            <a:r>
              <a:rPr sz="1550" spc="90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are</a:t>
            </a:r>
            <a:r>
              <a:rPr sz="1550" spc="55" dirty="0">
                <a:latin typeface="Arial MT"/>
                <a:cs typeface="Arial MT"/>
              </a:rPr>
              <a:t> </a:t>
            </a:r>
            <a:r>
              <a:rPr sz="1550" spc="25" dirty="0">
                <a:latin typeface="Arial MT"/>
                <a:cs typeface="Arial MT"/>
              </a:rPr>
              <a:t>two</a:t>
            </a:r>
            <a:r>
              <a:rPr sz="1550" spc="2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major</a:t>
            </a:r>
            <a:r>
              <a:rPr sz="1550" spc="1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techniques</a:t>
            </a:r>
            <a:r>
              <a:rPr sz="1550" spc="14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for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15" dirty="0">
                <a:latin typeface="Arial MT"/>
                <a:cs typeface="Arial MT"/>
              </a:rPr>
              <a:t>recovery</a:t>
            </a:r>
            <a:r>
              <a:rPr sz="1550" spc="75" dirty="0">
                <a:latin typeface="Arial MT"/>
                <a:cs typeface="Arial MT"/>
              </a:rPr>
              <a:t> </a:t>
            </a:r>
            <a:r>
              <a:rPr sz="1550" spc="20" dirty="0">
                <a:latin typeface="Arial MT"/>
                <a:cs typeface="Arial MT"/>
              </a:rPr>
              <a:t>from</a:t>
            </a:r>
            <a:r>
              <a:rPr sz="1550" spc="50" dirty="0">
                <a:latin typeface="Arial MT"/>
                <a:cs typeface="Arial MT"/>
              </a:rPr>
              <a:t> </a:t>
            </a:r>
            <a:r>
              <a:rPr sz="1550" spc="5" dirty="0">
                <a:latin typeface="Arial MT"/>
                <a:cs typeface="Arial MT"/>
              </a:rPr>
              <a:t>transaction</a:t>
            </a:r>
            <a:r>
              <a:rPr sz="1550" spc="165" dirty="0">
                <a:latin typeface="Arial MT"/>
                <a:cs typeface="Arial MT"/>
              </a:rPr>
              <a:t> </a:t>
            </a:r>
            <a:r>
              <a:rPr sz="1550" spc="10" dirty="0">
                <a:latin typeface="Arial MT"/>
                <a:cs typeface="Arial MT"/>
              </a:rPr>
              <a:t>failures:</a:t>
            </a:r>
            <a:endParaRPr sz="15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735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b="1" spc="10" dirty="0">
                <a:latin typeface="Arial"/>
                <a:cs typeface="Arial"/>
              </a:rPr>
              <a:t>Deferred</a:t>
            </a:r>
            <a:r>
              <a:rPr sz="1550" b="1" spc="70" dirty="0">
                <a:latin typeface="Arial"/>
                <a:cs typeface="Arial"/>
              </a:rPr>
              <a:t> </a:t>
            </a:r>
            <a:r>
              <a:rPr sz="1550" b="1" spc="15" dirty="0">
                <a:latin typeface="Arial"/>
                <a:cs typeface="Arial"/>
              </a:rPr>
              <a:t>update</a:t>
            </a:r>
            <a:endParaRPr sz="155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730"/>
              </a:spcBef>
              <a:buClr>
                <a:srgbClr val="CC3300"/>
              </a:buClr>
              <a:buSzPct val="9354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550" b="1" spc="15" dirty="0">
                <a:latin typeface="Arial"/>
                <a:cs typeface="Arial"/>
              </a:rPr>
              <a:t>Immediate</a:t>
            </a:r>
            <a:r>
              <a:rPr sz="1550" b="1" spc="60" dirty="0">
                <a:latin typeface="Arial"/>
                <a:cs typeface="Arial"/>
              </a:rPr>
              <a:t> </a:t>
            </a:r>
            <a:r>
              <a:rPr sz="1550" b="1" spc="15" dirty="0">
                <a:latin typeface="Arial"/>
                <a:cs typeface="Arial"/>
              </a:rPr>
              <a:t>update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7416" y="290602"/>
            <a:ext cx="3141783" cy="4054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17545" y="167462"/>
            <a:ext cx="31851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Deferred</a:t>
            </a:r>
            <a:r>
              <a:rPr spc="-75" dirty="0"/>
              <a:t> </a:t>
            </a:r>
            <a:r>
              <a:rPr spc="-5" dirty="0"/>
              <a:t>Update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2121" y="1135456"/>
            <a:ext cx="7635240" cy="462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spc="10" dirty="0">
                <a:latin typeface="Arial MT"/>
                <a:cs typeface="Arial MT"/>
              </a:rPr>
              <a:t>This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technique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physically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 </a:t>
            </a:r>
            <a:r>
              <a:rPr sz="1800" spc="5" dirty="0">
                <a:latin typeface="Arial MT"/>
                <a:cs typeface="Arial MT"/>
              </a:rPr>
              <a:t>disk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until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reached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commit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point.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reaching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commit,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all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 recorded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spc="5" dirty="0">
                <a:latin typeface="Arial MT"/>
                <a:cs typeface="Arial MT"/>
              </a:rPr>
              <a:t>local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workspace.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fails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reaching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commit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point,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it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have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changed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way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UNDO</a:t>
            </a:r>
            <a:r>
              <a:rPr sz="1800" spc="10" dirty="0">
                <a:latin typeface="Arial MT"/>
                <a:cs typeface="Arial MT"/>
              </a:rPr>
              <a:t> 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needed.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Arial MT"/>
              <a:cs typeface="Arial MT"/>
            </a:endParaRPr>
          </a:p>
          <a:p>
            <a:pPr marL="355600" marR="5080" indent="-343535">
              <a:lnSpc>
                <a:spcPct val="100000"/>
              </a:lnSpc>
              <a:spcBef>
                <a:spcPts val="5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reaches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commit</a:t>
            </a:r>
            <a:r>
              <a:rPr sz="1800" spc="8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point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necessary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REDO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effect of the </a:t>
            </a:r>
            <a:r>
              <a:rPr sz="1800" spc="5" dirty="0">
                <a:latin typeface="Arial MT"/>
                <a:cs typeface="Arial MT"/>
              </a:rPr>
              <a:t>operations </a:t>
            </a:r>
            <a:r>
              <a:rPr sz="1800" dirty="0">
                <a:latin typeface="Arial MT"/>
                <a:cs typeface="Arial MT"/>
              </a:rPr>
              <a:t>that are recorded </a:t>
            </a:r>
            <a:r>
              <a:rPr sz="1800" spc="10" dirty="0">
                <a:latin typeface="Arial MT"/>
                <a:cs typeface="Arial MT"/>
              </a:rPr>
              <a:t>in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5" dirty="0">
                <a:latin typeface="Arial MT"/>
                <a:cs typeface="Arial MT"/>
              </a:rPr>
              <a:t>local transaction 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workspace, </a:t>
            </a:r>
            <a:r>
              <a:rPr sz="1800" dirty="0">
                <a:latin typeface="Arial MT"/>
                <a:cs typeface="Arial MT"/>
              </a:rPr>
              <a:t>because </a:t>
            </a:r>
            <a:r>
              <a:rPr sz="1800" spc="5" dirty="0">
                <a:latin typeface="Arial MT"/>
                <a:cs typeface="Arial MT"/>
              </a:rPr>
              <a:t>their </a:t>
            </a:r>
            <a:r>
              <a:rPr sz="1800" dirty="0">
                <a:latin typeface="Arial MT"/>
                <a:cs typeface="Arial MT"/>
              </a:rPr>
              <a:t>effect </a:t>
            </a:r>
            <a:r>
              <a:rPr sz="1800" spc="-25" dirty="0">
                <a:latin typeface="Arial MT"/>
                <a:cs typeface="Arial MT"/>
              </a:rPr>
              <a:t>may </a:t>
            </a:r>
            <a:r>
              <a:rPr sz="1800" dirty="0">
                <a:latin typeface="Arial MT"/>
                <a:cs typeface="Arial MT"/>
              </a:rPr>
              <a:t>not yet have been written </a:t>
            </a:r>
            <a:r>
              <a:rPr sz="1800" spc="15" dirty="0">
                <a:latin typeface="Arial MT"/>
                <a:cs typeface="Arial MT"/>
              </a:rPr>
              <a:t>in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35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Hence,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deferred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also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known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 the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No-undo/Redo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algorithm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7945" y="290602"/>
            <a:ext cx="3480778" cy="4054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380" y="167462"/>
            <a:ext cx="35204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Immediate</a:t>
            </a:r>
            <a:r>
              <a:rPr spc="-60" dirty="0"/>
              <a:t> </a:t>
            </a:r>
            <a:r>
              <a:rPr spc="-10" dirty="0"/>
              <a:t>Update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22121" y="1135456"/>
            <a:ext cx="7627620" cy="389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6710" indent="-343535">
              <a:lnSpc>
                <a:spcPct val="100000"/>
              </a:lnSpc>
              <a:spcBef>
                <a:spcPts val="10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In the </a:t>
            </a:r>
            <a:r>
              <a:rPr sz="1800" spc="-10" dirty="0">
                <a:latin typeface="Arial MT"/>
                <a:cs typeface="Arial MT"/>
              </a:rPr>
              <a:t>immediate </a:t>
            </a:r>
            <a:r>
              <a:rPr sz="1800" dirty="0">
                <a:latin typeface="Arial MT"/>
                <a:cs typeface="Arial MT"/>
              </a:rPr>
              <a:t>update, the database </a:t>
            </a:r>
            <a:r>
              <a:rPr sz="1800" spc="-25" dirty="0">
                <a:latin typeface="Arial MT"/>
                <a:cs typeface="Arial MT"/>
              </a:rPr>
              <a:t>may </a:t>
            </a:r>
            <a:r>
              <a:rPr sz="1800" dirty="0">
                <a:latin typeface="Arial MT"/>
                <a:cs typeface="Arial MT"/>
              </a:rPr>
              <a:t>be updated by </a:t>
            </a:r>
            <a:r>
              <a:rPr sz="1800" spc="-15" dirty="0">
                <a:latin typeface="Arial MT"/>
                <a:cs typeface="Arial MT"/>
              </a:rPr>
              <a:t>some 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operations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transaction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reaches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commit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point.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8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spc="-5" dirty="0">
                <a:latin typeface="Arial MT"/>
                <a:cs typeface="Arial MT"/>
              </a:rPr>
              <a:t>However,</a:t>
            </a:r>
            <a:r>
              <a:rPr sz="1800" dirty="0">
                <a:latin typeface="Arial MT"/>
                <a:cs typeface="Arial MT"/>
              </a:rPr>
              <a:t> these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operations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recorded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in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log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disk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they </a:t>
            </a:r>
            <a:r>
              <a:rPr sz="1800" spc="5" dirty="0">
                <a:latin typeface="Arial MT"/>
                <a:cs typeface="Arial MT"/>
              </a:rPr>
              <a:t>are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10" dirty="0">
                <a:latin typeface="Arial MT"/>
                <a:cs typeface="Arial MT"/>
              </a:rPr>
              <a:t>applied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database,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making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recovery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still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possible.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 marL="355600" marR="122555" indent="-343535">
              <a:lnSpc>
                <a:spcPct val="100000"/>
              </a:lnSpc>
              <a:spcBef>
                <a:spcPts val="137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transaction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fails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reach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commit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point,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effect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operation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must </a:t>
            </a:r>
            <a:r>
              <a:rPr sz="1800" dirty="0">
                <a:latin typeface="Arial MT"/>
                <a:cs typeface="Arial MT"/>
              </a:rPr>
              <a:t>be undone </a:t>
            </a:r>
            <a:r>
              <a:rPr sz="1800" spc="5" dirty="0">
                <a:latin typeface="Arial MT"/>
                <a:cs typeface="Arial MT"/>
              </a:rPr>
              <a:t>i.e.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5" dirty="0">
                <a:latin typeface="Arial MT"/>
                <a:cs typeface="Arial MT"/>
              </a:rPr>
              <a:t>transaction </a:t>
            </a:r>
            <a:r>
              <a:rPr sz="1800" spc="-15" dirty="0">
                <a:latin typeface="Arial MT"/>
                <a:cs typeface="Arial MT"/>
              </a:rPr>
              <a:t>must </a:t>
            </a:r>
            <a:r>
              <a:rPr sz="1800" dirty="0">
                <a:latin typeface="Arial MT"/>
                <a:cs typeface="Arial MT"/>
              </a:rPr>
              <a:t>be </a:t>
            </a:r>
            <a:r>
              <a:rPr sz="1800" spc="10" dirty="0">
                <a:latin typeface="Arial MT"/>
                <a:cs typeface="Arial MT"/>
              </a:rPr>
              <a:t>rolled </a:t>
            </a:r>
            <a:r>
              <a:rPr sz="1800" dirty="0">
                <a:latin typeface="Arial MT"/>
                <a:cs typeface="Arial MT"/>
              </a:rPr>
              <a:t>back hence </a:t>
            </a:r>
            <a:r>
              <a:rPr sz="1800" spc="-25" dirty="0">
                <a:latin typeface="Arial MT"/>
                <a:cs typeface="Arial MT"/>
              </a:rPr>
              <a:t>we 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require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both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redo.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CC3300"/>
              </a:buClr>
              <a:buFont typeface="Wingdings"/>
              <a:buChar char=""/>
            </a:pPr>
            <a:endParaRPr sz="200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spcBef>
                <a:spcPts val="1380"/>
              </a:spcBef>
              <a:buClr>
                <a:srgbClr val="CC3300"/>
              </a:buClr>
              <a:buSzPct val="88888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1800" spc="10" dirty="0">
                <a:latin typeface="Arial MT"/>
                <a:cs typeface="Arial MT"/>
              </a:rPr>
              <a:t>This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technique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15" dirty="0">
                <a:latin typeface="Arial MT"/>
                <a:cs typeface="Arial MT"/>
              </a:rPr>
              <a:t>is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known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undo/redo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algorithm.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676910" cy="836930"/>
          </a:xfrm>
          <a:custGeom>
            <a:avLst/>
            <a:gdLst/>
            <a:ahLst/>
            <a:cxnLst/>
            <a:rect l="l" t="t" r="r" b="b"/>
            <a:pathLst>
              <a:path w="676910" h="836930">
                <a:moveTo>
                  <a:pt x="676656" y="0"/>
                </a:moveTo>
                <a:lnTo>
                  <a:pt x="0" y="0"/>
                </a:lnTo>
                <a:lnTo>
                  <a:pt x="0" y="836676"/>
                </a:lnTo>
                <a:lnTo>
                  <a:pt x="676656" y="836676"/>
                </a:lnTo>
                <a:lnTo>
                  <a:pt x="6766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574535"/>
            <a:ext cx="9144000" cy="283845"/>
          </a:xfrm>
          <a:custGeom>
            <a:avLst/>
            <a:gdLst/>
            <a:ahLst/>
            <a:cxnLst/>
            <a:rect l="l" t="t" r="r" b="b"/>
            <a:pathLst>
              <a:path w="9144000" h="283845">
                <a:moveTo>
                  <a:pt x="9144000" y="0"/>
                </a:moveTo>
                <a:lnTo>
                  <a:pt x="0" y="0"/>
                </a:lnTo>
                <a:lnTo>
                  <a:pt x="0" y="283464"/>
                </a:lnTo>
                <a:lnTo>
                  <a:pt x="9144000" y="283464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439" y="6671396"/>
            <a:ext cx="896937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5"/>
              </a:lnSpc>
            </a:pP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©Silberschatz,</a:t>
            </a:r>
            <a:r>
              <a:rPr sz="1000" b="1" spc="-9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CC3300"/>
                </a:solidFill>
                <a:latin typeface="Arial"/>
                <a:cs typeface="Arial"/>
              </a:rPr>
              <a:t>Korth</a:t>
            </a:r>
            <a:r>
              <a:rPr sz="1000" b="1" spc="1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CC3300"/>
                </a:solidFill>
                <a:latin typeface="Arial"/>
                <a:cs typeface="Arial"/>
              </a:rPr>
              <a:t>and</a:t>
            </a:r>
            <a:r>
              <a:rPr sz="1000" b="1" spc="-6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CC3300"/>
                </a:solidFill>
                <a:latin typeface="Arial"/>
                <a:cs typeface="Arial"/>
              </a:rPr>
              <a:t>Sudarshan15.47Database</a:t>
            </a:r>
            <a:r>
              <a:rPr sz="1000" b="1" spc="-4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System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Concepts</a:t>
            </a:r>
            <a:r>
              <a:rPr sz="1000" b="1" spc="-5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- </a:t>
            </a:r>
            <a:r>
              <a:rPr sz="1000" b="1" spc="10" dirty="0">
                <a:solidFill>
                  <a:srgbClr val="CC3300"/>
                </a:solidFill>
                <a:latin typeface="Arial"/>
                <a:cs typeface="Arial"/>
              </a:rPr>
              <a:t>6</a:t>
            </a:r>
            <a:r>
              <a:rPr sz="975" b="1" spc="15" baseline="25641" dirty="0">
                <a:solidFill>
                  <a:srgbClr val="CC3300"/>
                </a:solidFill>
                <a:latin typeface="Arial"/>
                <a:cs typeface="Arial"/>
              </a:rPr>
              <a:t>th</a:t>
            </a:r>
            <a:r>
              <a:rPr sz="975" b="1" spc="135" baseline="2564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CC3300"/>
                </a:solidFill>
                <a:latin typeface="Arial"/>
                <a:cs typeface="Arial"/>
              </a:rPr>
              <a:t>Edition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3829" y="2924708"/>
            <a:ext cx="27419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sz="44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4400" spc="-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72957" y="6357010"/>
            <a:ext cx="208279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5" dirty="0">
                <a:latin typeface="Times New Roman"/>
                <a:cs typeface="Times New Roman"/>
              </a:rPr>
              <a:t>57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5268</Words>
  <Application>Microsoft Office PowerPoint</Application>
  <PresentationFormat>On-screen Show (4:3)</PresentationFormat>
  <Paragraphs>716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Arial MT</vt:lpstr>
      <vt:lpstr>Calibri</vt:lpstr>
      <vt:lpstr>Symbol</vt:lpstr>
      <vt:lpstr>Times New Roman</vt:lpstr>
      <vt:lpstr>Wingdings</vt:lpstr>
      <vt:lpstr>Office Theme</vt:lpstr>
      <vt:lpstr>Department of Computer Science &amp; Engineering</vt:lpstr>
      <vt:lpstr>Unit-4</vt:lpstr>
      <vt:lpstr>What is Transaction?</vt:lpstr>
      <vt:lpstr>Transaction ACID Properties:</vt:lpstr>
      <vt:lpstr>Transaction ACID Properties:</vt:lpstr>
      <vt:lpstr>Transaction States in DBMS</vt:lpstr>
      <vt:lpstr>Transaction States in DBMS</vt:lpstr>
      <vt:lpstr>Types of Schedules</vt:lpstr>
      <vt:lpstr>Serial Schedules:</vt:lpstr>
      <vt:lpstr>Concurrent Schedules in DBMS</vt:lpstr>
      <vt:lpstr>Concurrent Schedules in DBMS</vt:lpstr>
      <vt:lpstr>Serializable Concurrent Schedules</vt:lpstr>
      <vt:lpstr>Non Serializable Concurrent Schedules</vt:lpstr>
      <vt:lpstr>Non Serializable Concurrent Schedules</vt:lpstr>
      <vt:lpstr>Conflict Serializability in DBMS</vt:lpstr>
      <vt:lpstr>Conflict Serializability in DBMS</vt:lpstr>
      <vt:lpstr>Conflict Serializability</vt:lpstr>
      <vt:lpstr>Conflict Serializability</vt:lpstr>
      <vt:lpstr>Testing conflict serializability of a schedule</vt:lpstr>
      <vt:lpstr>Testing conflict serializability of a schedule</vt:lpstr>
      <vt:lpstr>Testing conflict serializability of a schedule</vt:lpstr>
      <vt:lpstr>View Serializability:</vt:lpstr>
      <vt:lpstr>View Serializability Cont.…:</vt:lpstr>
      <vt:lpstr>View Serializability Cont.…:</vt:lpstr>
      <vt:lpstr>View Serializability Cont.…:</vt:lpstr>
      <vt:lpstr>View Serializability Example 1:</vt:lpstr>
      <vt:lpstr>View Serializability Example 1 cont.…:</vt:lpstr>
      <vt:lpstr>Outline</vt:lpstr>
      <vt:lpstr>Lock-Based Protocols</vt:lpstr>
      <vt:lpstr>Lock-Based Protocols (Cont.)</vt:lpstr>
      <vt:lpstr>The Two-Phase Locking Protocol</vt:lpstr>
      <vt:lpstr>The Two-Phase Locking Protocol</vt:lpstr>
      <vt:lpstr>The Two-Phase Locking Protocol</vt:lpstr>
      <vt:lpstr>The Two-Phase Locking Protocol</vt:lpstr>
      <vt:lpstr>The Two-Phase Locking Protocol</vt:lpstr>
      <vt:lpstr>Deadlocks</vt:lpstr>
      <vt:lpstr>Strict &amp; Rigorous two-phase locking</vt:lpstr>
      <vt:lpstr>Timestamp-Based Protocols</vt:lpstr>
      <vt:lpstr>Timestamp-Based Protocols (Cont.)</vt:lpstr>
      <vt:lpstr>Timestamp-Based Protocols (Cont.)</vt:lpstr>
      <vt:lpstr>Validation-Based Protocol</vt:lpstr>
      <vt:lpstr>Validation-Based Protocol</vt:lpstr>
      <vt:lpstr>Transaction Recovery</vt:lpstr>
      <vt:lpstr>Irrecoverable Schedule:</vt:lpstr>
      <vt:lpstr>Recoverable Schedule:</vt:lpstr>
      <vt:lpstr>Checking Whether a Schedule is Recoverable or Irrecoverable-</vt:lpstr>
      <vt:lpstr>Checking Whether a Schedule is Recoverable or Irrecoverable-</vt:lpstr>
      <vt:lpstr>Types of Recoverable Schedules-</vt:lpstr>
      <vt:lpstr>1. Cascading Schedule</vt:lpstr>
      <vt:lpstr>2. Cascade less Schedule</vt:lpstr>
      <vt:lpstr>3. Strict Schedule</vt:lpstr>
      <vt:lpstr>Failure Classification</vt:lpstr>
      <vt:lpstr>Database Recovery Concepts</vt:lpstr>
      <vt:lpstr>Undo and Redo Operations</vt:lpstr>
      <vt:lpstr>Database Recovery Techniques</vt:lpstr>
      <vt:lpstr>Deferred Update</vt:lpstr>
      <vt:lpstr>Immediate Update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&amp; Engineering</dc:title>
  <cp:lastModifiedBy>Dr. Kailash Chandra Bandhu</cp:lastModifiedBy>
  <cp:revision>2</cp:revision>
  <dcterms:created xsi:type="dcterms:W3CDTF">2022-04-01T09:09:36Z</dcterms:created>
  <dcterms:modified xsi:type="dcterms:W3CDTF">2025-04-01T04:17:01Z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2022-04-01T00:00:00Z</vt:filetime>
  </property>
</Properties>
</file>