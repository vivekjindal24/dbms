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6"/>
  </p:notesMasterIdLst>
  <p:sldIdLst>
    <p:sldId id="256" r:id="rId2"/>
    <p:sldId id="261" r:id="rId3"/>
    <p:sldId id="312" r:id="rId4"/>
    <p:sldId id="314" r:id="rId5"/>
    <p:sldId id="315" r:id="rId6"/>
    <p:sldId id="316" r:id="rId7"/>
    <p:sldId id="317" r:id="rId8"/>
    <p:sldId id="377" r:id="rId9"/>
    <p:sldId id="323" r:id="rId10"/>
    <p:sldId id="311" r:id="rId11"/>
    <p:sldId id="388" r:id="rId12"/>
    <p:sldId id="389" r:id="rId13"/>
    <p:sldId id="260" r:id="rId14"/>
    <p:sldId id="390" r:id="rId15"/>
    <p:sldId id="391" r:id="rId16"/>
    <p:sldId id="392" r:id="rId17"/>
    <p:sldId id="385" r:id="rId18"/>
    <p:sldId id="393" r:id="rId19"/>
    <p:sldId id="394" r:id="rId20"/>
    <p:sldId id="395" r:id="rId21"/>
    <p:sldId id="269" r:id="rId22"/>
    <p:sldId id="268" r:id="rId23"/>
    <p:sldId id="270" r:id="rId24"/>
    <p:sldId id="271" r:id="rId25"/>
    <p:sldId id="272" r:id="rId26"/>
    <p:sldId id="439" r:id="rId27"/>
    <p:sldId id="440" r:id="rId28"/>
    <p:sldId id="441" r:id="rId29"/>
    <p:sldId id="442" r:id="rId30"/>
    <p:sldId id="443" r:id="rId31"/>
    <p:sldId id="444" r:id="rId32"/>
    <p:sldId id="267" r:id="rId33"/>
    <p:sldId id="445" r:id="rId34"/>
    <p:sldId id="446" r:id="rId35"/>
    <p:sldId id="447" r:id="rId36"/>
    <p:sldId id="448" r:id="rId37"/>
    <p:sldId id="449" r:id="rId38"/>
    <p:sldId id="450" r:id="rId39"/>
    <p:sldId id="274" r:id="rId40"/>
    <p:sldId id="275" r:id="rId41"/>
    <p:sldId id="276" r:id="rId42"/>
    <p:sldId id="277" r:id="rId43"/>
    <p:sldId id="278" r:id="rId44"/>
    <p:sldId id="451" r:id="rId45"/>
    <p:sldId id="452" r:id="rId46"/>
    <p:sldId id="453" r:id="rId47"/>
    <p:sldId id="454" r:id="rId48"/>
    <p:sldId id="455" r:id="rId49"/>
    <p:sldId id="456" r:id="rId50"/>
    <p:sldId id="457" r:id="rId51"/>
    <p:sldId id="458" r:id="rId52"/>
    <p:sldId id="459" r:id="rId53"/>
    <p:sldId id="460" r:id="rId54"/>
    <p:sldId id="289" r:id="rId55"/>
    <p:sldId id="290" r:id="rId56"/>
    <p:sldId id="461" r:id="rId57"/>
    <p:sldId id="462" r:id="rId58"/>
    <p:sldId id="463" r:id="rId59"/>
    <p:sldId id="464" r:id="rId60"/>
    <p:sldId id="465" r:id="rId61"/>
    <p:sldId id="466" r:id="rId62"/>
    <p:sldId id="297" r:id="rId63"/>
    <p:sldId id="467" r:id="rId64"/>
    <p:sldId id="468" r:id="rId65"/>
    <p:sldId id="469" r:id="rId66"/>
    <p:sldId id="470" r:id="rId67"/>
    <p:sldId id="471" r:id="rId68"/>
    <p:sldId id="303" r:id="rId69"/>
    <p:sldId id="304" r:id="rId70"/>
    <p:sldId id="305" r:id="rId71"/>
    <p:sldId id="306" r:id="rId72"/>
    <p:sldId id="307" r:id="rId73"/>
    <p:sldId id="309" r:id="rId74"/>
    <p:sldId id="310" r:id="rId75"/>
    <p:sldId id="472" r:id="rId76"/>
    <p:sldId id="473" r:id="rId77"/>
    <p:sldId id="313" r:id="rId78"/>
    <p:sldId id="474" r:id="rId79"/>
    <p:sldId id="475" r:id="rId80"/>
    <p:sldId id="476" r:id="rId81"/>
    <p:sldId id="477" r:id="rId82"/>
    <p:sldId id="318" r:id="rId83"/>
    <p:sldId id="319" r:id="rId84"/>
    <p:sldId id="320" r:id="rId85"/>
    <p:sldId id="321" r:id="rId86"/>
    <p:sldId id="322" r:id="rId87"/>
    <p:sldId id="478" r:id="rId88"/>
    <p:sldId id="324" r:id="rId89"/>
    <p:sldId id="325" r:id="rId90"/>
    <p:sldId id="326" r:id="rId91"/>
    <p:sldId id="327" r:id="rId92"/>
    <p:sldId id="328" r:id="rId93"/>
    <p:sldId id="329" r:id="rId94"/>
    <p:sldId id="330" r:id="rId95"/>
    <p:sldId id="331" r:id="rId96"/>
    <p:sldId id="332" r:id="rId97"/>
    <p:sldId id="333" r:id="rId98"/>
    <p:sldId id="334" r:id="rId99"/>
    <p:sldId id="335" r:id="rId100"/>
    <p:sldId id="336" r:id="rId101"/>
    <p:sldId id="337" r:id="rId102"/>
    <p:sldId id="338" r:id="rId103"/>
    <p:sldId id="339" r:id="rId104"/>
    <p:sldId id="340" r:id="rId105"/>
    <p:sldId id="341" r:id="rId106"/>
    <p:sldId id="342" r:id="rId107"/>
    <p:sldId id="343" r:id="rId108"/>
    <p:sldId id="344" r:id="rId109"/>
    <p:sldId id="345" r:id="rId110"/>
    <p:sldId id="346" r:id="rId111"/>
    <p:sldId id="347" r:id="rId112"/>
    <p:sldId id="348" r:id="rId113"/>
    <p:sldId id="349" r:id="rId114"/>
    <p:sldId id="350" r:id="rId115"/>
    <p:sldId id="351" r:id="rId116"/>
    <p:sldId id="352" r:id="rId117"/>
    <p:sldId id="353" r:id="rId118"/>
    <p:sldId id="354" r:id="rId119"/>
    <p:sldId id="355" r:id="rId120"/>
    <p:sldId id="356" r:id="rId121"/>
    <p:sldId id="357" r:id="rId122"/>
    <p:sldId id="358" r:id="rId123"/>
    <p:sldId id="359" r:id="rId124"/>
    <p:sldId id="360" r:id="rId125"/>
    <p:sldId id="361" r:id="rId126"/>
    <p:sldId id="362" r:id="rId127"/>
    <p:sldId id="363" r:id="rId128"/>
    <p:sldId id="364" r:id="rId129"/>
    <p:sldId id="365" r:id="rId130"/>
    <p:sldId id="366" r:id="rId131"/>
    <p:sldId id="368" r:id="rId132"/>
    <p:sldId id="479" r:id="rId133"/>
    <p:sldId id="480" r:id="rId134"/>
    <p:sldId id="378" r:id="rId135"/>
    <p:sldId id="379" r:id="rId136"/>
    <p:sldId id="380" r:id="rId137"/>
    <p:sldId id="381" r:id="rId138"/>
    <p:sldId id="481" r:id="rId139"/>
    <p:sldId id="482" r:id="rId140"/>
    <p:sldId id="262" r:id="rId141"/>
    <p:sldId id="263" r:id="rId142"/>
    <p:sldId id="264" r:id="rId143"/>
    <p:sldId id="265" r:id="rId144"/>
    <p:sldId id="266" r:id="rId1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804"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theme" Target="theme/theme1.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tableStyles" Target="tableStyle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651889-34FB-47A9-8EBE-3888D5B0C519}" type="datetimeFigureOut">
              <a:rPr lang="en-US" smtClean="0"/>
              <a:t>2/27/2024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E98607-AB06-444A-888C-CB60DE078A81}" type="slidenum">
              <a:rPr lang="en-US" smtClean="0"/>
              <a:t>‹#›</a:t>
            </a:fld>
            <a:endParaRPr lang="en-US"/>
          </a:p>
        </p:txBody>
      </p:sp>
    </p:spTree>
    <p:extLst>
      <p:ext uri="{BB962C8B-B14F-4D97-AF65-F5344CB8AC3E}">
        <p14:creationId xmlns:p14="http://schemas.microsoft.com/office/powerpoint/2010/main" val="29288388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p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5" name="Google Shape;125;p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5" name="Google Shape;135;p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8" name="Google Shape;148;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5" name="Google Shape;155;p1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2" name="Google Shape;162;p1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5" name="Google Shape;185;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1" name="Google Shape;191;p1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9" name="Google Shape;199;p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5" name="Google Shape;205;p1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2" name="Google Shape;232;p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8" name="Google Shape;238;p1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1" name="Google Shape;271;p1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7" name="Google Shape;277;p2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3" name="Google Shape;283;p2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4" name="Google Shape;304;p2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0" name="Google Shape;310;p2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6" name="Google Shape;316;p2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7" name="Google Shape;337;p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3" name="Google Shape;343;p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9" name="Google Shape;349;p2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5" name="Google Shape;355;p2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p:cNvGrpSpPr/>
        <p:nvPr/>
      </p:nvGrpSpPr>
      <p:grpSpPr>
        <a:xfrm>
          <a:off x="0" y="0"/>
          <a:ext cx="0" cy="0"/>
          <a:chOff x="0" y="0"/>
          <a:chExt cx="0" cy="0"/>
        </a:xfrm>
      </p:grpSpPr>
      <p:sp>
        <p:nvSpPr>
          <p:cNvPr id="384" name="Google Shape;384;p2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5" name="Google Shape;385;p2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5" name="Google Shape;395;p3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p3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1" name="Google Shape;401;p3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
        <p:cNvGrpSpPr/>
        <p:nvPr/>
      </p:nvGrpSpPr>
      <p:grpSpPr>
        <a:xfrm>
          <a:off x="0" y="0"/>
          <a:ext cx="0" cy="0"/>
          <a:chOff x="0" y="0"/>
          <a:chExt cx="0" cy="0"/>
        </a:xfrm>
      </p:grpSpPr>
      <p:sp>
        <p:nvSpPr>
          <p:cNvPr id="406" name="Google Shape;406;p3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7" name="Google Shape;407;p3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p3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3" name="Google Shape;413;p3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7"/>
        <p:cNvGrpSpPr/>
        <p:nvPr/>
      </p:nvGrpSpPr>
      <p:grpSpPr>
        <a:xfrm>
          <a:off x="0" y="0"/>
          <a:ext cx="0" cy="0"/>
          <a:chOff x="0" y="0"/>
          <a:chExt cx="0" cy="0"/>
        </a:xfrm>
      </p:grpSpPr>
      <p:sp>
        <p:nvSpPr>
          <p:cNvPr id="418" name="Google Shape;418;p3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9" name="Google Shape;419;p3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
        <p:cNvGrpSpPr/>
        <p:nvPr/>
      </p:nvGrpSpPr>
      <p:grpSpPr>
        <a:xfrm>
          <a:off x="0" y="0"/>
          <a:ext cx="0" cy="0"/>
          <a:chOff x="0" y="0"/>
          <a:chExt cx="0" cy="0"/>
        </a:xfrm>
      </p:grpSpPr>
      <p:sp>
        <p:nvSpPr>
          <p:cNvPr id="424" name="Google Shape;424;p3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5" name="Google Shape;425;p3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p3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1" name="Google Shape;431;p3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
        <p:cNvGrpSpPr/>
        <p:nvPr/>
      </p:nvGrpSpPr>
      <p:grpSpPr>
        <a:xfrm>
          <a:off x="0" y="0"/>
          <a:ext cx="0" cy="0"/>
          <a:chOff x="0" y="0"/>
          <a:chExt cx="0" cy="0"/>
        </a:xfrm>
      </p:grpSpPr>
      <p:sp>
        <p:nvSpPr>
          <p:cNvPr id="436" name="Google Shape;436;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7" name="Google Shape;437;p3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p:cNvGrpSpPr/>
        <p:nvPr/>
      </p:nvGrpSpPr>
      <p:grpSpPr>
        <a:xfrm>
          <a:off x="0" y="0"/>
          <a:ext cx="0" cy="0"/>
          <a:chOff x="0" y="0"/>
          <a:chExt cx="0" cy="0"/>
        </a:xfrm>
      </p:grpSpPr>
      <p:sp>
        <p:nvSpPr>
          <p:cNvPr id="464" name="Google Shape;464;p3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5" name="Google Shape;465;p3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p:cNvGrpSpPr/>
        <p:nvPr/>
      </p:nvGrpSpPr>
      <p:grpSpPr>
        <a:xfrm>
          <a:off x="0" y="0"/>
          <a:ext cx="0" cy="0"/>
          <a:chOff x="0" y="0"/>
          <a:chExt cx="0" cy="0"/>
        </a:xfrm>
      </p:grpSpPr>
      <p:sp>
        <p:nvSpPr>
          <p:cNvPr id="472" name="Google Shape;472;p3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3" name="Google Shape;473;p3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0"/>
        <p:cNvGrpSpPr/>
        <p:nvPr/>
      </p:nvGrpSpPr>
      <p:grpSpPr>
        <a:xfrm>
          <a:off x="0" y="0"/>
          <a:ext cx="0" cy="0"/>
          <a:chOff x="0" y="0"/>
          <a:chExt cx="0" cy="0"/>
        </a:xfrm>
      </p:grpSpPr>
      <p:sp>
        <p:nvSpPr>
          <p:cNvPr id="481" name="Google Shape;481;p4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2" name="Google Shape;482;p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7"/>
        <p:cNvGrpSpPr/>
        <p:nvPr/>
      </p:nvGrpSpPr>
      <p:grpSpPr>
        <a:xfrm>
          <a:off x="0" y="0"/>
          <a:ext cx="0" cy="0"/>
          <a:chOff x="0" y="0"/>
          <a:chExt cx="0" cy="0"/>
        </a:xfrm>
      </p:grpSpPr>
      <p:sp>
        <p:nvSpPr>
          <p:cNvPr id="488" name="Google Shape;488;p4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9" name="Google Shape;489;p4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2"/>
        <p:cNvGrpSpPr/>
        <p:nvPr/>
      </p:nvGrpSpPr>
      <p:grpSpPr>
        <a:xfrm>
          <a:off x="0" y="0"/>
          <a:ext cx="0" cy="0"/>
          <a:chOff x="0" y="0"/>
          <a:chExt cx="0" cy="0"/>
        </a:xfrm>
      </p:grpSpPr>
      <p:sp>
        <p:nvSpPr>
          <p:cNvPr id="523" name="Google Shape;523;p42:notes"/>
          <p:cNvSpPr txBox="1">
            <a:spLocks noGrp="1"/>
          </p:cNvSpPr>
          <p:nvPr>
            <p:ph type="sldNum" idx="12"/>
          </p:nvPr>
        </p:nvSpPr>
        <p:spPr>
          <a:xfrm>
            <a:off x="3965575" y="8807450"/>
            <a:ext cx="3032125" cy="463550"/>
          </a:xfrm>
          <a:prstGeom prst="rect">
            <a:avLst/>
          </a:prstGeom>
          <a:noFill/>
          <a:ln>
            <a:noFill/>
          </a:ln>
        </p:spPr>
        <p:txBody>
          <a:bodyPr spcFirstLastPara="1" wrap="square" lIns="92950" tIns="46475" rIns="92950" bIns="46475" anchor="b" anchorCtr="0">
            <a:noAutofit/>
          </a:bodyPr>
          <a:lstStyle/>
          <a:p>
            <a:pPr marL="0" lvl="0" indent="0" algn="r" rtl="0">
              <a:spcBef>
                <a:spcPts val="0"/>
              </a:spcBef>
              <a:spcAft>
                <a:spcPts val="0"/>
              </a:spcAft>
              <a:buNone/>
            </a:pPr>
            <a:fld id="{00000000-1234-1234-1234-123412341234}" type="slidenum">
              <a:rPr lang="en-US" sz="1200"/>
              <a:t>62</a:t>
            </a:fld>
            <a:endParaRPr sz="1200"/>
          </a:p>
        </p:txBody>
      </p:sp>
      <p:sp>
        <p:nvSpPr>
          <p:cNvPr id="524" name="Google Shape;524;p42:notes"/>
          <p:cNvSpPr>
            <a:spLocks noGrp="1" noRot="1" noChangeAspect="1"/>
          </p:cNvSpPr>
          <p:nvPr>
            <p:ph type="sldImg" idx="2"/>
          </p:nvPr>
        </p:nvSpPr>
        <p:spPr>
          <a:xfrm>
            <a:off x="1190625" y="701675"/>
            <a:ext cx="4618038" cy="34639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5" name="Google Shape;525;p42:notes"/>
          <p:cNvSpPr txBox="1">
            <a:spLocks noGrp="1"/>
          </p:cNvSpPr>
          <p:nvPr>
            <p:ph type="body" idx="1"/>
          </p:nvPr>
        </p:nvSpPr>
        <p:spPr>
          <a:xfrm>
            <a:off x="685800" y="4400550"/>
            <a:ext cx="5486400" cy="3600450"/>
          </a:xfrm>
          <a:prstGeom prst="rect">
            <a:avLst/>
          </a:prstGeom>
          <a:noFill/>
          <a:ln>
            <a:noFill/>
          </a:ln>
        </p:spPr>
        <p:txBody>
          <a:bodyPr spcFirstLastPara="1" wrap="square" lIns="92950" tIns="46475" rIns="92950" bIns="464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p:cNvGrpSpPr/>
        <p:nvPr/>
      </p:nvGrpSpPr>
      <p:grpSpPr>
        <a:xfrm>
          <a:off x="0" y="0"/>
          <a:ext cx="0" cy="0"/>
          <a:chOff x="0" y="0"/>
          <a:chExt cx="0" cy="0"/>
        </a:xfrm>
      </p:grpSpPr>
      <p:sp>
        <p:nvSpPr>
          <p:cNvPr id="538" name="Google Shape;538;p4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9" name="Google Shape;539;p4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3"/>
        <p:cNvGrpSpPr/>
        <p:nvPr/>
      </p:nvGrpSpPr>
      <p:grpSpPr>
        <a:xfrm>
          <a:off x="0" y="0"/>
          <a:ext cx="0" cy="0"/>
          <a:chOff x="0" y="0"/>
          <a:chExt cx="0" cy="0"/>
        </a:xfrm>
      </p:grpSpPr>
      <p:sp>
        <p:nvSpPr>
          <p:cNvPr id="544" name="Google Shape;544;p4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5" name="Google Shape;545;p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9"/>
        <p:cNvGrpSpPr/>
        <p:nvPr/>
      </p:nvGrpSpPr>
      <p:grpSpPr>
        <a:xfrm>
          <a:off x="0" y="0"/>
          <a:ext cx="0" cy="0"/>
          <a:chOff x="0" y="0"/>
          <a:chExt cx="0" cy="0"/>
        </a:xfrm>
      </p:grpSpPr>
      <p:sp>
        <p:nvSpPr>
          <p:cNvPr id="550" name="Google Shape;550;p4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1" name="Google Shape;551;p4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p4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7" name="Google Shape;557;p4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3"/>
        <p:cNvGrpSpPr/>
        <p:nvPr/>
      </p:nvGrpSpPr>
      <p:grpSpPr>
        <a:xfrm>
          <a:off x="0" y="0"/>
          <a:ext cx="0" cy="0"/>
          <a:chOff x="0" y="0"/>
          <a:chExt cx="0" cy="0"/>
        </a:xfrm>
      </p:grpSpPr>
      <p:sp>
        <p:nvSpPr>
          <p:cNvPr id="564" name="Google Shape;564;p47:notes"/>
          <p:cNvSpPr txBox="1">
            <a:spLocks noGrp="1"/>
          </p:cNvSpPr>
          <p:nvPr>
            <p:ph type="sldNum" idx="12"/>
          </p:nvPr>
        </p:nvSpPr>
        <p:spPr>
          <a:xfrm>
            <a:off x="3965575" y="8807450"/>
            <a:ext cx="3032125" cy="463550"/>
          </a:xfrm>
          <a:prstGeom prst="rect">
            <a:avLst/>
          </a:prstGeom>
          <a:noFill/>
          <a:ln>
            <a:noFill/>
          </a:ln>
        </p:spPr>
        <p:txBody>
          <a:bodyPr spcFirstLastPara="1" wrap="square" lIns="92950" tIns="46475" rIns="92950" bIns="46475" anchor="b" anchorCtr="0">
            <a:noAutofit/>
          </a:bodyPr>
          <a:lstStyle/>
          <a:p>
            <a:pPr marL="0" lvl="0" indent="0" algn="r" rtl="0">
              <a:spcBef>
                <a:spcPts val="0"/>
              </a:spcBef>
              <a:spcAft>
                <a:spcPts val="0"/>
              </a:spcAft>
              <a:buNone/>
            </a:pPr>
            <a:fld id="{00000000-1234-1234-1234-123412341234}" type="slidenum">
              <a:rPr lang="en-US" sz="1200"/>
              <a:t>67</a:t>
            </a:fld>
            <a:endParaRPr sz="1200"/>
          </a:p>
        </p:txBody>
      </p:sp>
      <p:sp>
        <p:nvSpPr>
          <p:cNvPr id="565" name="Google Shape;565;p47:notes"/>
          <p:cNvSpPr>
            <a:spLocks noGrp="1" noRot="1" noChangeAspect="1"/>
          </p:cNvSpPr>
          <p:nvPr>
            <p:ph type="sldImg" idx="2"/>
          </p:nvPr>
        </p:nvSpPr>
        <p:spPr>
          <a:xfrm>
            <a:off x="1190625" y="701675"/>
            <a:ext cx="4618038" cy="34639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66" name="Google Shape;566;p47:notes"/>
          <p:cNvSpPr txBox="1">
            <a:spLocks noGrp="1"/>
          </p:cNvSpPr>
          <p:nvPr>
            <p:ph type="body" idx="1"/>
          </p:nvPr>
        </p:nvSpPr>
        <p:spPr>
          <a:xfrm>
            <a:off x="685800" y="4400550"/>
            <a:ext cx="5486400" cy="3600450"/>
          </a:xfrm>
          <a:prstGeom prst="rect">
            <a:avLst/>
          </a:prstGeom>
          <a:noFill/>
          <a:ln>
            <a:noFill/>
          </a:ln>
        </p:spPr>
        <p:txBody>
          <a:bodyPr spcFirstLastPara="1" wrap="square" lIns="92950" tIns="46475" rIns="92950" bIns="464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3"/>
        <p:cNvGrpSpPr/>
        <p:nvPr/>
      </p:nvGrpSpPr>
      <p:grpSpPr>
        <a:xfrm>
          <a:off x="0" y="0"/>
          <a:ext cx="0" cy="0"/>
          <a:chOff x="0" y="0"/>
          <a:chExt cx="0" cy="0"/>
        </a:xfrm>
      </p:grpSpPr>
      <p:sp>
        <p:nvSpPr>
          <p:cNvPr id="574" name="Google Shape;574;p48:notes"/>
          <p:cNvSpPr txBox="1">
            <a:spLocks noGrp="1"/>
          </p:cNvSpPr>
          <p:nvPr>
            <p:ph type="sldNum" idx="12"/>
          </p:nvPr>
        </p:nvSpPr>
        <p:spPr>
          <a:xfrm>
            <a:off x="3965575" y="8807450"/>
            <a:ext cx="3032125" cy="463550"/>
          </a:xfrm>
          <a:prstGeom prst="rect">
            <a:avLst/>
          </a:prstGeom>
          <a:noFill/>
          <a:ln>
            <a:noFill/>
          </a:ln>
        </p:spPr>
        <p:txBody>
          <a:bodyPr spcFirstLastPara="1" wrap="square" lIns="92950" tIns="46475" rIns="92950" bIns="46475" anchor="b" anchorCtr="0">
            <a:noAutofit/>
          </a:bodyPr>
          <a:lstStyle/>
          <a:p>
            <a:pPr marL="0" lvl="0" indent="0" algn="r" rtl="0">
              <a:spcBef>
                <a:spcPts val="0"/>
              </a:spcBef>
              <a:spcAft>
                <a:spcPts val="0"/>
              </a:spcAft>
              <a:buNone/>
            </a:pPr>
            <a:fld id="{00000000-1234-1234-1234-123412341234}" type="slidenum">
              <a:rPr lang="en-US" sz="1200"/>
              <a:t>68</a:t>
            </a:fld>
            <a:endParaRPr sz="1200"/>
          </a:p>
        </p:txBody>
      </p:sp>
      <p:sp>
        <p:nvSpPr>
          <p:cNvPr id="575" name="Google Shape;575;p48:notes"/>
          <p:cNvSpPr>
            <a:spLocks noGrp="1" noRot="1" noChangeAspect="1"/>
          </p:cNvSpPr>
          <p:nvPr>
            <p:ph type="sldImg" idx="2"/>
          </p:nvPr>
        </p:nvSpPr>
        <p:spPr>
          <a:xfrm>
            <a:off x="1190625" y="701675"/>
            <a:ext cx="4618038" cy="34639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76" name="Google Shape;576;p48:notes"/>
          <p:cNvSpPr txBox="1">
            <a:spLocks noGrp="1"/>
          </p:cNvSpPr>
          <p:nvPr>
            <p:ph type="body" idx="1"/>
          </p:nvPr>
        </p:nvSpPr>
        <p:spPr>
          <a:xfrm>
            <a:off x="685800" y="4400550"/>
            <a:ext cx="5486400" cy="3600450"/>
          </a:xfrm>
          <a:prstGeom prst="rect">
            <a:avLst/>
          </a:prstGeom>
          <a:noFill/>
          <a:ln>
            <a:noFill/>
          </a:ln>
        </p:spPr>
        <p:txBody>
          <a:bodyPr spcFirstLastPara="1" wrap="square" lIns="92950" tIns="46475" rIns="92950" bIns="464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6"/>
        <p:cNvGrpSpPr/>
        <p:nvPr/>
      </p:nvGrpSpPr>
      <p:grpSpPr>
        <a:xfrm>
          <a:off x="0" y="0"/>
          <a:ext cx="0" cy="0"/>
          <a:chOff x="0" y="0"/>
          <a:chExt cx="0" cy="0"/>
        </a:xfrm>
      </p:grpSpPr>
      <p:sp>
        <p:nvSpPr>
          <p:cNvPr id="587" name="Google Shape;587;p4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8" name="Google Shape;588;p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4"/>
        <p:cNvGrpSpPr/>
        <p:nvPr/>
      </p:nvGrpSpPr>
      <p:grpSpPr>
        <a:xfrm>
          <a:off x="0" y="0"/>
          <a:ext cx="0" cy="0"/>
          <a:chOff x="0" y="0"/>
          <a:chExt cx="0" cy="0"/>
        </a:xfrm>
      </p:grpSpPr>
      <p:sp>
        <p:nvSpPr>
          <p:cNvPr id="595" name="Google Shape;595;p5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6" name="Google Shape;596;p5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1"/>
        <p:cNvGrpSpPr/>
        <p:nvPr/>
      </p:nvGrpSpPr>
      <p:grpSpPr>
        <a:xfrm>
          <a:off x="0" y="0"/>
          <a:ext cx="0" cy="0"/>
          <a:chOff x="0" y="0"/>
          <a:chExt cx="0" cy="0"/>
        </a:xfrm>
      </p:grpSpPr>
      <p:sp>
        <p:nvSpPr>
          <p:cNvPr id="612" name="Google Shape;612;p5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3" name="Google Shape;613;p5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0"/>
        <p:cNvGrpSpPr/>
        <p:nvPr/>
      </p:nvGrpSpPr>
      <p:grpSpPr>
        <a:xfrm>
          <a:off x="0" y="0"/>
          <a:ext cx="0" cy="0"/>
          <a:chOff x="0" y="0"/>
          <a:chExt cx="0" cy="0"/>
        </a:xfrm>
      </p:grpSpPr>
      <p:sp>
        <p:nvSpPr>
          <p:cNvPr id="641" name="Google Shape;641;p5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42" name="Google Shape;642;p5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2"/>
        <p:cNvGrpSpPr/>
        <p:nvPr/>
      </p:nvGrpSpPr>
      <p:grpSpPr>
        <a:xfrm>
          <a:off x="0" y="0"/>
          <a:ext cx="0" cy="0"/>
          <a:chOff x="0" y="0"/>
          <a:chExt cx="0" cy="0"/>
        </a:xfrm>
      </p:grpSpPr>
      <p:sp>
        <p:nvSpPr>
          <p:cNvPr id="653" name="Google Shape;653;p5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54" name="Google Shape;654;p5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p:cNvGrpSpPr/>
        <p:nvPr/>
      </p:nvGrpSpPr>
      <p:grpSpPr>
        <a:xfrm>
          <a:off x="0" y="0"/>
          <a:ext cx="0" cy="0"/>
          <a:chOff x="0" y="0"/>
          <a:chExt cx="0" cy="0"/>
        </a:xfrm>
      </p:grpSpPr>
      <p:sp>
        <p:nvSpPr>
          <p:cNvPr id="659" name="Google Shape;659;p5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60" name="Google Shape;660;p5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4"/>
        <p:cNvGrpSpPr/>
        <p:nvPr/>
      </p:nvGrpSpPr>
      <p:grpSpPr>
        <a:xfrm>
          <a:off x="0" y="0"/>
          <a:ext cx="0" cy="0"/>
          <a:chOff x="0" y="0"/>
          <a:chExt cx="0" cy="0"/>
        </a:xfrm>
      </p:grpSpPr>
      <p:sp>
        <p:nvSpPr>
          <p:cNvPr id="665" name="Google Shape;665;p5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66" name="Google Shape;666;p5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1"/>
        <p:cNvGrpSpPr/>
        <p:nvPr/>
      </p:nvGrpSpPr>
      <p:grpSpPr>
        <a:xfrm>
          <a:off x="0" y="0"/>
          <a:ext cx="0" cy="0"/>
          <a:chOff x="0" y="0"/>
          <a:chExt cx="0" cy="0"/>
        </a:xfrm>
      </p:grpSpPr>
      <p:sp>
        <p:nvSpPr>
          <p:cNvPr id="672" name="Google Shape;672;p5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73" name="Google Shape;673;p5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7"/>
        <p:cNvGrpSpPr/>
        <p:nvPr/>
      </p:nvGrpSpPr>
      <p:grpSpPr>
        <a:xfrm>
          <a:off x="0" y="0"/>
          <a:ext cx="0" cy="0"/>
          <a:chOff x="0" y="0"/>
          <a:chExt cx="0" cy="0"/>
        </a:xfrm>
      </p:grpSpPr>
      <p:sp>
        <p:nvSpPr>
          <p:cNvPr id="678" name="Google Shape;678;p5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79" name="Google Shape;679;p5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5"/>
        <p:cNvGrpSpPr/>
        <p:nvPr/>
      </p:nvGrpSpPr>
      <p:grpSpPr>
        <a:xfrm>
          <a:off x="0" y="0"/>
          <a:ext cx="0" cy="0"/>
          <a:chOff x="0" y="0"/>
          <a:chExt cx="0" cy="0"/>
        </a:xfrm>
      </p:grpSpPr>
      <p:sp>
        <p:nvSpPr>
          <p:cNvPr id="686" name="Google Shape;686;p5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87" name="Google Shape;687;p5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4"/>
        <p:cNvGrpSpPr/>
        <p:nvPr/>
      </p:nvGrpSpPr>
      <p:grpSpPr>
        <a:xfrm>
          <a:off x="0" y="0"/>
          <a:ext cx="0" cy="0"/>
          <a:chOff x="0" y="0"/>
          <a:chExt cx="0" cy="0"/>
        </a:xfrm>
      </p:grpSpPr>
      <p:sp>
        <p:nvSpPr>
          <p:cNvPr id="695" name="Google Shape;695;p6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96" name="Google Shape;696;p6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2"/>
        <p:cNvGrpSpPr/>
        <p:nvPr/>
      </p:nvGrpSpPr>
      <p:grpSpPr>
        <a:xfrm>
          <a:off x="0" y="0"/>
          <a:ext cx="0" cy="0"/>
          <a:chOff x="0" y="0"/>
          <a:chExt cx="0" cy="0"/>
        </a:xfrm>
      </p:grpSpPr>
      <p:sp>
        <p:nvSpPr>
          <p:cNvPr id="703" name="Google Shape;703;p6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4" name="Google Shape;704;p6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8"/>
        <p:cNvGrpSpPr/>
        <p:nvPr/>
      </p:nvGrpSpPr>
      <p:grpSpPr>
        <a:xfrm>
          <a:off x="0" y="0"/>
          <a:ext cx="0" cy="0"/>
          <a:chOff x="0" y="0"/>
          <a:chExt cx="0" cy="0"/>
        </a:xfrm>
      </p:grpSpPr>
      <p:sp>
        <p:nvSpPr>
          <p:cNvPr id="709" name="Google Shape;709;p6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10" name="Google Shape;710;p6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3"/>
        <p:cNvGrpSpPr/>
        <p:nvPr/>
      </p:nvGrpSpPr>
      <p:grpSpPr>
        <a:xfrm>
          <a:off x="0" y="0"/>
          <a:ext cx="0" cy="0"/>
          <a:chOff x="0" y="0"/>
          <a:chExt cx="0" cy="0"/>
        </a:xfrm>
      </p:grpSpPr>
      <p:sp>
        <p:nvSpPr>
          <p:cNvPr id="724" name="Google Shape;724;p6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25" name="Google Shape;725;p6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0"/>
        <p:cNvGrpSpPr/>
        <p:nvPr/>
      </p:nvGrpSpPr>
      <p:grpSpPr>
        <a:xfrm>
          <a:off x="0" y="0"/>
          <a:ext cx="0" cy="0"/>
          <a:chOff x="0" y="0"/>
          <a:chExt cx="0" cy="0"/>
        </a:xfrm>
      </p:grpSpPr>
      <p:sp>
        <p:nvSpPr>
          <p:cNvPr id="741" name="Google Shape;741;p6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42" name="Google Shape;742;p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7"/>
        <p:cNvGrpSpPr/>
        <p:nvPr/>
      </p:nvGrpSpPr>
      <p:grpSpPr>
        <a:xfrm>
          <a:off x="0" y="0"/>
          <a:ext cx="0" cy="0"/>
          <a:chOff x="0" y="0"/>
          <a:chExt cx="0" cy="0"/>
        </a:xfrm>
      </p:grpSpPr>
      <p:sp>
        <p:nvSpPr>
          <p:cNvPr id="748" name="Google Shape;748;p6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49" name="Google Shape;749;p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3"/>
        <p:cNvGrpSpPr/>
        <p:nvPr/>
      </p:nvGrpSpPr>
      <p:grpSpPr>
        <a:xfrm>
          <a:off x="0" y="0"/>
          <a:ext cx="0" cy="0"/>
          <a:chOff x="0" y="0"/>
          <a:chExt cx="0" cy="0"/>
        </a:xfrm>
      </p:grpSpPr>
      <p:sp>
        <p:nvSpPr>
          <p:cNvPr id="754" name="Google Shape;754;p6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55" name="Google Shape;755;p6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9"/>
        <p:cNvGrpSpPr/>
        <p:nvPr/>
      </p:nvGrpSpPr>
      <p:grpSpPr>
        <a:xfrm>
          <a:off x="0" y="0"/>
          <a:ext cx="0" cy="0"/>
          <a:chOff x="0" y="0"/>
          <a:chExt cx="0" cy="0"/>
        </a:xfrm>
      </p:grpSpPr>
      <p:sp>
        <p:nvSpPr>
          <p:cNvPr id="760" name="Google Shape;760;p6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1" name="Google Shape;761;p6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0"/>
        <p:cNvGrpSpPr/>
        <p:nvPr/>
      </p:nvGrpSpPr>
      <p:grpSpPr>
        <a:xfrm>
          <a:off x="0" y="0"/>
          <a:ext cx="0" cy="0"/>
          <a:chOff x="0" y="0"/>
          <a:chExt cx="0" cy="0"/>
        </a:xfrm>
      </p:grpSpPr>
      <p:sp>
        <p:nvSpPr>
          <p:cNvPr id="771" name="Google Shape;771;p6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72" name="Google Shape;772;p6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7"/>
        <p:cNvGrpSpPr/>
        <p:nvPr/>
      </p:nvGrpSpPr>
      <p:grpSpPr>
        <a:xfrm>
          <a:off x="0" y="0"/>
          <a:ext cx="0" cy="0"/>
          <a:chOff x="0" y="0"/>
          <a:chExt cx="0" cy="0"/>
        </a:xfrm>
      </p:grpSpPr>
      <p:sp>
        <p:nvSpPr>
          <p:cNvPr id="778" name="Google Shape;778;p6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79" name="Google Shape;779;p6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6"/>
        <p:cNvGrpSpPr/>
        <p:nvPr/>
      </p:nvGrpSpPr>
      <p:grpSpPr>
        <a:xfrm>
          <a:off x="0" y="0"/>
          <a:ext cx="0" cy="0"/>
          <a:chOff x="0" y="0"/>
          <a:chExt cx="0" cy="0"/>
        </a:xfrm>
      </p:grpSpPr>
      <p:sp>
        <p:nvSpPr>
          <p:cNvPr id="787" name="Google Shape;787;p7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88" name="Google Shape;788;p7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5"/>
        <p:cNvGrpSpPr/>
        <p:nvPr/>
      </p:nvGrpSpPr>
      <p:grpSpPr>
        <a:xfrm>
          <a:off x="0" y="0"/>
          <a:ext cx="0" cy="0"/>
          <a:chOff x="0" y="0"/>
          <a:chExt cx="0" cy="0"/>
        </a:xfrm>
      </p:grpSpPr>
      <p:sp>
        <p:nvSpPr>
          <p:cNvPr id="796" name="Google Shape;796;p7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97" name="Google Shape;797;p7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6"/>
        <p:cNvGrpSpPr/>
        <p:nvPr/>
      </p:nvGrpSpPr>
      <p:grpSpPr>
        <a:xfrm>
          <a:off x="0" y="0"/>
          <a:ext cx="0" cy="0"/>
          <a:chOff x="0" y="0"/>
          <a:chExt cx="0" cy="0"/>
        </a:xfrm>
      </p:grpSpPr>
      <p:sp>
        <p:nvSpPr>
          <p:cNvPr id="827" name="Google Shape;827;p7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28" name="Google Shape;828;p7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5"/>
        <p:cNvGrpSpPr/>
        <p:nvPr/>
      </p:nvGrpSpPr>
      <p:grpSpPr>
        <a:xfrm>
          <a:off x="0" y="0"/>
          <a:ext cx="0" cy="0"/>
          <a:chOff x="0" y="0"/>
          <a:chExt cx="0" cy="0"/>
        </a:xfrm>
      </p:grpSpPr>
      <p:sp>
        <p:nvSpPr>
          <p:cNvPr id="836" name="Google Shape;836;p7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37" name="Google Shape;837;p7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1"/>
        <p:cNvGrpSpPr/>
        <p:nvPr/>
      </p:nvGrpSpPr>
      <p:grpSpPr>
        <a:xfrm>
          <a:off x="0" y="0"/>
          <a:ext cx="0" cy="0"/>
          <a:chOff x="0" y="0"/>
          <a:chExt cx="0" cy="0"/>
        </a:xfrm>
      </p:grpSpPr>
      <p:sp>
        <p:nvSpPr>
          <p:cNvPr id="872" name="Google Shape;872;p7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3" name="Google Shape;873;p7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0"/>
        <p:cNvGrpSpPr/>
        <p:nvPr/>
      </p:nvGrpSpPr>
      <p:grpSpPr>
        <a:xfrm>
          <a:off x="0" y="0"/>
          <a:ext cx="0" cy="0"/>
          <a:chOff x="0" y="0"/>
          <a:chExt cx="0" cy="0"/>
        </a:xfrm>
      </p:grpSpPr>
      <p:sp>
        <p:nvSpPr>
          <p:cNvPr id="881" name="Google Shape;881;p7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82" name="Google Shape;882;p7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1"/>
        <p:cNvGrpSpPr/>
        <p:nvPr/>
      </p:nvGrpSpPr>
      <p:grpSpPr>
        <a:xfrm>
          <a:off x="0" y="0"/>
          <a:ext cx="0" cy="0"/>
          <a:chOff x="0" y="0"/>
          <a:chExt cx="0" cy="0"/>
        </a:xfrm>
      </p:grpSpPr>
      <p:sp>
        <p:nvSpPr>
          <p:cNvPr id="902" name="Google Shape;902;p7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03" name="Google Shape;903;p7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7"/>
        <p:cNvGrpSpPr/>
        <p:nvPr/>
      </p:nvGrpSpPr>
      <p:grpSpPr>
        <a:xfrm>
          <a:off x="0" y="0"/>
          <a:ext cx="0" cy="0"/>
          <a:chOff x="0" y="0"/>
          <a:chExt cx="0" cy="0"/>
        </a:xfrm>
      </p:grpSpPr>
      <p:sp>
        <p:nvSpPr>
          <p:cNvPr id="908" name="Google Shape;908;p77:notes"/>
          <p:cNvSpPr txBox="1">
            <a:spLocks noGrp="1"/>
          </p:cNvSpPr>
          <p:nvPr>
            <p:ph type="sldNum" idx="12"/>
          </p:nvPr>
        </p:nvSpPr>
        <p:spPr>
          <a:xfrm>
            <a:off x="3965575" y="8807450"/>
            <a:ext cx="3032125" cy="463550"/>
          </a:xfrm>
          <a:prstGeom prst="rect">
            <a:avLst/>
          </a:prstGeom>
          <a:noFill/>
          <a:ln>
            <a:noFill/>
          </a:ln>
        </p:spPr>
        <p:txBody>
          <a:bodyPr spcFirstLastPara="1" wrap="square" lIns="92950" tIns="46475" rIns="92950" bIns="46475" anchor="b" anchorCtr="0">
            <a:noAutofit/>
          </a:bodyPr>
          <a:lstStyle/>
          <a:p>
            <a:pPr marL="0" lvl="0" indent="0" algn="r" rtl="0">
              <a:spcBef>
                <a:spcPts val="0"/>
              </a:spcBef>
              <a:spcAft>
                <a:spcPts val="0"/>
              </a:spcAft>
              <a:buNone/>
            </a:pPr>
            <a:fld id="{00000000-1234-1234-1234-123412341234}" type="slidenum">
              <a:rPr lang="en-US" sz="1200"/>
              <a:t>96</a:t>
            </a:fld>
            <a:endParaRPr sz="1200"/>
          </a:p>
        </p:txBody>
      </p:sp>
      <p:sp>
        <p:nvSpPr>
          <p:cNvPr id="909" name="Google Shape;909;p77:notes"/>
          <p:cNvSpPr>
            <a:spLocks noGrp="1" noRot="1" noChangeAspect="1"/>
          </p:cNvSpPr>
          <p:nvPr>
            <p:ph type="sldImg" idx="2"/>
          </p:nvPr>
        </p:nvSpPr>
        <p:spPr>
          <a:xfrm>
            <a:off x="1190625" y="701675"/>
            <a:ext cx="4618038" cy="3463925"/>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12700" cap="flat" cmpd="sng">
            <a:solidFill>
              <a:srgbClr val="000000"/>
            </a:solidFill>
            <a:prstDash val="solid"/>
            <a:round/>
            <a:headEnd type="none" w="sm" len="sm"/>
            <a:tailEnd type="none" w="sm" len="sm"/>
          </a:ln>
        </p:spPr>
      </p:sp>
      <p:sp>
        <p:nvSpPr>
          <p:cNvPr id="910" name="Google Shape;910;p77:notes"/>
          <p:cNvSpPr txBox="1">
            <a:spLocks noGrp="1"/>
          </p:cNvSpPr>
          <p:nvPr>
            <p:ph type="body" idx="1"/>
          </p:nvPr>
        </p:nvSpPr>
        <p:spPr>
          <a:xfrm>
            <a:off x="685800" y="4400550"/>
            <a:ext cx="5486400" cy="3600450"/>
          </a:xfrm>
          <a:prstGeom prst="rect">
            <a:avLst/>
          </a:prstGeom>
          <a:solidFill>
            <a:srgbClr val="FFFFFF"/>
          </a:solidFill>
          <a:ln w="9525" cap="flat" cmpd="sng">
            <a:solidFill>
              <a:srgbClr val="000000"/>
            </a:solidFill>
            <a:prstDash val="solid"/>
            <a:miter lim="8000"/>
            <a:headEnd type="none" w="sm" len="sm"/>
            <a:tailEnd type="none" w="sm" len="sm"/>
          </a:ln>
        </p:spPr>
        <p:txBody>
          <a:bodyPr spcFirstLastPara="1" wrap="square" lIns="92950" tIns="46475" rIns="92950" bIns="464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4"/>
        <p:cNvGrpSpPr/>
        <p:nvPr/>
      </p:nvGrpSpPr>
      <p:grpSpPr>
        <a:xfrm>
          <a:off x="0" y="0"/>
          <a:ext cx="0" cy="0"/>
          <a:chOff x="0" y="0"/>
          <a:chExt cx="0" cy="0"/>
        </a:xfrm>
      </p:grpSpPr>
      <p:sp>
        <p:nvSpPr>
          <p:cNvPr id="915" name="Google Shape;915;p7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16" name="Google Shape;916;p7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0"/>
        <p:cNvGrpSpPr/>
        <p:nvPr/>
      </p:nvGrpSpPr>
      <p:grpSpPr>
        <a:xfrm>
          <a:off x="0" y="0"/>
          <a:ext cx="0" cy="0"/>
          <a:chOff x="0" y="0"/>
          <a:chExt cx="0" cy="0"/>
        </a:xfrm>
      </p:grpSpPr>
      <p:sp>
        <p:nvSpPr>
          <p:cNvPr id="921" name="Google Shape;921;p7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2" name="Google Shape;922;p7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6"/>
        <p:cNvGrpSpPr/>
        <p:nvPr/>
      </p:nvGrpSpPr>
      <p:grpSpPr>
        <a:xfrm>
          <a:off x="0" y="0"/>
          <a:ext cx="0" cy="0"/>
          <a:chOff x="0" y="0"/>
          <a:chExt cx="0" cy="0"/>
        </a:xfrm>
      </p:grpSpPr>
      <p:sp>
        <p:nvSpPr>
          <p:cNvPr id="927" name="Google Shape;927;p8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8" name="Google Shape;928;p8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2"/>
        <p:cNvGrpSpPr/>
        <p:nvPr/>
      </p:nvGrpSpPr>
      <p:grpSpPr>
        <a:xfrm>
          <a:off x="0" y="0"/>
          <a:ext cx="0" cy="0"/>
          <a:chOff x="0" y="0"/>
          <a:chExt cx="0" cy="0"/>
        </a:xfrm>
      </p:grpSpPr>
      <p:sp>
        <p:nvSpPr>
          <p:cNvPr id="933" name="Google Shape;933;p8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4" name="Google Shape;934;p8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7"/>
        <p:cNvGrpSpPr/>
        <p:nvPr/>
      </p:nvGrpSpPr>
      <p:grpSpPr>
        <a:xfrm>
          <a:off x="0" y="0"/>
          <a:ext cx="0" cy="0"/>
          <a:chOff x="0" y="0"/>
          <a:chExt cx="0" cy="0"/>
        </a:xfrm>
      </p:grpSpPr>
      <p:sp>
        <p:nvSpPr>
          <p:cNvPr id="938" name="Google Shape;938;p8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9" name="Google Shape;939;p8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3"/>
        <p:cNvGrpSpPr/>
        <p:nvPr/>
      </p:nvGrpSpPr>
      <p:grpSpPr>
        <a:xfrm>
          <a:off x="0" y="0"/>
          <a:ext cx="0" cy="0"/>
          <a:chOff x="0" y="0"/>
          <a:chExt cx="0" cy="0"/>
        </a:xfrm>
      </p:grpSpPr>
      <p:sp>
        <p:nvSpPr>
          <p:cNvPr id="944" name="Google Shape;944;p8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5" name="Google Shape;945;p8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9"/>
        <p:cNvGrpSpPr/>
        <p:nvPr/>
      </p:nvGrpSpPr>
      <p:grpSpPr>
        <a:xfrm>
          <a:off x="0" y="0"/>
          <a:ext cx="0" cy="0"/>
          <a:chOff x="0" y="0"/>
          <a:chExt cx="0" cy="0"/>
        </a:xfrm>
      </p:grpSpPr>
      <p:sp>
        <p:nvSpPr>
          <p:cNvPr id="950" name="Google Shape;950;p8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1" name="Google Shape;951;p8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5"/>
        <p:cNvGrpSpPr/>
        <p:nvPr/>
      </p:nvGrpSpPr>
      <p:grpSpPr>
        <a:xfrm>
          <a:off x="0" y="0"/>
          <a:ext cx="0" cy="0"/>
          <a:chOff x="0" y="0"/>
          <a:chExt cx="0" cy="0"/>
        </a:xfrm>
      </p:grpSpPr>
      <p:sp>
        <p:nvSpPr>
          <p:cNvPr id="956" name="Google Shape;956;p8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7" name="Google Shape;957;p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0"/>
        <p:cNvGrpSpPr/>
        <p:nvPr/>
      </p:nvGrpSpPr>
      <p:grpSpPr>
        <a:xfrm>
          <a:off x="0" y="0"/>
          <a:ext cx="0" cy="0"/>
          <a:chOff x="0" y="0"/>
          <a:chExt cx="0" cy="0"/>
        </a:xfrm>
      </p:grpSpPr>
      <p:sp>
        <p:nvSpPr>
          <p:cNvPr id="961" name="Google Shape;961;p8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62" name="Google Shape;962;p8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6"/>
        <p:cNvGrpSpPr/>
        <p:nvPr/>
      </p:nvGrpSpPr>
      <p:grpSpPr>
        <a:xfrm>
          <a:off x="0" y="0"/>
          <a:ext cx="0" cy="0"/>
          <a:chOff x="0" y="0"/>
          <a:chExt cx="0" cy="0"/>
        </a:xfrm>
      </p:grpSpPr>
      <p:sp>
        <p:nvSpPr>
          <p:cNvPr id="967" name="Google Shape;967;p8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68" name="Google Shape;968;p8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2"/>
        <p:cNvGrpSpPr/>
        <p:nvPr/>
      </p:nvGrpSpPr>
      <p:grpSpPr>
        <a:xfrm>
          <a:off x="0" y="0"/>
          <a:ext cx="0" cy="0"/>
          <a:chOff x="0" y="0"/>
          <a:chExt cx="0" cy="0"/>
        </a:xfrm>
      </p:grpSpPr>
      <p:sp>
        <p:nvSpPr>
          <p:cNvPr id="973" name="Google Shape;973;p8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74" name="Google Shape;974;p8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8"/>
        <p:cNvGrpSpPr/>
        <p:nvPr/>
      </p:nvGrpSpPr>
      <p:grpSpPr>
        <a:xfrm>
          <a:off x="0" y="0"/>
          <a:ext cx="0" cy="0"/>
          <a:chOff x="0" y="0"/>
          <a:chExt cx="0" cy="0"/>
        </a:xfrm>
      </p:grpSpPr>
      <p:sp>
        <p:nvSpPr>
          <p:cNvPr id="979" name="Google Shape;979;p8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80" name="Google Shape;980;p8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4"/>
        <p:cNvGrpSpPr/>
        <p:nvPr/>
      </p:nvGrpSpPr>
      <p:grpSpPr>
        <a:xfrm>
          <a:off x="0" y="0"/>
          <a:ext cx="0" cy="0"/>
          <a:chOff x="0" y="0"/>
          <a:chExt cx="0" cy="0"/>
        </a:xfrm>
      </p:grpSpPr>
      <p:sp>
        <p:nvSpPr>
          <p:cNvPr id="985" name="Google Shape;985;p9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86" name="Google Shape;986;p9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0"/>
        <p:cNvGrpSpPr/>
        <p:nvPr/>
      </p:nvGrpSpPr>
      <p:grpSpPr>
        <a:xfrm>
          <a:off x="0" y="0"/>
          <a:ext cx="0" cy="0"/>
          <a:chOff x="0" y="0"/>
          <a:chExt cx="0" cy="0"/>
        </a:xfrm>
      </p:grpSpPr>
      <p:sp>
        <p:nvSpPr>
          <p:cNvPr id="991" name="Google Shape;991;p9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2" name="Google Shape;992;p9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6"/>
        <p:cNvGrpSpPr/>
        <p:nvPr/>
      </p:nvGrpSpPr>
      <p:grpSpPr>
        <a:xfrm>
          <a:off x="0" y="0"/>
          <a:ext cx="0" cy="0"/>
          <a:chOff x="0" y="0"/>
          <a:chExt cx="0" cy="0"/>
        </a:xfrm>
      </p:grpSpPr>
      <p:sp>
        <p:nvSpPr>
          <p:cNvPr id="997" name="Google Shape;997;p9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8" name="Google Shape;998;p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2"/>
        <p:cNvGrpSpPr/>
        <p:nvPr/>
      </p:nvGrpSpPr>
      <p:grpSpPr>
        <a:xfrm>
          <a:off x="0" y="0"/>
          <a:ext cx="0" cy="0"/>
          <a:chOff x="0" y="0"/>
          <a:chExt cx="0" cy="0"/>
        </a:xfrm>
      </p:grpSpPr>
      <p:sp>
        <p:nvSpPr>
          <p:cNvPr id="1003" name="Google Shape;1003;p9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4" name="Google Shape;1004;p9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8"/>
        <p:cNvGrpSpPr/>
        <p:nvPr/>
      </p:nvGrpSpPr>
      <p:grpSpPr>
        <a:xfrm>
          <a:off x="0" y="0"/>
          <a:ext cx="0" cy="0"/>
          <a:chOff x="0" y="0"/>
          <a:chExt cx="0" cy="0"/>
        </a:xfrm>
      </p:grpSpPr>
      <p:sp>
        <p:nvSpPr>
          <p:cNvPr id="1009" name="Google Shape;1009;p9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10" name="Google Shape;1010;p9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3"/>
        <p:cNvGrpSpPr/>
        <p:nvPr/>
      </p:nvGrpSpPr>
      <p:grpSpPr>
        <a:xfrm>
          <a:off x="0" y="0"/>
          <a:ext cx="0" cy="0"/>
          <a:chOff x="0" y="0"/>
          <a:chExt cx="0" cy="0"/>
        </a:xfrm>
      </p:grpSpPr>
      <p:sp>
        <p:nvSpPr>
          <p:cNvPr id="1014" name="Google Shape;1014;p9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15" name="Google Shape;1015;p9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8"/>
        <p:cNvGrpSpPr/>
        <p:nvPr/>
      </p:nvGrpSpPr>
      <p:grpSpPr>
        <a:xfrm>
          <a:off x="0" y="0"/>
          <a:ext cx="0" cy="0"/>
          <a:chOff x="0" y="0"/>
          <a:chExt cx="0" cy="0"/>
        </a:xfrm>
      </p:grpSpPr>
      <p:sp>
        <p:nvSpPr>
          <p:cNvPr id="1019" name="Google Shape;1019;p9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0" name="Google Shape;1020;p9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4"/>
        <p:cNvGrpSpPr/>
        <p:nvPr/>
      </p:nvGrpSpPr>
      <p:grpSpPr>
        <a:xfrm>
          <a:off x="0" y="0"/>
          <a:ext cx="0" cy="0"/>
          <a:chOff x="0" y="0"/>
          <a:chExt cx="0" cy="0"/>
        </a:xfrm>
      </p:grpSpPr>
      <p:sp>
        <p:nvSpPr>
          <p:cNvPr id="1025" name="Google Shape;1025;p9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6" name="Google Shape;1026;p9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0"/>
        <p:cNvGrpSpPr/>
        <p:nvPr/>
      </p:nvGrpSpPr>
      <p:grpSpPr>
        <a:xfrm>
          <a:off x="0" y="0"/>
          <a:ext cx="0" cy="0"/>
          <a:chOff x="0" y="0"/>
          <a:chExt cx="0" cy="0"/>
        </a:xfrm>
      </p:grpSpPr>
      <p:sp>
        <p:nvSpPr>
          <p:cNvPr id="1031" name="Google Shape;1031;p9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2" name="Google Shape;1032;p9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4"/>
        <p:cNvGrpSpPr/>
        <p:nvPr/>
      </p:nvGrpSpPr>
      <p:grpSpPr>
        <a:xfrm>
          <a:off x="0" y="0"/>
          <a:ext cx="0" cy="0"/>
          <a:chOff x="0" y="0"/>
          <a:chExt cx="0" cy="0"/>
        </a:xfrm>
      </p:grpSpPr>
      <p:sp>
        <p:nvSpPr>
          <p:cNvPr id="1045" name="Google Shape;1045;p9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6" name="Google Shape;1046;p9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0"/>
        <p:cNvGrpSpPr/>
        <p:nvPr/>
      </p:nvGrpSpPr>
      <p:grpSpPr>
        <a:xfrm>
          <a:off x="0" y="0"/>
          <a:ext cx="0" cy="0"/>
          <a:chOff x="0" y="0"/>
          <a:chExt cx="0" cy="0"/>
        </a:xfrm>
      </p:grpSpPr>
      <p:sp>
        <p:nvSpPr>
          <p:cNvPr id="1051" name="Google Shape;1051;p10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2" name="Google Shape;1052;p10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1"/>
        <p:cNvGrpSpPr/>
        <p:nvPr/>
      </p:nvGrpSpPr>
      <p:grpSpPr>
        <a:xfrm>
          <a:off x="0" y="0"/>
          <a:ext cx="0" cy="0"/>
          <a:chOff x="0" y="0"/>
          <a:chExt cx="0" cy="0"/>
        </a:xfrm>
      </p:grpSpPr>
      <p:sp>
        <p:nvSpPr>
          <p:cNvPr id="1062" name="Google Shape;1062;p10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63" name="Google Shape;1063;p1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8"/>
        <p:cNvGrpSpPr/>
        <p:nvPr/>
      </p:nvGrpSpPr>
      <p:grpSpPr>
        <a:xfrm>
          <a:off x="0" y="0"/>
          <a:ext cx="0" cy="0"/>
          <a:chOff x="0" y="0"/>
          <a:chExt cx="0" cy="0"/>
        </a:xfrm>
      </p:grpSpPr>
      <p:sp>
        <p:nvSpPr>
          <p:cNvPr id="1069" name="Google Shape;1069;p10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70" name="Google Shape;1070;p10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9"/>
        <p:cNvGrpSpPr/>
        <p:nvPr/>
      </p:nvGrpSpPr>
      <p:grpSpPr>
        <a:xfrm>
          <a:off x="0" y="0"/>
          <a:ext cx="0" cy="0"/>
          <a:chOff x="0" y="0"/>
          <a:chExt cx="0" cy="0"/>
        </a:xfrm>
      </p:grpSpPr>
      <p:sp>
        <p:nvSpPr>
          <p:cNvPr id="1080" name="Google Shape;1080;p10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1" name="Google Shape;1081;p10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8"/>
        <p:cNvGrpSpPr/>
        <p:nvPr/>
      </p:nvGrpSpPr>
      <p:grpSpPr>
        <a:xfrm>
          <a:off x="0" y="0"/>
          <a:ext cx="0" cy="0"/>
          <a:chOff x="0" y="0"/>
          <a:chExt cx="0" cy="0"/>
        </a:xfrm>
      </p:grpSpPr>
      <p:sp>
        <p:nvSpPr>
          <p:cNvPr id="1089" name="Google Shape;1089;p10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90" name="Google Shape;1090;p1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5"/>
        <p:cNvGrpSpPr/>
        <p:nvPr/>
      </p:nvGrpSpPr>
      <p:grpSpPr>
        <a:xfrm>
          <a:off x="0" y="0"/>
          <a:ext cx="0" cy="0"/>
          <a:chOff x="0" y="0"/>
          <a:chExt cx="0" cy="0"/>
        </a:xfrm>
      </p:grpSpPr>
      <p:sp>
        <p:nvSpPr>
          <p:cNvPr id="1096" name="Google Shape;1096;p10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97" name="Google Shape;1097;p10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8"/>
        <p:cNvGrpSpPr/>
        <p:nvPr/>
      </p:nvGrpSpPr>
      <p:grpSpPr>
        <a:xfrm>
          <a:off x="0" y="0"/>
          <a:ext cx="0" cy="0"/>
          <a:chOff x="0" y="0"/>
          <a:chExt cx="0" cy="0"/>
        </a:xfrm>
      </p:grpSpPr>
      <p:sp>
        <p:nvSpPr>
          <p:cNvPr id="1109" name="Google Shape;1109;p10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10" name="Google Shape;1110;p10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7"/>
        <p:cNvGrpSpPr/>
        <p:nvPr/>
      </p:nvGrpSpPr>
      <p:grpSpPr>
        <a:xfrm>
          <a:off x="0" y="0"/>
          <a:ext cx="0" cy="0"/>
          <a:chOff x="0" y="0"/>
          <a:chExt cx="0" cy="0"/>
        </a:xfrm>
      </p:grpSpPr>
      <p:sp>
        <p:nvSpPr>
          <p:cNvPr id="1118" name="Google Shape;1118;p10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19" name="Google Shape;1119;p10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6"/>
        <p:cNvGrpSpPr/>
        <p:nvPr/>
      </p:nvGrpSpPr>
      <p:grpSpPr>
        <a:xfrm>
          <a:off x="0" y="0"/>
          <a:ext cx="0" cy="0"/>
          <a:chOff x="0" y="0"/>
          <a:chExt cx="0" cy="0"/>
        </a:xfrm>
      </p:grpSpPr>
      <p:sp>
        <p:nvSpPr>
          <p:cNvPr id="1137" name="Google Shape;1137;p10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38" name="Google Shape;1138;p1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7"/>
        <p:cNvGrpSpPr/>
        <p:nvPr/>
      </p:nvGrpSpPr>
      <p:grpSpPr>
        <a:xfrm>
          <a:off x="0" y="0"/>
          <a:ext cx="0" cy="0"/>
          <a:chOff x="0" y="0"/>
          <a:chExt cx="0" cy="0"/>
        </a:xfrm>
      </p:grpSpPr>
      <p:sp>
        <p:nvSpPr>
          <p:cNvPr id="1168" name="Google Shape;1168;p10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69" name="Google Shape;1169;p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9"/>
        <p:cNvGrpSpPr/>
        <p:nvPr/>
      </p:nvGrpSpPr>
      <p:grpSpPr>
        <a:xfrm>
          <a:off x="0" y="0"/>
          <a:ext cx="0" cy="0"/>
          <a:chOff x="0" y="0"/>
          <a:chExt cx="0" cy="0"/>
        </a:xfrm>
      </p:grpSpPr>
      <p:sp>
        <p:nvSpPr>
          <p:cNvPr id="1200" name="Google Shape;1200;p1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01" name="Google Shape;1201;p1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9"/>
        <p:cNvGrpSpPr/>
        <p:nvPr/>
      </p:nvGrpSpPr>
      <p:grpSpPr>
        <a:xfrm>
          <a:off x="0" y="0"/>
          <a:ext cx="0" cy="0"/>
          <a:chOff x="0" y="0"/>
          <a:chExt cx="0" cy="0"/>
        </a:xfrm>
      </p:grpSpPr>
      <p:sp>
        <p:nvSpPr>
          <p:cNvPr id="1220" name="Google Shape;1220;p1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21" name="Google Shape;1221;p11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124518-273A-D339-2DE6-C874F5AB6D0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5683616-E6C3-E934-576A-D27149E321A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EAF0AA4-D8F1-9E32-3DC9-9CD546F95ED6}"/>
              </a:ext>
            </a:extLst>
          </p:cNvPr>
          <p:cNvSpPr>
            <a:spLocks noGrp="1"/>
          </p:cNvSpPr>
          <p:nvPr>
            <p:ph type="dt" sz="half" idx="10"/>
          </p:nvPr>
        </p:nvSpPr>
        <p:spPr/>
        <p:txBody>
          <a:bodyPr/>
          <a:lstStyle/>
          <a:p>
            <a:fld id="{7F79B398-F8A7-4298-B988-E725DF5AFFB9}" type="datetimeFigureOut">
              <a:rPr lang="en-US" smtClean="0"/>
              <a:t>2/27/2024</a:t>
            </a:fld>
            <a:endParaRPr lang="en-US"/>
          </a:p>
        </p:txBody>
      </p:sp>
      <p:sp>
        <p:nvSpPr>
          <p:cNvPr id="5" name="Footer Placeholder 4">
            <a:extLst>
              <a:ext uri="{FF2B5EF4-FFF2-40B4-BE49-F238E27FC236}">
                <a16:creationId xmlns:a16="http://schemas.microsoft.com/office/drawing/2014/main" id="{0FB396A0-1930-16E9-6A68-619EEB5244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EDCD8F-E681-9317-0C22-979814CD5B20}"/>
              </a:ext>
            </a:extLst>
          </p:cNvPr>
          <p:cNvSpPr>
            <a:spLocks noGrp="1"/>
          </p:cNvSpPr>
          <p:nvPr>
            <p:ph type="sldNum" sz="quarter" idx="12"/>
          </p:nvPr>
        </p:nvSpPr>
        <p:spPr/>
        <p:txBody>
          <a:bodyPr/>
          <a:lstStyle/>
          <a:p>
            <a:fld id="{F40B328A-63D2-4322-B205-6DE7E58DE922}" type="slidenum">
              <a:rPr lang="en-US" smtClean="0"/>
              <a:t>‹#›</a:t>
            </a:fld>
            <a:endParaRPr lang="en-US"/>
          </a:p>
        </p:txBody>
      </p:sp>
    </p:spTree>
    <p:extLst>
      <p:ext uri="{BB962C8B-B14F-4D97-AF65-F5344CB8AC3E}">
        <p14:creationId xmlns:p14="http://schemas.microsoft.com/office/powerpoint/2010/main" val="38441798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A8BB3-587C-8153-5727-E3B71E73734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86F674F-40F1-81F6-82A0-EE4B172CF3D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824451-3CE1-920E-C29E-232F5EDE95F8}"/>
              </a:ext>
            </a:extLst>
          </p:cNvPr>
          <p:cNvSpPr>
            <a:spLocks noGrp="1"/>
          </p:cNvSpPr>
          <p:nvPr>
            <p:ph type="dt" sz="half" idx="10"/>
          </p:nvPr>
        </p:nvSpPr>
        <p:spPr/>
        <p:txBody>
          <a:bodyPr/>
          <a:lstStyle/>
          <a:p>
            <a:fld id="{7F79B398-F8A7-4298-B988-E725DF5AFFB9}" type="datetimeFigureOut">
              <a:rPr lang="en-US" smtClean="0"/>
              <a:t>2/27/2024</a:t>
            </a:fld>
            <a:endParaRPr lang="en-US"/>
          </a:p>
        </p:txBody>
      </p:sp>
      <p:sp>
        <p:nvSpPr>
          <p:cNvPr id="5" name="Footer Placeholder 4">
            <a:extLst>
              <a:ext uri="{FF2B5EF4-FFF2-40B4-BE49-F238E27FC236}">
                <a16:creationId xmlns:a16="http://schemas.microsoft.com/office/drawing/2014/main" id="{E1F374AA-34FE-B2DA-5A56-A9B12B4B66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134A9A-C5B2-ACB1-9AA2-41DCF98FEF13}"/>
              </a:ext>
            </a:extLst>
          </p:cNvPr>
          <p:cNvSpPr>
            <a:spLocks noGrp="1"/>
          </p:cNvSpPr>
          <p:nvPr>
            <p:ph type="sldNum" sz="quarter" idx="12"/>
          </p:nvPr>
        </p:nvSpPr>
        <p:spPr/>
        <p:txBody>
          <a:bodyPr/>
          <a:lstStyle/>
          <a:p>
            <a:fld id="{F40B328A-63D2-4322-B205-6DE7E58DE922}" type="slidenum">
              <a:rPr lang="en-US" smtClean="0"/>
              <a:t>‹#›</a:t>
            </a:fld>
            <a:endParaRPr lang="en-US"/>
          </a:p>
        </p:txBody>
      </p:sp>
    </p:spTree>
    <p:extLst>
      <p:ext uri="{BB962C8B-B14F-4D97-AF65-F5344CB8AC3E}">
        <p14:creationId xmlns:p14="http://schemas.microsoft.com/office/powerpoint/2010/main" val="8077532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02AF05-57E3-B879-6271-478566F5598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3D9B230-2D49-F825-574F-D89DD84AF72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36EC556-08C0-2C24-0D6B-4AD7F83E1C70}"/>
              </a:ext>
            </a:extLst>
          </p:cNvPr>
          <p:cNvSpPr>
            <a:spLocks noGrp="1"/>
          </p:cNvSpPr>
          <p:nvPr>
            <p:ph type="dt" sz="half" idx="10"/>
          </p:nvPr>
        </p:nvSpPr>
        <p:spPr/>
        <p:txBody>
          <a:bodyPr/>
          <a:lstStyle/>
          <a:p>
            <a:fld id="{7F79B398-F8A7-4298-B988-E725DF5AFFB9}" type="datetimeFigureOut">
              <a:rPr lang="en-US" smtClean="0"/>
              <a:t>2/27/2024</a:t>
            </a:fld>
            <a:endParaRPr lang="en-US"/>
          </a:p>
        </p:txBody>
      </p:sp>
      <p:sp>
        <p:nvSpPr>
          <p:cNvPr id="5" name="Footer Placeholder 4">
            <a:extLst>
              <a:ext uri="{FF2B5EF4-FFF2-40B4-BE49-F238E27FC236}">
                <a16:creationId xmlns:a16="http://schemas.microsoft.com/office/drawing/2014/main" id="{8DD85801-5904-7DCD-1CD1-72D14ACF48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3F5DA4-5187-542A-79F0-1F96AF09E49B}"/>
              </a:ext>
            </a:extLst>
          </p:cNvPr>
          <p:cNvSpPr>
            <a:spLocks noGrp="1"/>
          </p:cNvSpPr>
          <p:nvPr>
            <p:ph type="sldNum" sz="quarter" idx="12"/>
          </p:nvPr>
        </p:nvSpPr>
        <p:spPr/>
        <p:txBody>
          <a:bodyPr/>
          <a:lstStyle/>
          <a:p>
            <a:fld id="{F40B328A-63D2-4322-B205-6DE7E58DE922}" type="slidenum">
              <a:rPr lang="en-US" smtClean="0"/>
              <a:t>‹#›</a:t>
            </a:fld>
            <a:endParaRPr lang="en-US"/>
          </a:p>
        </p:txBody>
      </p:sp>
    </p:spTree>
    <p:extLst>
      <p:ext uri="{BB962C8B-B14F-4D97-AF65-F5344CB8AC3E}">
        <p14:creationId xmlns:p14="http://schemas.microsoft.com/office/powerpoint/2010/main" val="36131078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F5CC8-C0B6-C410-7E84-D29065FEA3B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866769C-832B-B49E-8597-8902555BCAF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69E60C5-80ED-506D-B6C0-B63E4FB4A41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6699D9A-44F1-1EBE-8397-A93206BF34A9}"/>
              </a:ext>
            </a:extLst>
          </p:cNvPr>
          <p:cNvSpPr>
            <a:spLocks noGrp="1"/>
          </p:cNvSpPr>
          <p:nvPr>
            <p:ph type="dt" sz="half" idx="10"/>
          </p:nvPr>
        </p:nvSpPr>
        <p:spPr/>
        <p:txBody>
          <a:bodyPr/>
          <a:lstStyle/>
          <a:p>
            <a:fld id="{7F79B398-F8A7-4298-B988-E725DF5AFFB9}" type="datetimeFigureOut">
              <a:rPr lang="en-US" smtClean="0"/>
              <a:t>2/27/2024</a:t>
            </a:fld>
            <a:endParaRPr lang="en-US"/>
          </a:p>
        </p:txBody>
      </p:sp>
      <p:sp>
        <p:nvSpPr>
          <p:cNvPr id="6" name="Footer Placeholder 5">
            <a:extLst>
              <a:ext uri="{FF2B5EF4-FFF2-40B4-BE49-F238E27FC236}">
                <a16:creationId xmlns:a16="http://schemas.microsoft.com/office/drawing/2014/main" id="{367D5374-91E7-E206-EC56-0B96F1C6964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91E34C-A30E-EEF2-F73C-5DE82E2B49E6}"/>
              </a:ext>
            </a:extLst>
          </p:cNvPr>
          <p:cNvSpPr>
            <a:spLocks noGrp="1"/>
          </p:cNvSpPr>
          <p:nvPr>
            <p:ph type="sldNum" sz="quarter" idx="12"/>
          </p:nvPr>
        </p:nvSpPr>
        <p:spPr/>
        <p:txBody>
          <a:bodyPr/>
          <a:lstStyle/>
          <a:p>
            <a:fld id="{F40B328A-63D2-4322-B205-6DE7E58DE922}" type="slidenum">
              <a:rPr lang="en-US" smtClean="0"/>
              <a:t>‹#›</a:t>
            </a:fld>
            <a:endParaRPr lang="en-US"/>
          </a:p>
        </p:txBody>
      </p:sp>
    </p:spTree>
    <p:extLst>
      <p:ext uri="{BB962C8B-B14F-4D97-AF65-F5344CB8AC3E}">
        <p14:creationId xmlns:p14="http://schemas.microsoft.com/office/powerpoint/2010/main" val="10278699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A3AD6-C5C8-9E28-4193-D8840F5506A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6840FB0-DD42-CF0E-8DEA-926DA2E6453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8603151-5307-36E0-E8F3-C72A04D3B55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F095541-D98B-03C5-8DCA-9699EE552EB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A813B1B-5161-7A9B-857D-4353C8046E0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058A41C-426C-3463-3959-5A32D200C13E}"/>
              </a:ext>
            </a:extLst>
          </p:cNvPr>
          <p:cNvSpPr>
            <a:spLocks noGrp="1"/>
          </p:cNvSpPr>
          <p:nvPr>
            <p:ph type="dt" sz="half" idx="10"/>
          </p:nvPr>
        </p:nvSpPr>
        <p:spPr/>
        <p:txBody>
          <a:bodyPr/>
          <a:lstStyle/>
          <a:p>
            <a:fld id="{7F79B398-F8A7-4298-B988-E725DF5AFFB9}" type="datetimeFigureOut">
              <a:rPr lang="en-US" smtClean="0"/>
              <a:t>2/27/2024</a:t>
            </a:fld>
            <a:endParaRPr lang="en-US"/>
          </a:p>
        </p:txBody>
      </p:sp>
      <p:sp>
        <p:nvSpPr>
          <p:cNvPr id="8" name="Footer Placeholder 7">
            <a:extLst>
              <a:ext uri="{FF2B5EF4-FFF2-40B4-BE49-F238E27FC236}">
                <a16:creationId xmlns:a16="http://schemas.microsoft.com/office/drawing/2014/main" id="{0658EAC7-7A4C-375C-5342-BECC46DF88B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562AEC6-55D5-6C01-6F5D-653777FACFBA}"/>
              </a:ext>
            </a:extLst>
          </p:cNvPr>
          <p:cNvSpPr>
            <a:spLocks noGrp="1"/>
          </p:cNvSpPr>
          <p:nvPr>
            <p:ph type="sldNum" sz="quarter" idx="12"/>
          </p:nvPr>
        </p:nvSpPr>
        <p:spPr/>
        <p:txBody>
          <a:bodyPr/>
          <a:lstStyle/>
          <a:p>
            <a:fld id="{F40B328A-63D2-4322-B205-6DE7E58DE922}" type="slidenum">
              <a:rPr lang="en-US" smtClean="0"/>
              <a:t>‹#›</a:t>
            </a:fld>
            <a:endParaRPr lang="en-US"/>
          </a:p>
        </p:txBody>
      </p:sp>
    </p:spTree>
    <p:extLst>
      <p:ext uri="{BB962C8B-B14F-4D97-AF65-F5344CB8AC3E}">
        <p14:creationId xmlns:p14="http://schemas.microsoft.com/office/powerpoint/2010/main" val="33768728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2E70A8-1AB3-43E3-7730-85AFFF034E1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7398A5A-9B6E-802F-7437-3B3CDB58E510}"/>
              </a:ext>
            </a:extLst>
          </p:cNvPr>
          <p:cNvSpPr>
            <a:spLocks noGrp="1"/>
          </p:cNvSpPr>
          <p:nvPr>
            <p:ph type="dt" sz="half" idx="10"/>
          </p:nvPr>
        </p:nvSpPr>
        <p:spPr/>
        <p:txBody>
          <a:bodyPr/>
          <a:lstStyle/>
          <a:p>
            <a:fld id="{7F79B398-F8A7-4298-B988-E725DF5AFFB9}" type="datetimeFigureOut">
              <a:rPr lang="en-US" smtClean="0"/>
              <a:t>2/27/2024</a:t>
            </a:fld>
            <a:endParaRPr lang="en-US"/>
          </a:p>
        </p:txBody>
      </p:sp>
      <p:sp>
        <p:nvSpPr>
          <p:cNvPr id="4" name="Footer Placeholder 3">
            <a:extLst>
              <a:ext uri="{FF2B5EF4-FFF2-40B4-BE49-F238E27FC236}">
                <a16:creationId xmlns:a16="http://schemas.microsoft.com/office/drawing/2014/main" id="{6E10FECE-23E9-F8FC-DC9A-4D9D7162B35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B401324-CD8E-5EC4-A744-425698346CA0}"/>
              </a:ext>
            </a:extLst>
          </p:cNvPr>
          <p:cNvSpPr>
            <a:spLocks noGrp="1"/>
          </p:cNvSpPr>
          <p:nvPr>
            <p:ph type="sldNum" sz="quarter" idx="12"/>
          </p:nvPr>
        </p:nvSpPr>
        <p:spPr/>
        <p:txBody>
          <a:bodyPr/>
          <a:lstStyle/>
          <a:p>
            <a:fld id="{F40B328A-63D2-4322-B205-6DE7E58DE922}" type="slidenum">
              <a:rPr lang="en-US" smtClean="0"/>
              <a:t>‹#›</a:t>
            </a:fld>
            <a:endParaRPr lang="en-US"/>
          </a:p>
        </p:txBody>
      </p:sp>
    </p:spTree>
    <p:extLst>
      <p:ext uri="{BB962C8B-B14F-4D97-AF65-F5344CB8AC3E}">
        <p14:creationId xmlns:p14="http://schemas.microsoft.com/office/powerpoint/2010/main" val="25683774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15BCEA1-EB4A-20B6-8D4A-970F1A27C021}"/>
              </a:ext>
            </a:extLst>
          </p:cNvPr>
          <p:cNvSpPr>
            <a:spLocks noGrp="1"/>
          </p:cNvSpPr>
          <p:nvPr>
            <p:ph type="dt" sz="half" idx="10"/>
          </p:nvPr>
        </p:nvSpPr>
        <p:spPr/>
        <p:txBody>
          <a:bodyPr/>
          <a:lstStyle/>
          <a:p>
            <a:fld id="{7F79B398-F8A7-4298-B988-E725DF5AFFB9}" type="datetimeFigureOut">
              <a:rPr lang="en-US" smtClean="0"/>
              <a:t>2/27/2024</a:t>
            </a:fld>
            <a:endParaRPr lang="en-US"/>
          </a:p>
        </p:txBody>
      </p:sp>
      <p:sp>
        <p:nvSpPr>
          <p:cNvPr id="3" name="Footer Placeholder 2">
            <a:extLst>
              <a:ext uri="{FF2B5EF4-FFF2-40B4-BE49-F238E27FC236}">
                <a16:creationId xmlns:a16="http://schemas.microsoft.com/office/drawing/2014/main" id="{ECF8FE1A-E10B-0203-262C-49FD8130FB5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EFDB4DE-5428-6C42-FF02-CE856E1A390C}"/>
              </a:ext>
            </a:extLst>
          </p:cNvPr>
          <p:cNvSpPr>
            <a:spLocks noGrp="1"/>
          </p:cNvSpPr>
          <p:nvPr>
            <p:ph type="sldNum" sz="quarter" idx="12"/>
          </p:nvPr>
        </p:nvSpPr>
        <p:spPr/>
        <p:txBody>
          <a:bodyPr/>
          <a:lstStyle/>
          <a:p>
            <a:fld id="{F40B328A-63D2-4322-B205-6DE7E58DE922}" type="slidenum">
              <a:rPr lang="en-US" smtClean="0"/>
              <a:t>‹#›</a:t>
            </a:fld>
            <a:endParaRPr lang="en-US"/>
          </a:p>
        </p:txBody>
      </p:sp>
    </p:spTree>
    <p:extLst>
      <p:ext uri="{BB962C8B-B14F-4D97-AF65-F5344CB8AC3E}">
        <p14:creationId xmlns:p14="http://schemas.microsoft.com/office/powerpoint/2010/main" val="20851359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523E8-9A60-AF3E-7B27-0DEAF661546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C15685F-21F6-CF43-178F-DF3F51490C7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4C62EF1-F48B-92BC-091D-10788370AB8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89D21B6-656F-71E9-6CD9-D283AEAE3B73}"/>
              </a:ext>
            </a:extLst>
          </p:cNvPr>
          <p:cNvSpPr>
            <a:spLocks noGrp="1"/>
          </p:cNvSpPr>
          <p:nvPr>
            <p:ph type="dt" sz="half" idx="10"/>
          </p:nvPr>
        </p:nvSpPr>
        <p:spPr/>
        <p:txBody>
          <a:bodyPr/>
          <a:lstStyle/>
          <a:p>
            <a:fld id="{7F79B398-F8A7-4298-B988-E725DF5AFFB9}" type="datetimeFigureOut">
              <a:rPr lang="en-US" smtClean="0"/>
              <a:t>2/27/2024</a:t>
            </a:fld>
            <a:endParaRPr lang="en-US"/>
          </a:p>
        </p:txBody>
      </p:sp>
      <p:sp>
        <p:nvSpPr>
          <p:cNvPr id="6" name="Footer Placeholder 5">
            <a:extLst>
              <a:ext uri="{FF2B5EF4-FFF2-40B4-BE49-F238E27FC236}">
                <a16:creationId xmlns:a16="http://schemas.microsoft.com/office/drawing/2014/main" id="{E4199327-11FF-E1EA-17AB-2AB0752BFC6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2EE707C-B6B6-AFAE-D013-A8E64D4383AF}"/>
              </a:ext>
            </a:extLst>
          </p:cNvPr>
          <p:cNvSpPr>
            <a:spLocks noGrp="1"/>
          </p:cNvSpPr>
          <p:nvPr>
            <p:ph type="sldNum" sz="quarter" idx="12"/>
          </p:nvPr>
        </p:nvSpPr>
        <p:spPr/>
        <p:txBody>
          <a:bodyPr/>
          <a:lstStyle/>
          <a:p>
            <a:fld id="{F40B328A-63D2-4322-B205-6DE7E58DE922}" type="slidenum">
              <a:rPr lang="en-US" smtClean="0"/>
              <a:t>‹#›</a:t>
            </a:fld>
            <a:endParaRPr lang="en-US"/>
          </a:p>
        </p:txBody>
      </p:sp>
    </p:spTree>
    <p:extLst>
      <p:ext uri="{BB962C8B-B14F-4D97-AF65-F5344CB8AC3E}">
        <p14:creationId xmlns:p14="http://schemas.microsoft.com/office/powerpoint/2010/main" val="42166416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6534F-6488-A0EC-BCB2-B1375692E7B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A4AE65F-3823-CDFF-1099-04299F240C1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70D88B8-98B8-7E0D-19E4-63E5C05201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AA2C7DD-9E5F-52D2-87E0-13864FCDE95A}"/>
              </a:ext>
            </a:extLst>
          </p:cNvPr>
          <p:cNvSpPr>
            <a:spLocks noGrp="1"/>
          </p:cNvSpPr>
          <p:nvPr>
            <p:ph type="dt" sz="half" idx="10"/>
          </p:nvPr>
        </p:nvSpPr>
        <p:spPr/>
        <p:txBody>
          <a:bodyPr/>
          <a:lstStyle/>
          <a:p>
            <a:fld id="{7F79B398-F8A7-4298-B988-E725DF5AFFB9}" type="datetimeFigureOut">
              <a:rPr lang="en-US" smtClean="0"/>
              <a:t>2/27/2024</a:t>
            </a:fld>
            <a:endParaRPr lang="en-US"/>
          </a:p>
        </p:txBody>
      </p:sp>
      <p:sp>
        <p:nvSpPr>
          <p:cNvPr id="6" name="Footer Placeholder 5">
            <a:extLst>
              <a:ext uri="{FF2B5EF4-FFF2-40B4-BE49-F238E27FC236}">
                <a16:creationId xmlns:a16="http://schemas.microsoft.com/office/drawing/2014/main" id="{1DA5A718-F91A-47BB-A5D3-CBF89BE8F96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255577A-12A3-0098-9A5B-8E1AAC609948}"/>
              </a:ext>
            </a:extLst>
          </p:cNvPr>
          <p:cNvSpPr>
            <a:spLocks noGrp="1"/>
          </p:cNvSpPr>
          <p:nvPr>
            <p:ph type="sldNum" sz="quarter" idx="12"/>
          </p:nvPr>
        </p:nvSpPr>
        <p:spPr/>
        <p:txBody>
          <a:bodyPr/>
          <a:lstStyle/>
          <a:p>
            <a:fld id="{F40B328A-63D2-4322-B205-6DE7E58DE922}" type="slidenum">
              <a:rPr lang="en-US" smtClean="0"/>
              <a:t>‹#›</a:t>
            </a:fld>
            <a:endParaRPr lang="en-US"/>
          </a:p>
        </p:txBody>
      </p:sp>
    </p:spTree>
    <p:extLst>
      <p:ext uri="{BB962C8B-B14F-4D97-AF65-F5344CB8AC3E}">
        <p14:creationId xmlns:p14="http://schemas.microsoft.com/office/powerpoint/2010/main" val="6707832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264AD-5BDD-3D31-06AA-6D221FC26A4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80FF561-40DA-6F9B-80EE-5B48C162189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8F0176-4C69-D048-7892-653728E67E7F}"/>
              </a:ext>
            </a:extLst>
          </p:cNvPr>
          <p:cNvSpPr>
            <a:spLocks noGrp="1"/>
          </p:cNvSpPr>
          <p:nvPr>
            <p:ph type="dt" sz="half" idx="10"/>
          </p:nvPr>
        </p:nvSpPr>
        <p:spPr/>
        <p:txBody>
          <a:bodyPr/>
          <a:lstStyle/>
          <a:p>
            <a:fld id="{7F79B398-F8A7-4298-B988-E725DF5AFFB9}" type="datetimeFigureOut">
              <a:rPr lang="en-US" smtClean="0"/>
              <a:t>2/27/2024</a:t>
            </a:fld>
            <a:endParaRPr lang="en-US"/>
          </a:p>
        </p:txBody>
      </p:sp>
      <p:sp>
        <p:nvSpPr>
          <p:cNvPr id="5" name="Footer Placeholder 4">
            <a:extLst>
              <a:ext uri="{FF2B5EF4-FFF2-40B4-BE49-F238E27FC236}">
                <a16:creationId xmlns:a16="http://schemas.microsoft.com/office/drawing/2014/main" id="{099EDEDD-10AD-8C62-78AD-10692184CB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121766-3DE8-9797-7472-E8E4F1295763}"/>
              </a:ext>
            </a:extLst>
          </p:cNvPr>
          <p:cNvSpPr>
            <a:spLocks noGrp="1"/>
          </p:cNvSpPr>
          <p:nvPr>
            <p:ph type="sldNum" sz="quarter" idx="12"/>
          </p:nvPr>
        </p:nvSpPr>
        <p:spPr/>
        <p:txBody>
          <a:bodyPr/>
          <a:lstStyle/>
          <a:p>
            <a:fld id="{F40B328A-63D2-4322-B205-6DE7E58DE922}" type="slidenum">
              <a:rPr lang="en-US" smtClean="0"/>
              <a:t>‹#›</a:t>
            </a:fld>
            <a:endParaRPr lang="en-US"/>
          </a:p>
        </p:txBody>
      </p:sp>
    </p:spTree>
    <p:extLst>
      <p:ext uri="{BB962C8B-B14F-4D97-AF65-F5344CB8AC3E}">
        <p14:creationId xmlns:p14="http://schemas.microsoft.com/office/powerpoint/2010/main" val="19965810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03E44FC-2D48-A0D9-6E74-1A2CCDF911A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29E33D5-97EC-C03D-7560-5A3C6C32C35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DE95F8-2826-7CFA-2618-543DCD0C9FBF}"/>
              </a:ext>
            </a:extLst>
          </p:cNvPr>
          <p:cNvSpPr>
            <a:spLocks noGrp="1"/>
          </p:cNvSpPr>
          <p:nvPr>
            <p:ph type="dt" sz="half" idx="10"/>
          </p:nvPr>
        </p:nvSpPr>
        <p:spPr/>
        <p:txBody>
          <a:bodyPr/>
          <a:lstStyle/>
          <a:p>
            <a:fld id="{7F79B398-F8A7-4298-B988-E725DF5AFFB9}" type="datetimeFigureOut">
              <a:rPr lang="en-US" smtClean="0"/>
              <a:t>2/27/2024</a:t>
            </a:fld>
            <a:endParaRPr lang="en-US"/>
          </a:p>
        </p:txBody>
      </p:sp>
      <p:sp>
        <p:nvSpPr>
          <p:cNvPr id="5" name="Footer Placeholder 4">
            <a:extLst>
              <a:ext uri="{FF2B5EF4-FFF2-40B4-BE49-F238E27FC236}">
                <a16:creationId xmlns:a16="http://schemas.microsoft.com/office/drawing/2014/main" id="{4F608033-542B-D2CF-2FC2-28153BEF5B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ADFE01-52F0-5E4A-FCF0-6B67F7920793}"/>
              </a:ext>
            </a:extLst>
          </p:cNvPr>
          <p:cNvSpPr>
            <a:spLocks noGrp="1"/>
          </p:cNvSpPr>
          <p:nvPr>
            <p:ph type="sldNum" sz="quarter" idx="12"/>
          </p:nvPr>
        </p:nvSpPr>
        <p:spPr/>
        <p:txBody>
          <a:bodyPr/>
          <a:lstStyle/>
          <a:p>
            <a:fld id="{F40B328A-63D2-4322-B205-6DE7E58DE922}" type="slidenum">
              <a:rPr lang="en-US" smtClean="0"/>
              <a:t>‹#›</a:t>
            </a:fld>
            <a:endParaRPr lang="en-US"/>
          </a:p>
        </p:txBody>
      </p:sp>
    </p:spTree>
    <p:extLst>
      <p:ext uri="{BB962C8B-B14F-4D97-AF65-F5344CB8AC3E}">
        <p14:creationId xmlns:p14="http://schemas.microsoft.com/office/powerpoint/2010/main" val="19167865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6B44813-A230-BFFC-AD63-C2760CDFB8D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26F1074-FA5A-F22A-250B-DEFD70B0C11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9AFA96-F659-CBAB-22E6-1A5616278C6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F79B398-F8A7-4298-B988-E725DF5AFFB9}" type="datetimeFigureOut">
              <a:rPr lang="en-US" smtClean="0"/>
              <a:t>2/27/2024</a:t>
            </a:fld>
            <a:endParaRPr lang="en-US"/>
          </a:p>
        </p:txBody>
      </p:sp>
      <p:sp>
        <p:nvSpPr>
          <p:cNvPr id="5" name="Footer Placeholder 4">
            <a:extLst>
              <a:ext uri="{FF2B5EF4-FFF2-40B4-BE49-F238E27FC236}">
                <a16:creationId xmlns:a16="http://schemas.microsoft.com/office/drawing/2014/main" id="{977CCD87-7BDE-5D9C-EDC6-21BEB9D0E9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FB8E5D0-A5F3-4849-122C-39F92CAB924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40B328A-63D2-4322-B205-6DE7E58DE922}" type="slidenum">
              <a:rPr lang="en-US" smtClean="0"/>
              <a:t>‹#›</a:t>
            </a:fld>
            <a:endParaRPr lang="en-US"/>
          </a:p>
        </p:txBody>
      </p:sp>
    </p:spTree>
    <p:extLst>
      <p:ext uri="{BB962C8B-B14F-4D97-AF65-F5344CB8AC3E}">
        <p14:creationId xmlns:p14="http://schemas.microsoft.com/office/powerpoint/2010/main" val="13622583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1.bin"/><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5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oleObject" Target="../embeddings/oleObject3.bin"/><Relationship Id="rId7" Type="http://schemas.openxmlformats.org/officeDocument/2006/relationships/oleObject" Target="../embeddings/oleObject5.bin"/><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oleObject" Target="../embeddings/oleObject4.bin"/><Relationship Id="rId4" Type="http://schemas.openxmlformats.org/officeDocument/2006/relationships/image" Target="../media/image13.png"/></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8" Type="http://schemas.openxmlformats.org/officeDocument/2006/relationships/oleObject" Target="../embeddings/oleObject8.bin"/><Relationship Id="rId3" Type="http://schemas.openxmlformats.org/officeDocument/2006/relationships/oleObject" Target="../embeddings/oleObject6.bin"/><Relationship Id="rId7" Type="http://schemas.openxmlformats.org/officeDocument/2006/relationships/image" Target="../media/image19.png"/><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oleObject" Target="../embeddings/oleObject7.bin"/><Relationship Id="rId4" Type="http://schemas.openxmlformats.org/officeDocument/2006/relationships/image" Target="../media/image17.png"/><Relationship Id="rId9" Type="http://schemas.openxmlformats.org/officeDocument/2006/relationships/image" Target="../media/image20.png"/></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3.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7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1.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26.png"/></Relationships>
</file>

<file path=ppt/slides/_rels/slide8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63.xml"/><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8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64.xml"/><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32.png"/></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66.xml"/><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34.png"/></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68.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36.png"/></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66E48AFA-8884-4F68-A44F-D2C1E8609C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558FE94C-E5C1-CD6B-6091-87485E7F9AC4}"/>
              </a:ext>
            </a:extLst>
          </p:cNvPr>
          <p:cNvSpPr>
            <a:spLocks noGrp="1"/>
          </p:cNvSpPr>
          <p:nvPr>
            <p:ph type="ctrTitle"/>
          </p:nvPr>
        </p:nvSpPr>
        <p:spPr>
          <a:xfrm>
            <a:off x="838201" y="3998018"/>
            <a:ext cx="3981854" cy="2216513"/>
          </a:xfrm>
        </p:spPr>
        <p:txBody>
          <a:bodyPr vert="horz" lIns="91440" tIns="45720" rIns="91440" bIns="45720" rtlCol="0" anchor="ctr">
            <a:normAutofit/>
          </a:bodyPr>
          <a:lstStyle/>
          <a:p>
            <a:pPr algn="l"/>
            <a:r>
              <a:rPr lang="en-US" sz="3100" kern="1200">
                <a:solidFill>
                  <a:schemeClr val="tx1"/>
                </a:solidFill>
                <a:latin typeface="+mj-lt"/>
                <a:ea typeface="+mj-ea"/>
                <a:cs typeface="+mj-cs"/>
              </a:rPr>
              <a:t>Course Code: CS3CO39 </a:t>
            </a:r>
            <a:br>
              <a:rPr lang="en-US" sz="3100" kern="1200">
                <a:solidFill>
                  <a:schemeClr val="tx1"/>
                </a:solidFill>
                <a:latin typeface="+mj-lt"/>
                <a:ea typeface="+mj-ea"/>
                <a:cs typeface="+mj-cs"/>
              </a:rPr>
            </a:br>
            <a:r>
              <a:rPr lang="en-US" sz="3100" kern="1200">
                <a:solidFill>
                  <a:schemeClr val="tx1"/>
                </a:solidFill>
                <a:latin typeface="+mj-lt"/>
                <a:ea typeface="+mj-ea"/>
                <a:cs typeface="+mj-cs"/>
              </a:rPr>
              <a:t>Course Name: Database Management System</a:t>
            </a:r>
            <a:br>
              <a:rPr lang="en-US" sz="3100" kern="1200">
                <a:solidFill>
                  <a:schemeClr val="tx1"/>
                </a:solidFill>
                <a:latin typeface="+mj-lt"/>
                <a:ea typeface="+mj-ea"/>
                <a:cs typeface="+mj-cs"/>
              </a:rPr>
            </a:br>
            <a:endParaRPr lang="en-US" sz="3100" kern="1200">
              <a:solidFill>
                <a:schemeClr val="tx1"/>
              </a:solidFill>
              <a:latin typeface="+mj-lt"/>
              <a:ea typeface="+mj-ea"/>
              <a:cs typeface="+mj-cs"/>
            </a:endParaRPr>
          </a:p>
        </p:txBody>
      </p:sp>
      <p:sp>
        <p:nvSpPr>
          <p:cNvPr id="33" name="Arc 32">
            <a:extLst>
              <a:ext uri="{FF2B5EF4-FFF2-40B4-BE49-F238E27FC236}">
                <a16:creationId xmlns:a16="http://schemas.microsoft.com/office/drawing/2014/main" id="{969D19A6-08CB-498C-93EC-3FFB021FC6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269068">
            <a:off x="8717845" y="3339275"/>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4" name="image1.png">
            <a:extLst>
              <a:ext uri="{FF2B5EF4-FFF2-40B4-BE49-F238E27FC236}">
                <a16:creationId xmlns:a16="http://schemas.microsoft.com/office/drawing/2014/main" id="{06DEDAB6-AD6B-82C1-2790-FA9F090429B2}"/>
              </a:ext>
            </a:extLst>
          </p:cNvPr>
          <p:cNvPicPr>
            <a:picLocks noChangeAspect="1"/>
          </p:cNvPicPr>
          <p:nvPr/>
        </p:nvPicPr>
        <p:blipFill>
          <a:blip r:embed="rId2" cstate="print"/>
          <a:stretch>
            <a:fillRect/>
          </a:stretch>
        </p:blipFill>
        <p:spPr>
          <a:xfrm>
            <a:off x="659914" y="715496"/>
            <a:ext cx="10872172" cy="2935487"/>
          </a:xfrm>
          <a:custGeom>
            <a:avLst/>
            <a:gdLst/>
            <a:ahLst/>
            <a:cxnLst/>
            <a:rect l="l" t="t" r="r" b="b"/>
            <a:pathLst>
              <a:path w="10580201" h="2957472">
                <a:moveTo>
                  <a:pt x="88961" y="0"/>
                </a:moveTo>
                <a:lnTo>
                  <a:pt x="10491240" y="0"/>
                </a:lnTo>
                <a:cubicBezTo>
                  <a:pt x="10540372" y="0"/>
                  <a:pt x="10580201" y="39829"/>
                  <a:pt x="10580201" y="88961"/>
                </a:cubicBezTo>
                <a:lnTo>
                  <a:pt x="10580201" y="2868511"/>
                </a:lnTo>
                <a:cubicBezTo>
                  <a:pt x="10580201" y="2917643"/>
                  <a:pt x="10540372" y="2957472"/>
                  <a:pt x="10491240" y="2957472"/>
                </a:cubicBezTo>
                <a:lnTo>
                  <a:pt x="88961" y="2957472"/>
                </a:lnTo>
                <a:cubicBezTo>
                  <a:pt x="39829" y="2957472"/>
                  <a:pt x="0" y="2917643"/>
                  <a:pt x="0" y="2868511"/>
                </a:cubicBezTo>
                <a:lnTo>
                  <a:pt x="0" y="88961"/>
                </a:lnTo>
                <a:cubicBezTo>
                  <a:pt x="0" y="39829"/>
                  <a:pt x="39829" y="0"/>
                  <a:pt x="88961" y="0"/>
                </a:cubicBezTo>
                <a:close/>
              </a:path>
            </a:pathLst>
          </a:custGeom>
        </p:spPr>
      </p:pic>
      <p:sp>
        <p:nvSpPr>
          <p:cNvPr id="3" name="Subtitle 2">
            <a:extLst>
              <a:ext uri="{FF2B5EF4-FFF2-40B4-BE49-F238E27FC236}">
                <a16:creationId xmlns:a16="http://schemas.microsoft.com/office/drawing/2014/main" id="{8DDB46C1-5CF4-E91D-782D-F6A0E0927947}"/>
              </a:ext>
            </a:extLst>
          </p:cNvPr>
          <p:cNvSpPr>
            <a:spLocks noGrp="1"/>
          </p:cNvSpPr>
          <p:nvPr>
            <p:ph type="subTitle" idx="1"/>
          </p:nvPr>
        </p:nvSpPr>
        <p:spPr>
          <a:xfrm>
            <a:off x="4970835" y="3998019"/>
            <a:ext cx="6382966" cy="2216512"/>
          </a:xfrm>
        </p:spPr>
        <p:txBody>
          <a:bodyPr vert="horz" lIns="91440" tIns="45720" rIns="91440" bIns="45720" rtlCol="0">
            <a:normAutofit/>
          </a:bodyPr>
          <a:lstStyle/>
          <a:p>
            <a:pPr indent="-228600" algn="l">
              <a:buFont typeface="Arial" panose="020B0604020202020204" pitchFamily="34" charset="0"/>
              <a:buChar char="•"/>
            </a:pPr>
            <a:endParaRPr lang="en-US" sz="1300"/>
          </a:p>
          <a:p>
            <a:pPr indent="-228600" algn="l">
              <a:buFont typeface="Arial" panose="020B0604020202020204" pitchFamily="34" charset="0"/>
              <a:buChar char="•"/>
            </a:pPr>
            <a:r>
              <a:rPr lang="en-US" sz="1300"/>
              <a:t>Text Books:</a:t>
            </a:r>
          </a:p>
          <a:p>
            <a:pPr indent="-228600" algn="l">
              <a:buFont typeface="Arial" panose="020B0604020202020204" pitchFamily="34" charset="0"/>
              <a:buChar char="•"/>
            </a:pPr>
            <a:r>
              <a:rPr lang="en-US" sz="1300"/>
              <a:t> F.R. Mcfadden, J. Hoffer, M.Prescott, Modern Database Management, Addison Wesley.</a:t>
            </a:r>
          </a:p>
          <a:p>
            <a:pPr indent="-228600" algn="l">
              <a:buFont typeface="Arial" panose="020B0604020202020204" pitchFamily="34" charset="0"/>
              <a:buChar char="•"/>
            </a:pPr>
            <a:r>
              <a:rPr lang="en-US" sz="1300"/>
              <a:t>Elmasri, Navathe, Fundamentals of Database System, Pearson Education Asia.</a:t>
            </a:r>
          </a:p>
          <a:p>
            <a:pPr indent="-228600" algn="l">
              <a:buFont typeface="Arial" panose="020B0604020202020204" pitchFamily="34" charset="0"/>
              <a:buChar char="•"/>
            </a:pPr>
            <a:r>
              <a:rPr lang="en-US" sz="1300"/>
              <a:t>Reference Books:</a:t>
            </a:r>
          </a:p>
          <a:p>
            <a:pPr indent="-228600" algn="l">
              <a:buFont typeface="Arial" panose="020B0604020202020204" pitchFamily="34" charset="0"/>
              <a:buChar char="•"/>
            </a:pPr>
            <a:r>
              <a:rPr lang="en-US" sz="1300"/>
              <a:t>C.J. Date, An Introduction to Database Systems, Pearson Education Asia.</a:t>
            </a:r>
          </a:p>
          <a:p>
            <a:pPr indent="-228600" algn="l">
              <a:buFont typeface="Arial" panose="020B0604020202020204" pitchFamily="34" charset="0"/>
              <a:buChar char="•"/>
            </a:pPr>
            <a:r>
              <a:rPr lang="en-US" sz="1300"/>
              <a:t>Henry F Korth, Abraham Silbershatz, Database System Concepts, Mc Graw Hill.</a:t>
            </a:r>
          </a:p>
          <a:p>
            <a:pPr indent="-228600" algn="l">
              <a:buFont typeface="Arial" panose="020B0604020202020204" pitchFamily="34" charset="0"/>
              <a:buChar char="•"/>
            </a:pPr>
            <a:endParaRPr lang="en-US" sz="1300"/>
          </a:p>
        </p:txBody>
      </p:sp>
    </p:spTree>
    <p:extLst>
      <p:ext uri="{BB962C8B-B14F-4D97-AF65-F5344CB8AC3E}">
        <p14:creationId xmlns:p14="http://schemas.microsoft.com/office/powerpoint/2010/main" val="41320056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7024687B-3153-123C-0A8C-D7D007FAF1B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9768"/>
            <a:ext cx="12202175" cy="1519356"/>
            <a:chOff x="-1" y="-29768"/>
            <a:chExt cx="12202175" cy="1519356"/>
          </a:xfrm>
        </p:grpSpPr>
        <p:sp>
          <p:nvSpPr>
            <p:cNvPr id="18" name="Rectangle 17">
              <a:extLst>
                <a:ext uri="{FF2B5EF4-FFF2-40B4-BE49-F238E27FC236}">
                  <a16:creationId xmlns:a16="http://schemas.microsoft.com/office/drawing/2014/main" id="{8D6305F5-7509-0BF5-12D3-30451FCD73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471C5C7A-6D55-5B27-646E-39C962693C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F3B3B1F4-948C-963C-E6EA-60CF7FBFA2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8579D29E-5EF3-C351-C594-10A544EF16A8}"/>
              </a:ext>
            </a:extLst>
          </p:cNvPr>
          <p:cNvSpPr>
            <a:spLocks noGrp="1"/>
          </p:cNvSpPr>
          <p:nvPr>
            <p:ph type="title"/>
          </p:nvPr>
        </p:nvSpPr>
        <p:spPr>
          <a:xfrm>
            <a:off x="876691" y="301843"/>
            <a:ext cx="10477109" cy="1003532"/>
          </a:xfrm>
        </p:spPr>
        <p:txBody>
          <a:bodyPr anchor="ctr">
            <a:normAutofit/>
          </a:bodyPr>
          <a:lstStyle/>
          <a:p>
            <a:r>
              <a:rPr lang="en-US" sz="3200" b="1" dirty="0">
                <a:solidFill>
                  <a:srgbClr val="FFFFFF"/>
                </a:solidFill>
                <a:effectLst/>
                <a:latin typeface="Times New Roman" panose="02020603050405020304" pitchFamily="18" charset="0"/>
                <a:ea typeface="Times New Roman" panose="02020603050405020304" pitchFamily="18" charset="0"/>
              </a:rPr>
              <a:t>Unit-2</a:t>
            </a:r>
            <a:br>
              <a:rPr lang="en-US" sz="3200" dirty="0">
                <a:solidFill>
                  <a:srgbClr val="FFFFFF"/>
                </a:solidFill>
                <a:effectLst/>
                <a:latin typeface="Times New Roman" panose="02020603050405020304" pitchFamily="18" charset="0"/>
                <a:ea typeface="Times New Roman" panose="02020603050405020304" pitchFamily="18" charset="0"/>
              </a:rPr>
            </a:br>
            <a:endParaRPr lang="en-US" sz="3200" dirty="0">
              <a:solidFill>
                <a:srgbClr val="FFFFFF"/>
              </a:solidFill>
            </a:endParaRPr>
          </a:p>
        </p:txBody>
      </p:sp>
      <p:sp>
        <p:nvSpPr>
          <p:cNvPr id="3" name="Content Placeholder 2">
            <a:extLst>
              <a:ext uri="{FF2B5EF4-FFF2-40B4-BE49-F238E27FC236}">
                <a16:creationId xmlns:a16="http://schemas.microsoft.com/office/drawing/2014/main" id="{1B05C76A-DCDA-E0E7-95B8-271415393825}"/>
              </a:ext>
            </a:extLst>
          </p:cNvPr>
          <p:cNvSpPr>
            <a:spLocks noGrp="1"/>
          </p:cNvSpPr>
          <p:nvPr>
            <p:ph idx="1"/>
          </p:nvPr>
        </p:nvSpPr>
        <p:spPr>
          <a:xfrm>
            <a:off x="876301" y="2308124"/>
            <a:ext cx="5025735" cy="3673576"/>
          </a:xfrm>
        </p:spPr>
        <p:txBody>
          <a:bodyPr>
            <a:normAutofit/>
          </a:bodyPr>
          <a:lstStyle/>
          <a:p>
            <a:pPr marL="201295" marR="579755">
              <a:spcBef>
                <a:spcPts val="0"/>
              </a:spcBef>
              <a:spcAft>
                <a:spcPts val="0"/>
              </a:spcAft>
            </a:pPr>
            <a:endParaRPr lang="en-US" sz="1700" dirty="0">
              <a:effectLst/>
              <a:latin typeface="Times New Roman" panose="02020603050405020304" pitchFamily="18" charset="0"/>
              <a:ea typeface="Times New Roman" panose="02020603050405020304" pitchFamily="18" charset="0"/>
            </a:endParaRPr>
          </a:p>
          <a:p>
            <a:pPr marL="201295" marR="582930" algn="just">
              <a:spcBef>
                <a:spcPts val="5"/>
              </a:spcBef>
              <a:spcAft>
                <a:spcPts val="0"/>
              </a:spcAft>
            </a:pPr>
            <a:r>
              <a:rPr lang="en-US" sz="1800" dirty="0">
                <a:effectLst/>
                <a:latin typeface="Times New Roman" panose="02020603050405020304" pitchFamily="18" charset="0"/>
                <a:ea typeface="Times New Roman" panose="02020603050405020304" pitchFamily="18" charset="0"/>
              </a:rPr>
              <a:t>Relational Database: </a:t>
            </a:r>
          </a:p>
          <a:p>
            <a:pPr marL="201295" marR="582930" algn="just">
              <a:spcBef>
                <a:spcPts val="5"/>
              </a:spcBef>
              <a:spcAft>
                <a:spcPts val="0"/>
              </a:spcAft>
            </a:pPr>
            <a:r>
              <a:rPr lang="en-US" sz="1800" dirty="0">
                <a:effectLst/>
                <a:latin typeface="Times New Roman" panose="02020603050405020304" pitchFamily="18" charset="0"/>
                <a:ea typeface="Times New Roman" panose="02020603050405020304" pitchFamily="18" charset="0"/>
              </a:rPr>
              <a:t>Relational Algebra</a:t>
            </a:r>
          </a:p>
          <a:p>
            <a:pPr marL="201295" marR="582930" algn="just">
              <a:spcBef>
                <a:spcPts val="5"/>
              </a:spcBef>
              <a:spcAft>
                <a:spcPts val="0"/>
              </a:spcAft>
            </a:pPr>
            <a:r>
              <a:rPr lang="en-US" sz="1800" dirty="0">
                <a:effectLst/>
                <a:latin typeface="Times New Roman" panose="02020603050405020304" pitchFamily="18" charset="0"/>
                <a:ea typeface="Times New Roman" panose="02020603050405020304" pitchFamily="18" charset="0"/>
              </a:rPr>
              <a:t>Relational Algebra Operation</a:t>
            </a:r>
            <a:endParaRPr lang="en-US" sz="1800" spc="5" dirty="0">
              <a:effectLst/>
              <a:latin typeface="Times New Roman" panose="02020603050405020304" pitchFamily="18" charset="0"/>
              <a:ea typeface="Times New Roman" panose="02020603050405020304" pitchFamily="18" charset="0"/>
            </a:endParaRPr>
          </a:p>
          <a:p>
            <a:pPr marL="201295" marR="582930" algn="just">
              <a:spcBef>
                <a:spcPts val="5"/>
              </a:spcBef>
              <a:spcAft>
                <a:spcPts val="0"/>
              </a:spcAft>
            </a:pPr>
            <a:r>
              <a:rPr lang="en-US" sz="1800" dirty="0">
                <a:effectLst/>
                <a:latin typeface="Times New Roman" panose="02020603050405020304" pitchFamily="18" charset="0"/>
                <a:ea typeface="Times New Roman" panose="02020603050405020304" pitchFamily="18" charset="0"/>
              </a:rPr>
              <a:t>Tuple Relational Calculus</a:t>
            </a:r>
          </a:p>
          <a:p>
            <a:pPr marL="201295" marR="582930" algn="just">
              <a:spcBef>
                <a:spcPts val="5"/>
              </a:spcBef>
              <a:spcAft>
                <a:spcPts val="0"/>
              </a:spcAft>
            </a:pPr>
            <a:r>
              <a:rPr lang="en-US" sz="1800" dirty="0">
                <a:effectLst/>
                <a:latin typeface="Times New Roman" panose="02020603050405020304" pitchFamily="18" charset="0"/>
                <a:ea typeface="Times New Roman" panose="02020603050405020304" pitchFamily="18" charset="0"/>
              </a:rPr>
              <a:t>Domain Relational Calculus</a:t>
            </a:r>
          </a:p>
          <a:p>
            <a:pPr marL="201295" marR="582930" algn="just">
              <a:spcBef>
                <a:spcPts val="5"/>
              </a:spcBef>
              <a:spcAft>
                <a:spcPts val="0"/>
              </a:spcAft>
            </a:pPr>
            <a:r>
              <a:rPr lang="en-US" sz="1800" dirty="0">
                <a:effectLst/>
                <a:latin typeface="Times New Roman" panose="02020603050405020304" pitchFamily="18" charset="0"/>
                <a:ea typeface="Times New Roman" panose="02020603050405020304" pitchFamily="18" charset="0"/>
              </a:rPr>
              <a:t>Data Definition with SQL: </a:t>
            </a:r>
            <a:r>
              <a:rPr lang="en-US" sz="1800" dirty="0" err="1">
                <a:effectLst/>
                <a:latin typeface="Times New Roman" panose="02020603050405020304" pitchFamily="18" charset="0"/>
                <a:ea typeface="Times New Roman" panose="02020603050405020304" pitchFamily="18" charset="0"/>
              </a:rPr>
              <a:t>Inserts</a:t>
            </a:r>
            <a:r>
              <a:rPr lang="en-US" sz="1800" spc="5" dirty="0" err="1">
                <a:latin typeface="Times New Roman" panose="02020603050405020304" pitchFamily="18" charset="0"/>
                <a:ea typeface="Times New Roman" panose="02020603050405020304" pitchFamily="18" charset="0"/>
              </a:rPr>
              <a:t>,</a:t>
            </a:r>
            <a:r>
              <a:rPr lang="en-US" sz="1800" dirty="0" err="1">
                <a:effectLst/>
                <a:latin typeface="Times New Roman" panose="02020603050405020304" pitchFamily="18" charset="0"/>
                <a:ea typeface="Times New Roman" panose="02020603050405020304" pitchFamily="18" charset="0"/>
              </a:rPr>
              <a:t>Delete</a:t>
            </a:r>
            <a:r>
              <a:rPr lang="en-US" sz="1800" dirty="0">
                <a:effectLst/>
                <a:latin typeface="Times New Roman" panose="02020603050405020304" pitchFamily="18" charset="0"/>
                <a:ea typeface="Times New Roman" panose="02020603050405020304" pitchFamily="18" charset="0"/>
              </a:rPr>
              <a:t>,</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Update</a:t>
            </a:r>
            <a:r>
              <a:rPr lang="en-US" sz="1800" spc="5" dirty="0">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Statements</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in</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SQL</a:t>
            </a:r>
          </a:p>
          <a:p>
            <a:pPr marL="201295" marR="582930" algn="just">
              <a:spcBef>
                <a:spcPts val="5"/>
              </a:spcBef>
              <a:spcAft>
                <a:spcPts val="0"/>
              </a:spcAft>
            </a:pPr>
            <a:r>
              <a:rPr lang="en-US" sz="1800" dirty="0">
                <a:effectLst/>
                <a:latin typeface="Times New Roman" panose="02020603050405020304" pitchFamily="18" charset="0"/>
                <a:ea typeface="Times New Roman" panose="02020603050405020304" pitchFamily="18" charset="0"/>
              </a:rPr>
              <a:t>Views</a:t>
            </a:r>
            <a:r>
              <a:rPr lang="en-US" sz="1800" spc="5" dirty="0">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Data</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Manipulation</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with</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SQL</a:t>
            </a:r>
            <a:endParaRPr lang="en-US" sz="1800" spc="5" dirty="0">
              <a:effectLst/>
              <a:latin typeface="Times New Roman" panose="02020603050405020304" pitchFamily="18" charset="0"/>
              <a:ea typeface="Times New Roman" panose="02020603050405020304" pitchFamily="18" charset="0"/>
            </a:endParaRPr>
          </a:p>
          <a:p>
            <a:pPr marL="201295" marR="582930" algn="just">
              <a:spcBef>
                <a:spcPts val="5"/>
              </a:spcBef>
              <a:spcAft>
                <a:spcPts val="0"/>
              </a:spcAft>
            </a:pPr>
            <a:r>
              <a:rPr lang="en-US" sz="1800" dirty="0">
                <a:effectLst/>
                <a:latin typeface="Times New Roman" panose="02020603050405020304" pitchFamily="18" charset="0"/>
                <a:ea typeface="Times New Roman" panose="02020603050405020304" pitchFamily="18" charset="0"/>
              </a:rPr>
              <a:t>PL/</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SQL</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constructs:</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Triggers, Cursors </a:t>
            </a:r>
            <a:r>
              <a:rPr lang="en-US" sz="1800" dirty="0" err="1">
                <a:effectLst/>
                <a:latin typeface="Times New Roman" panose="02020603050405020304" pitchFamily="18" charset="0"/>
                <a:ea typeface="Times New Roman" panose="02020603050405020304" pitchFamily="18" charset="0"/>
              </a:rPr>
              <a:t>etc</a:t>
            </a:r>
            <a:endParaRPr lang="en-US" sz="1800" dirty="0">
              <a:effectLst/>
              <a:latin typeface="Times New Roman" panose="02020603050405020304" pitchFamily="18" charset="0"/>
              <a:ea typeface="Times New Roman" panose="02020603050405020304" pitchFamily="18" charset="0"/>
            </a:endParaRPr>
          </a:p>
        </p:txBody>
      </p:sp>
      <p:graphicFrame>
        <p:nvGraphicFramePr>
          <p:cNvPr id="5" name="Table 4">
            <a:extLst>
              <a:ext uri="{FF2B5EF4-FFF2-40B4-BE49-F238E27FC236}">
                <a16:creationId xmlns:a16="http://schemas.microsoft.com/office/drawing/2014/main" id="{F77B8FF4-85CF-08CE-6A10-AA9320F09F43}"/>
              </a:ext>
            </a:extLst>
          </p:cNvPr>
          <p:cNvGraphicFramePr>
            <a:graphicFrameLocks noGrp="1"/>
          </p:cNvGraphicFramePr>
          <p:nvPr>
            <p:extLst>
              <p:ext uri="{D42A27DB-BD31-4B8C-83A1-F6EECF244321}">
                <p14:modId xmlns:p14="http://schemas.microsoft.com/office/powerpoint/2010/main" val="3478639789"/>
              </p:ext>
            </p:extLst>
          </p:nvPr>
        </p:nvGraphicFramePr>
        <p:xfrm>
          <a:off x="6784258" y="3061699"/>
          <a:ext cx="5277603" cy="2332233"/>
        </p:xfrm>
        <a:graphic>
          <a:graphicData uri="http://schemas.openxmlformats.org/drawingml/2006/table">
            <a:tbl>
              <a:tblPr firstRow="1" firstCol="1" lastRow="1" lastCol="1" bandRow="1" bandCol="1">
                <a:solidFill>
                  <a:schemeClr val="bg1">
                    <a:lumMod val="95000"/>
                  </a:schemeClr>
                </a:solidFill>
              </a:tblPr>
              <a:tblGrid>
                <a:gridCol w="952751">
                  <a:extLst>
                    <a:ext uri="{9D8B030D-6E8A-4147-A177-3AD203B41FA5}">
                      <a16:colId xmlns:a16="http://schemas.microsoft.com/office/drawing/2014/main" val="3061052767"/>
                    </a:ext>
                  </a:extLst>
                </a:gridCol>
                <a:gridCol w="4324852">
                  <a:extLst>
                    <a:ext uri="{9D8B030D-6E8A-4147-A177-3AD203B41FA5}">
                      <a16:colId xmlns:a16="http://schemas.microsoft.com/office/drawing/2014/main" val="2943072356"/>
                    </a:ext>
                  </a:extLst>
                </a:gridCol>
              </a:tblGrid>
              <a:tr h="2332233">
                <a:tc>
                  <a:txBody>
                    <a:bodyPr/>
                    <a:lstStyle/>
                    <a:p>
                      <a:pPr marL="0" marR="54864" algn="r" fontAlgn="t">
                        <a:lnSpc>
                          <a:spcPts val="1325"/>
                        </a:lnSpc>
                        <a:spcBef>
                          <a:spcPts val="0"/>
                        </a:spcBef>
                        <a:spcAft>
                          <a:spcPts val="0"/>
                        </a:spcAft>
                      </a:pPr>
                      <a:r>
                        <a:rPr lang="en-US" sz="2200" b="0" i="0" u="none" strike="noStrike" cap="none" spc="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CO2</a:t>
                      </a:r>
                      <a:endParaRPr lang="en-US" sz="2200" b="0" i="0" u="none" strike="noStrike" cap="none" spc="0" dirty="0">
                        <a:solidFill>
                          <a:schemeClr val="bg1"/>
                        </a:solidFill>
                        <a:effectLst/>
                        <a:latin typeface="Arial" panose="020B0604020202020204" pitchFamily="34" charset="0"/>
                      </a:endParaRPr>
                    </a:p>
                  </a:txBody>
                  <a:tcPr marL="15215" marR="15215" marT="123079" marB="0" anchor="ctr">
                    <a:lnL w="12700" cmpd="sng">
                      <a:noFill/>
                    </a:lnL>
                    <a:lnR w="12700" cmpd="sng">
                      <a:noFill/>
                    </a:lnR>
                    <a:lnT w="19050" cap="flat" cmpd="sng" algn="ctr">
                      <a:noFill/>
                      <a:prstDash val="solid"/>
                    </a:lnT>
                    <a:lnB w="38100" cmpd="sng">
                      <a:noFill/>
                    </a:lnB>
                    <a:solidFill>
                      <a:schemeClr val="accent2"/>
                    </a:solidFill>
                  </a:tcPr>
                </a:tc>
                <a:tc>
                  <a:txBody>
                    <a:bodyPr/>
                    <a:lstStyle/>
                    <a:p>
                      <a:pPr marL="58420" marR="0" algn="l">
                        <a:spcBef>
                          <a:spcPts val="275"/>
                        </a:spcBef>
                        <a:spcAft>
                          <a:spcPts val="0"/>
                        </a:spcAft>
                      </a:pPr>
                      <a:r>
                        <a:rPr lang="en-US" sz="22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Have</a:t>
                      </a:r>
                      <a:r>
                        <a:rPr lang="en-US" sz="2200" spc="-1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2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a:t>
                      </a:r>
                      <a:r>
                        <a:rPr lang="en-US" sz="2200" spc="-1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2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high-level understanding</a:t>
                      </a:r>
                      <a:r>
                        <a:rPr lang="en-US" sz="2200" spc="-5"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2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of</a:t>
                      </a:r>
                      <a:r>
                        <a:rPr lang="en-US" sz="2200" spc="-5"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2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major DBMS</a:t>
                      </a:r>
                      <a:r>
                        <a:rPr lang="en-US" sz="2200" spc="-5"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2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components</a:t>
                      </a:r>
                      <a:r>
                        <a:rPr lang="en-US" sz="2200" spc="-5"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2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and their</a:t>
                      </a:r>
                      <a:r>
                        <a:rPr lang="en-US" sz="2200" spc="-1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2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function</a:t>
                      </a:r>
                    </a:p>
                  </a:txBody>
                  <a:tcPr marL="0" marR="0" marT="0" marB="0" anchor="ctr">
                    <a:lnL w="12700" cmpd="sng">
                      <a:noFill/>
                    </a:lnL>
                    <a:lnR w="12700" cmpd="sng">
                      <a:noFill/>
                    </a:lnR>
                    <a:lnT w="19050" cap="flat" cmpd="sng" algn="ctr">
                      <a:noFill/>
                      <a:prstDash val="solid"/>
                    </a:lnT>
                    <a:lnB w="38100" cmpd="sng">
                      <a:noFill/>
                    </a:lnB>
                    <a:solidFill>
                      <a:schemeClr val="accent2"/>
                    </a:solidFill>
                  </a:tcPr>
                </a:tc>
                <a:extLst>
                  <a:ext uri="{0D108BD9-81ED-4DB2-BD59-A6C34878D82A}">
                    <a16:rowId xmlns:a16="http://schemas.microsoft.com/office/drawing/2014/main" val="1342026641"/>
                  </a:ext>
                </a:extLst>
              </a:tr>
            </a:tbl>
          </a:graphicData>
        </a:graphic>
      </p:graphicFrame>
    </p:spTree>
    <p:extLst>
      <p:ext uri="{BB962C8B-B14F-4D97-AF65-F5344CB8AC3E}">
        <p14:creationId xmlns:p14="http://schemas.microsoft.com/office/powerpoint/2010/main" val="35151663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AA191FD4-8118-9B09-17E5-5F9D12022FBF}"/>
              </a:ext>
            </a:extLst>
          </p:cNvPr>
          <p:cNvSpPr>
            <a:spLocks noGrp="1" noChangeArrowheads="1"/>
          </p:cNvSpPr>
          <p:nvPr>
            <p:ph type="title"/>
          </p:nvPr>
        </p:nvSpPr>
        <p:spPr>
          <a:xfrm>
            <a:off x="2209800" y="0"/>
            <a:ext cx="7772400" cy="1143000"/>
          </a:xfrm>
        </p:spPr>
        <p:txBody>
          <a:bodyPr/>
          <a:lstStyle/>
          <a:p>
            <a:pPr eaLnBrk="1" hangingPunct="1"/>
            <a:r>
              <a:rPr lang="en-US" altLang="en-US"/>
              <a:t>  </a:t>
            </a:r>
            <a:r>
              <a:rPr lang="en-US" altLang="en-US" sz="3200"/>
              <a:t>Relational Model</a:t>
            </a:r>
          </a:p>
        </p:txBody>
      </p:sp>
      <p:sp>
        <p:nvSpPr>
          <p:cNvPr id="9219" name="Rectangle 3">
            <a:extLst>
              <a:ext uri="{FF2B5EF4-FFF2-40B4-BE49-F238E27FC236}">
                <a16:creationId xmlns:a16="http://schemas.microsoft.com/office/drawing/2014/main" id="{712C6199-FEA8-F65D-DDA7-EA914B3ADD4A}"/>
              </a:ext>
            </a:extLst>
          </p:cNvPr>
          <p:cNvSpPr>
            <a:spLocks noGrp="1" noChangeArrowheads="1"/>
          </p:cNvSpPr>
          <p:nvPr>
            <p:ph type="body" idx="1"/>
          </p:nvPr>
        </p:nvSpPr>
        <p:spPr>
          <a:xfrm>
            <a:off x="2322514" y="990601"/>
            <a:ext cx="7964487" cy="4202113"/>
          </a:xfrm>
        </p:spPr>
        <p:txBody>
          <a:bodyPr/>
          <a:lstStyle/>
          <a:p>
            <a:pPr eaLnBrk="1" hangingPunct="1"/>
            <a:r>
              <a:rPr lang="en-US" altLang="en-US"/>
              <a:t>Basic Notions</a:t>
            </a:r>
          </a:p>
          <a:p>
            <a:pPr eaLnBrk="1" hangingPunct="1"/>
            <a:r>
              <a:rPr lang="en-US" altLang="en-US"/>
              <a:t>Fundamental Relational  Algebra Operations</a:t>
            </a:r>
          </a:p>
          <a:p>
            <a:pPr eaLnBrk="1" hangingPunct="1"/>
            <a:r>
              <a:rPr lang="en-US" altLang="en-US"/>
              <a:t>Additional Relational Algebra Operations</a:t>
            </a:r>
          </a:p>
          <a:p>
            <a:pPr eaLnBrk="1" hangingPunct="1"/>
            <a:r>
              <a:rPr lang="en-US" altLang="en-US"/>
              <a:t>Extended Relational Algebra Operations</a:t>
            </a:r>
          </a:p>
          <a:p>
            <a:pPr eaLnBrk="1" hangingPunct="1"/>
            <a:r>
              <a:rPr lang="en-US" altLang="en-US"/>
              <a:t>Null Values</a:t>
            </a:r>
          </a:p>
          <a:p>
            <a:pPr eaLnBrk="1" hangingPunct="1"/>
            <a:r>
              <a:rPr lang="en-US" altLang="en-US"/>
              <a:t>Modification of the Database</a:t>
            </a:r>
          </a:p>
          <a:p>
            <a:pPr eaLnBrk="1" hangingPunct="1"/>
            <a:r>
              <a:rPr lang="en-US" altLang="en-US"/>
              <a:t>Views</a:t>
            </a:r>
          </a:p>
          <a:p>
            <a:pPr eaLnBrk="1" hangingPunct="1">
              <a:buFontTx/>
              <a:buNone/>
            </a:pPr>
            <a:endParaRPr lang="en-US"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5DA2BE00-5CF6-E29C-2EBE-E0F54FC65CB6}"/>
              </a:ext>
            </a:extLst>
          </p:cNvPr>
          <p:cNvSpPr>
            <a:spLocks noGrp="1" noChangeArrowheads="1"/>
          </p:cNvSpPr>
          <p:nvPr>
            <p:ph type="title"/>
          </p:nvPr>
        </p:nvSpPr>
        <p:spPr>
          <a:xfrm>
            <a:off x="2209800" y="152400"/>
            <a:ext cx="7772400" cy="1143000"/>
          </a:xfrm>
        </p:spPr>
        <p:txBody>
          <a:bodyPr/>
          <a:lstStyle/>
          <a:p>
            <a:pPr eaLnBrk="1" hangingPunct="1"/>
            <a:r>
              <a:rPr lang="en-US" altLang="en-US" sz="3200"/>
              <a:t>Basic Structure</a:t>
            </a:r>
          </a:p>
        </p:txBody>
      </p:sp>
      <p:sp>
        <p:nvSpPr>
          <p:cNvPr id="10243" name="Rectangle 3">
            <a:extLst>
              <a:ext uri="{FF2B5EF4-FFF2-40B4-BE49-F238E27FC236}">
                <a16:creationId xmlns:a16="http://schemas.microsoft.com/office/drawing/2014/main" id="{45C0C6EF-2A0D-5488-FB82-0447C28BF813}"/>
              </a:ext>
            </a:extLst>
          </p:cNvPr>
          <p:cNvSpPr>
            <a:spLocks noGrp="1" noChangeArrowheads="1"/>
          </p:cNvSpPr>
          <p:nvPr>
            <p:ph type="body" idx="1"/>
          </p:nvPr>
        </p:nvSpPr>
        <p:spPr>
          <a:xfrm>
            <a:off x="2133601" y="1143000"/>
            <a:ext cx="8137525" cy="5080000"/>
          </a:xfrm>
        </p:spPr>
        <p:txBody>
          <a:bodyPr>
            <a:normAutofit lnSpcReduction="10000"/>
          </a:bodyPr>
          <a:lstStyle/>
          <a:p>
            <a:pPr eaLnBrk="1" hangingPunct="1">
              <a:lnSpc>
                <a:spcPct val="120000"/>
              </a:lnSpc>
            </a:pPr>
            <a:r>
              <a:rPr lang="en-US" altLang="en-US" sz="2000"/>
              <a:t>Formally, given sets </a:t>
            </a:r>
            <a:r>
              <a:rPr lang="en-US" altLang="en-US" sz="2000" i="1"/>
              <a:t>D</a:t>
            </a:r>
            <a:r>
              <a:rPr lang="en-US" altLang="en-US" sz="2000" baseline="-25000"/>
              <a:t>1</a:t>
            </a:r>
            <a:r>
              <a:rPr lang="en-US" altLang="en-US" sz="2000"/>
              <a:t>, </a:t>
            </a:r>
            <a:r>
              <a:rPr lang="en-US" altLang="en-US" sz="2000" i="1"/>
              <a:t>D</a:t>
            </a:r>
            <a:r>
              <a:rPr lang="en-US" altLang="en-US" sz="2000" baseline="-25000"/>
              <a:t>2</a:t>
            </a:r>
            <a:r>
              <a:rPr lang="en-US" altLang="en-US" sz="2000"/>
              <a:t>, …. </a:t>
            </a:r>
            <a:r>
              <a:rPr lang="en-US" altLang="en-US" sz="2000" i="1"/>
              <a:t>D</a:t>
            </a:r>
            <a:r>
              <a:rPr lang="en-US" altLang="en-US" sz="2000" i="1" baseline="-25000"/>
              <a:t>n</a:t>
            </a:r>
            <a:r>
              <a:rPr lang="en-US" altLang="en-US" sz="2000"/>
              <a:t> a </a:t>
            </a:r>
            <a:r>
              <a:rPr lang="en-US" altLang="en-US" sz="2000" b="1">
                <a:solidFill>
                  <a:schemeClr val="tx2"/>
                </a:solidFill>
              </a:rPr>
              <a:t>relation</a:t>
            </a:r>
            <a:r>
              <a:rPr lang="en-US" altLang="en-US" sz="2000" i="1"/>
              <a:t> r</a:t>
            </a:r>
            <a:r>
              <a:rPr lang="en-US" altLang="en-US" sz="2000"/>
              <a:t> is a subset of </a:t>
            </a:r>
            <a:br>
              <a:rPr lang="en-US" altLang="en-US" sz="2000"/>
            </a:br>
            <a:r>
              <a:rPr lang="en-US" altLang="en-US" sz="2000"/>
              <a:t>        </a:t>
            </a:r>
            <a:r>
              <a:rPr lang="en-US" altLang="en-US" sz="2000" i="1"/>
              <a:t>D</a:t>
            </a:r>
            <a:r>
              <a:rPr lang="en-US" altLang="en-US" sz="2000" baseline="-25000"/>
              <a:t>1</a:t>
            </a:r>
            <a:r>
              <a:rPr lang="en-US" altLang="en-US" sz="2000"/>
              <a:t> x  </a:t>
            </a:r>
            <a:r>
              <a:rPr lang="en-US" altLang="en-US" sz="2000" i="1"/>
              <a:t>D</a:t>
            </a:r>
            <a:r>
              <a:rPr lang="en-US" altLang="en-US" sz="2000" baseline="-25000"/>
              <a:t>2 </a:t>
            </a:r>
            <a:r>
              <a:rPr lang="en-US" altLang="en-US" sz="2000"/>
              <a:t> x … x </a:t>
            </a:r>
            <a:r>
              <a:rPr lang="en-US" altLang="en-US" sz="2000" i="1"/>
              <a:t>D</a:t>
            </a:r>
            <a:r>
              <a:rPr lang="en-US" altLang="en-US" sz="2000" i="1" baseline="-25000"/>
              <a:t>n</a:t>
            </a:r>
            <a:br>
              <a:rPr lang="en-US" altLang="en-US" sz="2000"/>
            </a:br>
            <a:r>
              <a:rPr lang="en-US" altLang="en-US" sz="2000"/>
              <a:t>Thus, a relation is a set of </a:t>
            </a:r>
            <a:r>
              <a:rPr lang="en-US" altLang="en-US" sz="2000" i="1"/>
              <a:t>n</a:t>
            </a:r>
            <a:r>
              <a:rPr lang="en-US" altLang="en-US" sz="2000"/>
              <a:t>-tuples (</a:t>
            </a:r>
            <a:r>
              <a:rPr lang="en-US" altLang="en-US" sz="2000" i="1"/>
              <a:t>a</a:t>
            </a:r>
            <a:r>
              <a:rPr lang="en-US" altLang="en-US" sz="2000" baseline="-25000"/>
              <a:t>1</a:t>
            </a:r>
            <a:r>
              <a:rPr lang="en-US" altLang="en-US" sz="2000"/>
              <a:t>,</a:t>
            </a:r>
            <a:r>
              <a:rPr lang="en-US" altLang="en-US" sz="2000" i="1"/>
              <a:t> a</a:t>
            </a:r>
            <a:r>
              <a:rPr lang="en-US" altLang="en-US" sz="2000" baseline="-25000"/>
              <a:t>2</a:t>
            </a:r>
            <a:r>
              <a:rPr lang="en-US" altLang="en-US" sz="2000"/>
              <a:t>, …, </a:t>
            </a:r>
            <a:r>
              <a:rPr lang="en-US" altLang="en-US" sz="2000" i="1"/>
              <a:t>a</a:t>
            </a:r>
            <a:r>
              <a:rPr lang="en-US" altLang="en-US" sz="2000" i="1" baseline="-25000"/>
              <a:t>n</a:t>
            </a:r>
            <a:r>
              <a:rPr lang="en-US" altLang="en-US" sz="2000"/>
              <a:t>) where each </a:t>
            </a:r>
            <a:r>
              <a:rPr lang="en-US" altLang="en-US" sz="2000" i="1"/>
              <a:t>a</a:t>
            </a:r>
            <a:r>
              <a:rPr lang="en-US" altLang="en-US" sz="2000" i="1" baseline="-25000"/>
              <a:t>i</a:t>
            </a:r>
            <a:r>
              <a:rPr lang="en-US" altLang="en-US" sz="2000"/>
              <a:t>  </a:t>
            </a:r>
            <a:r>
              <a:rPr lang="en-US" altLang="en-US" sz="2000">
                <a:sym typeface="Symbol" panose="05050102010706020507" pitchFamily="18" charset="2"/>
              </a:rPr>
              <a:t> </a:t>
            </a:r>
            <a:r>
              <a:rPr lang="en-US" altLang="en-US" sz="2000" i="1">
                <a:sym typeface="Symbol" panose="05050102010706020507" pitchFamily="18" charset="2"/>
              </a:rPr>
              <a:t>D</a:t>
            </a:r>
            <a:r>
              <a:rPr lang="en-US" altLang="en-US" sz="2000" i="1" baseline="-25000">
                <a:sym typeface="Symbol" panose="05050102010706020507" pitchFamily="18" charset="2"/>
              </a:rPr>
              <a:t>i</a:t>
            </a:r>
            <a:endParaRPr lang="en-US" altLang="en-US" sz="2000" i="1">
              <a:sym typeface="Symbol" panose="05050102010706020507" pitchFamily="18" charset="2"/>
            </a:endParaRPr>
          </a:p>
          <a:p>
            <a:pPr eaLnBrk="1" hangingPunct="1">
              <a:lnSpc>
                <a:spcPct val="130000"/>
              </a:lnSpc>
            </a:pPr>
            <a:r>
              <a:rPr lang="en-US" altLang="en-US" sz="2000">
                <a:sym typeface="Symbol" panose="05050102010706020507" pitchFamily="18" charset="2"/>
              </a:rPr>
              <a:t>Example:</a:t>
            </a:r>
          </a:p>
          <a:p>
            <a:pPr eaLnBrk="1" hangingPunct="1">
              <a:lnSpc>
                <a:spcPct val="130000"/>
              </a:lnSpc>
              <a:buFontTx/>
              <a:buNone/>
            </a:pPr>
            <a:r>
              <a:rPr lang="en-US" altLang="en-US" sz="2000" i="1"/>
              <a:t>              customer_name</a:t>
            </a:r>
            <a:r>
              <a:rPr lang="en-US" altLang="en-US" sz="2000"/>
              <a:t> =  {Jones, Smith, Curry, Lindsay}</a:t>
            </a:r>
            <a:br>
              <a:rPr lang="en-US" altLang="en-US" sz="2000"/>
            </a:br>
            <a:r>
              <a:rPr lang="en-US" altLang="en-US" sz="2000"/>
              <a:t>	</a:t>
            </a:r>
            <a:r>
              <a:rPr lang="en-US" altLang="en-US" sz="2000" i="1"/>
              <a:t>customer_street</a:t>
            </a:r>
            <a:r>
              <a:rPr lang="en-US" altLang="en-US" sz="2000"/>
              <a:t> =  {Main, North, Park}</a:t>
            </a:r>
            <a:br>
              <a:rPr lang="en-US" altLang="en-US" sz="2000"/>
            </a:br>
            <a:r>
              <a:rPr lang="en-US" altLang="en-US" sz="2000"/>
              <a:t>	</a:t>
            </a:r>
            <a:r>
              <a:rPr lang="en-US" altLang="en-US" sz="2000" i="1"/>
              <a:t>customer_city</a:t>
            </a:r>
            <a:r>
              <a:rPr lang="en-US" altLang="en-US" sz="2000"/>
              <a:t>     =  {Harrison, Rye, Pittsfield}</a:t>
            </a:r>
            <a:br>
              <a:rPr lang="en-US" altLang="en-US" sz="2000"/>
            </a:br>
            <a:r>
              <a:rPr lang="en-US" altLang="en-US" sz="2000"/>
              <a:t>Then </a:t>
            </a:r>
            <a:r>
              <a:rPr lang="en-US" altLang="en-US" sz="2000" i="1"/>
              <a:t>r</a:t>
            </a:r>
            <a:r>
              <a:rPr lang="en-US" altLang="en-US" sz="2000"/>
              <a:t> = {   (Jones, Main, Harrison), </a:t>
            </a:r>
            <a:br>
              <a:rPr lang="en-US" altLang="en-US" sz="2000"/>
            </a:br>
            <a:r>
              <a:rPr lang="en-US" altLang="en-US" sz="2000"/>
              <a:t>                   (Smith, North, Rye),</a:t>
            </a:r>
            <a:br>
              <a:rPr lang="en-US" altLang="en-US" sz="2000"/>
            </a:br>
            <a:r>
              <a:rPr lang="en-US" altLang="en-US" sz="2000"/>
              <a:t>                   (Curry, North, Rye),</a:t>
            </a:r>
            <a:br>
              <a:rPr lang="en-US" altLang="en-US" sz="2000"/>
            </a:br>
            <a:r>
              <a:rPr lang="en-US" altLang="en-US" sz="2000"/>
              <a:t>                   (Lindsay, Park, Pittsfield) }</a:t>
            </a:r>
            <a:br>
              <a:rPr lang="en-US" altLang="en-US" sz="2000"/>
            </a:br>
            <a:r>
              <a:rPr lang="en-US" altLang="en-US" sz="2000"/>
              <a:t> is a relation over </a:t>
            </a:r>
          </a:p>
          <a:p>
            <a:pPr eaLnBrk="1" hangingPunct="1">
              <a:lnSpc>
                <a:spcPct val="80000"/>
              </a:lnSpc>
              <a:buFontTx/>
              <a:buNone/>
            </a:pPr>
            <a:r>
              <a:rPr lang="en-US" altLang="en-US" sz="2000" i="1"/>
              <a:t>		customer_name , customer_street,  customer_city</a:t>
            </a:r>
            <a:endParaRPr lang="en-US" altLang="en-US" sz="20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94A7F459-26A9-203D-5F6D-C40CDFE1350D}"/>
              </a:ext>
            </a:extLst>
          </p:cNvPr>
          <p:cNvSpPr>
            <a:spLocks noGrp="1" noChangeArrowheads="1"/>
          </p:cNvSpPr>
          <p:nvPr>
            <p:ph type="title"/>
          </p:nvPr>
        </p:nvSpPr>
        <p:spPr>
          <a:xfrm>
            <a:off x="2133600" y="0"/>
            <a:ext cx="7772400" cy="1143000"/>
          </a:xfrm>
        </p:spPr>
        <p:txBody>
          <a:bodyPr/>
          <a:lstStyle/>
          <a:p>
            <a:pPr eaLnBrk="1" hangingPunct="1"/>
            <a:r>
              <a:rPr lang="en-US" altLang="en-US" sz="3200"/>
              <a:t>Attribute Types</a:t>
            </a:r>
          </a:p>
        </p:txBody>
      </p:sp>
      <p:sp>
        <p:nvSpPr>
          <p:cNvPr id="11267" name="Rectangle 3">
            <a:extLst>
              <a:ext uri="{FF2B5EF4-FFF2-40B4-BE49-F238E27FC236}">
                <a16:creationId xmlns:a16="http://schemas.microsoft.com/office/drawing/2014/main" id="{7D3C8594-BFDC-87CB-5027-3D2637A2D889}"/>
              </a:ext>
            </a:extLst>
          </p:cNvPr>
          <p:cNvSpPr>
            <a:spLocks noGrp="1" noChangeArrowheads="1"/>
          </p:cNvSpPr>
          <p:nvPr>
            <p:ph type="body" idx="1"/>
          </p:nvPr>
        </p:nvSpPr>
        <p:spPr>
          <a:xfrm>
            <a:off x="2286000" y="990600"/>
            <a:ext cx="7848600" cy="4876800"/>
          </a:xfrm>
        </p:spPr>
        <p:txBody>
          <a:bodyPr>
            <a:normAutofit fontScale="92500"/>
          </a:bodyPr>
          <a:lstStyle/>
          <a:p>
            <a:pPr eaLnBrk="1" hangingPunct="1"/>
            <a:r>
              <a:rPr lang="en-US" altLang="en-US" sz="2400"/>
              <a:t>Each attribute of a relation has a name</a:t>
            </a:r>
          </a:p>
          <a:p>
            <a:pPr eaLnBrk="1" hangingPunct="1"/>
            <a:r>
              <a:rPr lang="en-US" altLang="en-US" sz="2400"/>
              <a:t>The set of allowed values for each attribute is called the </a:t>
            </a:r>
            <a:r>
              <a:rPr lang="en-US" altLang="en-US" sz="2400" b="1">
                <a:solidFill>
                  <a:schemeClr val="tx2"/>
                </a:solidFill>
              </a:rPr>
              <a:t>domain</a:t>
            </a:r>
            <a:r>
              <a:rPr lang="en-US" altLang="en-US" sz="2400"/>
              <a:t> of the attribute</a:t>
            </a:r>
          </a:p>
          <a:p>
            <a:pPr eaLnBrk="1" hangingPunct="1"/>
            <a:r>
              <a:rPr lang="en-US" altLang="en-US" sz="2400"/>
              <a:t>Attribute values are (normally) required to be </a:t>
            </a:r>
            <a:r>
              <a:rPr lang="en-US" altLang="en-US" sz="2400" b="1">
                <a:solidFill>
                  <a:schemeClr val="tx2"/>
                </a:solidFill>
              </a:rPr>
              <a:t>atomic</a:t>
            </a:r>
            <a:r>
              <a:rPr lang="en-US" altLang="en-US" sz="2400"/>
              <a:t>; that is, indivisible</a:t>
            </a:r>
          </a:p>
          <a:p>
            <a:pPr lvl="1" eaLnBrk="1" hangingPunct="1"/>
            <a:r>
              <a:rPr lang="en-US" altLang="en-US"/>
              <a:t>Note: multivalued attribute values are not atomic ({secretary. clerk}) is example of multivalued attribute </a:t>
            </a:r>
            <a:r>
              <a:rPr lang="en-US" altLang="en-US" i="1"/>
              <a:t>position</a:t>
            </a:r>
          </a:p>
          <a:p>
            <a:pPr lvl="1" eaLnBrk="1" hangingPunct="1"/>
            <a:r>
              <a:rPr lang="en-US" altLang="en-US"/>
              <a:t>Note: composite attribute values are not atomic</a:t>
            </a:r>
          </a:p>
          <a:p>
            <a:pPr eaLnBrk="1" hangingPunct="1"/>
            <a:r>
              <a:rPr lang="en-US" altLang="en-US" sz="2400"/>
              <a:t>The special value </a:t>
            </a:r>
            <a:r>
              <a:rPr lang="en-US" altLang="en-US" sz="2400" i="1"/>
              <a:t>null</a:t>
            </a:r>
            <a:r>
              <a:rPr lang="en-US" altLang="en-US" sz="2400"/>
              <a:t>  is a member of every domain</a:t>
            </a:r>
          </a:p>
          <a:p>
            <a:pPr eaLnBrk="1" hangingPunct="1"/>
            <a:r>
              <a:rPr lang="en-US" altLang="en-US" sz="2400"/>
              <a:t>The null value causes complications in the definition of many operations</a:t>
            </a:r>
          </a:p>
          <a:p>
            <a:pPr lvl="1" eaLnBrk="1" hangingPunct="1"/>
            <a:r>
              <a:rPr lang="en-US" altLang="en-US"/>
              <a:t>We shall ignore the effect of null values in our main presentation and consider their effect later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AAFA19C8-C7D8-D2DE-73A9-CE67B79C788B}"/>
              </a:ext>
            </a:extLst>
          </p:cNvPr>
          <p:cNvSpPr>
            <a:spLocks noGrp="1" noChangeArrowheads="1"/>
          </p:cNvSpPr>
          <p:nvPr>
            <p:ph type="title"/>
          </p:nvPr>
        </p:nvSpPr>
        <p:spPr/>
        <p:txBody>
          <a:bodyPr/>
          <a:lstStyle/>
          <a:p>
            <a:pPr eaLnBrk="1" hangingPunct="1"/>
            <a:r>
              <a:rPr lang="en-US" altLang="en-US" sz="3200"/>
              <a:t>Relation Schema</a:t>
            </a:r>
          </a:p>
        </p:txBody>
      </p:sp>
      <p:sp>
        <p:nvSpPr>
          <p:cNvPr id="12291" name="Rectangle 3">
            <a:extLst>
              <a:ext uri="{FF2B5EF4-FFF2-40B4-BE49-F238E27FC236}">
                <a16:creationId xmlns:a16="http://schemas.microsoft.com/office/drawing/2014/main" id="{6961982F-D957-B323-74F0-F07D3D8B7C19}"/>
              </a:ext>
            </a:extLst>
          </p:cNvPr>
          <p:cNvSpPr>
            <a:spLocks noGrp="1" noChangeArrowheads="1"/>
          </p:cNvSpPr>
          <p:nvPr>
            <p:ph type="body" idx="1"/>
          </p:nvPr>
        </p:nvSpPr>
        <p:spPr>
          <a:xfrm>
            <a:off x="2057400" y="1524000"/>
            <a:ext cx="7848600" cy="4876800"/>
          </a:xfrm>
        </p:spPr>
        <p:txBody>
          <a:bodyPr/>
          <a:lstStyle/>
          <a:p>
            <a:pPr eaLnBrk="1" hangingPunct="1"/>
            <a:r>
              <a:rPr lang="en-US" altLang="en-US" sz="2400" i="1"/>
              <a:t>A</a:t>
            </a:r>
            <a:r>
              <a:rPr lang="en-US" altLang="en-US" sz="2400" baseline="-25000"/>
              <a:t>1</a:t>
            </a:r>
            <a:r>
              <a:rPr lang="en-US" altLang="en-US" sz="2400"/>
              <a:t>, </a:t>
            </a:r>
            <a:r>
              <a:rPr lang="en-US" altLang="en-US" sz="2400" i="1"/>
              <a:t>A</a:t>
            </a:r>
            <a:r>
              <a:rPr lang="en-US" altLang="en-US" sz="2400" baseline="-25000"/>
              <a:t>2</a:t>
            </a:r>
            <a:r>
              <a:rPr lang="en-US" altLang="en-US" sz="2400"/>
              <a:t>, …, </a:t>
            </a:r>
            <a:r>
              <a:rPr lang="en-US" altLang="en-US" sz="2400" i="1"/>
              <a:t>A</a:t>
            </a:r>
            <a:r>
              <a:rPr lang="en-US" altLang="en-US" sz="2400" i="1" baseline="-25000"/>
              <a:t>n</a:t>
            </a:r>
            <a:r>
              <a:rPr lang="en-US" altLang="en-US" sz="2400" i="1"/>
              <a:t> </a:t>
            </a:r>
            <a:r>
              <a:rPr lang="en-US" altLang="en-US" sz="2400"/>
              <a:t>are </a:t>
            </a:r>
            <a:r>
              <a:rPr lang="en-US" altLang="en-US" sz="2400" i="1"/>
              <a:t>attributes</a:t>
            </a:r>
          </a:p>
          <a:p>
            <a:pPr eaLnBrk="1" hangingPunct="1">
              <a:buFontTx/>
              <a:buNone/>
            </a:pPr>
            <a:endParaRPr lang="en-US" altLang="en-US" sz="2400"/>
          </a:p>
          <a:p>
            <a:pPr eaLnBrk="1" hangingPunct="1"/>
            <a:r>
              <a:rPr lang="en-US" altLang="en-US" sz="2400" i="1"/>
              <a:t>R</a:t>
            </a:r>
            <a:r>
              <a:rPr lang="en-US" altLang="en-US" sz="2400"/>
              <a:t> = (</a:t>
            </a:r>
            <a:r>
              <a:rPr lang="en-US" altLang="en-US" sz="2400" i="1"/>
              <a:t>A</a:t>
            </a:r>
            <a:r>
              <a:rPr lang="en-US" altLang="en-US" sz="2400" baseline="-25000"/>
              <a:t>1</a:t>
            </a:r>
            <a:r>
              <a:rPr lang="en-US" altLang="en-US" sz="2400"/>
              <a:t>, </a:t>
            </a:r>
            <a:r>
              <a:rPr lang="en-US" altLang="en-US" sz="2400" i="1"/>
              <a:t>A</a:t>
            </a:r>
            <a:r>
              <a:rPr lang="en-US" altLang="en-US" sz="2400" baseline="-25000"/>
              <a:t>2</a:t>
            </a:r>
            <a:r>
              <a:rPr lang="en-US" altLang="en-US" sz="2400"/>
              <a:t>, …, </a:t>
            </a:r>
            <a:r>
              <a:rPr lang="en-US" altLang="en-US" sz="2400" i="1"/>
              <a:t>A</a:t>
            </a:r>
            <a:r>
              <a:rPr lang="en-US" altLang="en-US" sz="2400" i="1" baseline="-25000"/>
              <a:t>n</a:t>
            </a:r>
            <a:r>
              <a:rPr lang="en-US" altLang="en-US" sz="2400"/>
              <a:t> ) is a </a:t>
            </a:r>
            <a:r>
              <a:rPr lang="en-US" altLang="en-US" sz="2400" i="1"/>
              <a:t>relation schema</a:t>
            </a:r>
          </a:p>
          <a:p>
            <a:pPr eaLnBrk="1" hangingPunct="1">
              <a:lnSpc>
                <a:spcPct val="120000"/>
              </a:lnSpc>
              <a:buFontTx/>
              <a:buNone/>
            </a:pPr>
            <a:r>
              <a:rPr lang="en-US" altLang="en-US" sz="2400"/>
              <a:t>	Example:</a:t>
            </a:r>
          </a:p>
          <a:p>
            <a:pPr eaLnBrk="1" hangingPunct="1">
              <a:lnSpc>
                <a:spcPct val="120000"/>
              </a:lnSpc>
              <a:buFontTx/>
              <a:buNone/>
            </a:pPr>
            <a:r>
              <a:rPr lang="en-US" altLang="en-US" sz="2400"/>
              <a:t>	</a:t>
            </a:r>
            <a:r>
              <a:rPr lang="en-US" altLang="en-US" sz="2400" i="1"/>
              <a:t>Customer_schema</a:t>
            </a:r>
            <a:r>
              <a:rPr lang="en-US" altLang="en-US" sz="2400"/>
              <a:t> = (</a:t>
            </a:r>
            <a:r>
              <a:rPr lang="en-US" altLang="en-US" sz="2400" i="1"/>
              <a:t>customer_name, customer_street, customer_city</a:t>
            </a:r>
            <a:r>
              <a:rPr lang="en-US" altLang="en-US" sz="2400"/>
              <a:t>)</a:t>
            </a:r>
          </a:p>
          <a:p>
            <a:pPr eaLnBrk="1" hangingPunct="1">
              <a:lnSpc>
                <a:spcPct val="120000"/>
              </a:lnSpc>
              <a:buFontTx/>
              <a:buNone/>
            </a:pPr>
            <a:endParaRPr lang="en-US" altLang="en-US" sz="2400"/>
          </a:p>
          <a:p>
            <a:pPr eaLnBrk="1" hangingPunct="1"/>
            <a:r>
              <a:rPr lang="en-US" altLang="en-US" sz="2400" i="1"/>
              <a:t>r</a:t>
            </a:r>
            <a:r>
              <a:rPr lang="en-US" altLang="en-US" sz="2400"/>
              <a:t>(</a:t>
            </a:r>
            <a:r>
              <a:rPr lang="en-US" altLang="en-US" sz="2400" i="1"/>
              <a:t>R</a:t>
            </a:r>
            <a:r>
              <a:rPr lang="en-US" altLang="en-US" sz="2400"/>
              <a:t>) is a </a:t>
            </a:r>
            <a:r>
              <a:rPr lang="en-US" altLang="en-US" sz="2400" i="1"/>
              <a:t>relation</a:t>
            </a:r>
            <a:r>
              <a:rPr lang="en-US" altLang="en-US" sz="2400"/>
              <a:t> on the </a:t>
            </a:r>
            <a:r>
              <a:rPr lang="en-US" altLang="en-US" sz="2400" i="1"/>
              <a:t>relation schema R</a:t>
            </a:r>
            <a:endParaRPr lang="en-US" altLang="en-US" sz="2400"/>
          </a:p>
          <a:p>
            <a:pPr eaLnBrk="1" hangingPunct="1">
              <a:buFontTx/>
              <a:buNone/>
            </a:pPr>
            <a:r>
              <a:rPr lang="en-US" altLang="en-US" sz="2400"/>
              <a:t>	Example:</a:t>
            </a:r>
          </a:p>
          <a:p>
            <a:pPr eaLnBrk="1" hangingPunct="1">
              <a:buFontTx/>
              <a:buNone/>
            </a:pPr>
            <a:r>
              <a:rPr lang="en-US" altLang="en-US" sz="2400"/>
              <a:t>	</a:t>
            </a:r>
            <a:r>
              <a:rPr lang="en-US" altLang="en-US" sz="2400" i="1"/>
              <a:t>customer (Customer_schema)</a:t>
            </a:r>
            <a:endParaRPr lang="en-US" altLang="en-US" sz="24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F17BF104-3889-C146-8C69-BD69B76AE4A7}"/>
              </a:ext>
            </a:extLst>
          </p:cNvPr>
          <p:cNvSpPr>
            <a:spLocks noGrp="1" noChangeArrowheads="1"/>
          </p:cNvSpPr>
          <p:nvPr>
            <p:ph type="title"/>
          </p:nvPr>
        </p:nvSpPr>
        <p:spPr/>
        <p:txBody>
          <a:bodyPr/>
          <a:lstStyle/>
          <a:p>
            <a:pPr eaLnBrk="1" hangingPunct="1"/>
            <a:r>
              <a:rPr lang="en-US" altLang="en-US" sz="3200"/>
              <a:t>Relation Instance</a:t>
            </a:r>
          </a:p>
        </p:txBody>
      </p:sp>
      <p:sp>
        <p:nvSpPr>
          <p:cNvPr id="13315" name="Rectangle 3">
            <a:extLst>
              <a:ext uri="{FF2B5EF4-FFF2-40B4-BE49-F238E27FC236}">
                <a16:creationId xmlns:a16="http://schemas.microsoft.com/office/drawing/2014/main" id="{D28C12D3-88B3-A4FD-4D18-5480D8C20225}"/>
              </a:ext>
            </a:extLst>
          </p:cNvPr>
          <p:cNvSpPr>
            <a:spLocks noGrp="1" noChangeArrowheads="1"/>
          </p:cNvSpPr>
          <p:nvPr>
            <p:ph type="body" idx="1"/>
          </p:nvPr>
        </p:nvSpPr>
        <p:spPr>
          <a:xfrm>
            <a:off x="2286000" y="1752601"/>
            <a:ext cx="7404100" cy="1979613"/>
          </a:xfrm>
        </p:spPr>
        <p:txBody>
          <a:bodyPr/>
          <a:lstStyle/>
          <a:p>
            <a:pPr eaLnBrk="1" hangingPunct="1"/>
            <a:r>
              <a:rPr lang="en-US" altLang="en-US" sz="2400"/>
              <a:t>The current values (</a:t>
            </a:r>
            <a:r>
              <a:rPr lang="en-US" altLang="en-US" sz="2400" i="1"/>
              <a:t>relation instance</a:t>
            </a:r>
            <a:r>
              <a:rPr lang="en-US" altLang="en-US" sz="2400"/>
              <a:t>) of a relation are specified by a table</a:t>
            </a:r>
          </a:p>
          <a:p>
            <a:pPr eaLnBrk="1" hangingPunct="1"/>
            <a:r>
              <a:rPr lang="en-US" altLang="en-US" sz="2400"/>
              <a:t>An element </a:t>
            </a:r>
            <a:r>
              <a:rPr lang="en-US" altLang="en-US" sz="2400" i="1"/>
              <a:t>t</a:t>
            </a:r>
            <a:r>
              <a:rPr lang="en-US" altLang="en-US" sz="2400"/>
              <a:t> of </a:t>
            </a:r>
            <a:r>
              <a:rPr lang="en-US" altLang="en-US" sz="2400" i="1"/>
              <a:t>r</a:t>
            </a:r>
            <a:r>
              <a:rPr lang="en-US" altLang="en-US" sz="2400"/>
              <a:t> is a </a:t>
            </a:r>
            <a:r>
              <a:rPr lang="en-US" altLang="en-US" sz="2400" i="1"/>
              <a:t>tuple</a:t>
            </a:r>
            <a:r>
              <a:rPr lang="en-US" altLang="en-US" sz="2400"/>
              <a:t>, represented by a </a:t>
            </a:r>
            <a:r>
              <a:rPr lang="en-US" altLang="en-US" sz="2400" i="1"/>
              <a:t>row </a:t>
            </a:r>
            <a:r>
              <a:rPr lang="en-US" altLang="en-US" sz="2400"/>
              <a:t>in a table</a:t>
            </a:r>
          </a:p>
        </p:txBody>
      </p:sp>
      <p:sp>
        <p:nvSpPr>
          <p:cNvPr id="13316" name="Rectangle 4">
            <a:extLst>
              <a:ext uri="{FF2B5EF4-FFF2-40B4-BE49-F238E27FC236}">
                <a16:creationId xmlns:a16="http://schemas.microsoft.com/office/drawing/2014/main" id="{0B0372E0-A15C-D3C1-E8DF-F681CC6A583D}"/>
              </a:ext>
            </a:extLst>
          </p:cNvPr>
          <p:cNvSpPr>
            <a:spLocks noChangeArrowheads="1"/>
          </p:cNvSpPr>
          <p:nvPr/>
        </p:nvSpPr>
        <p:spPr bwMode="auto">
          <a:xfrm>
            <a:off x="3352800" y="3657600"/>
            <a:ext cx="1752600" cy="1524000"/>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r>
              <a:rPr lang="en-US" altLang="en-US" i="1">
                <a:latin typeface="Helvetica" panose="020B0604020202020204" pitchFamily="34" charset="0"/>
              </a:rPr>
              <a:t>Jones</a:t>
            </a:r>
          </a:p>
          <a:p>
            <a:r>
              <a:rPr lang="en-US" altLang="en-US" i="1">
                <a:latin typeface="Helvetica" panose="020B0604020202020204" pitchFamily="34" charset="0"/>
              </a:rPr>
              <a:t>Smith</a:t>
            </a:r>
          </a:p>
          <a:p>
            <a:r>
              <a:rPr lang="en-US" altLang="en-US" i="1">
                <a:latin typeface="Helvetica" panose="020B0604020202020204" pitchFamily="34" charset="0"/>
              </a:rPr>
              <a:t>Curry</a:t>
            </a:r>
          </a:p>
          <a:p>
            <a:r>
              <a:rPr lang="en-US" altLang="en-US" i="1">
                <a:latin typeface="Helvetica" panose="020B0604020202020204" pitchFamily="34" charset="0"/>
              </a:rPr>
              <a:t>Lindsay</a:t>
            </a:r>
          </a:p>
        </p:txBody>
      </p:sp>
      <p:sp>
        <p:nvSpPr>
          <p:cNvPr id="13317" name="Rectangle 5">
            <a:extLst>
              <a:ext uri="{FF2B5EF4-FFF2-40B4-BE49-F238E27FC236}">
                <a16:creationId xmlns:a16="http://schemas.microsoft.com/office/drawing/2014/main" id="{F5929885-4F43-CE2E-38F6-164E3DE1D5FF}"/>
              </a:ext>
            </a:extLst>
          </p:cNvPr>
          <p:cNvSpPr>
            <a:spLocks noChangeArrowheads="1"/>
          </p:cNvSpPr>
          <p:nvPr/>
        </p:nvSpPr>
        <p:spPr bwMode="auto">
          <a:xfrm>
            <a:off x="3322638" y="3324225"/>
            <a:ext cx="1752600" cy="381000"/>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r>
              <a:rPr lang="en-US" altLang="en-US" i="1">
                <a:latin typeface="Helvetica" panose="020B0604020202020204" pitchFamily="34" charset="0"/>
              </a:rPr>
              <a:t>customer_name</a:t>
            </a:r>
          </a:p>
        </p:txBody>
      </p:sp>
      <p:sp>
        <p:nvSpPr>
          <p:cNvPr id="13318" name="Rectangle 6">
            <a:extLst>
              <a:ext uri="{FF2B5EF4-FFF2-40B4-BE49-F238E27FC236}">
                <a16:creationId xmlns:a16="http://schemas.microsoft.com/office/drawing/2014/main" id="{6C39AD19-0EDE-B246-405E-11694A830712}"/>
              </a:ext>
            </a:extLst>
          </p:cNvPr>
          <p:cNvSpPr>
            <a:spLocks noChangeArrowheads="1"/>
          </p:cNvSpPr>
          <p:nvPr/>
        </p:nvSpPr>
        <p:spPr bwMode="auto">
          <a:xfrm>
            <a:off x="5105400" y="3657600"/>
            <a:ext cx="1752600" cy="1524000"/>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r>
              <a:rPr lang="en-US" altLang="en-US">
                <a:latin typeface="Helvetica" panose="020B0604020202020204" pitchFamily="34" charset="0"/>
              </a:rPr>
              <a:t>Main</a:t>
            </a:r>
          </a:p>
          <a:p>
            <a:r>
              <a:rPr lang="en-US" altLang="en-US">
                <a:latin typeface="Helvetica" panose="020B0604020202020204" pitchFamily="34" charset="0"/>
              </a:rPr>
              <a:t>North</a:t>
            </a:r>
          </a:p>
          <a:p>
            <a:r>
              <a:rPr lang="en-US" altLang="en-US">
                <a:latin typeface="Helvetica" panose="020B0604020202020204" pitchFamily="34" charset="0"/>
              </a:rPr>
              <a:t>North</a:t>
            </a:r>
          </a:p>
          <a:p>
            <a:r>
              <a:rPr lang="en-US" altLang="en-US">
                <a:latin typeface="Helvetica" panose="020B0604020202020204" pitchFamily="34" charset="0"/>
              </a:rPr>
              <a:t>Park</a:t>
            </a:r>
          </a:p>
        </p:txBody>
      </p:sp>
      <p:sp>
        <p:nvSpPr>
          <p:cNvPr id="13319" name="Rectangle 7">
            <a:extLst>
              <a:ext uri="{FF2B5EF4-FFF2-40B4-BE49-F238E27FC236}">
                <a16:creationId xmlns:a16="http://schemas.microsoft.com/office/drawing/2014/main" id="{9D810B2C-82FB-345C-A53E-B20E322C91A5}"/>
              </a:ext>
            </a:extLst>
          </p:cNvPr>
          <p:cNvSpPr>
            <a:spLocks noChangeArrowheads="1"/>
          </p:cNvSpPr>
          <p:nvPr/>
        </p:nvSpPr>
        <p:spPr bwMode="auto">
          <a:xfrm>
            <a:off x="5075238" y="3324225"/>
            <a:ext cx="1752600" cy="381000"/>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r>
              <a:rPr lang="en-US" altLang="en-US" i="1">
                <a:latin typeface="Helvetica" panose="020B0604020202020204" pitchFamily="34" charset="0"/>
              </a:rPr>
              <a:t>customer_street</a:t>
            </a:r>
          </a:p>
        </p:txBody>
      </p:sp>
      <p:sp>
        <p:nvSpPr>
          <p:cNvPr id="13320" name="Rectangle 8">
            <a:extLst>
              <a:ext uri="{FF2B5EF4-FFF2-40B4-BE49-F238E27FC236}">
                <a16:creationId xmlns:a16="http://schemas.microsoft.com/office/drawing/2014/main" id="{4B6DB6AC-8774-B03A-61B6-FA6643B983D6}"/>
              </a:ext>
            </a:extLst>
          </p:cNvPr>
          <p:cNvSpPr>
            <a:spLocks noChangeArrowheads="1"/>
          </p:cNvSpPr>
          <p:nvPr/>
        </p:nvSpPr>
        <p:spPr bwMode="auto">
          <a:xfrm>
            <a:off x="6858000" y="3657600"/>
            <a:ext cx="1752600" cy="1524000"/>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r>
              <a:rPr lang="en-US" altLang="en-US">
                <a:latin typeface="Helvetica" panose="020B0604020202020204" pitchFamily="34" charset="0"/>
              </a:rPr>
              <a:t>Harrison</a:t>
            </a:r>
          </a:p>
          <a:p>
            <a:r>
              <a:rPr lang="en-US" altLang="en-US">
                <a:latin typeface="Helvetica" panose="020B0604020202020204" pitchFamily="34" charset="0"/>
              </a:rPr>
              <a:t>Rye</a:t>
            </a:r>
          </a:p>
          <a:p>
            <a:r>
              <a:rPr lang="en-US" altLang="en-US">
                <a:latin typeface="Helvetica" panose="020B0604020202020204" pitchFamily="34" charset="0"/>
              </a:rPr>
              <a:t>Rye</a:t>
            </a:r>
          </a:p>
          <a:p>
            <a:r>
              <a:rPr lang="en-US" altLang="en-US">
                <a:latin typeface="Helvetica" panose="020B0604020202020204" pitchFamily="34" charset="0"/>
              </a:rPr>
              <a:t>Pittsfield</a:t>
            </a:r>
          </a:p>
        </p:txBody>
      </p:sp>
      <p:sp>
        <p:nvSpPr>
          <p:cNvPr id="13321" name="Rectangle 9">
            <a:extLst>
              <a:ext uri="{FF2B5EF4-FFF2-40B4-BE49-F238E27FC236}">
                <a16:creationId xmlns:a16="http://schemas.microsoft.com/office/drawing/2014/main" id="{3DFF4610-0750-9ED1-F8A9-DB339AD463C4}"/>
              </a:ext>
            </a:extLst>
          </p:cNvPr>
          <p:cNvSpPr>
            <a:spLocks noChangeArrowheads="1"/>
          </p:cNvSpPr>
          <p:nvPr/>
        </p:nvSpPr>
        <p:spPr bwMode="auto">
          <a:xfrm>
            <a:off x="6827838" y="3324225"/>
            <a:ext cx="1752600" cy="381000"/>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r>
              <a:rPr lang="en-US" altLang="en-US">
                <a:latin typeface="Helvetica" panose="020B0604020202020204" pitchFamily="34" charset="0"/>
              </a:rPr>
              <a:t>customer_city</a:t>
            </a:r>
          </a:p>
        </p:txBody>
      </p:sp>
      <p:sp>
        <p:nvSpPr>
          <p:cNvPr id="13322" name="Text Box 10">
            <a:extLst>
              <a:ext uri="{FF2B5EF4-FFF2-40B4-BE49-F238E27FC236}">
                <a16:creationId xmlns:a16="http://schemas.microsoft.com/office/drawing/2014/main" id="{D67E508F-E901-3A67-426D-C0811C97E2D7}"/>
              </a:ext>
            </a:extLst>
          </p:cNvPr>
          <p:cNvSpPr txBox="1">
            <a:spLocks noChangeArrowheads="1"/>
          </p:cNvSpPr>
          <p:nvPr/>
        </p:nvSpPr>
        <p:spPr bwMode="auto">
          <a:xfrm>
            <a:off x="5456238" y="5305426"/>
            <a:ext cx="11239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spcBef>
                <a:spcPct val="50000"/>
              </a:spcBef>
            </a:pPr>
            <a:r>
              <a:rPr lang="en-US" altLang="en-US" i="1">
                <a:latin typeface="Helvetica" panose="020B0604020202020204" pitchFamily="34" charset="0"/>
              </a:rPr>
              <a:t>customer</a:t>
            </a:r>
          </a:p>
        </p:txBody>
      </p:sp>
      <p:sp>
        <p:nvSpPr>
          <p:cNvPr id="13323" name="Text Box 11">
            <a:extLst>
              <a:ext uri="{FF2B5EF4-FFF2-40B4-BE49-F238E27FC236}">
                <a16:creationId xmlns:a16="http://schemas.microsoft.com/office/drawing/2014/main" id="{6AEC7C7F-68F0-F4AE-B1F3-F7ED268E85C4}"/>
              </a:ext>
            </a:extLst>
          </p:cNvPr>
          <p:cNvSpPr txBox="1">
            <a:spLocks noChangeArrowheads="1"/>
          </p:cNvSpPr>
          <p:nvPr/>
        </p:nvSpPr>
        <p:spPr bwMode="auto">
          <a:xfrm>
            <a:off x="8534400" y="2895600"/>
            <a:ext cx="14541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r>
              <a:rPr lang="en-US" altLang="en-US">
                <a:latin typeface="Helvetica" panose="020B0604020202020204" pitchFamily="34" charset="0"/>
              </a:rPr>
              <a:t>attributes</a:t>
            </a:r>
          </a:p>
          <a:p>
            <a:pPr algn="ctr"/>
            <a:r>
              <a:rPr lang="en-US" altLang="en-US">
                <a:latin typeface="Helvetica" panose="020B0604020202020204" pitchFamily="34" charset="0"/>
              </a:rPr>
              <a:t>(or columns)</a:t>
            </a:r>
          </a:p>
        </p:txBody>
      </p:sp>
      <p:sp>
        <p:nvSpPr>
          <p:cNvPr id="13324" name="Line 12">
            <a:extLst>
              <a:ext uri="{FF2B5EF4-FFF2-40B4-BE49-F238E27FC236}">
                <a16:creationId xmlns:a16="http://schemas.microsoft.com/office/drawing/2014/main" id="{E5AA174C-0D28-6B74-4A30-6E26F8FC249E}"/>
              </a:ext>
            </a:extLst>
          </p:cNvPr>
          <p:cNvSpPr>
            <a:spLocks noChangeShapeType="1"/>
          </p:cNvSpPr>
          <p:nvPr/>
        </p:nvSpPr>
        <p:spPr bwMode="auto">
          <a:xfrm flipH="1">
            <a:off x="4313238" y="2986089"/>
            <a:ext cx="4329112" cy="31273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3325" name="Line 13">
            <a:extLst>
              <a:ext uri="{FF2B5EF4-FFF2-40B4-BE49-F238E27FC236}">
                <a16:creationId xmlns:a16="http://schemas.microsoft.com/office/drawing/2014/main" id="{8257E1E5-31DE-8F3E-E5BD-6EA7BBC9DBB7}"/>
              </a:ext>
            </a:extLst>
          </p:cNvPr>
          <p:cNvSpPr>
            <a:spLocks noChangeShapeType="1"/>
          </p:cNvSpPr>
          <p:nvPr/>
        </p:nvSpPr>
        <p:spPr bwMode="auto">
          <a:xfrm flipH="1">
            <a:off x="6096001" y="2974975"/>
            <a:ext cx="2557463" cy="32385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3326" name="Line 14">
            <a:extLst>
              <a:ext uri="{FF2B5EF4-FFF2-40B4-BE49-F238E27FC236}">
                <a16:creationId xmlns:a16="http://schemas.microsoft.com/office/drawing/2014/main" id="{F7110BCE-5D01-4CF5-B3F2-B9D15D47902A}"/>
              </a:ext>
            </a:extLst>
          </p:cNvPr>
          <p:cNvSpPr>
            <a:spLocks noChangeShapeType="1"/>
          </p:cNvSpPr>
          <p:nvPr/>
        </p:nvSpPr>
        <p:spPr bwMode="auto">
          <a:xfrm flipH="1">
            <a:off x="7820025" y="2974975"/>
            <a:ext cx="844550" cy="32385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3327" name="Text Box 15">
            <a:extLst>
              <a:ext uri="{FF2B5EF4-FFF2-40B4-BE49-F238E27FC236}">
                <a16:creationId xmlns:a16="http://schemas.microsoft.com/office/drawing/2014/main" id="{466F7867-85DA-6497-5CC2-8FB401882DD9}"/>
              </a:ext>
            </a:extLst>
          </p:cNvPr>
          <p:cNvSpPr txBox="1">
            <a:spLocks noChangeArrowheads="1"/>
          </p:cNvSpPr>
          <p:nvPr/>
        </p:nvSpPr>
        <p:spPr bwMode="auto">
          <a:xfrm>
            <a:off x="8842375" y="4144963"/>
            <a:ext cx="10858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r>
              <a:rPr lang="en-US" altLang="en-US">
                <a:latin typeface="Helvetica" panose="020B0604020202020204" pitchFamily="34" charset="0"/>
              </a:rPr>
              <a:t>tuples</a:t>
            </a:r>
          </a:p>
          <a:p>
            <a:pPr algn="ctr"/>
            <a:r>
              <a:rPr lang="en-US" altLang="en-US">
                <a:latin typeface="Helvetica" panose="020B0604020202020204" pitchFamily="34" charset="0"/>
              </a:rPr>
              <a:t>(or rows)</a:t>
            </a:r>
          </a:p>
        </p:txBody>
      </p:sp>
      <p:sp>
        <p:nvSpPr>
          <p:cNvPr id="13328" name="Line 16">
            <a:extLst>
              <a:ext uri="{FF2B5EF4-FFF2-40B4-BE49-F238E27FC236}">
                <a16:creationId xmlns:a16="http://schemas.microsoft.com/office/drawing/2014/main" id="{A777187E-6238-6CB7-F089-88EA36DE0E0A}"/>
              </a:ext>
            </a:extLst>
          </p:cNvPr>
          <p:cNvSpPr>
            <a:spLocks noChangeShapeType="1"/>
          </p:cNvSpPr>
          <p:nvPr/>
        </p:nvSpPr>
        <p:spPr bwMode="auto">
          <a:xfrm flipH="1" flipV="1">
            <a:off x="8596314" y="4110038"/>
            <a:ext cx="369887" cy="22066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3329" name="Line 17">
            <a:extLst>
              <a:ext uri="{FF2B5EF4-FFF2-40B4-BE49-F238E27FC236}">
                <a16:creationId xmlns:a16="http://schemas.microsoft.com/office/drawing/2014/main" id="{EE1BAD9F-AEDF-3129-FF34-6D90073516C5}"/>
              </a:ext>
            </a:extLst>
          </p:cNvPr>
          <p:cNvSpPr>
            <a:spLocks noChangeShapeType="1"/>
          </p:cNvSpPr>
          <p:nvPr/>
        </p:nvSpPr>
        <p:spPr bwMode="auto">
          <a:xfrm flipH="1">
            <a:off x="8583614" y="4329113"/>
            <a:ext cx="369887" cy="111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3330" name="Line 18">
            <a:extLst>
              <a:ext uri="{FF2B5EF4-FFF2-40B4-BE49-F238E27FC236}">
                <a16:creationId xmlns:a16="http://schemas.microsoft.com/office/drawing/2014/main" id="{1D316C1B-EE7F-699B-7A9A-6CABE7644C1E}"/>
              </a:ext>
            </a:extLst>
          </p:cNvPr>
          <p:cNvSpPr>
            <a:spLocks noChangeShapeType="1"/>
          </p:cNvSpPr>
          <p:nvPr/>
        </p:nvSpPr>
        <p:spPr bwMode="auto">
          <a:xfrm flipH="1">
            <a:off x="8572501" y="4340225"/>
            <a:ext cx="392113" cy="31273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3331" name="Line 19">
            <a:extLst>
              <a:ext uri="{FF2B5EF4-FFF2-40B4-BE49-F238E27FC236}">
                <a16:creationId xmlns:a16="http://schemas.microsoft.com/office/drawing/2014/main" id="{098BF6A5-AC00-870B-A820-6A66B7295D7D}"/>
              </a:ext>
            </a:extLst>
          </p:cNvPr>
          <p:cNvSpPr>
            <a:spLocks noChangeShapeType="1"/>
          </p:cNvSpPr>
          <p:nvPr/>
        </p:nvSpPr>
        <p:spPr bwMode="auto">
          <a:xfrm flipH="1">
            <a:off x="8583613" y="4349751"/>
            <a:ext cx="381000" cy="5556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A49C1A4D-272E-DBDE-BB6B-73183AC624D0}"/>
              </a:ext>
            </a:extLst>
          </p:cNvPr>
          <p:cNvSpPr>
            <a:spLocks noGrp="1" noChangeArrowheads="1"/>
          </p:cNvSpPr>
          <p:nvPr>
            <p:ph type="title"/>
          </p:nvPr>
        </p:nvSpPr>
        <p:spPr>
          <a:xfrm>
            <a:off x="2286000" y="0"/>
            <a:ext cx="7772400" cy="1143000"/>
          </a:xfrm>
        </p:spPr>
        <p:txBody>
          <a:bodyPr/>
          <a:lstStyle/>
          <a:p>
            <a:pPr eaLnBrk="1" hangingPunct="1"/>
            <a:r>
              <a:rPr lang="en-US" altLang="en-US" sz="3200"/>
              <a:t>Database</a:t>
            </a:r>
          </a:p>
        </p:txBody>
      </p:sp>
      <p:sp>
        <p:nvSpPr>
          <p:cNvPr id="14339" name="Rectangle 3">
            <a:extLst>
              <a:ext uri="{FF2B5EF4-FFF2-40B4-BE49-F238E27FC236}">
                <a16:creationId xmlns:a16="http://schemas.microsoft.com/office/drawing/2014/main" id="{8E5CE115-8616-6AFE-3F4E-B6B6C9DDF98A}"/>
              </a:ext>
            </a:extLst>
          </p:cNvPr>
          <p:cNvSpPr>
            <a:spLocks noGrp="1" noChangeArrowheads="1"/>
          </p:cNvSpPr>
          <p:nvPr>
            <p:ph type="body" idx="1"/>
          </p:nvPr>
        </p:nvSpPr>
        <p:spPr>
          <a:xfrm>
            <a:off x="2286000" y="914400"/>
            <a:ext cx="7704138" cy="5176838"/>
          </a:xfrm>
        </p:spPr>
        <p:txBody>
          <a:bodyPr>
            <a:normAutofit lnSpcReduction="10000"/>
          </a:bodyPr>
          <a:lstStyle/>
          <a:p>
            <a:pPr eaLnBrk="1" hangingPunct="1">
              <a:lnSpc>
                <a:spcPct val="90000"/>
              </a:lnSpc>
              <a:spcBef>
                <a:spcPct val="60000"/>
              </a:spcBef>
            </a:pPr>
            <a:r>
              <a:rPr lang="en-US" altLang="en-US" sz="2400"/>
              <a:t>A database consists of multiple relations</a:t>
            </a:r>
          </a:p>
          <a:p>
            <a:pPr eaLnBrk="1" hangingPunct="1">
              <a:lnSpc>
                <a:spcPct val="90000"/>
              </a:lnSpc>
              <a:spcBef>
                <a:spcPct val="60000"/>
              </a:spcBef>
            </a:pPr>
            <a:r>
              <a:rPr lang="en-US" altLang="en-US" sz="2400"/>
              <a:t>Information about an enterprise is broken up into parts, with  each relation storing one part of the information</a:t>
            </a:r>
          </a:p>
          <a:p>
            <a:pPr eaLnBrk="1" hangingPunct="1">
              <a:lnSpc>
                <a:spcPct val="110000"/>
              </a:lnSpc>
              <a:spcBef>
                <a:spcPct val="60000"/>
              </a:spcBef>
              <a:buFontTx/>
              <a:buNone/>
            </a:pPr>
            <a:r>
              <a:rPr lang="en-US" altLang="en-US" sz="2400"/>
              <a:t>		</a:t>
            </a:r>
            <a:r>
              <a:rPr lang="en-US" altLang="en-US" sz="2400" i="1"/>
              <a:t>account </a:t>
            </a:r>
            <a:r>
              <a:rPr lang="en-US" altLang="en-US" sz="2400"/>
              <a:t>:   stores information about accounts</a:t>
            </a:r>
            <a:br>
              <a:rPr lang="en-US" altLang="en-US" sz="2400"/>
            </a:br>
            <a:r>
              <a:rPr lang="en-US" altLang="en-US" sz="2400"/>
              <a:t>        </a:t>
            </a:r>
            <a:r>
              <a:rPr lang="en-US" altLang="en-US" sz="2400" i="1"/>
              <a:t>depositor </a:t>
            </a:r>
            <a:r>
              <a:rPr lang="en-US" altLang="en-US" sz="2400"/>
              <a:t>: stores information about which customer</a:t>
            </a:r>
            <a:br>
              <a:rPr lang="en-US" altLang="en-US" sz="2400"/>
            </a:br>
            <a:r>
              <a:rPr lang="en-US" altLang="en-US" sz="2400"/>
              <a:t>                          owns which account </a:t>
            </a:r>
            <a:br>
              <a:rPr lang="en-US" altLang="en-US" sz="2400"/>
            </a:br>
            <a:r>
              <a:rPr lang="en-US" altLang="en-US" sz="2400"/>
              <a:t>        </a:t>
            </a:r>
            <a:r>
              <a:rPr lang="en-US" altLang="en-US" sz="2400" i="1"/>
              <a:t>customer </a:t>
            </a:r>
            <a:r>
              <a:rPr lang="en-US" altLang="en-US" sz="2400"/>
              <a:t>: stores information about customers</a:t>
            </a:r>
          </a:p>
          <a:p>
            <a:pPr eaLnBrk="1" hangingPunct="1">
              <a:lnSpc>
                <a:spcPct val="110000"/>
              </a:lnSpc>
              <a:spcBef>
                <a:spcPct val="60000"/>
              </a:spcBef>
            </a:pPr>
            <a:r>
              <a:rPr lang="en-US" altLang="en-US" sz="2400"/>
              <a:t>Storing all information as a single relation such as </a:t>
            </a:r>
            <a:br>
              <a:rPr lang="en-US" altLang="en-US" sz="2400"/>
            </a:br>
            <a:r>
              <a:rPr lang="en-US" altLang="en-US" sz="2400"/>
              <a:t>   </a:t>
            </a:r>
            <a:r>
              <a:rPr lang="en-US" altLang="en-US" sz="2400" i="1"/>
              <a:t>bank</a:t>
            </a:r>
            <a:r>
              <a:rPr lang="en-US" altLang="en-US" sz="2400"/>
              <a:t>(</a:t>
            </a:r>
            <a:r>
              <a:rPr lang="en-US" altLang="en-US" sz="2400" i="1"/>
              <a:t>account_number, balance, customer_name</a:t>
            </a:r>
            <a:r>
              <a:rPr lang="en-US" altLang="en-US" sz="2400"/>
              <a:t>, ..)</a:t>
            </a:r>
            <a:br>
              <a:rPr lang="en-US" altLang="en-US" sz="2400"/>
            </a:br>
            <a:r>
              <a:rPr lang="en-US" altLang="en-US" sz="2400"/>
              <a:t>results in repetition of information (e.g., two customers own an account) and</a:t>
            </a:r>
            <a:r>
              <a:rPr lang="en-US" altLang="en-US" sz="2000"/>
              <a:t> </a:t>
            </a:r>
            <a:r>
              <a:rPr lang="en-US" altLang="en-US" sz="2400"/>
              <a:t>the need for null values  (e.g., represent a customer without an account)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4382F8DE-2DF8-2B35-DCDD-D3BFD390B582}"/>
              </a:ext>
            </a:extLst>
          </p:cNvPr>
          <p:cNvSpPr>
            <a:spLocks noGrp="1" noChangeArrowheads="1"/>
          </p:cNvSpPr>
          <p:nvPr>
            <p:ph type="title"/>
          </p:nvPr>
        </p:nvSpPr>
        <p:spPr>
          <a:xfrm>
            <a:off x="2209800" y="0"/>
            <a:ext cx="7772400" cy="1143000"/>
          </a:xfrm>
        </p:spPr>
        <p:txBody>
          <a:bodyPr/>
          <a:lstStyle/>
          <a:p>
            <a:pPr eaLnBrk="1" hangingPunct="1"/>
            <a:r>
              <a:rPr lang="en-US" altLang="en-US" sz="3200"/>
              <a:t>Query Languages</a:t>
            </a:r>
          </a:p>
        </p:txBody>
      </p:sp>
      <p:sp>
        <p:nvSpPr>
          <p:cNvPr id="15363" name="Rectangle 3">
            <a:extLst>
              <a:ext uri="{FF2B5EF4-FFF2-40B4-BE49-F238E27FC236}">
                <a16:creationId xmlns:a16="http://schemas.microsoft.com/office/drawing/2014/main" id="{F7BD5711-8F5C-1234-8AA6-67885ED3E791}"/>
              </a:ext>
            </a:extLst>
          </p:cNvPr>
          <p:cNvSpPr>
            <a:spLocks noGrp="1" noChangeArrowheads="1"/>
          </p:cNvSpPr>
          <p:nvPr>
            <p:ph type="body" idx="1"/>
          </p:nvPr>
        </p:nvSpPr>
        <p:spPr>
          <a:xfrm>
            <a:off x="2209800" y="1219200"/>
            <a:ext cx="7848600" cy="4876800"/>
          </a:xfrm>
        </p:spPr>
        <p:txBody>
          <a:bodyPr/>
          <a:lstStyle/>
          <a:p>
            <a:pPr eaLnBrk="1" hangingPunct="1"/>
            <a:r>
              <a:rPr lang="en-US" altLang="en-US" sz="2400"/>
              <a:t>Language in which user requests information from the database.</a:t>
            </a:r>
          </a:p>
          <a:p>
            <a:pPr eaLnBrk="1" hangingPunct="1"/>
            <a:r>
              <a:rPr lang="en-US" altLang="en-US" sz="2400"/>
              <a:t>Categories of languages</a:t>
            </a:r>
          </a:p>
          <a:p>
            <a:pPr lvl="1" eaLnBrk="1" hangingPunct="1"/>
            <a:r>
              <a:rPr lang="en-US" altLang="en-US"/>
              <a:t>Procedural</a:t>
            </a:r>
          </a:p>
          <a:p>
            <a:pPr lvl="1" eaLnBrk="1" hangingPunct="1"/>
            <a:r>
              <a:rPr lang="en-US" altLang="en-US"/>
              <a:t>Non-procedural, or declarative</a:t>
            </a:r>
          </a:p>
          <a:p>
            <a:pPr eaLnBrk="1" hangingPunct="1"/>
            <a:r>
              <a:rPr lang="en-US" altLang="en-US" sz="2400"/>
              <a:t>“Pure” Procedural languages:</a:t>
            </a:r>
          </a:p>
          <a:p>
            <a:pPr lvl="1" eaLnBrk="1" hangingPunct="1"/>
            <a:r>
              <a:rPr lang="en-US" altLang="en-US"/>
              <a:t>Relational algebra</a:t>
            </a:r>
          </a:p>
          <a:p>
            <a:pPr lvl="1" eaLnBrk="1" hangingPunct="1"/>
            <a:r>
              <a:rPr lang="en-US" altLang="en-US"/>
              <a:t>Tuple relational calculus</a:t>
            </a:r>
          </a:p>
          <a:p>
            <a:pPr lvl="1" eaLnBrk="1" hangingPunct="1"/>
            <a:r>
              <a:rPr lang="en-US" altLang="en-US"/>
              <a:t>Domain relational calculus</a:t>
            </a:r>
          </a:p>
          <a:p>
            <a:pPr eaLnBrk="1" hangingPunct="1"/>
            <a:r>
              <a:rPr lang="en-US" altLang="en-US" sz="2400"/>
              <a:t>Pure languages form underlying basis of query languages that people use.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53EACDFE-819E-C532-75D7-7ECDF3337F46}"/>
              </a:ext>
            </a:extLst>
          </p:cNvPr>
          <p:cNvSpPr>
            <a:spLocks noGrp="1" noChangeArrowheads="1"/>
          </p:cNvSpPr>
          <p:nvPr>
            <p:ph type="title"/>
          </p:nvPr>
        </p:nvSpPr>
        <p:spPr/>
        <p:txBody>
          <a:bodyPr/>
          <a:lstStyle/>
          <a:p>
            <a:pPr eaLnBrk="1" hangingPunct="1"/>
            <a:r>
              <a:rPr lang="en-US" altLang="en-US" sz="2800"/>
              <a:t>What is “algebra”</a:t>
            </a:r>
          </a:p>
        </p:txBody>
      </p:sp>
      <p:sp>
        <p:nvSpPr>
          <p:cNvPr id="16387" name="Rectangle 3">
            <a:extLst>
              <a:ext uri="{FF2B5EF4-FFF2-40B4-BE49-F238E27FC236}">
                <a16:creationId xmlns:a16="http://schemas.microsoft.com/office/drawing/2014/main" id="{962EEFEB-2D19-7509-22A9-51C004EF1660}"/>
              </a:ext>
            </a:extLst>
          </p:cNvPr>
          <p:cNvSpPr>
            <a:spLocks noGrp="1" noChangeArrowheads="1"/>
          </p:cNvSpPr>
          <p:nvPr>
            <p:ph type="body" idx="1"/>
          </p:nvPr>
        </p:nvSpPr>
        <p:spPr>
          <a:xfrm>
            <a:off x="2209800" y="1905000"/>
            <a:ext cx="7772400" cy="4114800"/>
          </a:xfrm>
        </p:spPr>
        <p:txBody>
          <a:bodyPr/>
          <a:lstStyle/>
          <a:p>
            <a:pPr eaLnBrk="1" hangingPunct="1"/>
            <a:r>
              <a:rPr lang="en-US" altLang="en-US"/>
              <a:t>Mathematical model consisting of:</a:t>
            </a:r>
          </a:p>
          <a:p>
            <a:pPr lvl="1" eaLnBrk="1" hangingPunct="1"/>
            <a:r>
              <a:rPr lang="en-US" altLang="en-US" i="1"/>
              <a:t>Operands --- </a:t>
            </a:r>
            <a:r>
              <a:rPr lang="en-US" altLang="en-US"/>
              <a:t>Variables or values;</a:t>
            </a:r>
          </a:p>
          <a:p>
            <a:pPr lvl="1" eaLnBrk="1" hangingPunct="1"/>
            <a:r>
              <a:rPr lang="en-US" altLang="en-US" i="1"/>
              <a:t>Operators --- </a:t>
            </a:r>
            <a:r>
              <a:rPr lang="en-US" altLang="en-US"/>
              <a:t>Symbols denoting procedures that construct new values from a given values</a:t>
            </a:r>
          </a:p>
          <a:p>
            <a:pPr eaLnBrk="1" hangingPunct="1"/>
            <a:r>
              <a:rPr lang="en-US" altLang="en-US" sz="2400" b="1"/>
              <a:t>Relational Algebra </a:t>
            </a:r>
            <a:r>
              <a:rPr lang="en-US" altLang="en-US" sz="2400"/>
              <a:t>is algebra whose operands are relations and operators are designed to do the most commons things that we need to do with relations</a:t>
            </a:r>
            <a:endParaRPr lang="en-US" altLang="en-US" sz="2400" b="1"/>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F2BCBD1B-980D-D908-D93A-3014E6437FC9}"/>
              </a:ext>
            </a:extLst>
          </p:cNvPr>
          <p:cNvSpPr>
            <a:spLocks noGrp="1" noChangeArrowheads="1"/>
          </p:cNvSpPr>
          <p:nvPr>
            <p:ph type="title"/>
          </p:nvPr>
        </p:nvSpPr>
        <p:spPr/>
        <p:txBody>
          <a:bodyPr/>
          <a:lstStyle/>
          <a:p>
            <a:pPr eaLnBrk="1" hangingPunct="1"/>
            <a:r>
              <a:rPr lang="en-US" altLang="en-US" sz="3200"/>
              <a:t>Basic Relational Algebra Operations</a:t>
            </a:r>
          </a:p>
        </p:txBody>
      </p:sp>
      <p:sp>
        <p:nvSpPr>
          <p:cNvPr id="17411" name="Rectangle 3">
            <a:extLst>
              <a:ext uri="{FF2B5EF4-FFF2-40B4-BE49-F238E27FC236}">
                <a16:creationId xmlns:a16="http://schemas.microsoft.com/office/drawing/2014/main" id="{E4020A81-02DF-8EB7-EB14-C40D06D6223E}"/>
              </a:ext>
            </a:extLst>
          </p:cNvPr>
          <p:cNvSpPr>
            <a:spLocks noGrp="1" noChangeArrowheads="1"/>
          </p:cNvSpPr>
          <p:nvPr>
            <p:ph type="body" idx="1"/>
          </p:nvPr>
        </p:nvSpPr>
        <p:spPr/>
        <p:txBody>
          <a:bodyPr/>
          <a:lstStyle/>
          <a:p>
            <a:pPr eaLnBrk="1" hangingPunct="1"/>
            <a:r>
              <a:rPr lang="en-US" altLang="en-US"/>
              <a:t>Select</a:t>
            </a:r>
          </a:p>
          <a:p>
            <a:pPr eaLnBrk="1" hangingPunct="1"/>
            <a:r>
              <a:rPr lang="en-US" altLang="en-US"/>
              <a:t>Project</a:t>
            </a:r>
          </a:p>
          <a:p>
            <a:pPr eaLnBrk="1" hangingPunct="1"/>
            <a:r>
              <a:rPr lang="en-US" altLang="en-US"/>
              <a:t>Union</a:t>
            </a:r>
          </a:p>
          <a:p>
            <a:pPr eaLnBrk="1" hangingPunct="1"/>
            <a:r>
              <a:rPr lang="en-US" altLang="en-US"/>
              <a:t>Set Difference (or Substract or minus)</a:t>
            </a:r>
          </a:p>
          <a:p>
            <a:pPr eaLnBrk="1" hangingPunct="1"/>
            <a:r>
              <a:rPr lang="en-US" altLang="en-US"/>
              <a:t>Cartesian Product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9795CD8E-58CC-CCAA-7587-EF56284BB033}"/>
              </a:ext>
            </a:extLst>
          </p:cNvPr>
          <p:cNvSpPr>
            <a:spLocks noGrp="1" noChangeArrowheads="1"/>
          </p:cNvSpPr>
          <p:nvPr>
            <p:ph type="title"/>
          </p:nvPr>
        </p:nvSpPr>
        <p:spPr>
          <a:xfrm>
            <a:off x="2209800" y="0"/>
            <a:ext cx="7772400" cy="1143000"/>
          </a:xfrm>
        </p:spPr>
        <p:txBody>
          <a:bodyPr/>
          <a:lstStyle/>
          <a:p>
            <a:pPr eaLnBrk="1" hangingPunct="1"/>
            <a:r>
              <a:rPr lang="en-US" altLang="en-US" sz="2800"/>
              <a:t>Select Operation</a:t>
            </a:r>
          </a:p>
        </p:txBody>
      </p:sp>
      <p:sp>
        <p:nvSpPr>
          <p:cNvPr id="18435" name="Rectangle 3">
            <a:extLst>
              <a:ext uri="{FF2B5EF4-FFF2-40B4-BE49-F238E27FC236}">
                <a16:creationId xmlns:a16="http://schemas.microsoft.com/office/drawing/2014/main" id="{64AFD1B5-1709-997D-B8F7-4423CECDBEF5}"/>
              </a:ext>
            </a:extLst>
          </p:cNvPr>
          <p:cNvSpPr>
            <a:spLocks noGrp="1" noChangeArrowheads="1"/>
          </p:cNvSpPr>
          <p:nvPr>
            <p:ph type="body" idx="1"/>
          </p:nvPr>
        </p:nvSpPr>
        <p:spPr>
          <a:xfrm>
            <a:off x="2819400" y="1143001"/>
            <a:ext cx="6961188" cy="3471863"/>
          </a:xfrm>
        </p:spPr>
        <p:txBody>
          <a:bodyPr>
            <a:normAutofit fontScale="70000" lnSpcReduction="20000"/>
          </a:bodyPr>
          <a:lstStyle/>
          <a:p>
            <a:pPr>
              <a:tabLst>
                <a:tab pos="1658938" algn="l"/>
                <a:tab pos="3149600" algn="ctr"/>
                <a:tab pos="3425825" algn="l"/>
              </a:tabLst>
            </a:pPr>
            <a:r>
              <a:rPr lang="en-US" altLang="en-US" sz="2400" dirty="0"/>
              <a:t>Notation:  </a:t>
            </a:r>
            <a:r>
              <a:rPr lang="en-US" altLang="en-US" sz="2400" i="1" dirty="0">
                <a:sym typeface="Symbol" panose="05050102010706020507" pitchFamily="18" charset="2"/>
              </a:rPr>
              <a:t></a:t>
            </a:r>
            <a:r>
              <a:rPr lang="en-US" altLang="en-US" sz="2400" dirty="0">
                <a:sym typeface="Symbol" panose="05050102010706020507" pitchFamily="18" charset="2"/>
              </a:rPr>
              <a:t> </a:t>
            </a:r>
            <a:r>
              <a:rPr lang="en-US" altLang="en-US" sz="2400" i="1" baseline="-25000" dirty="0">
                <a:sym typeface="Symbol" panose="05050102010706020507" pitchFamily="18" charset="2"/>
              </a:rPr>
              <a:t>p</a:t>
            </a:r>
            <a:r>
              <a:rPr lang="en-US" altLang="en-US" sz="2400" dirty="0">
                <a:sym typeface="Symbol" panose="05050102010706020507" pitchFamily="18" charset="2"/>
              </a:rPr>
              <a:t>(</a:t>
            </a:r>
            <a:r>
              <a:rPr lang="en-US" altLang="en-US" sz="2400" i="1" dirty="0">
                <a:sym typeface="Symbol" panose="05050102010706020507" pitchFamily="18" charset="2"/>
              </a:rPr>
              <a:t>r</a:t>
            </a:r>
            <a:r>
              <a:rPr lang="en-US" altLang="en-US" sz="2400" dirty="0">
                <a:sym typeface="Symbol" panose="05050102010706020507" pitchFamily="18" charset="2"/>
              </a:rPr>
              <a:t>)</a:t>
            </a:r>
          </a:p>
          <a:p>
            <a:pPr>
              <a:tabLst>
                <a:tab pos="1658938" algn="l"/>
                <a:tab pos="3149600" algn="ctr"/>
                <a:tab pos="3425825" algn="l"/>
              </a:tabLst>
            </a:pPr>
            <a:r>
              <a:rPr lang="en-US" altLang="en-US" sz="2400" i="1" dirty="0">
                <a:sym typeface="Symbol" panose="05050102010706020507" pitchFamily="18" charset="2"/>
              </a:rPr>
              <a:t>p</a:t>
            </a:r>
            <a:r>
              <a:rPr lang="en-US" altLang="en-US" sz="2400" dirty="0">
                <a:sym typeface="Symbol" panose="05050102010706020507" pitchFamily="18" charset="2"/>
              </a:rPr>
              <a:t> is called the </a:t>
            </a:r>
            <a:r>
              <a:rPr lang="en-US" altLang="en-US" sz="2400" dirty="0">
                <a:solidFill>
                  <a:schemeClr val="tx2"/>
                </a:solidFill>
                <a:sym typeface="Symbol" panose="05050102010706020507" pitchFamily="18" charset="2"/>
              </a:rPr>
              <a:t>selection predicate</a:t>
            </a:r>
            <a:endParaRPr lang="en-US" altLang="en-US" sz="2400" i="1" dirty="0">
              <a:solidFill>
                <a:schemeClr val="tx2"/>
              </a:solidFill>
              <a:sym typeface="Symbol" panose="05050102010706020507" pitchFamily="18" charset="2"/>
            </a:endParaRPr>
          </a:p>
          <a:p>
            <a:pPr>
              <a:tabLst>
                <a:tab pos="1658938" algn="l"/>
                <a:tab pos="3149600" algn="ctr"/>
                <a:tab pos="3425825" algn="l"/>
              </a:tabLst>
            </a:pPr>
            <a:r>
              <a:rPr lang="en-US" altLang="en-US" sz="2400" dirty="0"/>
              <a:t>Defined as:</a:t>
            </a:r>
          </a:p>
          <a:p>
            <a:pPr>
              <a:buNone/>
              <a:tabLst>
                <a:tab pos="1658938" algn="l"/>
                <a:tab pos="3149600" algn="ctr"/>
                <a:tab pos="3425825" algn="l"/>
              </a:tabLst>
            </a:pPr>
            <a:r>
              <a:rPr lang="en-US" altLang="en-US" sz="2400" dirty="0"/>
              <a:t>			 </a:t>
            </a:r>
            <a:r>
              <a:rPr lang="en-US" altLang="en-US" sz="2400" i="1" dirty="0">
                <a:sym typeface="Symbol" panose="05050102010706020507" pitchFamily="18" charset="2"/>
              </a:rPr>
              <a:t></a:t>
            </a:r>
            <a:r>
              <a:rPr lang="en-US" altLang="en-US" sz="2400" i="1" baseline="-25000" dirty="0">
                <a:sym typeface="Symbol" panose="05050102010706020507" pitchFamily="18" charset="2"/>
              </a:rPr>
              <a:t>p</a:t>
            </a:r>
            <a:r>
              <a:rPr lang="en-US" altLang="en-US" sz="2400" dirty="0">
                <a:sym typeface="Symbol" panose="05050102010706020507" pitchFamily="18" charset="2"/>
              </a:rPr>
              <a:t>(</a:t>
            </a:r>
            <a:r>
              <a:rPr lang="en-US" altLang="en-US" sz="2400" b="1" i="1" dirty="0">
                <a:sym typeface="Symbol" panose="05050102010706020507" pitchFamily="18" charset="2"/>
              </a:rPr>
              <a:t>r</a:t>
            </a:r>
            <a:r>
              <a:rPr lang="en-US" altLang="en-US" sz="2400" dirty="0">
                <a:sym typeface="Symbol" panose="05050102010706020507" pitchFamily="18" charset="2"/>
              </a:rPr>
              <a:t>) = {</a:t>
            </a:r>
            <a:r>
              <a:rPr lang="en-US" altLang="en-US" sz="2400" i="1" dirty="0">
                <a:sym typeface="Symbol" panose="05050102010706020507" pitchFamily="18" charset="2"/>
              </a:rPr>
              <a:t>t</a:t>
            </a:r>
            <a:r>
              <a:rPr lang="en-US" altLang="en-US" sz="2400" dirty="0">
                <a:sym typeface="Symbol" panose="05050102010706020507" pitchFamily="18" charset="2"/>
              </a:rPr>
              <a:t> | </a:t>
            </a:r>
            <a:r>
              <a:rPr lang="en-US" altLang="en-US" sz="2400" i="1" dirty="0">
                <a:sym typeface="Symbol" panose="05050102010706020507" pitchFamily="18" charset="2"/>
              </a:rPr>
              <a:t>t</a:t>
            </a:r>
            <a:r>
              <a:rPr lang="en-US" altLang="en-US" sz="2400" dirty="0">
                <a:sym typeface="Symbol" panose="05050102010706020507" pitchFamily="18" charset="2"/>
              </a:rPr>
              <a:t>  </a:t>
            </a:r>
            <a:r>
              <a:rPr lang="en-US" altLang="en-US" sz="2400" i="1" dirty="0">
                <a:sym typeface="Symbol" panose="05050102010706020507" pitchFamily="18" charset="2"/>
              </a:rPr>
              <a:t>r</a:t>
            </a:r>
            <a:r>
              <a:rPr lang="en-US" altLang="en-US" sz="2400" dirty="0">
                <a:sym typeface="Symbol" panose="05050102010706020507" pitchFamily="18" charset="2"/>
              </a:rPr>
              <a:t> </a:t>
            </a:r>
            <a:r>
              <a:rPr lang="en-US" altLang="en-US" sz="2400" b="1" dirty="0">
                <a:sym typeface="Symbol" panose="05050102010706020507" pitchFamily="18" charset="2"/>
              </a:rPr>
              <a:t>and </a:t>
            </a:r>
            <a:r>
              <a:rPr lang="en-US" altLang="en-US" sz="2400" i="1" dirty="0">
                <a:sym typeface="Symbol" panose="05050102010706020507" pitchFamily="18" charset="2"/>
              </a:rPr>
              <a:t>p(t)</a:t>
            </a:r>
            <a:r>
              <a:rPr lang="en-US" altLang="en-US" sz="2400" dirty="0">
                <a:sym typeface="Symbol" panose="05050102010706020507" pitchFamily="18" charset="2"/>
              </a:rPr>
              <a:t>}</a:t>
            </a:r>
          </a:p>
          <a:p>
            <a:pPr>
              <a:buNone/>
              <a:tabLst>
                <a:tab pos="1658938" algn="l"/>
                <a:tab pos="3149600" algn="ctr"/>
                <a:tab pos="3425825" algn="l"/>
              </a:tabLst>
            </a:pPr>
            <a:r>
              <a:rPr lang="en-US" altLang="en-US" sz="2400" dirty="0">
                <a:sym typeface="Symbol" panose="05050102010706020507" pitchFamily="18" charset="2"/>
              </a:rPr>
              <a:t>	Where</a:t>
            </a:r>
            <a:r>
              <a:rPr lang="en-US" altLang="en-US" sz="2400" i="1" dirty="0">
                <a:sym typeface="Symbol" panose="05050102010706020507" pitchFamily="18" charset="2"/>
              </a:rPr>
              <a:t> p</a:t>
            </a:r>
            <a:r>
              <a:rPr lang="en-US" altLang="en-US" sz="2400" dirty="0">
                <a:sym typeface="Symbol" panose="05050102010706020507" pitchFamily="18" charset="2"/>
              </a:rPr>
              <a:t> is a formula in propositional calculus consisting of </a:t>
            </a:r>
            <a:r>
              <a:rPr lang="en-US" altLang="en-US" sz="2400" dirty="0">
                <a:solidFill>
                  <a:schemeClr val="tx2"/>
                </a:solidFill>
                <a:sym typeface="Symbol" panose="05050102010706020507" pitchFamily="18" charset="2"/>
              </a:rPr>
              <a:t>terms </a:t>
            </a:r>
            <a:r>
              <a:rPr lang="en-US" altLang="en-US" sz="2400" dirty="0">
                <a:sym typeface="Symbol" panose="05050102010706020507" pitchFamily="18" charset="2"/>
              </a:rPr>
              <a:t>connected by :  (</a:t>
            </a:r>
            <a:r>
              <a:rPr lang="en-US" altLang="en-US" sz="2400" b="1" dirty="0">
                <a:sym typeface="Symbol" panose="05050102010706020507" pitchFamily="18" charset="2"/>
              </a:rPr>
              <a:t>and</a:t>
            </a:r>
            <a:r>
              <a:rPr lang="en-US" altLang="en-US" sz="2400" dirty="0">
                <a:sym typeface="Symbol" panose="05050102010706020507" pitchFamily="18" charset="2"/>
              </a:rPr>
              <a:t>),  (</a:t>
            </a:r>
            <a:r>
              <a:rPr lang="en-US" altLang="en-US" sz="2400" b="1" dirty="0">
                <a:sym typeface="Symbol" panose="05050102010706020507" pitchFamily="18" charset="2"/>
              </a:rPr>
              <a:t>or</a:t>
            </a:r>
            <a:r>
              <a:rPr lang="en-US" altLang="en-US" sz="2400" dirty="0">
                <a:sym typeface="Symbol" panose="05050102010706020507" pitchFamily="18" charset="2"/>
              </a:rPr>
              <a:t>),  (</a:t>
            </a:r>
            <a:r>
              <a:rPr lang="en-US" altLang="en-US" sz="2400" b="1" dirty="0">
                <a:sym typeface="Symbol" panose="05050102010706020507" pitchFamily="18" charset="2"/>
              </a:rPr>
              <a:t>not</a:t>
            </a:r>
            <a:r>
              <a:rPr lang="en-US" altLang="en-US" sz="2400" dirty="0">
                <a:sym typeface="Symbol" panose="05050102010706020507" pitchFamily="18" charset="2"/>
              </a:rPr>
              <a:t>)</a:t>
            </a:r>
            <a:br>
              <a:rPr lang="en-US" altLang="en-US" sz="2400" dirty="0">
                <a:sym typeface="Symbol" panose="05050102010706020507" pitchFamily="18" charset="2"/>
              </a:rPr>
            </a:br>
            <a:r>
              <a:rPr lang="en-US" altLang="en-US" sz="2400" dirty="0">
                <a:sym typeface="Symbol" panose="05050102010706020507" pitchFamily="18" charset="2"/>
              </a:rPr>
              <a:t>Each </a:t>
            </a:r>
            <a:r>
              <a:rPr lang="en-US" altLang="en-US" sz="2400" dirty="0">
                <a:solidFill>
                  <a:schemeClr val="tx2"/>
                </a:solidFill>
                <a:sym typeface="Symbol" panose="05050102010706020507" pitchFamily="18" charset="2"/>
              </a:rPr>
              <a:t>term</a:t>
            </a:r>
            <a:r>
              <a:rPr lang="en-US" altLang="en-US" sz="2400" dirty="0">
                <a:sym typeface="Symbol" panose="05050102010706020507" pitchFamily="18" charset="2"/>
              </a:rPr>
              <a:t> is one of:</a:t>
            </a:r>
          </a:p>
          <a:p>
            <a:pPr>
              <a:buNone/>
              <a:tabLst>
                <a:tab pos="1658938" algn="l"/>
                <a:tab pos="3149600" algn="ctr"/>
                <a:tab pos="3425825" algn="l"/>
              </a:tabLst>
            </a:pPr>
            <a:r>
              <a:rPr lang="en-US" altLang="en-US" sz="2400" dirty="0">
                <a:sym typeface="Symbol" panose="05050102010706020507" pitchFamily="18" charset="2"/>
              </a:rPr>
              <a:t>		&lt;attribute&gt;	</a:t>
            </a:r>
            <a:r>
              <a:rPr lang="en-US" altLang="en-US" sz="2400" i="1" dirty="0">
                <a:sym typeface="Symbol" panose="05050102010706020507" pitchFamily="18" charset="2"/>
              </a:rPr>
              <a:t>op</a:t>
            </a:r>
            <a:r>
              <a:rPr lang="en-US" altLang="en-US" sz="2400" dirty="0">
                <a:sym typeface="Symbol" panose="05050102010706020507" pitchFamily="18" charset="2"/>
              </a:rPr>
              <a:t> 	&lt;attribute&gt; or &lt;constant&gt;</a:t>
            </a:r>
          </a:p>
          <a:p>
            <a:pPr>
              <a:buNone/>
              <a:tabLst>
                <a:tab pos="1658938" algn="l"/>
                <a:tab pos="3149600" algn="ctr"/>
                <a:tab pos="3425825" algn="l"/>
              </a:tabLst>
            </a:pPr>
            <a:r>
              <a:rPr lang="en-US" altLang="en-US" sz="2400" dirty="0">
                <a:sym typeface="Symbol" panose="05050102010706020507" pitchFamily="18" charset="2"/>
              </a:rPr>
              <a:t>     where </a:t>
            </a:r>
            <a:r>
              <a:rPr lang="en-US" altLang="en-US" sz="2400" i="1" dirty="0">
                <a:sym typeface="Symbol" panose="05050102010706020507" pitchFamily="18" charset="2"/>
              </a:rPr>
              <a:t>op</a:t>
            </a:r>
            <a:r>
              <a:rPr lang="en-US" altLang="en-US" sz="2400" dirty="0">
                <a:sym typeface="Symbol" panose="05050102010706020507" pitchFamily="18" charset="2"/>
              </a:rPr>
              <a:t> is one of:  =, , &gt;, . &lt;. </a:t>
            </a:r>
          </a:p>
          <a:p>
            <a:pPr>
              <a:tabLst>
                <a:tab pos="1658938" algn="l"/>
                <a:tab pos="3149600" algn="ctr"/>
                <a:tab pos="3425825" algn="l"/>
              </a:tabLst>
            </a:pPr>
            <a:r>
              <a:rPr lang="en-US" altLang="en-US" sz="2400" dirty="0">
                <a:sym typeface="Symbol" panose="05050102010706020507" pitchFamily="18" charset="2"/>
              </a:rPr>
              <a:t>Example of selection:</a:t>
            </a:r>
            <a:br>
              <a:rPr lang="en-US" altLang="en-US" sz="2400" dirty="0">
                <a:sym typeface="Symbol" panose="05050102010706020507" pitchFamily="18" charset="2"/>
              </a:rPr>
            </a:br>
            <a:r>
              <a:rPr lang="en-US" altLang="en-US" sz="2400" i="1" dirty="0">
                <a:sym typeface="Symbol" panose="05050102010706020507" pitchFamily="18" charset="2"/>
              </a:rPr>
              <a:t>Account(</a:t>
            </a:r>
            <a:r>
              <a:rPr lang="en-US" altLang="en-US" sz="2400" i="1" dirty="0" err="1">
                <a:sym typeface="Symbol" panose="05050102010706020507" pitchFamily="18" charset="2"/>
              </a:rPr>
              <a:t>account_number</a:t>
            </a:r>
            <a:r>
              <a:rPr lang="en-US" altLang="en-US" sz="2400" i="1" dirty="0">
                <a:sym typeface="Symbol" panose="05050102010706020507" pitchFamily="18" charset="2"/>
              </a:rPr>
              <a:t>, </a:t>
            </a:r>
            <a:r>
              <a:rPr lang="en-US" altLang="en-US" sz="2400" i="1" dirty="0" err="1">
                <a:sym typeface="Symbol" panose="05050102010706020507" pitchFamily="18" charset="2"/>
              </a:rPr>
              <a:t>branch_name,balance</a:t>
            </a:r>
            <a:r>
              <a:rPr lang="en-US" altLang="en-US" sz="2400" i="1" dirty="0">
                <a:sym typeface="Symbol" panose="05050102010706020507" pitchFamily="18" charset="2"/>
              </a:rPr>
              <a:t>)</a:t>
            </a:r>
          </a:p>
          <a:p>
            <a:pPr>
              <a:buNone/>
              <a:tabLst>
                <a:tab pos="1658938" algn="l"/>
                <a:tab pos="3149600" algn="ctr"/>
                <a:tab pos="3425825" algn="l"/>
              </a:tabLst>
            </a:pPr>
            <a:r>
              <a:rPr lang="en-US" altLang="en-US" sz="2400" dirty="0">
                <a:sym typeface="Symbol" panose="05050102010706020507" pitchFamily="18" charset="2"/>
              </a:rPr>
              <a:t>  </a:t>
            </a:r>
            <a:r>
              <a:rPr lang="en-US" altLang="en-US" sz="2400" i="1" dirty="0">
                <a:sym typeface="Symbol" panose="05050102010706020507" pitchFamily="18" charset="2"/>
              </a:rPr>
              <a:t></a:t>
            </a:r>
            <a:r>
              <a:rPr lang="en-US" altLang="en-US" sz="2400" dirty="0">
                <a:sym typeface="Symbol" panose="05050102010706020507" pitchFamily="18" charset="2"/>
              </a:rPr>
              <a:t> </a:t>
            </a:r>
            <a:r>
              <a:rPr lang="en-US" altLang="en-US" sz="2400" i="1" baseline="-25000" dirty="0">
                <a:sym typeface="Symbol" panose="05050102010706020507" pitchFamily="18" charset="2"/>
              </a:rPr>
              <a:t>branch-name=“Delhi”</a:t>
            </a:r>
            <a:r>
              <a:rPr lang="en-US" altLang="en-US" sz="2400" dirty="0">
                <a:sym typeface="Symbol" panose="05050102010706020507" pitchFamily="18" charset="2"/>
              </a:rPr>
              <a:t>(</a:t>
            </a:r>
            <a:r>
              <a:rPr lang="en-US" altLang="en-US" sz="2400" i="1" dirty="0">
                <a:sym typeface="Symbol" panose="05050102010706020507" pitchFamily="18" charset="2"/>
              </a:rPr>
              <a:t>account</a:t>
            </a:r>
            <a:r>
              <a:rPr lang="en-US" altLang="en-US" sz="2400" dirty="0">
                <a:sym typeface="Symbol" panose="05050102010706020507" pitchFamily="18" charset="2"/>
              </a:rPr>
              <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CB3658DF-F466-5E21-7E48-546F18F02814}"/>
              </a:ext>
            </a:extLst>
          </p:cNvPr>
          <p:cNvSpPr>
            <a:spLocks noGrp="1" noChangeArrowheads="1"/>
          </p:cNvSpPr>
          <p:nvPr>
            <p:ph type="title"/>
          </p:nvPr>
        </p:nvSpPr>
        <p:spPr>
          <a:xfrm>
            <a:off x="2209800" y="0"/>
            <a:ext cx="7772400" cy="1143000"/>
          </a:xfrm>
        </p:spPr>
        <p:txBody>
          <a:bodyPr/>
          <a:lstStyle/>
          <a:p>
            <a:pPr eaLnBrk="1" hangingPunct="1"/>
            <a:r>
              <a:rPr lang="en-US" altLang="en-US" sz="2800"/>
              <a:t>Select Operation – Example</a:t>
            </a:r>
          </a:p>
        </p:txBody>
      </p:sp>
      <p:sp>
        <p:nvSpPr>
          <p:cNvPr id="19459" name="Text Box 3">
            <a:extLst>
              <a:ext uri="{FF2B5EF4-FFF2-40B4-BE49-F238E27FC236}">
                <a16:creationId xmlns:a16="http://schemas.microsoft.com/office/drawing/2014/main" id="{534F4CA8-5693-1CC7-CB84-1A710615D202}"/>
              </a:ext>
            </a:extLst>
          </p:cNvPr>
          <p:cNvSpPr txBox="1">
            <a:spLocks noChangeArrowheads="1"/>
          </p:cNvSpPr>
          <p:nvPr/>
        </p:nvSpPr>
        <p:spPr bwMode="auto">
          <a:xfrm>
            <a:off x="2500314" y="1706564"/>
            <a:ext cx="1501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marL="230188" indent="-230188"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spcBef>
                <a:spcPct val="50000"/>
              </a:spcBef>
              <a:buSzPct val="125000"/>
              <a:buFontTx/>
              <a:buChar char="•"/>
            </a:pPr>
            <a:r>
              <a:rPr lang="en-US" altLang="en-US" sz="2000">
                <a:latin typeface="Helvetica" panose="020B0604020202020204" pitchFamily="34" charset="0"/>
              </a:rPr>
              <a:t>Relation</a:t>
            </a:r>
            <a:r>
              <a:rPr lang="en-US" altLang="en-US" sz="2000" i="1">
                <a:latin typeface="Helvetica" panose="020B0604020202020204" pitchFamily="34" charset="0"/>
              </a:rPr>
              <a:t> r</a:t>
            </a:r>
            <a:endParaRPr lang="en-US" altLang="en-US" sz="2000">
              <a:latin typeface="Helvetica" panose="020B0604020202020204" pitchFamily="34" charset="0"/>
            </a:endParaRPr>
          </a:p>
        </p:txBody>
      </p:sp>
      <p:sp>
        <p:nvSpPr>
          <p:cNvPr id="19460" name="Rectangle 4">
            <a:extLst>
              <a:ext uri="{FF2B5EF4-FFF2-40B4-BE49-F238E27FC236}">
                <a16:creationId xmlns:a16="http://schemas.microsoft.com/office/drawing/2014/main" id="{D8B8EC13-D401-57CF-2989-DCFDAA29FB8C}"/>
              </a:ext>
            </a:extLst>
          </p:cNvPr>
          <p:cNvSpPr>
            <a:spLocks noChangeArrowheads="1"/>
          </p:cNvSpPr>
          <p:nvPr/>
        </p:nvSpPr>
        <p:spPr bwMode="auto">
          <a:xfrm>
            <a:off x="4572000" y="1676400"/>
            <a:ext cx="457200" cy="4572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r>
              <a:rPr lang="en-US" altLang="en-US" i="1">
                <a:latin typeface="Helvetica" panose="020B0604020202020204" pitchFamily="34" charset="0"/>
              </a:rPr>
              <a:t>A</a:t>
            </a:r>
          </a:p>
        </p:txBody>
      </p:sp>
      <p:sp>
        <p:nvSpPr>
          <p:cNvPr id="19461" name="Rectangle 5">
            <a:extLst>
              <a:ext uri="{FF2B5EF4-FFF2-40B4-BE49-F238E27FC236}">
                <a16:creationId xmlns:a16="http://schemas.microsoft.com/office/drawing/2014/main" id="{0BD75F2D-7C9C-7593-EBF7-393AAFA3923E}"/>
              </a:ext>
            </a:extLst>
          </p:cNvPr>
          <p:cNvSpPr>
            <a:spLocks noChangeArrowheads="1"/>
          </p:cNvSpPr>
          <p:nvPr/>
        </p:nvSpPr>
        <p:spPr bwMode="auto">
          <a:xfrm>
            <a:off x="5029200" y="1676400"/>
            <a:ext cx="457200" cy="4572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r>
              <a:rPr lang="en-US" altLang="en-US" i="1">
                <a:latin typeface="Helvetica" panose="020B0604020202020204" pitchFamily="34" charset="0"/>
              </a:rPr>
              <a:t>B</a:t>
            </a:r>
          </a:p>
        </p:txBody>
      </p:sp>
      <p:sp>
        <p:nvSpPr>
          <p:cNvPr id="19462" name="Rectangle 6">
            <a:extLst>
              <a:ext uri="{FF2B5EF4-FFF2-40B4-BE49-F238E27FC236}">
                <a16:creationId xmlns:a16="http://schemas.microsoft.com/office/drawing/2014/main" id="{3DFA70A5-288C-7879-DC2F-6CA6CB42C568}"/>
              </a:ext>
            </a:extLst>
          </p:cNvPr>
          <p:cNvSpPr>
            <a:spLocks noChangeArrowheads="1"/>
          </p:cNvSpPr>
          <p:nvPr/>
        </p:nvSpPr>
        <p:spPr bwMode="auto">
          <a:xfrm>
            <a:off x="5486400" y="1676400"/>
            <a:ext cx="457200" cy="4572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r>
              <a:rPr lang="en-US" altLang="en-US" i="1">
                <a:latin typeface="Helvetica" panose="020B0604020202020204" pitchFamily="34" charset="0"/>
              </a:rPr>
              <a:t>C</a:t>
            </a:r>
          </a:p>
        </p:txBody>
      </p:sp>
      <p:sp>
        <p:nvSpPr>
          <p:cNvPr id="19463" name="Rectangle 7">
            <a:extLst>
              <a:ext uri="{FF2B5EF4-FFF2-40B4-BE49-F238E27FC236}">
                <a16:creationId xmlns:a16="http://schemas.microsoft.com/office/drawing/2014/main" id="{B027F252-08B7-BB7B-2693-D359E9FD984D}"/>
              </a:ext>
            </a:extLst>
          </p:cNvPr>
          <p:cNvSpPr>
            <a:spLocks noChangeArrowheads="1"/>
          </p:cNvSpPr>
          <p:nvPr/>
        </p:nvSpPr>
        <p:spPr bwMode="auto">
          <a:xfrm>
            <a:off x="5943600" y="1676400"/>
            <a:ext cx="457200" cy="4572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r>
              <a:rPr lang="en-US" altLang="en-US" i="1">
                <a:latin typeface="Helvetica" panose="020B0604020202020204" pitchFamily="34" charset="0"/>
              </a:rPr>
              <a:t>D</a:t>
            </a:r>
          </a:p>
        </p:txBody>
      </p:sp>
      <p:sp>
        <p:nvSpPr>
          <p:cNvPr id="19464" name="Rectangle 8">
            <a:extLst>
              <a:ext uri="{FF2B5EF4-FFF2-40B4-BE49-F238E27FC236}">
                <a16:creationId xmlns:a16="http://schemas.microsoft.com/office/drawing/2014/main" id="{A175701A-6BFA-0DDB-58AD-DA3B653AD4F4}"/>
              </a:ext>
            </a:extLst>
          </p:cNvPr>
          <p:cNvSpPr>
            <a:spLocks noChangeArrowheads="1"/>
          </p:cNvSpPr>
          <p:nvPr/>
        </p:nvSpPr>
        <p:spPr bwMode="auto">
          <a:xfrm>
            <a:off x="4572000" y="2209800"/>
            <a:ext cx="457200" cy="16764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lnSpc>
                <a:spcPct val="150000"/>
              </a:lnSpc>
            </a:pPr>
            <a:r>
              <a:rPr lang="en-US" altLang="en-US" i="1">
                <a:latin typeface="Helvetica" panose="020B0604020202020204" pitchFamily="34" charset="0"/>
                <a:sym typeface="Symbol" panose="05050102010706020507" pitchFamily="18" charset="2"/>
              </a:rPr>
              <a:t></a:t>
            </a:r>
          </a:p>
          <a:p>
            <a:pPr algn="ctr">
              <a:lnSpc>
                <a:spcPct val="150000"/>
              </a:lnSpc>
            </a:pPr>
            <a:r>
              <a:rPr lang="en-US" altLang="en-US" i="1">
                <a:latin typeface="Helvetica" panose="020B0604020202020204" pitchFamily="34" charset="0"/>
                <a:sym typeface="Symbol" panose="05050102010706020507" pitchFamily="18" charset="2"/>
              </a:rPr>
              <a:t></a:t>
            </a:r>
          </a:p>
          <a:p>
            <a:pPr algn="ctr">
              <a:lnSpc>
                <a:spcPct val="150000"/>
              </a:lnSpc>
            </a:pPr>
            <a:r>
              <a:rPr lang="en-US" altLang="en-US" i="1">
                <a:latin typeface="Helvetica" panose="020B0604020202020204" pitchFamily="34" charset="0"/>
                <a:sym typeface="Symbol" panose="05050102010706020507" pitchFamily="18" charset="2"/>
              </a:rPr>
              <a:t></a:t>
            </a:r>
          </a:p>
          <a:p>
            <a:pPr algn="ctr">
              <a:lnSpc>
                <a:spcPct val="150000"/>
              </a:lnSpc>
            </a:pPr>
            <a:r>
              <a:rPr lang="en-US" altLang="en-US" i="1">
                <a:latin typeface="Helvetica" panose="020B0604020202020204" pitchFamily="34" charset="0"/>
                <a:sym typeface="Symbol" panose="05050102010706020507" pitchFamily="18" charset="2"/>
              </a:rPr>
              <a:t></a:t>
            </a:r>
          </a:p>
        </p:txBody>
      </p:sp>
      <p:sp>
        <p:nvSpPr>
          <p:cNvPr id="19465" name="Rectangle 9">
            <a:extLst>
              <a:ext uri="{FF2B5EF4-FFF2-40B4-BE49-F238E27FC236}">
                <a16:creationId xmlns:a16="http://schemas.microsoft.com/office/drawing/2014/main" id="{D5E4A4A2-3F27-AAB2-DE49-6A616A092731}"/>
              </a:ext>
            </a:extLst>
          </p:cNvPr>
          <p:cNvSpPr>
            <a:spLocks noChangeArrowheads="1"/>
          </p:cNvSpPr>
          <p:nvPr/>
        </p:nvSpPr>
        <p:spPr bwMode="auto">
          <a:xfrm>
            <a:off x="5029200" y="2209800"/>
            <a:ext cx="457200" cy="16764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lnSpc>
                <a:spcPct val="150000"/>
              </a:lnSpc>
            </a:pPr>
            <a:r>
              <a:rPr lang="en-US" altLang="en-US" i="1">
                <a:latin typeface="Helvetica" panose="020B0604020202020204" pitchFamily="34" charset="0"/>
                <a:sym typeface="Symbol" panose="05050102010706020507" pitchFamily="18" charset="2"/>
              </a:rPr>
              <a:t></a:t>
            </a:r>
          </a:p>
          <a:p>
            <a:pPr algn="ctr">
              <a:lnSpc>
                <a:spcPct val="150000"/>
              </a:lnSpc>
            </a:pPr>
            <a:r>
              <a:rPr lang="en-US" altLang="en-US" i="1">
                <a:latin typeface="Helvetica" panose="020B0604020202020204" pitchFamily="34" charset="0"/>
                <a:sym typeface="Symbol" panose="05050102010706020507" pitchFamily="18" charset="2"/>
              </a:rPr>
              <a:t></a:t>
            </a:r>
          </a:p>
          <a:p>
            <a:pPr algn="ctr">
              <a:lnSpc>
                <a:spcPct val="150000"/>
              </a:lnSpc>
            </a:pPr>
            <a:r>
              <a:rPr lang="en-US" altLang="en-US" i="1">
                <a:latin typeface="Helvetica" panose="020B0604020202020204" pitchFamily="34" charset="0"/>
                <a:sym typeface="Symbol" panose="05050102010706020507" pitchFamily="18" charset="2"/>
              </a:rPr>
              <a:t></a:t>
            </a:r>
          </a:p>
          <a:p>
            <a:pPr algn="ctr">
              <a:lnSpc>
                <a:spcPct val="150000"/>
              </a:lnSpc>
            </a:pPr>
            <a:r>
              <a:rPr lang="en-US" altLang="en-US" i="1">
                <a:latin typeface="Helvetica" panose="020B0604020202020204" pitchFamily="34" charset="0"/>
                <a:sym typeface="Symbol" panose="05050102010706020507" pitchFamily="18" charset="2"/>
              </a:rPr>
              <a:t></a:t>
            </a:r>
          </a:p>
        </p:txBody>
      </p:sp>
      <p:sp>
        <p:nvSpPr>
          <p:cNvPr id="19466" name="Rectangle 10">
            <a:extLst>
              <a:ext uri="{FF2B5EF4-FFF2-40B4-BE49-F238E27FC236}">
                <a16:creationId xmlns:a16="http://schemas.microsoft.com/office/drawing/2014/main" id="{E6EAEB4B-0DE1-5D69-9064-E184DC5FFF78}"/>
              </a:ext>
            </a:extLst>
          </p:cNvPr>
          <p:cNvSpPr>
            <a:spLocks noChangeArrowheads="1"/>
          </p:cNvSpPr>
          <p:nvPr/>
        </p:nvSpPr>
        <p:spPr bwMode="auto">
          <a:xfrm>
            <a:off x="5486400" y="2209800"/>
            <a:ext cx="457200" cy="16764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lnSpc>
                <a:spcPct val="150000"/>
              </a:lnSpc>
            </a:pPr>
            <a:r>
              <a:rPr lang="en-US" altLang="en-US" i="1">
                <a:latin typeface="Helvetica" panose="020B0604020202020204" pitchFamily="34" charset="0"/>
                <a:sym typeface="Symbol" panose="05050102010706020507" pitchFamily="18" charset="2"/>
              </a:rPr>
              <a:t>1</a:t>
            </a:r>
          </a:p>
          <a:p>
            <a:pPr algn="ctr">
              <a:lnSpc>
                <a:spcPct val="150000"/>
              </a:lnSpc>
            </a:pPr>
            <a:r>
              <a:rPr lang="en-US" altLang="en-US" i="1">
                <a:latin typeface="Helvetica" panose="020B0604020202020204" pitchFamily="34" charset="0"/>
                <a:sym typeface="Symbol" panose="05050102010706020507" pitchFamily="18" charset="2"/>
              </a:rPr>
              <a:t>5</a:t>
            </a:r>
          </a:p>
          <a:p>
            <a:pPr algn="ctr">
              <a:lnSpc>
                <a:spcPct val="150000"/>
              </a:lnSpc>
            </a:pPr>
            <a:r>
              <a:rPr lang="en-US" altLang="en-US" i="1">
                <a:latin typeface="Helvetica" panose="020B0604020202020204" pitchFamily="34" charset="0"/>
                <a:sym typeface="Symbol" panose="05050102010706020507" pitchFamily="18" charset="2"/>
              </a:rPr>
              <a:t>12</a:t>
            </a:r>
          </a:p>
          <a:p>
            <a:pPr algn="ctr">
              <a:lnSpc>
                <a:spcPct val="150000"/>
              </a:lnSpc>
            </a:pPr>
            <a:r>
              <a:rPr lang="en-US" altLang="en-US" i="1">
                <a:latin typeface="Helvetica" panose="020B0604020202020204" pitchFamily="34" charset="0"/>
                <a:sym typeface="Symbol" panose="05050102010706020507" pitchFamily="18" charset="2"/>
              </a:rPr>
              <a:t>23</a:t>
            </a:r>
          </a:p>
        </p:txBody>
      </p:sp>
      <p:sp>
        <p:nvSpPr>
          <p:cNvPr id="19467" name="Rectangle 11">
            <a:extLst>
              <a:ext uri="{FF2B5EF4-FFF2-40B4-BE49-F238E27FC236}">
                <a16:creationId xmlns:a16="http://schemas.microsoft.com/office/drawing/2014/main" id="{1D81EDB3-B8B7-2FF2-E1C0-A02A1A5A5ED0}"/>
              </a:ext>
            </a:extLst>
          </p:cNvPr>
          <p:cNvSpPr>
            <a:spLocks noChangeArrowheads="1"/>
          </p:cNvSpPr>
          <p:nvPr/>
        </p:nvSpPr>
        <p:spPr bwMode="auto">
          <a:xfrm>
            <a:off x="5943600" y="2209800"/>
            <a:ext cx="457200" cy="16764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lnSpc>
                <a:spcPct val="150000"/>
              </a:lnSpc>
            </a:pPr>
            <a:r>
              <a:rPr lang="en-US" altLang="en-US" i="1">
                <a:latin typeface="Helvetica" panose="020B0604020202020204" pitchFamily="34" charset="0"/>
                <a:sym typeface="Symbol" panose="05050102010706020507" pitchFamily="18" charset="2"/>
              </a:rPr>
              <a:t>7</a:t>
            </a:r>
          </a:p>
          <a:p>
            <a:pPr algn="ctr">
              <a:lnSpc>
                <a:spcPct val="150000"/>
              </a:lnSpc>
            </a:pPr>
            <a:r>
              <a:rPr lang="en-US" altLang="en-US" i="1">
                <a:latin typeface="Helvetica" panose="020B0604020202020204" pitchFamily="34" charset="0"/>
                <a:sym typeface="Symbol" panose="05050102010706020507" pitchFamily="18" charset="2"/>
              </a:rPr>
              <a:t>7</a:t>
            </a:r>
          </a:p>
          <a:p>
            <a:pPr algn="ctr">
              <a:lnSpc>
                <a:spcPct val="150000"/>
              </a:lnSpc>
            </a:pPr>
            <a:r>
              <a:rPr lang="en-US" altLang="en-US" i="1">
                <a:latin typeface="Helvetica" panose="020B0604020202020204" pitchFamily="34" charset="0"/>
                <a:sym typeface="Symbol" panose="05050102010706020507" pitchFamily="18" charset="2"/>
              </a:rPr>
              <a:t>3</a:t>
            </a:r>
          </a:p>
          <a:p>
            <a:pPr algn="ctr">
              <a:lnSpc>
                <a:spcPct val="150000"/>
              </a:lnSpc>
            </a:pPr>
            <a:r>
              <a:rPr lang="en-US" altLang="en-US" i="1">
                <a:latin typeface="Helvetica" panose="020B0604020202020204" pitchFamily="34" charset="0"/>
                <a:sym typeface="Symbol" panose="05050102010706020507" pitchFamily="18" charset="2"/>
              </a:rPr>
              <a:t>10</a:t>
            </a:r>
          </a:p>
        </p:txBody>
      </p:sp>
      <p:sp>
        <p:nvSpPr>
          <p:cNvPr id="19468" name="Text Box 12">
            <a:extLst>
              <a:ext uri="{FF2B5EF4-FFF2-40B4-BE49-F238E27FC236}">
                <a16:creationId xmlns:a16="http://schemas.microsoft.com/office/drawing/2014/main" id="{1DCB9B68-C406-7786-6788-ED4F98237F9A}"/>
              </a:ext>
            </a:extLst>
          </p:cNvPr>
          <p:cNvSpPr txBox="1">
            <a:spLocks noChangeArrowheads="1"/>
          </p:cNvSpPr>
          <p:nvPr/>
        </p:nvSpPr>
        <p:spPr bwMode="auto">
          <a:xfrm>
            <a:off x="2472569" y="4490394"/>
            <a:ext cx="20605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marL="230188" indent="-230188"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spcBef>
                <a:spcPct val="50000"/>
              </a:spcBef>
              <a:buSzPct val="125000"/>
              <a:buFontTx/>
              <a:buChar char="•"/>
            </a:pPr>
            <a:r>
              <a:rPr lang="en-US" altLang="en-US" sz="2400">
                <a:latin typeface="Helvetica" panose="020B0604020202020204" pitchFamily="34" charset="0"/>
                <a:sym typeface="Symbol" panose="05050102010706020507" pitchFamily="18" charset="2"/>
              </a:rPr>
              <a:t></a:t>
            </a:r>
            <a:r>
              <a:rPr lang="en-US" altLang="en-US" sz="2400" baseline="-25000">
                <a:latin typeface="Helvetica" panose="020B0604020202020204" pitchFamily="34" charset="0"/>
                <a:sym typeface="Symbol" panose="05050102010706020507" pitchFamily="18" charset="2"/>
              </a:rPr>
              <a:t>A=B ^ D &gt; 5</a:t>
            </a:r>
            <a:r>
              <a:rPr lang="en-US" altLang="en-US" sz="2000" baseline="-25000">
                <a:latin typeface="Helvetica" panose="020B0604020202020204" pitchFamily="34" charset="0"/>
                <a:sym typeface="Symbol" panose="05050102010706020507" pitchFamily="18" charset="2"/>
              </a:rPr>
              <a:t> </a:t>
            </a:r>
            <a:r>
              <a:rPr lang="en-US" altLang="en-US" sz="2400">
                <a:latin typeface="Helvetica" panose="020B0604020202020204" pitchFamily="34" charset="0"/>
                <a:sym typeface="Symbol" panose="05050102010706020507" pitchFamily="18" charset="2"/>
              </a:rPr>
              <a:t>(r)</a:t>
            </a:r>
            <a:endParaRPr lang="en-US" altLang="en-US" sz="2400">
              <a:latin typeface="Helvetica" panose="020B0604020202020204" pitchFamily="34" charset="0"/>
            </a:endParaRPr>
          </a:p>
        </p:txBody>
      </p:sp>
      <p:sp>
        <p:nvSpPr>
          <p:cNvPr id="19469" name="Rectangle 13">
            <a:extLst>
              <a:ext uri="{FF2B5EF4-FFF2-40B4-BE49-F238E27FC236}">
                <a16:creationId xmlns:a16="http://schemas.microsoft.com/office/drawing/2014/main" id="{E5BB688C-C506-D154-7EDF-06A334C18624}"/>
              </a:ext>
            </a:extLst>
          </p:cNvPr>
          <p:cNvSpPr>
            <a:spLocks noChangeArrowheads="1"/>
          </p:cNvSpPr>
          <p:nvPr/>
        </p:nvSpPr>
        <p:spPr bwMode="auto">
          <a:xfrm>
            <a:off x="4648200" y="4800600"/>
            <a:ext cx="457200" cy="4572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r>
              <a:rPr lang="en-US" altLang="en-US" i="1">
                <a:latin typeface="Helvetica" panose="020B0604020202020204" pitchFamily="34" charset="0"/>
              </a:rPr>
              <a:t>A</a:t>
            </a:r>
          </a:p>
        </p:txBody>
      </p:sp>
      <p:sp>
        <p:nvSpPr>
          <p:cNvPr id="19470" name="Rectangle 14">
            <a:extLst>
              <a:ext uri="{FF2B5EF4-FFF2-40B4-BE49-F238E27FC236}">
                <a16:creationId xmlns:a16="http://schemas.microsoft.com/office/drawing/2014/main" id="{2DE8B7A7-428F-C539-D27A-9D42908852D7}"/>
              </a:ext>
            </a:extLst>
          </p:cNvPr>
          <p:cNvSpPr>
            <a:spLocks noChangeArrowheads="1"/>
          </p:cNvSpPr>
          <p:nvPr/>
        </p:nvSpPr>
        <p:spPr bwMode="auto">
          <a:xfrm>
            <a:off x="5105400" y="4800600"/>
            <a:ext cx="457200" cy="4572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r>
              <a:rPr lang="en-US" altLang="en-US" i="1">
                <a:latin typeface="Helvetica" panose="020B0604020202020204" pitchFamily="34" charset="0"/>
              </a:rPr>
              <a:t>B</a:t>
            </a:r>
          </a:p>
        </p:txBody>
      </p:sp>
      <p:sp>
        <p:nvSpPr>
          <p:cNvPr id="19471" name="Rectangle 15">
            <a:extLst>
              <a:ext uri="{FF2B5EF4-FFF2-40B4-BE49-F238E27FC236}">
                <a16:creationId xmlns:a16="http://schemas.microsoft.com/office/drawing/2014/main" id="{53D867F9-1B8F-1B32-DE55-CE3A5B3B06E9}"/>
              </a:ext>
            </a:extLst>
          </p:cNvPr>
          <p:cNvSpPr>
            <a:spLocks noChangeArrowheads="1"/>
          </p:cNvSpPr>
          <p:nvPr/>
        </p:nvSpPr>
        <p:spPr bwMode="auto">
          <a:xfrm>
            <a:off x="5562600" y="4800600"/>
            <a:ext cx="457200" cy="4572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r>
              <a:rPr lang="en-US" altLang="en-US" i="1">
                <a:latin typeface="Helvetica" panose="020B0604020202020204" pitchFamily="34" charset="0"/>
              </a:rPr>
              <a:t>C</a:t>
            </a:r>
          </a:p>
        </p:txBody>
      </p:sp>
      <p:sp>
        <p:nvSpPr>
          <p:cNvPr id="19472" name="Rectangle 16">
            <a:extLst>
              <a:ext uri="{FF2B5EF4-FFF2-40B4-BE49-F238E27FC236}">
                <a16:creationId xmlns:a16="http://schemas.microsoft.com/office/drawing/2014/main" id="{7CB8F022-BFBE-019C-9765-0DBFEE5EA143}"/>
              </a:ext>
            </a:extLst>
          </p:cNvPr>
          <p:cNvSpPr>
            <a:spLocks noChangeArrowheads="1"/>
          </p:cNvSpPr>
          <p:nvPr/>
        </p:nvSpPr>
        <p:spPr bwMode="auto">
          <a:xfrm>
            <a:off x="6019800" y="4800600"/>
            <a:ext cx="457200" cy="4572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r>
              <a:rPr lang="en-US" altLang="en-US" i="1">
                <a:latin typeface="Helvetica" panose="020B0604020202020204" pitchFamily="34" charset="0"/>
              </a:rPr>
              <a:t>D</a:t>
            </a:r>
          </a:p>
        </p:txBody>
      </p:sp>
      <p:sp>
        <p:nvSpPr>
          <p:cNvPr id="6161" name="Rectangle 17">
            <a:extLst>
              <a:ext uri="{FF2B5EF4-FFF2-40B4-BE49-F238E27FC236}">
                <a16:creationId xmlns:a16="http://schemas.microsoft.com/office/drawing/2014/main" id="{21FFDF05-2657-27D0-9EE1-2A62FDF938BC}"/>
              </a:ext>
            </a:extLst>
          </p:cNvPr>
          <p:cNvSpPr>
            <a:spLocks noChangeArrowheads="1"/>
          </p:cNvSpPr>
          <p:nvPr/>
        </p:nvSpPr>
        <p:spPr bwMode="auto">
          <a:xfrm>
            <a:off x="4648200" y="5334000"/>
            <a:ext cx="457200" cy="9144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lnSpc>
                <a:spcPct val="150000"/>
              </a:lnSpc>
            </a:pPr>
            <a:r>
              <a:rPr lang="en-US" altLang="en-US" i="1">
                <a:latin typeface="Helvetica" panose="020B0604020202020204" pitchFamily="34" charset="0"/>
                <a:sym typeface="Symbol" panose="05050102010706020507" pitchFamily="18" charset="2"/>
              </a:rPr>
              <a:t></a:t>
            </a:r>
          </a:p>
          <a:p>
            <a:pPr algn="ctr">
              <a:lnSpc>
                <a:spcPct val="150000"/>
              </a:lnSpc>
            </a:pPr>
            <a:r>
              <a:rPr lang="en-US" altLang="en-US" i="1">
                <a:latin typeface="Helvetica" panose="020B0604020202020204" pitchFamily="34" charset="0"/>
                <a:sym typeface="Symbol" panose="05050102010706020507" pitchFamily="18" charset="2"/>
              </a:rPr>
              <a:t></a:t>
            </a:r>
          </a:p>
        </p:txBody>
      </p:sp>
      <p:sp>
        <p:nvSpPr>
          <p:cNvPr id="6162" name="Rectangle 18">
            <a:extLst>
              <a:ext uri="{FF2B5EF4-FFF2-40B4-BE49-F238E27FC236}">
                <a16:creationId xmlns:a16="http://schemas.microsoft.com/office/drawing/2014/main" id="{DB913447-6219-BA19-F0DE-3F255C05598B}"/>
              </a:ext>
            </a:extLst>
          </p:cNvPr>
          <p:cNvSpPr>
            <a:spLocks noChangeArrowheads="1"/>
          </p:cNvSpPr>
          <p:nvPr/>
        </p:nvSpPr>
        <p:spPr bwMode="auto">
          <a:xfrm>
            <a:off x="5105400" y="5334000"/>
            <a:ext cx="457200" cy="9144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lnSpc>
                <a:spcPct val="150000"/>
              </a:lnSpc>
            </a:pPr>
            <a:r>
              <a:rPr lang="en-US" altLang="en-US" i="1">
                <a:latin typeface="Helvetica" panose="020B0604020202020204" pitchFamily="34" charset="0"/>
                <a:sym typeface="Symbol" panose="05050102010706020507" pitchFamily="18" charset="2"/>
              </a:rPr>
              <a:t></a:t>
            </a:r>
          </a:p>
          <a:p>
            <a:pPr algn="ctr">
              <a:lnSpc>
                <a:spcPct val="150000"/>
              </a:lnSpc>
            </a:pPr>
            <a:r>
              <a:rPr lang="en-US" altLang="en-US" i="1">
                <a:latin typeface="Helvetica" panose="020B0604020202020204" pitchFamily="34" charset="0"/>
                <a:sym typeface="Symbol" panose="05050102010706020507" pitchFamily="18" charset="2"/>
              </a:rPr>
              <a:t></a:t>
            </a:r>
          </a:p>
        </p:txBody>
      </p:sp>
      <p:sp>
        <p:nvSpPr>
          <p:cNvPr id="6163" name="Rectangle 19">
            <a:extLst>
              <a:ext uri="{FF2B5EF4-FFF2-40B4-BE49-F238E27FC236}">
                <a16:creationId xmlns:a16="http://schemas.microsoft.com/office/drawing/2014/main" id="{7100EF90-438C-4828-4F23-43BBB8507539}"/>
              </a:ext>
            </a:extLst>
          </p:cNvPr>
          <p:cNvSpPr>
            <a:spLocks noChangeArrowheads="1"/>
          </p:cNvSpPr>
          <p:nvPr/>
        </p:nvSpPr>
        <p:spPr bwMode="auto">
          <a:xfrm>
            <a:off x="5562600" y="5334000"/>
            <a:ext cx="457200" cy="9144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lnSpc>
                <a:spcPct val="150000"/>
              </a:lnSpc>
            </a:pPr>
            <a:r>
              <a:rPr lang="en-US" altLang="en-US" i="1">
                <a:latin typeface="Helvetica" panose="020B0604020202020204" pitchFamily="34" charset="0"/>
                <a:sym typeface="Symbol" panose="05050102010706020507" pitchFamily="18" charset="2"/>
              </a:rPr>
              <a:t>1</a:t>
            </a:r>
          </a:p>
          <a:p>
            <a:pPr algn="ctr">
              <a:lnSpc>
                <a:spcPct val="150000"/>
              </a:lnSpc>
            </a:pPr>
            <a:r>
              <a:rPr lang="en-US" altLang="en-US" i="1">
                <a:latin typeface="Helvetica" panose="020B0604020202020204" pitchFamily="34" charset="0"/>
                <a:sym typeface="Symbol" panose="05050102010706020507" pitchFamily="18" charset="2"/>
              </a:rPr>
              <a:t>23</a:t>
            </a:r>
          </a:p>
        </p:txBody>
      </p:sp>
      <p:sp>
        <p:nvSpPr>
          <p:cNvPr id="6164" name="Rectangle 20">
            <a:extLst>
              <a:ext uri="{FF2B5EF4-FFF2-40B4-BE49-F238E27FC236}">
                <a16:creationId xmlns:a16="http://schemas.microsoft.com/office/drawing/2014/main" id="{AA8DF87C-1456-8967-933A-042E49BA5980}"/>
              </a:ext>
            </a:extLst>
          </p:cNvPr>
          <p:cNvSpPr>
            <a:spLocks noChangeArrowheads="1"/>
          </p:cNvSpPr>
          <p:nvPr/>
        </p:nvSpPr>
        <p:spPr bwMode="auto">
          <a:xfrm>
            <a:off x="6019800" y="5334000"/>
            <a:ext cx="457200" cy="9144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lnSpc>
                <a:spcPct val="150000"/>
              </a:lnSpc>
            </a:pPr>
            <a:r>
              <a:rPr lang="en-US" altLang="en-US" i="1">
                <a:latin typeface="Helvetica" panose="020B0604020202020204" pitchFamily="34" charset="0"/>
                <a:sym typeface="Symbol" panose="05050102010706020507" pitchFamily="18" charset="2"/>
              </a:rPr>
              <a:t>7</a:t>
            </a:r>
          </a:p>
          <a:p>
            <a:pPr algn="ctr">
              <a:lnSpc>
                <a:spcPct val="150000"/>
              </a:lnSpc>
            </a:pPr>
            <a:r>
              <a:rPr lang="en-US" altLang="en-US" i="1">
                <a:latin typeface="Helvetica" panose="020B0604020202020204" pitchFamily="34" charset="0"/>
                <a:sym typeface="Symbol" panose="05050102010706020507" pitchFamily="18" charset="2"/>
              </a:rPr>
              <a:t>10</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161"/>
                                        </p:tgtEl>
                                        <p:attrNameLst>
                                          <p:attrName>style.visibility</p:attrName>
                                        </p:attrNameLst>
                                      </p:cBhvr>
                                      <p:to>
                                        <p:strVal val="visible"/>
                                      </p:to>
                                    </p:set>
                                    <p:animEffect transition="in" filter="blinds(horizontal)">
                                      <p:cBhvr>
                                        <p:cTn id="7" dur="500"/>
                                        <p:tgtEl>
                                          <p:spTgt spid="6161"/>
                                        </p:tgtEl>
                                      </p:cBhvr>
                                    </p:animEffect>
                                  </p:childTnLst>
                                </p:cTn>
                              </p:par>
                              <p:par>
                                <p:cTn id="8" presetID="3" presetClass="entr" presetSubtype="10" fill="hold" nodeType="withEffect">
                                  <p:stCondLst>
                                    <p:cond delay="0"/>
                                  </p:stCondLst>
                                  <p:childTnLst>
                                    <p:set>
                                      <p:cBhvr>
                                        <p:cTn id="9" dur="1" fill="hold">
                                          <p:stCondLst>
                                            <p:cond delay="0"/>
                                          </p:stCondLst>
                                        </p:cTn>
                                        <p:tgtEl>
                                          <p:spTgt spid="6162"/>
                                        </p:tgtEl>
                                        <p:attrNameLst>
                                          <p:attrName>style.visibility</p:attrName>
                                        </p:attrNameLst>
                                      </p:cBhvr>
                                      <p:to>
                                        <p:strVal val="visible"/>
                                      </p:to>
                                    </p:set>
                                    <p:animEffect transition="in" filter="blinds(horizontal)">
                                      <p:cBhvr>
                                        <p:cTn id="10" dur="500"/>
                                        <p:tgtEl>
                                          <p:spTgt spid="6162"/>
                                        </p:tgtEl>
                                      </p:cBhvr>
                                    </p:animEffect>
                                  </p:childTnLst>
                                </p:cTn>
                              </p:par>
                              <p:par>
                                <p:cTn id="11" presetID="3" presetClass="entr" presetSubtype="10" fill="hold" nodeType="withEffect">
                                  <p:stCondLst>
                                    <p:cond delay="0"/>
                                  </p:stCondLst>
                                  <p:childTnLst>
                                    <p:set>
                                      <p:cBhvr>
                                        <p:cTn id="12" dur="1" fill="hold">
                                          <p:stCondLst>
                                            <p:cond delay="0"/>
                                          </p:stCondLst>
                                        </p:cTn>
                                        <p:tgtEl>
                                          <p:spTgt spid="6164"/>
                                        </p:tgtEl>
                                        <p:attrNameLst>
                                          <p:attrName>style.visibility</p:attrName>
                                        </p:attrNameLst>
                                      </p:cBhvr>
                                      <p:to>
                                        <p:strVal val="visible"/>
                                      </p:to>
                                    </p:set>
                                    <p:animEffect transition="in" filter="blinds(horizontal)">
                                      <p:cBhvr>
                                        <p:cTn id="13" dur="500"/>
                                        <p:tgtEl>
                                          <p:spTgt spid="6164"/>
                                        </p:tgtEl>
                                      </p:cBhvr>
                                    </p:animEffect>
                                  </p:childTnLst>
                                </p:cTn>
                              </p:par>
                              <p:par>
                                <p:cTn id="14" presetID="3" presetClass="entr" presetSubtype="10" fill="hold" nodeType="withEffect">
                                  <p:stCondLst>
                                    <p:cond delay="0"/>
                                  </p:stCondLst>
                                  <p:childTnLst>
                                    <p:set>
                                      <p:cBhvr>
                                        <p:cTn id="15" dur="1" fill="hold">
                                          <p:stCondLst>
                                            <p:cond delay="0"/>
                                          </p:stCondLst>
                                        </p:cTn>
                                        <p:tgtEl>
                                          <p:spTgt spid="6163"/>
                                        </p:tgtEl>
                                        <p:attrNameLst>
                                          <p:attrName>style.visibility</p:attrName>
                                        </p:attrNameLst>
                                      </p:cBhvr>
                                      <p:to>
                                        <p:strVal val="visible"/>
                                      </p:to>
                                    </p:set>
                                    <p:animEffect transition="in" filter="blinds(horizontal)">
                                      <p:cBhvr>
                                        <p:cTn id="16" dur="500"/>
                                        <p:tgtEl>
                                          <p:spTgt spid="61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61" grpId="0" animBg="1"/>
      <p:bldP spid="6162" grpId="0" animBg="1"/>
      <p:bldP spid="6163" grpId="0" animBg="1"/>
      <p:bldP spid="616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E00BF388-5211-956B-340E-250B0490F720}"/>
              </a:ext>
            </a:extLst>
          </p:cNvPr>
          <p:cNvSpPr>
            <a:spLocks noGrp="1" noChangeArrowheads="1"/>
          </p:cNvSpPr>
          <p:nvPr>
            <p:ph type="title"/>
          </p:nvPr>
        </p:nvSpPr>
        <p:spPr>
          <a:xfrm>
            <a:off x="2209800" y="0"/>
            <a:ext cx="7772400" cy="1143000"/>
          </a:xfrm>
        </p:spPr>
        <p:txBody>
          <a:bodyPr/>
          <a:lstStyle/>
          <a:p>
            <a:pPr eaLnBrk="1" hangingPunct="1"/>
            <a:r>
              <a:rPr lang="en-US" altLang="en-US" sz="2800"/>
              <a:t>Project Operation</a:t>
            </a:r>
          </a:p>
        </p:txBody>
      </p:sp>
      <p:sp>
        <p:nvSpPr>
          <p:cNvPr id="20483" name="Rectangle 3">
            <a:extLst>
              <a:ext uri="{FF2B5EF4-FFF2-40B4-BE49-F238E27FC236}">
                <a16:creationId xmlns:a16="http://schemas.microsoft.com/office/drawing/2014/main" id="{76BB98B6-070C-C599-A53A-CF829BBBDE3B}"/>
              </a:ext>
            </a:extLst>
          </p:cNvPr>
          <p:cNvSpPr>
            <a:spLocks noGrp="1" noChangeArrowheads="1"/>
          </p:cNvSpPr>
          <p:nvPr>
            <p:ph type="body" idx="1"/>
          </p:nvPr>
        </p:nvSpPr>
        <p:spPr>
          <a:xfrm>
            <a:off x="2133600" y="1371600"/>
            <a:ext cx="7848600" cy="5181600"/>
          </a:xfrm>
        </p:spPr>
        <p:txBody>
          <a:bodyPr/>
          <a:lstStyle/>
          <a:p>
            <a:pPr>
              <a:lnSpc>
                <a:spcPct val="80000"/>
              </a:lnSpc>
              <a:tabLst>
                <a:tab pos="3257550" algn="ctr"/>
              </a:tabLst>
            </a:pPr>
            <a:r>
              <a:rPr lang="en-US" altLang="en-US" sz="2400"/>
              <a:t>Notation:</a:t>
            </a:r>
            <a:br>
              <a:rPr lang="en-US" altLang="en-US" sz="2400"/>
            </a:br>
            <a:br>
              <a:rPr lang="en-US" altLang="en-US" sz="2400"/>
            </a:br>
            <a:r>
              <a:rPr lang="en-US" altLang="en-US" sz="2400"/>
              <a:t>	</a:t>
            </a:r>
            <a:r>
              <a:rPr lang="en-US" altLang="en-US" sz="2400">
                <a:sym typeface="Symbol" panose="05050102010706020507" pitchFamily="18" charset="2"/>
              </a:rPr>
              <a:t></a:t>
            </a:r>
            <a:r>
              <a:rPr lang="en-US" altLang="en-US" sz="2400" baseline="-25000"/>
              <a:t>A1, A2, …,</a:t>
            </a:r>
            <a:r>
              <a:rPr lang="en-US" altLang="en-US" sz="2400" i="1" baseline="-25000"/>
              <a:t> Ak</a:t>
            </a:r>
            <a:r>
              <a:rPr lang="en-US" altLang="en-US" sz="2400"/>
              <a:t> (</a:t>
            </a:r>
            <a:r>
              <a:rPr lang="en-US" altLang="en-US" sz="2400" i="1"/>
              <a:t>r</a:t>
            </a:r>
            <a:r>
              <a:rPr lang="en-US" altLang="en-US" sz="2400"/>
              <a:t>)</a:t>
            </a:r>
          </a:p>
          <a:p>
            <a:pPr>
              <a:lnSpc>
                <a:spcPct val="80000"/>
              </a:lnSpc>
              <a:buNone/>
              <a:tabLst>
                <a:tab pos="3257550" algn="ctr"/>
              </a:tabLst>
            </a:pPr>
            <a:r>
              <a:rPr lang="en-US" altLang="en-US" sz="2400"/>
              <a:t>	where </a:t>
            </a:r>
            <a:r>
              <a:rPr lang="en-US" altLang="en-US" sz="2400" i="1"/>
              <a:t>A</a:t>
            </a:r>
            <a:r>
              <a:rPr lang="en-US" altLang="en-US" sz="2400" i="1" baseline="-25000"/>
              <a:t>1</a:t>
            </a:r>
            <a:r>
              <a:rPr lang="en-US" altLang="en-US" sz="2400" i="1"/>
              <a:t>, A</a:t>
            </a:r>
            <a:r>
              <a:rPr lang="en-US" altLang="en-US" sz="2400" i="1" baseline="-25000"/>
              <a:t>2</a:t>
            </a:r>
            <a:r>
              <a:rPr lang="en-US" altLang="en-US" sz="2400"/>
              <a:t> are attribute names and </a:t>
            </a:r>
            <a:r>
              <a:rPr lang="en-US" altLang="en-US" sz="2400" i="1"/>
              <a:t>r</a:t>
            </a:r>
            <a:r>
              <a:rPr lang="en-US" altLang="en-US" sz="2400"/>
              <a:t> is a relation.</a:t>
            </a:r>
          </a:p>
          <a:p>
            <a:pPr>
              <a:lnSpc>
                <a:spcPct val="80000"/>
              </a:lnSpc>
              <a:tabLst>
                <a:tab pos="3257550" algn="ctr"/>
              </a:tabLst>
            </a:pPr>
            <a:r>
              <a:rPr lang="en-US" altLang="en-US" sz="2400"/>
              <a:t>The result is defined as the relation of </a:t>
            </a:r>
            <a:r>
              <a:rPr lang="en-US" altLang="en-US" sz="2400" i="1"/>
              <a:t>k</a:t>
            </a:r>
            <a:r>
              <a:rPr lang="en-US" altLang="en-US" sz="2400"/>
              <a:t> columns obtained by erasing the columns that are not listed</a:t>
            </a:r>
          </a:p>
          <a:p>
            <a:pPr>
              <a:lnSpc>
                <a:spcPct val="80000"/>
              </a:lnSpc>
              <a:tabLst>
                <a:tab pos="3257550" algn="ctr"/>
              </a:tabLst>
            </a:pPr>
            <a:r>
              <a:rPr lang="en-US" altLang="en-US" sz="2400"/>
              <a:t>Duplicate rows removed from result, since relations are sets</a:t>
            </a:r>
          </a:p>
          <a:p>
            <a:pPr>
              <a:lnSpc>
                <a:spcPct val="80000"/>
              </a:lnSpc>
              <a:tabLst>
                <a:tab pos="3257550" algn="ctr"/>
              </a:tabLst>
            </a:pPr>
            <a:r>
              <a:rPr lang="en-US" altLang="en-US" sz="2400"/>
              <a:t>E.g. to eliminate the </a:t>
            </a:r>
            <a:r>
              <a:rPr lang="en-US" altLang="en-US" sz="2400" i="1"/>
              <a:t>branch-name</a:t>
            </a:r>
            <a:r>
              <a:rPr lang="en-US" altLang="en-US" sz="2400"/>
              <a:t> attribute of </a:t>
            </a:r>
            <a:r>
              <a:rPr lang="en-US" altLang="en-US" sz="2400" i="1"/>
              <a:t>account</a:t>
            </a:r>
            <a:br>
              <a:rPr lang="en-US" altLang="en-US" sz="2400"/>
            </a:br>
            <a:r>
              <a:rPr lang="en-US" altLang="en-US" sz="2400"/>
              <a:t>          </a:t>
            </a:r>
            <a:r>
              <a:rPr lang="en-US" altLang="en-US" sz="2400">
                <a:sym typeface="Symbol" panose="05050102010706020507" pitchFamily="18" charset="2"/>
              </a:rPr>
              <a:t></a:t>
            </a:r>
            <a:r>
              <a:rPr lang="en-US" altLang="en-US" sz="2400" i="1" baseline="-25000"/>
              <a:t>account-number, balance</a:t>
            </a:r>
            <a:r>
              <a:rPr lang="en-US" altLang="en-US" sz="2400"/>
              <a:t> (</a:t>
            </a:r>
            <a:r>
              <a:rPr lang="en-US" altLang="en-US" sz="2400" i="1"/>
              <a:t>account</a:t>
            </a:r>
            <a:r>
              <a:rPr lang="en-US" altLang="en-US" sz="2400"/>
              <a:t>) </a:t>
            </a:r>
            <a:br>
              <a:rPr lang="en-US" altLang="en-US" sz="2400"/>
            </a:br>
            <a:endParaRPr lang="en-US" altLang="en-US" sz="2400"/>
          </a:p>
          <a:p>
            <a:pPr>
              <a:lnSpc>
                <a:spcPct val="80000"/>
              </a:lnSpc>
              <a:tabLst>
                <a:tab pos="3257550" algn="ctr"/>
              </a:tabLst>
            </a:pPr>
            <a:r>
              <a:rPr lang="en-US" altLang="en-US" sz="2000"/>
              <a:t>If relation Account contains 50 tuples, how many tuples contains </a:t>
            </a:r>
            <a:r>
              <a:rPr lang="en-US" altLang="en-US" sz="2000">
                <a:sym typeface="Symbol" panose="05050102010706020507" pitchFamily="18" charset="2"/>
              </a:rPr>
              <a:t></a:t>
            </a:r>
            <a:r>
              <a:rPr lang="en-US" altLang="en-US" sz="2000" i="1" baseline="-25000"/>
              <a:t>account-number, balance</a:t>
            </a:r>
            <a:r>
              <a:rPr lang="en-US" altLang="en-US" sz="2000"/>
              <a:t> (</a:t>
            </a:r>
            <a:r>
              <a:rPr lang="en-US" altLang="en-US" sz="2000" i="1"/>
              <a:t>account</a:t>
            </a:r>
            <a:r>
              <a:rPr lang="en-US" altLang="en-US" sz="2000"/>
              <a:t>) ?</a:t>
            </a:r>
          </a:p>
          <a:p>
            <a:pPr>
              <a:lnSpc>
                <a:spcPct val="80000"/>
              </a:lnSpc>
              <a:tabLst>
                <a:tab pos="3257550" algn="ctr"/>
              </a:tabLst>
            </a:pPr>
            <a:r>
              <a:rPr lang="en-US" altLang="en-US" sz="2000"/>
              <a:t>If relation Account contains 50 tuples, how many tuples contains </a:t>
            </a:r>
          </a:p>
          <a:p>
            <a:pPr>
              <a:lnSpc>
                <a:spcPct val="80000"/>
              </a:lnSpc>
              <a:buNone/>
              <a:tabLst>
                <a:tab pos="3257550" algn="ctr"/>
              </a:tabLst>
            </a:pPr>
            <a:r>
              <a:rPr lang="en-US" altLang="en-US" sz="1800">
                <a:sym typeface="Symbol" panose="05050102010706020507" pitchFamily="18" charset="2"/>
              </a:rPr>
              <a:t>     </a:t>
            </a:r>
            <a:r>
              <a:rPr lang="en-US" altLang="en-US" sz="1800" i="1" baseline="-25000"/>
              <a:t>, balance</a:t>
            </a:r>
            <a:r>
              <a:rPr lang="en-US" altLang="en-US" sz="1800"/>
              <a:t> (</a:t>
            </a:r>
            <a:r>
              <a:rPr lang="en-US" altLang="en-US" sz="1800" i="1"/>
              <a:t>account</a:t>
            </a:r>
            <a:r>
              <a:rPr lang="en-US" altLang="en-US" sz="1800"/>
              <a:t>)</a:t>
            </a:r>
            <a:r>
              <a:rPr lang="en-US" altLang="en-US" sz="2000"/>
              <a:t>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B75DD831-FB15-2CEA-3FAF-C9C538C097B4}"/>
              </a:ext>
            </a:extLst>
          </p:cNvPr>
          <p:cNvSpPr>
            <a:spLocks noGrp="1" noChangeArrowheads="1"/>
          </p:cNvSpPr>
          <p:nvPr>
            <p:ph type="title"/>
          </p:nvPr>
        </p:nvSpPr>
        <p:spPr>
          <a:xfrm>
            <a:off x="2209800" y="0"/>
            <a:ext cx="7772400" cy="1143000"/>
          </a:xfrm>
        </p:spPr>
        <p:txBody>
          <a:bodyPr/>
          <a:lstStyle/>
          <a:p>
            <a:pPr eaLnBrk="1" hangingPunct="1"/>
            <a:r>
              <a:rPr lang="en-US" altLang="en-US" sz="2800"/>
              <a:t>Project Operation – Example</a:t>
            </a:r>
          </a:p>
        </p:txBody>
      </p:sp>
      <p:sp>
        <p:nvSpPr>
          <p:cNvPr id="21507" name="Rectangle 3">
            <a:extLst>
              <a:ext uri="{FF2B5EF4-FFF2-40B4-BE49-F238E27FC236}">
                <a16:creationId xmlns:a16="http://schemas.microsoft.com/office/drawing/2014/main" id="{A0F684AD-3045-7BD7-FDA3-EECA6AA443FA}"/>
              </a:ext>
            </a:extLst>
          </p:cNvPr>
          <p:cNvSpPr>
            <a:spLocks noGrp="1" noChangeArrowheads="1"/>
          </p:cNvSpPr>
          <p:nvPr>
            <p:ph type="body" idx="1"/>
          </p:nvPr>
        </p:nvSpPr>
        <p:spPr>
          <a:xfrm>
            <a:off x="2303464" y="2495551"/>
            <a:ext cx="6961187" cy="346075"/>
          </a:xfrm>
        </p:spPr>
        <p:txBody>
          <a:bodyPr>
            <a:normAutofit fontScale="92500" lnSpcReduction="20000"/>
          </a:bodyPr>
          <a:lstStyle/>
          <a:p>
            <a:pPr eaLnBrk="1" hangingPunct="1">
              <a:lnSpc>
                <a:spcPct val="90000"/>
              </a:lnSpc>
            </a:pPr>
            <a:r>
              <a:rPr lang="en-US" altLang="en-US" sz="2400"/>
              <a:t>Relation</a:t>
            </a:r>
            <a:r>
              <a:rPr lang="en-US" altLang="en-US" sz="2400" i="1"/>
              <a:t> r</a:t>
            </a:r>
            <a:r>
              <a:rPr lang="en-US" altLang="en-US" sz="2400"/>
              <a:t>:</a:t>
            </a:r>
          </a:p>
        </p:txBody>
      </p:sp>
      <p:sp>
        <p:nvSpPr>
          <p:cNvPr id="21508" name="Rectangle 4">
            <a:extLst>
              <a:ext uri="{FF2B5EF4-FFF2-40B4-BE49-F238E27FC236}">
                <a16:creationId xmlns:a16="http://schemas.microsoft.com/office/drawing/2014/main" id="{938F5774-9DC5-6B33-4DD7-913F6909600D}"/>
              </a:ext>
            </a:extLst>
          </p:cNvPr>
          <p:cNvSpPr>
            <a:spLocks noChangeArrowheads="1"/>
          </p:cNvSpPr>
          <p:nvPr/>
        </p:nvSpPr>
        <p:spPr bwMode="auto">
          <a:xfrm>
            <a:off x="4572000" y="1676400"/>
            <a:ext cx="457200" cy="4572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r>
              <a:rPr lang="en-US" altLang="en-US" i="1">
                <a:latin typeface="Helvetica" panose="020B0604020202020204" pitchFamily="34" charset="0"/>
              </a:rPr>
              <a:t>A</a:t>
            </a:r>
          </a:p>
        </p:txBody>
      </p:sp>
      <p:sp>
        <p:nvSpPr>
          <p:cNvPr id="21509" name="Rectangle 5">
            <a:extLst>
              <a:ext uri="{FF2B5EF4-FFF2-40B4-BE49-F238E27FC236}">
                <a16:creationId xmlns:a16="http://schemas.microsoft.com/office/drawing/2014/main" id="{0C2CA432-0096-7248-F10A-7347DEC9F032}"/>
              </a:ext>
            </a:extLst>
          </p:cNvPr>
          <p:cNvSpPr>
            <a:spLocks noChangeArrowheads="1"/>
          </p:cNvSpPr>
          <p:nvPr/>
        </p:nvSpPr>
        <p:spPr bwMode="auto">
          <a:xfrm>
            <a:off x="5029200" y="1676400"/>
            <a:ext cx="457200" cy="4572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r>
              <a:rPr lang="en-US" altLang="en-US" i="1">
                <a:latin typeface="Helvetica" panose="020B0604020202020204" pitchFamily="34" charset="0"/>
              </a:rPr>
              <a:t>B</a:t>
            </a:r>
          </a:p>
        </p:txBody>
      </p:sp>
      <p:sp>
        <p:nvSpPr>
          <p:cNvPr id="21510" name="Rectangle 6">
            <a:extLst>
              <a:ext uri="{FF2B5EF4-FFF2-40B4-BE49-F238E27FC236}">
                <a16:creationId xmlns:a16="http://schemas.microsoft.com/office/drawing/2014/main" id="{D8353ADE-D8DB-ED2E-5E98-1EB4D2474BD9}"/>
              </a:ext>
            </a:extLst>
          </p:cNvPr>
          <p:cNvSpPr>
            <a:spLocks noChangeArrowheads="1"/>
          </p:cNvSpPr>
          <p:nvPr/>
        </p:nvSpPr>
        <p:spPr bwMode="auto">
          <a:xfrm>
            <a:off x="5486400" y="1676400"/>
            <a:ext cx="457200" cy="4572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r>
              <a:rPr lang="en-US" altLang="en-US" i="1">
                <a:latin typeface="Helvetica" panose="020B0604020202020204" pitchFamily="34" charset="0"/>
              </a:rPr>
              <a:t>C</a:t>
            </a:r>
          </a:p>
        </p:txBody>
      </p:sp>
      <p:sp>
        <p:nvSpPr>
          <p:cNvPr id="21511" name="Rectangle 7">
            <a:extLst>
              <a:ext uri="{FF2B5EF4-FFF2-40B4-BE49-F238E27FC236}">
                <a16:creationId xmlns:a16="http://schemas.microsoft.com/office/drawing/2014/main" id="{658310A5-BBDF-1FCF-49C8-954785DB0573}"/>
              </a:ext>
            </a:extLst>
          </p:cNvPr>
          <p:cNvSpPr>
            <a:spLocks noChangeArrowheads="1"/>
          </p:cNvSpPr>
          <p:nvPr/>
        </p:nvSpPr>
        <p:spPr bwMode="auto">
          <a:xfrm>
            <a:off x="4572000" y="2209800"/>
            <a:ext cx="457200" cy="16764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lnSpc>
                <a:spcPct val="150000"/>
              </a:lnSpc>
            </a:pPr>
            <a:r>
              <a:rPr lang="en-US" altLang="en-US" i="1">
                <a:latin typeface="Helvetica" panose="020B0604020202020204" pitchFamily="34" charset="0"/>
                <a:sym typeface="Symbol" panose="05050102010706020507" pitchFamily="18" charset="2"/>
              </a:rPr>
              <a:t></a:t>
            </a:r>
          </a:p>
          <a:p>
            <a:pPr algn="ctr">
              <a:lnSpc>
                <a:spcPct val="150000"/>
              </a:lnSpc>
            </a:pPr>
            <a:r>
              <a:rPr lang="en-US" altLang="en-US" i="1">
                <a:latin typeface="Helvetica" panose="020B0604020202020204" pitchFamily="34" charset="0"/>
                <a:sym typeface="Symbol" panose="05050102010706020507" pitchFamily="18" charset="2"/>
              </a:rPr>
              <a:t></a:t>
            </a:r>
          </a:p>
          <a:p>
            <a:pPr algn="ctr">
              <a:lnSpc>
                <a:spcPct val="150000"/>
              </a:lnSpc>
            </a:pPr>
            <a:r>
              <a:rPr lang="en-US" altLang="en-US" i="1">
                <a:latin typeface="Helvetica" panose="020B0604020202020204" pitchFamily="34" charset="0"/>
                <a:sym typeface="Symbol" panose="05050102010706020507" pitchFamily="18" charset="2"/>
              </a:rPr>
              <a:t></a:t>
            </a:r>
          </a:p>
          <a:p>
            <a:pPr algn="ctr">
              <a:lnSpc>
                <a:spcPct val="150000"/>
              </a:lnSpc>
            </a:pPr>
            <a:r>
              <a:rPr lang="en-US" altLang="en-US" i="1">
                <a:latin typeface="Helvetica" panose="020B0604020202020204" pitchFamily="34" charset="0"/>
                <a:sym typeface="Symbol" panose="05050102010706020507" pitchFamily="18" charset="2"/>
              </a:rPr>
              <a:t></a:t>
            </a:r>
          </a:p>
        </p:txBody>
      </p:sp>
      <p:sp>
        <p:nvSpPr>
          <p:cNvPr id="21512" name="Rectangle 8">
            <a:extLst>
              <a:ext uri="{FF2B5EF4-FFF2-40B4-BE49-F238E27FC236}">
                <a16:creationId xmlns:a16="http://schemas.microsoft.com/office/drawing/2014/main" id="{3E23F2E3-18D5-80EB-CA5F-8989E8B6336A}"/>
              </a:ext>
            </a:extLst>
          </p:cNvPr>
          <p:cNvSpPr>
            <a:spLocks noChangeArrowheads="1"/>
          </p:cNvSpPr>
          <p:nvPr/>
        </p:nvSpPr>
        <p:spPr bwMode="auto">
          <a:xfrm>
            <a:off x="5029200" y="2209800"/>
            <a:ext cx="457200" cy="16764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lnSpc>
                <a:spcPct val="150000"/>
              </a:lnSpc>
            </a:pPr>
            <a:r>
              <a:rPr lang="en-US" altLang="en-US" i="1">
                <a:latin typeface="Helvetica" panose="020B0604020202020204" pitchFamily="34" charset="0"/>
                <a:sym typeface="Symbol" panose="05050102010706020507" pitchFamily="18" charset="2"/>
              </a:rPr>
              <a:t>10</a:t>
            </a:r>
          </a:p>
          <a:p>
            <a:pPr algn="ctr">
              <a:lnSpc>
                <a:spcPct val="150000"/>
              </a:lnSpc>
            </a:pPr>
            <a:r>
              <a:rPr lang="en-US" altLang="en-US" i="1">
                <a:latin typeface="Helvetica" panose="020B0604020202020204" pitchFamily="34" charset="0"/>
                <a:sym typeface="Symbol" panose="05050102010706020507" pitchFamily="18" charset="2"/>
              </a:rPr>
              <a:t>20</a:t>
            </a:r>
          </a:p>
          <a:p>
            <a:pPr algn="ctr">
              <a:lnSpc>
                <a:spcPct val="150000"/>
              </a:lnSpc>
            </a:pPr>
            <a:r>
              <a:rPr lang="en-US" altLang="en-US" i="1">
                <a:latin typeface="Helvetica" panose="020B0604020202020204" pitchFamily="34" charset="0"/>
                <a:sym typeface="Symbol" panose="05050102010706020507" pitchFamily="18" charset="2"/>
              </a:rPr>
              <a:t>30</a:t>
            </a:r>
          </a:p>
          <a:p>
            <a:pPr algn="ctr">
              <a:lnSpc>
                <a:spcPct val="150000"/>
              </a:lnSpc>
            </a:pPr>
            <a:r>
              <a:rPr lang="en-US" altLang="en-US" i="1">
                <a:latin typeface="Helvetica" panose="020B0604020202020204" pitchFamily="34" charset="0"/>
                <a:sym typeface="Symbol" panose="05050102010706020507" pitchFamily="18" charset="2"/>
              </a:rPr>
              <a:t>40</a:t>
            </a:r>
          </a:p>
        </p:txBody>
      </p:sp>
      <p:sp>
        <p:nvSpPr>
          <p:cNvPr id="21513" name="Rectangle 9">
            <a:extLst>
              <a:ext uri="{FF2B5EF4-FFF2-40B4-BE49-F238E27FC236}">
                <a16:creationId xmlns:a16="http://schemas.microsoft.com/office/drawing/2014/main" id="{857F3492-4F26-4A83-5ECD-88F4DD76A631}"/>
              </a:ext>
            </a:extLst>
          </p:cNvPr>
          <p:cNvSpPr>
            <a:spLocks noChangeArrowheads="1"/>
          </p:cNvSpPr>
          <p:nvPr/>
        </p:nvSpPr>
        <p:spPr bwMode="auto">
          <a:xfrm>
            <a:off x="5486400" y="2209800"/>
            <a:ext cx="457200" cy="16764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lnSpc>
                <a:spcPct val="150000"/>
              </a:lnSpc>
            </a:pPr>
            <a:r>
              <a:rPr lang="en-US" altLang="en-US" i="1">
                <a:latin typeface="Helvetica" panose="020B0604020202020204" pitchFamily="34" charset="0"/>
                <a:sym typeface="Symbol" panose="05050102010706020507" pitchFamily="18" charset="2"/>
              </a:rPr>
              <a:t>1</a:t>
            </a:r>
          </a:p>
          <a:p>
            <a:pPr algn="ctr">
              <a:lnSpc>
                <a:spcPct val="150000"/>
              </a:lnSpc>
            </a:pPr>
            <a:r>
              <a:rPr lang="en-US" altLang="en-US" i="1">
                <a:latin typeface="Helvetica" panose="020B0604020202020204" pitchFamily="34" charset="0"/>
                <a:sym typeface="Symbol" panose="05050102010706020507" pitchFamily="18" charset="2"/>
              </a:rPr>
              <a:t>1</a:t>
            </a:r>
          </a:p>
          <a:p>
            <a:pPr algn="ctr">
              <a:lnSpc>
                <a:spcPct val="150000"/>
              </a:lnSpc>
            </a:pPr>
            <a:r>
              <a:rPr lang="en-US" altLang="en-US" i="1">
                <a:latin typeface="Helvetica" panose="020B0604020202020204" pitchFamily="34" charset="0"/>
                <a:sym typeface="Symbol" panose="05050102010706020507" pitchFamily="18" charset="2"/>
              </a:rPr>
              <a:t>1</a:t>
            </a:r>
          </a:p>
          <a:p>
            <a:pPr algn="ctr">
              <a:lnSpc>
                <a:spcPct val="150000"/>
              </a:lnSpc>
            </a:pPr>
            <a:r>
              <a:rPr lang="en-US" altLang="en-US" i="1">
                <a:latin typeface="Helvetica" panose="020B0604020202020204" pitchFamily="34" charset="0"/>
                <a:sym typeface="Symbol" panose="05050102010706020507" pitchFamily="18" charset="2"/>
              </a:rPr>
              <a:t>2</a:t>
            </a:r>
          </a:p>
        </p:txBody>
      </p:sp>
      <p:sp>
        <p:nvSpPr>
          <p:cNvPr id="21514" name="Rectangle 10">
            <a:extLst>
              <a:ext uri="{FF2B5EF4-FFF2-40B4-BE49-F238E27FC236}">
                <a16:creationId xmlns:a16="http://schemas.microsoft.com/office/drawing/2014/main" id="{0E4677DE-849E-848E-6AE2-06DA3C50F23F}"/>
              </a:ext>
            </a:extLst>
          </p:cNvPr>
          <p:cNvSpPr>
            <a:spLocks noChangeArrowheads="1"/>
          </p:cNvSpPr>
          <p:nvPr/>
        </p:nvSpPr>
        <p:spPr bwMode="auto">
          <a:xfrm>
            <a:off x="2514600" y="4114801"/>
            <a:ext cx="7029450"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endParaRPr lang="en-US" altLang="en-US" sz="2400"/>
          </a:p>
        </p:txBody>
      </p:sp>
      <p:sp>
        <p:nvSpPr>
          <p:cNvPr id="21515" name="Rectangle 11">
            <a:extLst>
              <a:ext uri="{FF2B5EF4-FFF2-40B4-BE49-F238E27FC236}">
                <a16:creationId xmlns:a16="http://schemas.microsoft.com/office/drawing/2014/main" id="{3C249C5A-EDF6-04C6-2B8D-D525C496D537}"/>
              </a:ext>
            </a:extLst>
          </p:cNvPr>
          <p:cNvSpPr>
            <a:spLocks noChangeArrowheads="1"/>
          </p:cNvSpPr>
          <p:nvPr/>
        </p:nvSpPr>
        <p:spPr bwMode="auto">
          <a:xfrm>
            <a:off x="2438400" y="3962401"/>
            <a:ext cx="7029450"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endParaRPr lang="en-US" altLang="en-US" sz="2400"/>
          </a:p>
        </p:txBody>
      </p:sp>
      <p:sp>
        <p:nvSpPr>
          <p:cNvPr id="21516" name="Rectangle 12">
            <a:extLst>
              <a:ext uri="{FF2B5EF4-FFF2-40B4-BE49-F238E27FC236}">
                <a16:creationId xmlns:a16="http://schemas.microsoft.com/office/drawing/2014/main" id="{5D979991-709F-C911-F2D5-E1B070D4763A}"/>
              </a:ext>
            </a:extLst>
          </p:cNvPr>
          <p:cNvSpPr>
            <a:spLocks noChangeArrowheads="1"/>
          </p:cNvSpPr>
          <p:nvPr/>
        </p:nvSpPr>
        <p:spPr bwMode="auto">
          <a:xfrm>
            <a:off x="2057400" y="4114801"/>
            <a:ext cx="7029450"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spcBef>
                <a:spcPct val="35000"/>
              </a:spcBef>
              <a:buClr>
                <a:schemeClr val="tx2"/>
              </a:buClr>
              <a:buFont typeface="Monotype Sorts" pitchFamily="1" charset="2"/>
              <a:buNone/>
            </a:pPr>
            <a:endParaRPr kumimoji="1" lang="en-US" altLang="en-US" sz="2000"/>
          </a:p>
        </p:txBody>
      </p:sp>
      <p:sp>
        <p:nvSpPr>
          <p:cNvPr id="8205" name="Rectangle 13">
            <a:extLst>
              <a:ext uri="{FF2B5EF4-FFF2-40B4-BE49-F238E27FC236}">
                <a16:creationId xmlns:a16="http://schemas.microsoft.com/office/drawing/2014/main" id="{2DF0ABDF-E1EF-7DA9-7FAF-17B24ABEE559}"/>
              </a:ext>
            </a:extLst>
          </p:cNvPr>
          <p:cNvSpPr>
            <a:spLocks noChangeArrowheads="1"/>
          </p:cNvSpPr>
          <p:nvPr/>
        </p:nvSpPr>
        <p:spPr bwMode="auto">
          <a:xfrm>
            <a:off x="4038600" y="4038600"/>
            <a:ext cx="457200" cy="4572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r>
              <a:rPr lang="en-US" altLang="en-US" i="1">
                <a:latin typeface="Helvetica" panose="020B0604020202020204" pitchFamily="34" charset="0"/>
              </a:rPr>
              <a:t>A</a:t>
            </a:r>
          </a:p>
        </p:txBody>
      </p:sp>
      <p:sp>
        <p:nvSpPr>
          <p:cNvPr id="8206" name="Rectangle 14">
            <a:extLst>
              <a:ext uri="{FF2B5EF4-FFF2-40B4-BE49-F238E27FC236}">
                <a16:creationId xmlns:a16="http://schemas.microsoft.com/office/drawing/2014/main" id="{2445C619-E390-570A-1232-A43F749C186E}"/>
              </a:ext>
            </a:extLst>
          </p:cNvPr>
          <p:cNvSpPr>
            <a:spLocks noChangeArrowheads="1"/>
          </p:cNvSpPr>
          <p:nvPr/>
        </p:nvSpPr>
        <p:spPr bwMode="auto">
          <a:xfrm>
            <a:off x="4495800" y="4038600"/>
            <a:ext cx="457200" cy="4572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r>
              <a:rPr lang="en-US" altLang="en-US" i="1">
                <a:latin typeface="Helvetica" panose="020B0604020202020204" pitchFamily="34" charset="0"/>
              </a:rPr>
              <a:t>C</a:t>
            </a:r>
          </a:p>
        </p:txBody>
      </p:sp>
      <p:sp>
        <p:nvSpPr>
          <p:cNvPr id="8207" name="Rectangle 15">
            <a:extLst>
              <a:ext uri="{FF2B5EF4-FFF2-40B4-BE49-F238E27FC236}">
                <a16:creationId xmlns:a16="http://schemas.microsoft.com/office/drawing/2014/main" id="{D1A009F0-75C0-63EF-0C66-F8138A9ADBEB}"/>
              </a:ext>
            </a:extLst>
          </p:cNvPr>
          <p:cNvSpPr>
            <a:spLocks noChangeArrowheads="1"/>
          </p:cNvSpPr>
          <p:nvPr/>
        </p:nvSpPr>
        <p:spPr bwMode="auto">
          <a:xfrm>
            <a:off x="4038600" y="4572000"/>
            <a:ext cx="457200" cy="16764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lnSpc>
                <a:spcPct val="150000"/>
              </a:lnSpc>
            </a:pPr>
            <a:r>
              <a:rPr lang="en-US" altLang="en-US" i="1">
                <a:latin typeface="Helvetica" panose="020B0604020202020204" pitchFamily="34" charset="0"/>
                <a:sym typeface="Symbol" panose="05050102010706020507" pitchFamily="18" charset="2"/>
              </a:rPr>
              <a:t></a:t>
            </a:r>
          </a:p>
          <a:p>
            <a:pPr algn="ctr">
              <a:lnSpc>
                <a:spcPct val="150000"/>
              </a:lnSpc>
            </a:pPr>
            <a:r>
              <a:rPr lang="en-US" altLang="en-US" i="1">
                <a:latin typeface="Helvetica" panose="020B0604020202020204" pitchFamily="34" charset="0"/>
                <a:sym typeface="Symbol" panose="05050102010706020507" pitchFamily="18" charset="2"/>
              </a:rPr>
              <a:t></a:t>
            </a:r>
          </a:p>
          <a:p>
            <a:pPr algn="ctr">
              <a:lnSpc>
                <a:spcPct val="150000"/>
              </a:lnSpc>
            </a:pPr>
            <a:r>
              <a:rPr lang="en-US" altLang="en-US" i="1">
                <a:latin typeface="Helvetica" panose="020B0604020202020204" pitchFamily="34" charset="0"/>
                <a:sym typeface="Symbol" panose="05050102010706020507" pitchFamily="18" charset="2"/>
              </a:rPr>
              <a:t></a:t>
            </a:r>
          </a:p>
          <a:p>
            <a:pPr algn="ctr">
              <a:lnSpc>
                <a:spcPct val="150000"/>
              </a:lnSpc>
            </a:pPr>
            <a:r>
              <a:rPr lang="en-US" altLang="en-US" i="1">
                <a:latin typeface="Helvetica" panose="020B0604020202020204" pitchFamily="34" charset="0"/>
                <a:sym typeface="Symbol" panose="05050102010706020507" pitchFamily="18" charset="2"/>
              </a:rPr>
              <a:t></a:t>
            </a:r>
          </a:p>
        </p:txBody>
      </p:sp>
      <p:sp>
        <p:nvSpPr>
          <p:cNvPr id="8208" name="Rectangle 16">
            <a:extLst>
              <a:ext uri="{FF2B5EF4-FFF2-40B4-BE49-F238E27FC236}">
                <a16:creationId xmlns:a16="http://schemas.microsoft.com/office/drawing/2014/main" id="{4F596A93-1B5F-D8E4-A0D3-E367E40C658A}"/>
              </a:ext>
            </a:extLst>
          </p:cNvPr>
          <p:cNvSpPr>
            <a:spLocks noChangeArrowheads="1"/>
          </p:cNvSpPr>
          <p:nvPr/>
        </p:nvSpPr>
        <p:spPr bwMode="auto">
          <a:xfrm>
            <a:off x="4495800" y="4572000"/>
            <a:ext cx="457200" cy="16764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lnSpc>
                <a:spcPct val="150000"/>
              </a:lnSpc>
            </a:pPr>
            <a:r>
              <a:rPr lang="en-US" altLang="en-US" i="1">
                <a:latin typeface="Helvetica" panose="020B0604020202020204" pitchFamily="34" charset="0"/>
                <a:sym typeface="Symbol" panose="05050102010706020507" pitchFamily="18" charset="2"/>
              </a:rPr>
              <a:t>1</a:t>
            </a:r>
          </a:p>
          <a:p>
            <a:pPr algn="ctr">
              <a:lnSpc>
                <a:spcPct val="150000"/>
              </a:lnSpc>
            </a:pPr>
            <a:r>
              <a:rPr lang="en-US" altLang="en-US" i="1">
                <a:latin typeface="Helvetica" panose="020B0604020202020204" pitchFamily="34" charset="0"/>
                <a:sym typeface="Symbol" panose="05050102010706020507" pitchFamily="18" charset="2"/>
              </a:rPr>
              <a:t>1</a:t>
            </a:r>
          </a:p>
          <a:p>
            <a:pPr algn="ctr">
              <a:lnSpc>
                <a:spcPct val="150000"/>
              </a:lnSpc>
            </a:pPr>
            <a:r>
              <a:rPr lang="en-US" altLang="en-US" i="1">
                <a:latin typeface="Helvetica" panose="020B0604020202020204" pitchFamily="34" charset="0"/>
                <a:sym typeface="Symbol" panose="05050102010706020507" pitchFamily="18" charset="2"/>
              </a:rPr>
              <a:t>1</a:t>
            </a:r>
          </a:p>
          <a:p>
            <a:pPr algn="ctr">
              <a:lnSpc>
                <a:spcPct val="150000"/>
              </a:lnSpc>
            </a:pPr>
            <a:r>
              <a:rPr lang="en-US" altLang="en-US" i="1">
                <a:latin typeface="Helvetica" panose="020B0604020202020204" pitchFamily="34" charset="0"/>
                <a:sym typeface="Symbol" panose="05050102010706020507" pitchFamily="18" charset="2"/>
              </a:rPr>
              <a:t>2</a:t>
            </a:r>
          </a:p>
        </p:txBody>
      </p:sp>
      <p:sp>
        <p:nvSpPr>
          <p:cNvPr id="8209" name="Text Box 17">
            <a:extLst>
              <a:ext uri="{FF2B5EF4-FFF2-40B4-BE49-F238E27FC236}">
                <a16:creationId xmlns:a16="http://schemas.microsoft.com/office/drawing/2014/main" id="{E9C0F015-F489-B4DB-E852-561F6F0A45EF}"/>
              </a:ext>
            </a:extLst>
          </p:cNvPr>
          <p:cNvSpPr txBox="1">
            <a:spLocks noChangeArrowheads="1"/>
          </p:cNvSpPr>
          <p:nvPr/>
        </p:nvSpPr>
        <p:spPr bwMode="auto">
          <a:xfrm>
            <a:off x="5105400" y="5029201"/>
            <a:ext cx="3175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spcBef>
                <a:spcPct val="50000"/>
              </a:spcBef>
            </a:pPr>
            <a:r>
              <a:rPr lang="en-US" altLang="en-US">
                <a:latin typeface="Helvetica" panose="020B0604020202020204" pitchFamily="34" charset="0"/>
              </a:rPr>
              <a:t>=</a:t>
            </a:r>
          </a:p>
        </p:txBody>
      </p:sp>
      <p:sp>
        <p:nvSpPr>
          <p:cNvPr id="8210" name="Rectangle 18">
            <a:extLst>
              <a:ext uri="{FF2B5EF4-FFF2-40B4-BE49-F238E27FC236}">
                <a16:creationId xmlns:a16="http://schemas.microsoft.com/office/drawing/2014/main" id="{347D76B1-D5F6-6963-7688-EB71E8D729D6}"/>
              </a:ext>
            </a:extLst>
          </p:cNvPr>
          <p:cNvSpPr>
            <a:spLocks noChangeArrowheads="1"/>
          </p:cNvSpPr>
          <p:nvPr/>
        </p:nvSpPr>
        <p:spPr bwMode="auto">
          <a:xfrm>
            <a:off x="5562600" y="4038600"/>
            <a:ext cx="457200" cy="4572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r>
              <a:rPr lang="en-US" altLang="en-US" i="1">
                <a:latin typeface="Helvetica" panose="020B0604020202020204" pitchFamily="34" charset="0"/>
              </a:rPr>
              <a:t>A</a:t>
            </a:r>
          </a:p>
        </p:txBody>
      </p:sp>
      <p:sp>
        <p:nvSpPr>
          <p:cNvPr id="8211" name="Rectangle 19">
            <a:extLst>
              <a:ext uri="{FF2B5EF4-FFF2-40B4-BE49-F238E27FC236}">
                <a16:creationId xmlns:a16="http://schemas.microsoft.com/office/drawing/2014/main" id="{58472F02-CAB4-5026-FA73-A7A929EB280A}"/>
              </a:ext>
            </a:extLst>
          </p:cNvPr>
          <p:cNvSpPr>
            <a:spLocks noChangeArrowheads="1"/>
          </p:cNvSpPr>
          <p:nvPr/>
        </p:nvSpPr>
        <p:spPr bwMode="auto">
          <a:xfrm>
            <a:off x="6019800" y="4038600"/>
            <a:ext cx="457200" cy="4572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r>
              <a:rPr lang="en-US" altLang="en-US" i="1">
                <a:latin typeface="Helvetica" panose="020B0604020202020204" pitchFamily="34" charset="0"/>
              </a:rPr>
              <a:t>C</a:t>
            </a:r>
          </a:p>
        </p:txBody>
      </p:sp>
      <p:sp>
        <p:nvSpPr>
          <p:cNvPr id="8212" name="Rectangle 20">
            <a:extLst>
              <a:ext uri="{FF2B5EF4-FFF2-40B4-BE49-F238E27FC236}">
                <a16:creationId xmlns:a16="http://schemas.microsoft.com/office/drawing/2014/main" id="{E9946148-E961-866D-96B4-A21BA68F649E}"/>
              </a:ext>
            </a:extLst>
          </p:cNvPr>
          <p:cNvSpPr>
            <a:spLocks noChangeArrowheads="1"/>
          </p:cNvSpPr>
          <p:nvPr/>
        </p:nvSpPr>
        <p:spPr bwMode="auto">
          <a:xfrm>
            <a:off x="5562600" y="4572000"/>
            <a:ext cx="457200" cy="12192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lnSpc>
                <a:spcPct val="150000"/>
              </a:lnSpc>
            </a:pPr>
            <a:r>
              <a:rPr lang="en-US" altLang="en-US" i="1">
                <a:latin typeface="Helvetica" panose="020B0604020202020204" pitchFamily="34" charset="0"/>
                <a:sym typeface="Symbol" panose="05050102010706020507" pitchFamily="18" charset="2"/>
              </a:rPr>
              <a:t></a:t>
            </a:r>
          </a:p>
          <a:p>
            <a:pPr algn="ctr">
              <a:lnSpc>
                <a:spcPct val="150000"/>
              </a:lnSpc>
            </a:pPr>
            <a:r>
              <a:rPr lang="en-US" altLang="en-US" i="1">
                <a:latin typeface="Helvetica" panose="020B0604020202020204" pitchFamily="34" charset="0"/>
                <a:sym typeface="Symbol" panose="05050102010706020507" pitchFamily="18" charset="2"/>
              </a:rPr>
              <a:t></a:t>
            </a:r>
          </a:p>
          <a:p>
            <a:pPr algn="ctr">
              <a:lnSpc>
                <a:spcPct val="150000"/>
              </a:lnSpc>
            </a:pPr>
            <a:r>
              <a:rPr lang="en-US" altLang="en-US" i="1">
                <a:latin typeface="Helvetica" panose="020B0604020202020204" pitchFamily="34" charset="0"/>
                <a:sym typeface="Symbol" panose="05050102010706020507" pitchFamily="18" charset="2"/>
              </a:rPr>
              <a:t></a:t>
            </a:r>
          </a:p>
        </p:txBody>
      </p:sp>
      <p:sp>
        <p:nvSpPr>
          <p:cNvPr id="8213" name="Rectangle 21">
            <a:extLst>
              <a:ext uri="{FF2B5EF4-FFF2-40B4-BE49-F238E27FC236}">
                <a16:creationId xmlns:a16="http://schemas.microsoft.com/office/drawing/2014/main" id="{E1B59E54-24CC-44A8-285A-519A592746C2}"/>
              </a:ext>
            </a:extLst>
          </p:cNvPr>
          <p:cNvSpPr>
            <a:spLocks noChangeArrowheads="1"/>
          </p:cNvSpPr>
          <p:nvPr/>
        </p:nvSpPr>
        <p:spPr bwMode="auto">
          <a:xfrm>
            <a:off x="6019800" y="4572000"/>
            <a:ext cx="457200" cy="12192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lnSpc>
                <a:spcPct val="150000"/>
              </a:lnSpc>
            </a:pPr>
            <a:r>
              <a:rPr lang="en-US" altLang="en-US" i="1">
                <a:latin typeface="Helvetica" panose="020B0604020202020204" pitchFamily="34" charset="0"/>
                <a:sym typeface="Symbol" panose="05050102010706020507" pitchFamily="18" charset="2"/>
              </a:rPr>
              <a:t>1</a:t>
            </a:r>
          </a:p>
          <a:p>
            <a:pPr algn="ctr">
              <a:lnSpc>
                <a:spcPct val="150000"/>
              </a:lnSpc>
            </a:pPr>
            <a:r>
              <a:rPr lang="en-US" altLang="en-US" i="1">
                <a:latin typeface="Helvetica" panose="020B0604020202020204" pitchFamily="34" charset="0"/>
                <a:sym typeface="Symbol" panose="05050102010706020507" pitchFamily="18" charset="2"/>
              </a:rPr>
              <a:t>1</a:t>
            </a:r>
          </a:p>
          <a:p>
            <a:pPr algn="ctr">
              <a:lnSpc>
                <a:spcPct val="150000"/>
              </a:lnSpc>
            </a:pPr>
            <a:r>
              <a:rPr lang="en-US" altLang="en-US" i="1">
                <a:latin typeface="Helvetica" panose="020B0604020202020204" pitchFamily="34" charset="0"/>
                <a:sym typeface="Symbol" panose="05050102010706020507" pitchFamily="18" charset="2"/>
              </a:rPr>
              <a:t>2</a:t>
            </a:r>
          </a:p>
        </p:txBody>
      </p:sp>
      <p:sp>
        <p:nvSpPr>
          <p:cNvPr id="21526" name="Rectangle 22">
            <a:extLst>
              <a:ext uri="{FF2B5EF4-FFF2-40B4-BE49-F238E27FC236}">
                <a16:creationId xmlns:a16="http://schemas.microsoft.com/office/drawing/2014/main" id="{4B1762D5-5DC7-5330-4914-8B418CC97B1A}"/>
              </a:ext>
            </a:extLst>
          </p:cNvPr>
          <p:cNvSpPr>
            <a:spLocks noChangeArrowheads="1"/>
          </p:cNvSpPr>
          <p:nvPr/>
        </p:nvSpPr>
        <p:spPr bwMode="auto">
          <a:xfrm>
            <a:off x="1931988" y="4140201"/>
            <a:ext cx="7029450"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eaLnBrk="1" hangingPunct="1">
              <a:spcBef>
                <a:spcPct val="20000"/>
              </a:spcBef>
              <a:buFontTx/>
              <a:buChar char="•"/>
            </a:pPr>
            <a:endParaRPr lang="en-US" altLang="en-US" sz="3200"/>
          </a:p>
        </p:txBody>
      </p:sp>
      <p:sp>
        <p:nvSpPr>
          <p:cNvPr id="21527" name="Rectangle 23">
            <a:extLst>
              <a:ext uri="{FF2B5EF4-FFF2-40B4-BE49-F238E27FC236}">
                <a16:creationId xmlns:a16="http://schemas.microsoft.com/office/drawing/2014/main" id="{5D221FF6-44D7-AC84-8F15-98F6E643F8AE}"/>
              </a:ext>
            </a:extLst>
          </p:cNvPr>
          <p:cNvSpPr>
            <a:spLocks noChangeArrowheads="1"/>
          </p:cNvSpPr>
          <p:nvPr/>
        </p:nvSpPr>
        <p:spPr bwMode="auto">
          <a:xfrm>
            <a:off x="2297113" y="4038601"/>
            <a:ext cx="7029450"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eaLnBrk="1" hangingPunct="1">
              <a:spcBef>
                <a:spcPct val="20000"/>
              </a:spcBef>
              <a:buFontTx/>
              <a:buChar char="•"/>
            </a:pPr>
            <a:r>
              <a:rPr lang="en-US" altLang="en-US" sz="2400">
                <a:sym typeface="Symbol" panose="05050102010706020507" pitchFamily="18" charset="2"/>
              </a:rPr>
              <a:t></a:t>
            </a:r>
            <a:r>
              <a:rPr lang="en-US" altLang="en-US" sz="2400" baseline="-25000"/>
              <a:t>A,C</a:t>
            </a:r>
            <a:r>
              <a:rPr lang="en-US" altLang="en-US" sz="2400"/>
              <a:t> (</a:t>
            </a:r>
            <a:r>
              <a:rPr lang="en-US" altLang="en-US" sz="2400" i="1"/>
              <a:t>r</a:t>
            </a:r>
            <a:r>
              <a:rPr lang="en-US" altLang="en-US" sz="2400"/>
              <a:t>)</a:t>
            </a:r>
          </a:p>
        </p:txBody>
      </p:sp>
      <p:sp>
        <p:nvSpPr>
          <p:cNvPr id="8216" name="Text Box 24">
            <a:extLst>
              <a:ext uri="{FF2B5EF4-FFF2-40B4-BE49-F238E27FC236}">
                <a16:creationId xmlns:a16="http://schemas.microsoft.com/office/drawing/2014/main" id="{9A26B87A-DA34-94A6-FB6C-36FF368B4965}"/>
              </a:ext>
            </a:extLst>
          </p:cNvPr>
          <p:cNvSpPr txBox="1">
            <a:spLocks noChangeArrowheads="1"/>
          </p:cNvSpPr>
          <p:nvPr/>
        </p:nvSpPr>
        <p:spPr bwMode="auto">
          <a:xfrm>
            <a:off x="7146925" y="4308476"/>
            <a:ext cx="353334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eaLnBrk="1" hangingPunct="1"/>
            <a:r>
              <a:rPr lang="en-US" altLang="en-US" sz="2400"/>
              <a:t>That is, the projection of</a:t>
            </a:r>
          </a:p>
          <a:p>
            <a:pPr eaLnBrk="1" hangingPunct="1"/>
            <a:r>
              <a:rPr lang="en-US" altLang="en-US" sz="2400"/>
              <a:t>a relation on a set of </a:t>
            </a:r>
          </a:p>
          <a:p>
            <a:pPr eaLnBrk="1" hangingPunct="1"/>
            <a:r>
              <a:rPr lang="en-US" altLang="en-US" sz="2400"/>
              <a:t>attributes is a </a:t>
            </a:r>
            <a:r>
              <a:rPr lang="en-US" altLang="en-US" sz="2400" b="1"/>
              <a:t>set of tuples</a:t>
            </a:r>
            <a:r>
              <a:rPr lang="en-US" altLang="en-US" sz="2400"/>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8205"/>
                                        </p:tgtEl>
                                        <p:attrNameLst>
                                          <p:attrName>style.visibility</p:attrName>
                                        </p:attrNameLst>
                                      </p:cBhvr>
                                      <p:to>
                                        <p:strVal val="visible"/>
                                      </p:to>
                                    </p:set>
                                    <p:animEffect transition="in" filter="box(in)">
                                      <p:cBhvr>
                                        <p:cTn id="7" dur="500"/>
                                        <p:tgtEl>
                                          <p:spTgt spid="8205"/>
                                        </p:tgtEl>
                                      </p:cBhvr>
                                    </p:animEffect>
                                  </p:childTnLst>
                                </p:cTn>
                              </p:par>
                              <p:par>
                                <p:cTn id="8" presetID="4" presetClass="entr" presetSubtype="16" fill="hold" nodeType="withEffect">
                                  <p:stCondLst>
                                    <p:cond delay="0"/>
                                  </p:stCondLst>
                                  <p:childTnLst>
                                    <p:set>
                                      <p:cBhvr>
                                        <p:cTn id="9" dur="1" fill="hold">
                                          <p:stCondLst>
                                            <p:cond delay="0"/>
                                          </p:stCondLst>
                                        </p:cTn>
                                        <p:tgtEl>
                                          <p:spTgt spid="8206"/>
                                        </p:tgtEl>
                                        <p:attrNameLst>
                                          <p:attrName>style.visibility</p:attrName>
                                        </p:attrNameLst>
                                      </p:cBhvr>
                                      <p:to>
                                        <p:strVal val="visible"/>
                                      </p:to>
                                    </p:set>
                                    <p:animEffect transition="in" filter="box(in)">
                                      <p:cBhvr>
                                        <p:cTn id="10" dur="500"/>
                                        <p:tgtEl>
                                          <p:spTgt spid="8206"/>
                                        </p:tgtEl>
                                      </p:cBhvr>
                                    </p:animEffect>
                                  </p:childTnLst>
                                </p:cTn>
                              </p:par>
                              <p:par>
                                <p:cTn id="11" presetID="4" presetClass="entr" presetSubtype="16" fill="hold" nodeType="withEffect">
                                  <p:stCondLst>
                                    <p:cond delay="0"/>
                                  </p:stCondLst>
                                  <p:childTnLst>
                                    <p:set>
                                      <p:cBhvr>
                                        <p:cTn id="12" dur="1" fill="hold">
                                          <p:stCondLst>
                                            <p:cond delay="0"/>
                                          </p:stCondLst>
                                        </p:cTn>
                                        <p:tgtEl>
                                          <p:spTgt spid="8207"/>
                                        </p:tgtEl>
                                        <p:attrNameLst>
                                          <p:attrName>style.visibility</p:attrName>
                                        </p:attrNameLst>
                                      </p:cBhvr>
                                      <p:to>
                                        <p:strVal val="visible"/>
                                      </p:to>
                                    </p:set>
                                    <p:animEffect transition="in" filter="box(in)">
                                      <p:cBhvr>
                                        <p:cTn id="13" dur="500"/>
                                        <p:tgtEl>
                                          <p:spTgt spid="8207"/>
                                        </p:tgtEl>
                                      </p:cBhvr>
                                    </p:animEffect>
                                  </p:childTnLst>
                                </p:cTn>
                              </p:par>
                              <p:par>
                                <p:cTn id="14" presetID="4" presetClass="entr" presetSubtype="16" fill="hold" nodeType="withEffect">
                                  <p:stCondLst>
                                    <p:cond delay="0"/>
                                  </p:stCondLst>
                                  <p:childTnLst>
                                    <p:set>
                                      <p:cBhvr>
                                        <p:cTn id="15" dur="1" fill="hold">
                                          <p:stCondLst>
                                            <p:cond delay="0"/>
                                          </p:stCondLst>
                                        </p:cTn>
                                        <p:tgtEl>
                                          <p:spTgt spid="8208"/>
                                        </p:tgtEl>
                                        <p:attrNameLst>
                                          <p:attrName>style.visibility</p:attrName>
                                        </p:attrNameLst>
                                      </p:cBhvr>
                                      <p:to>
                                        <p:strVal val="visible"/>
                                      </p:to>
                                    </p:set>
                                    <p:animEffect transition="in" filter="box(in)">
                                      <p:cBhvr>
                                        <p:cTn id="16" dur="500"/>
                                        <p:tgtEl>
                                          <p:spTgt spid="8208"/>
                                        </p:tgtEl>
                                      </p:cBhvr>
                                    </p:animEffect>
                                  </p:childTnLst>
                                </p:cTn>
                              </p:par>
                              <p:par>
                                <p:cTn id="17" presetID="4" presetClass="entr" presetSubtype="16" fill="hold" nodeType="withEffect">
                                  <p:stCondLst>
                                    <p:cond delay="0"/>
                                  </p:stCondLst>
                                  <p:childTnLst>
                                    <p:set>
                                      <p:cBhvr>
                                        <p:cTn id="18" dur="1" fill="hold">
                                          <p:stCondLst>
                                            <p:cond delay="0"/>
                                          </p:stCondLst>
                                        </p:cTn>
                                        <p:tgtEl>
                                          <p:spTgt spid="8209"/>
                                        </p:tgtEl>
                                        <p:attrNameLst>
                                          <p:attrName>style.visibility</p:attrName>
                                        </p:attrNameLst>
                                      </p:cBhvr>
                                      <p:to>
                                        <p:strVal val="visible"/>
                                      </p:to>
                                    </p:set>
                                    <p:animEffect transition="in" filter="box(in)">
                                      <p:cBhvr>
                                        <p:cTn id="19" dur="500"/>
                                        <p:tgtEl>
                                          <p:spTgt spid="8209"/>
                                        </p:tgtEl>
                                      </p:cBhvr>
                                    </p:animEffect>
                                  </p:childTnLst>
                                </p:cTn>
                              </p:par>
                              <p:par>
                                <p:cTn id="20" presetID="4" presetClass="entr" presetSubtype="16" fill="hold" nodeType="withEffect">
                                  <p:stCondLst>
                                    <p:cond delay="0"/>
                                  </p:stCondLst>
                                  <p:childTnLst>
                                    <p:set>
                                      <p:cBhvr>
                                        <p:cTn id="21" dur="1" fill="hold">
                                          <p:stCondLst>
                                            <p:cond delay="0"/>
                                          </p:stCondLst>
                                        </p:cTn>
                                        <p:tgtEl>
                                          <p:spTgt spid="8210"/>
                                        </p:tgtEl>
                                        <p:attrNameLst>
                                          <p:attrName>style.visibility</p:attrName>
                                        </p:attrNameLst>
                                      </p:cBhvr>
                                      <p:to>
                                        <p:strVal val="visible"/>
                                      </p:to>
                                    </p:set>
                                    <p:animEffect transition="in" filter="box(in)">
                                      <p:cBhvr>
                                        <p:cTn id="22" dur="500"/>
                                        <p:tgtEl>
                                          <p:spTgt spid="8210"/>
                                        </p:tgtEl>
                                      </p:cBhvr>
                                    </p:animEffect>
                                  </p:childTnLst>
                                </p:cTn>
                              </p:par>
                              <p:par>
                                <p:cTn id="23" presetID="4" presetClass="entr" presetSubtype="16" fill="hold" nodeType="withEffect">
                                  <p:stCondLst>
                                    <p:cond delay="0"/>
                                  </p:stCondLst>
                                  <p:childTnLst>
                                    <p:set>
                                      <p:cBhvr>
                                        <p:cTn id="24" dur="1" fill="hold">
                                          <p:stCondLst>
                                            <p:cond delay="0"/>
                                          </p:stCondLst>
                                        </p:cTn>
                                        <p:tgtEl>
                                          <p:spTgt spid="8211"/>
                                        </p:tgtEl>
                                        <p:attrNameLst>
                                          <p:attrName>style.visibility</p:attrName>
                                        </p:attrNameLst>
                                      </p:cBhvr>
                                      <p:to>
                                        <p:strVal val="visible"/>
                                      </p:to>
                                    </p:set>
                                    <p:animEffect transition="in" filter="box(in)">
                                      <p:cBhvr>
                                        <p:cTn id="25" dur="500"/>
                                        <p:tgtEl>
                                          <p:spTgt spid="8211"/>
                                        </p:tgtEl>
                                      </p:cBhvr>
                                    </p:animEffect>
                                  </p:childTnLst>
                                </p:cTn>
                              </p:par>
                              <p:par>
                                <p:cTn id="26" presetID="4" presetClass="entr" presetSubtype="16" fill="hold" nodeType="withEffect">
                                  <p:stCondLst>
                                    <p:cond delay="0"/>
                                  </p:stCondLst>
                                  <p:childTnLst>
                                    <p:set>
                                      <p:cBhvr>
                                        <p:cTn id="27" dur="1" fill="hold">
                                          <p:stCondLst>
                                            <p:cond delay="0"/>
                                          </p:stCondLst>
                                        </p:cTn>
                                        <p:tgtEl>
                                          <p:spTgt spid="8212"/>
                                        </p:tgtEl>
                                        <p:attrNameLst>
                                          <p:attrName>style.visibility</p:attrName>
                                        </p:attrNameLst>
                                      </p:cBhvr>
                                      <p:to>
                                        <p:strVal val="visible"/>
                                      </p:to>
                                    </p:set>
                                    <p:animEffect transition="in" filter="box(in)">
                                      <p:cBhvr>
                                        <p:cTn id="28" dur="500"/>
                                        <p:tgtEl>
                                          <p:spTgt spid="8212"/>
                                        </p:tgtEl>
                                      </p:cBhvr>
                                    </p:animEffect>
                                  </p:childTnLst>
                                </p:cTn>
                              </p:par>
                              <p:par>
                                <p:cTn id="29" presetID="4" presetClass="entr" presetSubtype="16" fill="hold" nodeType="withEffect">
                                  <p:stCondLst>
                                    <p:cond delay="0"/>
                                  </p:stCondLst>
                                  <p:childTnLst>
                                    <p:set>
                                      <p:cBhvr>
                                        <p:cTn id="30" dur="1" fill="hold">
                                          <p:stCondLst>
                                            <p:cond delay="0"/>
                                          </p:stCondLst>
                                        </p:cTn>
                                        <p:tgtEl>
                                          <p:spTgt spid="8213"/>
                                        </p:tgtEl>
                                        <p:attrNameLst>
                                          <p:attrName>style.visibility</p:attrName>
                                        </p:attrNameLst>
                                      </p:cBhvr>
                                      <p:to>
                                        <p:strVal val="visible"/>
                                      </p:to>
                                    </p:set>
                                    <p:animEffect transition="in" filter="box(in)">
                                      <p:cBhvr>
                                        <p:cTn id="31" dur="500"/>
                                        <p:tgtEl>
                                          <p:spTgt spid="8213"/>
                                        </p:tgtEl>
                                      </p:cBhvr>
                                    </p:animEffect>
                                  </p:childTnLst>
                                </p:cTn>
                              </p:par>
                              <p:par>
                                <p:cTn id="32" presetID="4" presetClass="entr" presetSubtype="16" fill="hold" nodeType="withEffect">
                                  <p:stCondLst>
                                    <p:cond delay="0"/>
                                  </p:stCondLst>
                                  <p:childTnLst>
                                    <p:set>
                                      <p:cBhvr>
                                        <p:cTn id="33" dur="1" fill="hold">
                                          <p:stCondLst>
                                            <p:cond delay="0"/>
                                          </p:stCondLst>
                                        </p:cTn>
                                        <p:tgtEl>
                                          <p:spTgt spid="8216"/>
                                        </p:tgtEl>
                                        <p:attrNameLst>
                                          <p:attrName>style.visibility</p:attrName>
                                        </p:attrNameLst>
                                      </p:cBhvr>
                                      <p:to>
                                        <p:strVal val="visible"/>
                                      </p:to>
                                    </p:set>
                                    <p:animEffect transition="in" filter="box(in)">
                                      <p:cBhvr>
                                        <p:cTn id="34" dur="500"/>
                                        <p:tgtEl>
                                          <p:spTgt spid="82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05" grpId="0" animBg="1"/>
      <p:bldP spid="8206" grpId="0" animBg="1"/>
      <p:bldP spid="8207" grpId="0" animBg="1"/>
      <p:bldP spid="8208" grpId="0" animBg="1"/>
      <p:bldP spid="8209" grpId="0"/>
      <p:bldP spid="8210" grpId="0" animBg="1"/>
      <p:bldP spid="8211" grpId="0" animBg="1"/>
      <p:bldP spid="8212" grpId="0" animBg="1"/>
      <p:bldP spid="8213" grpId="0" animBg="1"/>
      <p:bldP spid="821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DE291ECF-8F84-4CAD-A3AB-3995EBE829D1}"/>
              </a:ext>
            </a:extLst>
          </p:cNvPr>
          <p:cNvSpPr>
            <a:spLocks noGrp="1" noChangeArrowheads="1"/>
          </p:cNvSpPr>
          <p:nvPr>
            <p:ph type="title"/>
          </p:nvPr>
        </p:nvSpPr>
        <p:spPr>
          <a:xfrm>
            <a:off x="2209800" y="0"/>
            <a:ext cx="7772400" cy="1143000"/>
          </a:xfrm>
        </p:spPr>
        <p:txBody>
          <a:bodyPr/>
          <a:lstStyle/>
          <a:p>
            <a:pPr eaLnBrk="1" hangingPunct="1"/>
            <a:r>
              <a:rPr lang="en-US" altLang="en-US" sz="2800"/>
              <a:t>Union Operation</a:t>
            </a:r>
          </a:p>
        </p:txBody>
      </p:sp>
      <p:sp>
        <p:nvSpPr>
          <p:cNvPr id="22531" name="Rectangle 3">
            <a:extLst>
              <a:ext uri="{FF2B5EF4-FFF2-40B4-BE49-F238E27FC236}">
                <a16:creationId xmlns:a16="http://schemas.microsoft.com/office/drawing/2014/main" id="{433BEFAB-6D28-5A08-3E34-B5044BA89BB9}"/>
              </a:ext>
            </a:extLst>
          </p:cNvPr>
          <p:cNvSpPr>
            <a:spLocks noGrp="1" noChangeArrowheads="1"/>
          </p:cNvSpPr>
          <p:nvPr>
            <p:ph type="body" idx="1"/>
          </p:nvPr>
        </p:nvSpPr>
        <p:spPr>
          <a:xfrm>
            <a:off x="2209800" y="1066800"/>
            <a:ext cx="7924800" cy="5334000"/>
          </a:xfrm>
        </p:spPr>
        <p:txBody>
          <a:bodyPr/>
          <a:lstStyle/>
          <a:p>
            <a:pPr>
              <a:tabLst>
                <a:tab pos="2965450" algn="ctr"/>
              </a:tabLst>
            </a:pPr>
            <a:r>
              <a:rPr lang="en-US" altLang="en-US" sz="2400">
                <a:sym typeface="Symbol" panose="05050102010706020507" pitchFamily="18" charset="2"/>
              </a:rPr>
              <a:t>Consider relational schemas:</a:t>
            </a:r>
          </a:p>
          <a:p>
            <a:pPr>
              <a:buNone/>
              <a:tabLst>
                <a:tab pos="2965450" algn="ctr"/>
              </a:tabLst>
            </a:pPr>
            <a:r>
              <a:rPr lang="en-US" altLang="en-US" sz="2400">
                <a:sym typeface="Symbol" panose="05050102010706020507" pitchFamily="18" charset="2"/>
              </a:rPr>
              <a:t>    </a:t>
            </a:r>
            <a:r>
              <a:rPr lang="en-US" altLang="en-US" sz="2400" i="1">
                <a:sym typeface="Symbol" panose="05050102010706020507" pitchFamily="18" charset="2"/>
              </a:rPr>
              <a:t>Depositor(customer_name, account_number)</a:t>
            </a:r>
          </a:p>
          <a:p>
            <a:pPr>
              <a:buNone/>
              <a:tabLst>
                <a:tab pos="2965450" algn="ctr"/>
              </a:tabLst>
            </a:pPr>
            <a:r>
              <a:rPr lang="en-US" altLang="en-US" sz="2400" i="1">
                <a:sym typeface="Symbol" panose="05050102010706020507" pitchFamily="18" charset="2"/>
              </a:rPr>
              <a:t>    Borrower(customer_name, loan_number)</a:t>
            </a:r>
          </a:p>
          <a:p>
            <a:pPr>
              <a:tabLst>
                <a:tab pos="2965450" algn="ctr"/>
              </a:tabLst>
            </a:pPr>
            <a:r>
              <a:rPr lang="en-US" altLang="en-US" sz="2400">
                <a:sym typeface="Symbol" panose="05050102010706020507" pitchFamily="18" charset="2"/>
              </a:rPr>
              <a:t>For </a:t>
            </a:r>
            <a:r>
              <a:rPr lang="en-US" altLang="en-US" sz="2400" i="1"/>
              <a:t>r</a:t>
            </a:r>
            <a:r>
              <a:rPr lang="en-US" altLang="en-US" sz="2400"/>
              <a:t> </a:t>
            </a:r>
            <a:r>
              <a:rPr lang="en-US" altLang="en-US" sz="2400">
                <a:sym typeface="Symbol" panose="05050102010706020507" pitchFamily="18" charset="2"/>
              </a:rPr>
              <a:t> </a:t>
            </a:r>
            <a:r>
              <a:rPr lang="en-US" altLang="en-US" sz="2400" i="1">
                <a:sym typeface="Symbol" panose="05050102010706020507" pitchFamily="18" charset="2"/>
              </a:rPr>
              <a:t>s</a:t>
            </a:r>
            <a:r>
              <a:rPr lang="en-US" altLang="en-US" sz="2400">
                <a:sym typeface="Symbol" panose="05050102010706020507" pitchFamily="18" charset="2"/>
              </a:rPr>
              <a:t> to be valid.</a:t>
            </a:r>
          </a:p>
          <a:p>
            <a:pPr>
              <a:buNone/>
              <a:tabLst>
                <a:tab pos="2965450" algn="ctr"/>
              </a:tabLst>
            </a:pPr>
            <a:r>
              <a:rPr lang="en-US" altLang="en-US" sz="2400" i="1">
                <a:sym typeface="Symbol" panose="05050102010706020507" pitchFamily="18" charset="2"/>
              </a:rPr>
              <a:t>	</a:t>
            </a:r>
            <a:r>
              <a:rPr lang="en-US" altLang="en-US" sz="2400">
                <a:sym typeface="Symbol" panose="05050102010706020507" pitchFamily="18" charset="2"/>
              </a:rPr>
              <a:t>1.  </a:t>
            </a:r>
            <a:r>
              <a:rPr lang="en-US" altLang="en-US" sz="2400" i="1">
                <a:sym typeface="Symbol" panose="05050102010706020507" pitchFamily="18" charset="2"/>
              </a:rPr>
              <a:t>r,</a:t>
            </a:r>
            <a:r>
              <a:rPr lang="en-US" altLang="en-US" sz="2400">
                <a:sym typeface="Symbol" panose="05050102010706020507" pitchFamily="18" charset="2"/>
              </a:rPr>
              <a:t> </a:t>
            </a:r>
            <a:r>
              <a:rPr lang="en-US" altLang="en-US" sz="2400" i="1">
                <a:sym typeface="Symbol" panose="05050102010706020507" pitchFamily="18" charset="2"/>
              </a:rPr>
              <a:t>s</a:t>
            </a:r>
            <a:r>
              <a:rPr lang="en-US" altLang="en-US" sz="2400">
                <a:sym typeface="Symbol" panose="05050102010706020507" pitchFamily="18" charset="2"/>
              </a:rPr>
              <a:t> must have the same number of attributes</a:t>
            </a:r>
          </a:p>
          <a:p>
            <a:pPr>
              <a:buNone/>
              <a:tabLst>
                <a:tab pos="2965450" algn="ctr"/>
              </a:tabLst>
            </a:pPr>
            <a:r>
              <a:rPr lang="en-US" altLang="en-US" sz="2400">
                <a:sym typeface="Symbol" panose="05050102010706020507" pitchFamily="18" charset="2"/>
              </a:rPr>
              <a:t>	2.  The attribute domains must be </a:t>
            </a:r>
            <a:r>
              <a:rPr lang="en-US" altLang="en-US" sz="2400" i="1">
                <a:solidFill>
                  <a:schemeClr val="tx2"/>
                </a:solidFill>
                <a:sym typeface="Symbol" panose="05050102010706020507" pitchFamily="18" charset="2"/>
              </a:rPr>
              <a:t>compatible</a:t>
            </a:r>
            <a:r>
              <a:rPr lang="en-US" altLang="en-US" sz="2400">
                <a:sym typeface="Symbol" panose="05050102010706020507" pitchFamily="18" charset="2"/>
              </a:rPr>
              <a:t> (e.g., 2nd column of </a:t>
            </a:r>
            <a:r>
              <a:rPr lang="en-US" altLang="en-US" sz="2400" i="1">
                <a:sym typeface="Symbol" panose="05050102010706020507" pitchFamily="18" charset="2"/>
              </a:rPr>
              <a:t>r</a:t>
            </a:r>
            <a:r>
              <a:rPr lang="en-US" altLang="en-US" sz="2400">
                <a:sym typeface="Symbol" panose="05050102010706020507" pitchFamily="18" charset="2"/>
              </a:rPr>
              <a:t> deals with the same type of values as does the 2nd column of </a:t>
            </a:r>
            <a:r>
              <a:rPr lang="en-US" altLang="en-US" sz="2400" i="1">
                <a:sym typeface="Symbol" panose="05050102010706020507" pitchFamily="18" charset="2"/>
              </a:rPr>
              <a:t>s</a:t>
            </a:r>
            <a:r>
              <a:rPr lang="en-US" altLang="en-US" sz="2400">
                <a:sym typeface="Symbol" panose="05050102010706020507" pitchFamily="18" charset="2"/>
              </a:rPr>
              <a:t>)</a:t>
            </a:r>
          </a:p>
          <a:p>
            <a:pPr>
              <a:buNone/>
              <a:tabLst>
                <a:tab pos="2965450" algn="ctr"/>
              </a:tabLst>
            </a:pPr>
            <a:r>
              <a:rPr lang="en-US" altLang="en-US" sz="2400"/>
              <a:t>  Find all customers with either an account or a loan</a:t>
            </a:r>
            <a:br>
              <a:rPr lang="en-US" altLang="en-US" sz="2400"/>
            </a:br>
            <a:r>
              <a:rPr lang="en-US" altLang="en-US" sz="2400"/>
              <a:t>    </a:t>
            </a:r>
            <a:r>
              <a:rPr lang="en-US" altLang="en-US" sz="2400">
                <a:sym typeface="Symbol" panose="05050102010706020507" pitchFamily="18" charset="2"/>
              </a:rPr>
              <a:t></a:t>
            </a:r>
            <a:r>
              <a:rPr lang="en-US" altLang="en-US" sz="2400" i="1" baseline="-25000"/>
              <a:t>customer-name</a:t>
            </a:r>
            <a:r>
              <a:rPr lang="en-US" altLang="en-US" sz="2400"/>
              <a:t> (</a:t>
            </a:r>
            <a:r>
              <a:rPr lang="en-US" altLang="en-US" sz="2400" i="1"/>
              <a:t>depositor</a:t>
            </a:r>
            <a:r>
              <a:rPr lang="en-US" altLang="en-US" sz="2400"/>
              <a:t>)   </a:t>
            </a:r>
            <a:r>
              <a:rPr lang="en-US" altLang="en-US" sz="2400">
                <a:sym typeface="Symbol" panose="05050102010706020507" pitchFamily="18" charset="2"/>
              </a:rPr>
              <a:t> </a:t>
            </a:r>
            <a:r>
              <a:rPr lang="en-US" altLang="en-US" sz="2400" i="1" baseline="-25000"/>
              <a:t>customer-name</a:t>
            </a:r>
            <a:r>
              <a:rPr lang="en-US" altLang="en-US" sz="2400"/>
              <a:t> (</a:t>
            </a:r>
            <a:r>
              <a:rPr lang="en-US" altLang="en-US" sz="2400" i="1"/>
              <a:t>borrower)</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966F5DF0-C9FE-63CB-B884-001EBA071B7F}"/>
              </a:ext>
            </a:extLst>
          </p:cNvPr>
          <p:cNvSpPr>
            <a:spLocks noGrp="1" noChangeArrowheads="1"/>
          </p:cNvSpPr>
          <p:nvPr>
            <p:ph type="title"/>
          </p:nvPr>
        </p:nvSpPr>
        <p:spPr>
          <a:xfrm>
            <a:off x="2209800" y="0"/>
            <a:ext cx="7772400" cy="1143000"/>
          </a:xfrm>
        </p:spPr>
        <p:txBody>
          <a:bodyPr/>
          <a:lstStyle/>
          <a:p>
            <a:pPr eaLnBrk="1" hangingPunct="1"/>
            <a:r>
              <a:rPr lang="en-US" altLang="en-US" sz="2800"/>
              <a:t>Union Operation</a:t>
            </a:r>
          </a:p>
        </p:txBody>
      </p:sp>
      <p:sp>
        <p:nvSpPr>
          <p:cNvPr id="23555" name="Rectangle 3">
            <a:extLst>
              <a:ext uri="{FF2B5EF4-FFF2-40B4-BE49-F238E27FC236}">
                <a16:creationId xmlns:a16="http://schemas.microsoft.com/office/drawing/2014/main" id="{5B85ADB4-D745-CD51-5DAF-D74FC8A61F94}"/>
              </a:ext>
            </a:extLst>
          </p:cNvPr>
          <p:cNvSpPr>
            <a:spLocks noGrp="1" noChangeArrowheads="1"/>
          </p:cNvSpPr>
          <p:nvPr>
            <p:ph type="body" idx="1"/>
          </p:nvPr>
        </p:nvSpPr>
        <p:spPr>
          <a:xfrm>
            <a:off x="2209800" y="1066800"/>
            <a:ext cx="7924800" cy="5334000"/>
          </a:xfrm>
        </p:spPr>
        <p:txBody>
          <a:bodyPr/>
          <a:lstStyle/>
          <a:p>
            <a:pPr>
              <a:tabLst>
                <a:tab pos="2965450" algn="ctr"/>
              </a:tabLst>
            </a:pPr>
            <a:r>
              <a:rPr lang="en-US" altLang="en-US" sz="2400"/>
              <a:t>Notation:  </a:t>
            </a:r>
            <a:r>
              <a:rPr lang="en-US" altLang="en-US" sz="2400" i="1"/>
              <a:t>r</a:t>
            </a:r>
            <a:r>
              <a:rPr lang="en-US" altLang="en-US" sz="2400"/>
              <a:t> </a:t>
            </a:r>
            <a:r>
              <a:rPr lang="en-US" altLang="en-US" sz="2400">
                <a:sym typeface="Symbol" panose="05050102010706020507" pitchFamily="18" charset="2"/>
              </a:rPr>
              <a:t> </a:t>
            </a:r>
            <a:r>
              <a:rPr lang="en-US" altLang="en-US" sz="2400" i="1">
                <a:sym typeface="Symbol" panose="05050102010706020507" pitchFamily="18" charset="2"/>
              </a:rPr>
              <a:t>s</a:t>
            </a:r>
          </a:p>
          <a:p>
            <a:pPr>
              <a:tabLst>
                <a:tab pos="2965450" algn="ctr"/>
              </a:tabLst>
            </a:pPr>
            <a:r>
              <a:rPr lang="en-US" altLang="en-US" sz="2400">
                <a:sym typeface="Symbol" panose="05050102010706020507" pitchFamily="18" charset="2"/>
              </a:rPr>
              <a:t>Defined as: </a:t>
            </a:r>
          </a:p>
          <a:p>
            <a:pPr>
              <a:buNone/>
              <a:tabLst>
                <a:tab pos="2965450" algn="ctr"/>
              </a:tabLst>
            </a:pPr>
            <a:r>
              <a:rPr lang="en-US" altLang="en-US" sz="2400"/>
              <a:t>		</a:t>
            </a:r>
            <a:r>
              <a:rPr lang="en-US" altLang="en-US" sz="2400" i="1"/>
              <a:t>r</a:t>
            </a:r>
            <a:r>
              <a:rPr lang="en-US" altLang="en-US" sz="2400"/>
              <a:t>  </a:t>
            </a:r>
            <a:r>
              <a:rPr lang="en-US" altLang="en-US" sz="2400">
                <a:sym typeface="Symbol" panose="05050102010706020507" pitchFamily="18" charset="2"/>
              </a:rPr>
              <a:t> </a:t>
            </a:r>
            <a:r>
              <a:rPr lang="en-US" altLang="en-US" sz="2400" i="1">
                <a:sym typeface="Symbol" panose="05050102010706020507" pitchFamily="18" charset="2"/>
              </a:rPr>
              <a:t>s</a:t>
            </a:r>
            <a:r>
              <a:rPr lang="en-US" altLang="en-US" sz="2400">
                <a:sym typeface="Symbol" panose="05050102010706020507" pitchFamily="18" charset="2"/>
              </a:rPr>
              <a:t> = {</a:t>
            </a:r>
            <a:r>
              <a:rPr lang="en-US" altLang="en-US" sz="2400" i="1">
                <a:sym typeface="Symbol" panose="05050102010706020507" pitchFamily="18" charset="2"/>
              </a:rPr>
              <a:t>t</a:t>
            </a:r>
            <a:r>
              <a:rPr lang="en-US" altLang="en-US" sz="2400">
                <a:sym typeface="Symbol" panose="05050102010706020507" pitchFamily="18" charset="2"/>
              </a:rPr>
              <a:t> | </a:t>
            </a:r>
            <a:r>
              <a:rPr lang="en-US" altLang="en-US" sz="2400" i="1">
                <a:sym typeface="Symbol" panose="05050102010706020507" pitchFamily="18" charset="2"/>
              </a:rPr>
              <a:t>t</a:t>
            </a:r>
            <a:r>
              <a:rPr lang="en-US" altLang="en-US" sz="2400">
                <a:sym typeface="Symbol" panose="05050102010706020507" pitchFamily="18" charset="2"/>
              </a:rPr>
              <a:t>  </a:t>
            </a:r>
            <a:r>
              <a:rPr lang="en-US" altLang="en-US" sz="2400" i="1">
                <a:sym typeface="Symbol" panose="05050102010706020507" pitchFamily="18" charset="2"/>
              </a:rPr>
              <a:t>r</a:t>
            </a:r>
            <a:r>
              <a:rPr lang="en-US" altLang="en-US" sz="2400">
                <a:sym typeface="Symbol" panose="05050102010706020507" pitchFamily="18" charset="2"/>
              </a:rPr>
              <a:t> or</a:t>
            </a:r>
            <a:r>
              <a:rPr lang="en-US" altLang="en-US" sz="2400" i="1">
                <a:sym typeface="Symbol" panose="05050102010706020507" pitchFamily="18" charset="2"/>
              </a:rPr>
              <a:t> t</a:t>
            </a:r>
            <a:r>
              <a:rPr lang="en-US" altLang="en-US" sz="2400">
                <a:sym typeface="Symbol" panose="05050102010706020507" pitchFamily="18" charset="2"/>
              </a:rPr>
              <a:t>  </a:t>
            </a:r>
            <a:r>
              <a:rPr lang="en-US" altLang="en-US" sz="2400" i="1">
                <a:sym typeface="Symbol" panose="05050102010706020507" pitchFamily="18" charset="2"/>
              </a:rPr>
              <a:t>s</a:t>
            </a:r>
            <a:r>
              <a:rPr lang="en-US" altLang="en-US" sz="2400">
                <a:sym typeface="Symbol" panose="05050102010706020507" pitchFamily="18" charset="2"/>
              </a:rPr>
              <a:t>}</a:t>
            </a:r>
          </a:p>
          <a:p>
            <a:pPr>
              <a:buNone/>
              <a:tabLst>
                <a:tab pos="2965450" algn="ctr"/>
              </a:tabLst>
            </a:pPr>
            <a:endParaRPr lang="en-US" altLang="en-US" sz="2400">
              <a:sym typeface="Symbol" panose="05050102010706020507" pitchFamily="18" charset="2"/>
            </a:endParaRPr>
          </a:p>
        </p:txBody>
      </p:sp>
      <p:sp>
        <p:nvSpPr>
          <p:cNvPr id="23556" name="AutoShape 4">
            <a:hlinkClick r:id="" action="ppaction://noaction" highlightClick="1"/>
            <a:extLst>
              <a:ext uri="{FF2B5EF4-FFF2-40B4-BE49-F238E27FC236}">
                <a16:creationId xmlns:a16="http://schemas.microsoft.com/office/drawing/2014/main" id="{FB53287C-9612-61DE-EC2A-A81CDEC3A4FA}"/>
              </a:ext>
            </a:extLst>
          </p:cNvPr>
          <p:cNvSpPr>
            <a:spLocks noChangeArrowheads="1"/>
          </p:cNvSpPr>
          <p:nvPr/>
        </p:nvSpPr>
        <p:spPr bwMode="auto">
          <a:xfrm>
            <a:off x="2590801" y="2939534"/>
            <a:ext cx="184731" cy="369332"/>
          </a:xfrm>
          <a:prstGeom prst="actionButtonBlank">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eaLnBrk="1" hangingPunct="1"/>
            <a:endParaRPr lang="en-US" altLang="en-US"/>
          </a:p>
        </p:txBody>
      </p:sp>
      <p:sp>
        <p:nvSpPr>
          <p:cNvPr id="23557" name="Rectangle 5">
            <a:extLst>
              <a:ext uri="{FF2B5EF4-FFF2-40B4-BE49-F238E27FC236}">
                <a16:creationId xmlns:a16="http://schemas.microsoft.com/office/drawing/2014/main" id="{C00A3047-2FC6-22A1-91CD-1CB1C9962EC8}"/>
              </a:ext>
            </a:extLst>
          </p:cNvPr>
          <p:cNvSpPr>
            <a:spLocks noChangeArrowheads="1"/>
          </p:cNvSpPr>
          <p:nvPr/>
        </p:nvSpPr>
        <p:spPr bwMode="auto">
          <a:xfrm>
            <a:off x="2438401" y="35491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eaLnBrk="1" hangingPunct="1"/>
            <a:endParaRPr lang="en-US" altLang="en-US"/>
          </a:p>
        </p:txBody>
      </p:sp>
      <p:sp>
        <p:nvSpPr>
          <p:cNvPr id="23558" name="Rectangle 6">
            <a:extLst>
              <a:ext uri="{FF2B5EF4-FFF2-40B4-BE49-F238E27FC236}">
                <a16:creationId xmlns:a16="http://schemas.microsoft.com/office/drawing/2014/main" id="{BDAF8A41-90F1-2933-FBC7-6F6671B6881A}"/>
              </a:ext>
            </a:extLst>
          </p:cNvPr>
          <p:cNvSpPr>
            <a:spLocks noChangeArrowheads="1"/>
          </p:cNvSpPr>
          <p:nvPr/>
        </p:nvSpPr>
        <p:spPr bwMode="auto">
          <a:xfrm>
            <a:off x="5105401" y="30157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eaLnBrk="1" hangingPunct="1"/>
            <a:endParaRPr lang="en-US"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D0262F1B-7D26-B4BC-57FB-DAA82490C506}"/>
              </a:ext>
            </a:extLst>
          </p:cNvPr>
          <p:cNvSpPr>
            <a:spLocks noGrp="1" noChangeArrowheads="1"/>
          </p:cNvSpPr>
          <p:nvPr>
            <p:ph type="title"/>
          </p:nvPr>
        </p:nvSpPr>
        <p:spPr>
          <a:xfrm>
            <a:off x="2209800" y="0"/>
            <a:ext cx="7772400" cy="1143000"/>
          </a:xfrm>
        </p:spPr>
        <p:txBody>
          <a:bodyPr/>
          <a:lstStyle/>
          <a:p>
            <a:pPr eaLnBrk="1" hangingPunct="1"/>
            <a:r>
              <a:rPr lang="en-US" altLang="en-US" sz="2800"/>
              <a:t>Union Operation – Example</a:t>
            </a:r>
          </a:p>
        </p:txBody>
      </p:sp>
      <p:sp>
        <p:nvSpPr>
          <p:cNvPr id="24579" name="Rectangle 3">
            <a:extLst>
              <a:ext uri="{FF2B5EF4-FFF2-40B4-BE49-F238E27FC236}">
                <a16:creationId xmlns:a16="http://schemas.microsoft.com/office/drawing/2014/main" id="{DCC72317-EB56-216E-0110-59D0FCFD5D6F}"/>
              </a:ext>
            </a:extLst>
          </p:cNvPr>
          <p:cNvSpPr>
            <a:spLocks noGrp="1" noChangeArrowheads="1"/>
          </p:cNvSpPr>
          <p:nvPr>
            <p:ph type="body" idx="1"/>
          </p:nvPr>
        </p:nvSpPr>
        <p:spPr>
          <a:xfrm>
            <a:off x="2209800" y="2133600"/>
            <a:ext cx="6961188" cy="280988"/>
          </a:xfrm>
        </p:spPr>
        <p:txBody>
          <a:bodyPr>
            <a:normAutofit fontScale="55000" lnSpcReduction="20000"/>
          </a:bodyPr>
          <a:lstStyle/>
          <a:p>
            <a:pPr eaLnBrk="1" hangingPunct="1">
              <a:lnSpc>
                <a:spcPct val="90000"/>
              </a:lnSpc>
            </a:pPr>
            <a:r>
              <a:rPr lang="en-US" altLang="en-US"/>
              <a:t>Relations </a:t>
            </a:r>
            <a:r>
              <a:rPr lang="en-US" altLang="en-US" i="1"/>
              <a:t>r, s:</a:t>
            </a:r>
            <a:endParaRPr lang="en-US" altLang="en-US"/>
          </a:p>
        </p:txBody>
      </p:sp>
      <p:sp>
        <p:nvSpPr>
          <p:cNvPr id="24580" name="Rectangle 4">
            <a:extLst>
              <a:ext uri="{FF2B5EF4-FFF2-40B4-BE49-F238E27FC236}">
                <a16:creationId xmlns:a16="http://schemas.microsoft.com/office/drawing/2014/main" id="{9B80A34C-51D7-063A-512D-D685973BE2E4}"/>
              </a:ext>
            </a:extLst>
          </p:cNvPr>
          <p:cNvSpPr>
            <a:spLocks noChangeArrowheads="1"/>
          </p:cNvSpPr>
          <p:nvPr/>
        </p:nvSpPr>
        <p:spPr bwMode="auto">
          <a:xfrm>
            <a:off x="4114800" y="4953001"/>
            <a:ext cx="70294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spcBef>
                <a:spcPct val="35000"/>
              </a:spcBef>
              <a:buClr>
                <a:schemeClr val="tx2"/>
              </a:buClr>
              <a:buFont typeface="Monotype Sorts" pitchFamily="1" charset="2"/>
              <a:buNone/>
            </a:pPr>
            <a:r>
              <a:rPr kumimoji="1" lang="en-US" altLang="en-US" sz="2000"/>
              <a:t>     </a:t>
            </a:r>
            <a:r>
              <a:rPr kumimoji="1" lang="en-US" altLang="en-US" sz="2400"/>
              <a:t>r </a:t>
            </a:r>
            <a:r>
              <a:rPr kumimoji="1" lang="en-US" altLang="en-US" sz="2400">
                <a:sym typeface="Symbol" panose="05050102010706020507" pitchFamily="18" charset="2"/>
              </a:rPr>
              <a:t> s</a:t>
            </a:r>
            <a:r>
              <a:rPr kumimoji="1" lang="en-US" altLang="en-US" sz="2400"/>
              <a:t>:</a:t>
            </a:r>
          </a:p>
        </p:txBody>
      </p:sp>
      <p:sp>
        <p:nvSpPr>
          <p:cNvPr id="24581" name="Rectangle 5">
            <a:extLst>
              <a:ext uri="{FF2B5EF4-FFF2-40B4-BE49-F238E27FC236}">
                <a16:creationId xmlns:a16="http://schemas.microsoft.com/office/drawing/2014/main" id="{0D7AA74B-8C5C-4B0C-15C6-B7F42C584B23}"/>
              </a:ext>
            </a:extLst>
          </p:cNvPr>
          <p:cNvSpPr>
            <a:spLocks noChangeArrowheads="1"/>
          </p:cNvSpPr>
          <p:nvPr/>
        </p:nvSpPr>
        <p:spPr bwMode="auto">
          <a:xfrm>
            <a:off x="4724400" y="1371600"/>
            <a:ext cx="457200" cy="4572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r>
              <a:rPr lang="en-US" altLang="en-US" i="1">
                <a:latin typeface="Helvetica" panose="020B0604020202020204" pitchFamily="34" charset="0"/>
              </a:rPr>
              <a:t>A</a:t>
            </a:r>
          </a:p>
        </p:txBody>
      </p:sp>
      <p:sp>
        <p:nvSpPr>
          <p:cNvPr id="24582" name="Rectangle 6">
            <a:extLst>
              <a:ext uri="{FF2B5EF4-FFF2-40B4-BE49-F238E27FC236}">
                <a16:creationId xmlns:a16="http://schemas.microsoft.com/office/drawing/2014/main" id="{2B4CE0B6-BBD9-58F2-568B-A1D977C67EF1}"/>
              </a:ext>
            </a:extLst>
          </p:cNvPr>
          <p:cNvSpPr>
            <a:spLocks noChangeArrowheads="1"/>
          </p:cNvSpPr>
          <p:nvPr/>
        </p:nvSpPr>
        <p:spPr bwMode="auto">
          <a:xfrm>
            <a:off x="5181600" y="1371600"/>
            <a:ext cx="457200" cy="4572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r>
              <a:rPr lang="en-US" altLang="en-US" i="1">
                <a:latin typeface="Helvetica" panose="020B0604020202020204" pitchFamily="34" charset="0"/>
              </a:rPr>
              <a:t>B</a:t>
            </a:r>
          </a:p>
        </p:txBody>
      </p:sp>
      <p:sp>
        <p:nvSpPr>
          <p:cNvPr id="24583" name="Rectangle 7">
            <a:extLst>
              <a:ext uri="{FF2B5EF4-FFF2-40B4-BE49-F238E27FC236}">
                <a16:creationId xmlns:a16="http://schemas.microsoft.com/office/drawing/2014/main" id="{ECEE8AA9-22D1-DF96-D242-9194F675E075}"/>
              </a:ext>
            </a:extLst>
          </p:cNvPr>
          <p:cNvSpPr>
            <a:spLocks noChangeArrowheads="1"/>
          </p:cNvSpPr>
          <p:nvPr/>
        </p:nvSpPr>
        <p:spPr bwMode="auto">
          <a:xfrm>
            <a:off x="4724400" y="1905000"/>
            <a:ext cx="457200" cy="12954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lnSpc>
                <a:spcPct val="150000"/>
              </a:lnSpc>
            </a:pPr>
            <a:r>
              <a:rPr lang="en-US" altLang="en-US" i="1">
                <a:latin typeface="Helvetica" panose="020B0604020202020204" pitchFamily="34" charset="0"/>
                <a:sym typeface="Symbol" panose="05050102010706020507" pitchFamily="18" charset="2"/>
              </a:rPr>
              <a:t></a:t>
            </a:r>
          </a:p>
          <a:p>
            <a:pPr algn="ctr">
              <a:lnSpc>
                <a:spcPct val="150000"/>
              </a:lnSpc>
            </a:pPr>
            <a:r>
              <a:rPr lang="en-US" altLang="en-US" i="1">
                <a:latin typeface="Helvetica" panose="020B0604020202020204" pitchFamily="34" charset="0"/>
                <a:sym typeface="Symbol" panose="05050102010706020507" pitchFamily="18" charset="2"/>
              </a:rPr>
              <a:t></a:t>
            </a:r>
          </a:p>
          <a:p>
            <a:pPr algn="ctr">
              <a:lnSpc>
                <a:spcPct val="150000"/>
              </a:lnSpc>
            </a:pPr>
            <a:r>
              <a:rPr lang="en-US" altLang="en-US" i="1">
                <a:latin typeface="Helvetica" panose="020B0604020202020204" pitchFamily="34" charset="0"/>
                <a:sym typeface="Symbol" panose="05050102010706020507" pitchFamily="18" charset="2"/>
              </a:rPr>
              <a:t></a:t>
            </a:r>
          </a:p>
        </p:txBody>
      </p:sp>
      <p:sp>
        <p:nvSpPr>
          <p:cNvPr id="24584" name="Rectangle 8">
            <a:extLst>
              <a:ext uri="{FF2B5EF4-FFF2-40B4-BE49-F238E27FC236}">
                <a16:creationId xmlns:a16="http://schemas.microsoft.com/office/drawing/2014/main" id="{32CF04BB-D775-FF64-6918-A6C945072162}"/>
              </a:ext>
            </a:extLst>
          </p:cNvPr>
          <p:cNvSpPr>
            <a:spLocks noChangeArrowheads="1"/>
          </p:cNvSpPr>
          <p:nvPr/>
        </p:nvSpPr>
        <p:spPr bwMode="auto">
          <a:xfrm>
            <a:off x="5181600" y="1905000"/>
            <a:ext cx="457200" cy="12954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lnSpc>
                <a:spcPct val="150000"/>
              </a:lnSpc>
            </a:pPr>
            <a:r>
              <a:rPr lang="en-US" altLang="en-US" i="1">
                <a:latin typeface="Helvetica" panose="020B0604020202020204" pitchFamily="34" charset="0"/>
                <a:sym typeface="Symbol" panose="05050102010706020507" pitchFamily="18" charset="2"/>
              </a:rPr>
              <a:t>1</a:t>
            </a:r>
          </a:p>
          <a:p>
            <a:pPr algn="ctr">
              <a:lnSpc>
                <a:spcPct val="150000"/>
              </a:lnSpc>
            </a:pPr>
            <a:r>
              <a:rPr lang="en-US" altLang="en-US" i="1">
                <a:latin typeface="Helvetica" panose="020B0604020202020204" pitchFamily="34" charset="0"/>
                <a:sym typeface="Symbol" panose="05050102010706020507" pitchFamily="18" charset="2"/>
              </a:rPr>
              <a:t>2</a:t>
            </a:r>
          </a:p>
          <a:p>
            <a:pPr algn="ctr">
              <a:lnSpc>
                <a:spcPct val="150000"/>
              </a:lnSpc>
            </a:pPr>
            <a:r>
              <a:rPr lang="en-US" altLang="en-US" i="1">
                <a:latin typeface="Helvetica" panose="020B0604020202020204" pitchFamily="34" charset="0"/>
                <a:sym typeface="Symbol" panose="05050102010706020507" pitchFamily="18" charset="2"/>
              </a:rPr>
              <a:t>1</a:t>
            </a:r>
          </a:p>
        </p:txBody>
      </p:sp>
      <p:sp>
        <p:nvSpPr>
          <p:cNvPr id="24585" name="Rectangle 9">
            <a:extLst>
              <a:ext uri="{FF2B5EF4-FFF2-40B4-BE49-F238E27FC236}">
                <a16:creationId xmlns:a16="http://schemas.microsoft.com/office/drawing/2014/main" id="{86BF7AE0-4058-593A-802E-D9DAE963FCDC}"/>
              </a:ext>
            </a:extLst>
          </p:cNvPr>
          <p:cNvSpPr>
            <a:spLocks noChangeArrowheads="1"/>
          </p:cNvSpPr>
          <p:nvPr/>
        </p:nvSpPr>
        <p:spPr bwMode="auto">
          <a:xfrm>
            <a:off x="6858000" y="1371600"/>
            <a:ext cx="457200" cy="4572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r>
              <a:rPr lang="en-US" altLang="en-US" i="1">
                <a:latin typeface="Helvetica" panose="020B0604020202020204" pitchFamily="34" charset="0"/>
              </a:rPr>
              <a:t>A</a:t>
            </a:r>
          </a:p>
        </p:txBody>
      </p:sp>
      <p:sp>
        <p:nvSpPr>
          <p:cNvPr id="24586" name="Rectangle 10">
            <a:extLst>
              <a:ext uri="{FF2B5EF4-FFF2-40B4-BE49-F238E27FC236}">
                <a16:creationId xmlns:a16="http://schemas.microsoft.com/office/drawing/2014/main" id="{1975AC9F-DED6-CFC4-3D5E-AD3DC7D1DB9A}"/>
              </a:ext>
            </a:extLst>
          </p:cNvPr>
          <p:cNvSpPr>
            <a:spLocks noChangeArrowheads="1"/>
          </p:cNvSpPr>
          <p:nvPr/>
        </p:nvSpPr>
        <p:spPr bwMode="auto">
          <a:xfrm>
            <a:off x="7315200" y="1371600"/>
            <a:ext cx="457200" cy="4572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r>
              <a:rPr lang="en-US" altLang="en-US" i="1">
                <a:latin typeface="Helvetica" panose="020B0604020202020204" pitchFamily="34" charset="0"/>
              </a:rPr>
              <a:t>B</a:t>
            </a:r>
          </a:p>
        </p:txBody>
      </p:sp>
      <p:sp>
        <p:nvSpPr>
          <p:cNvPr id="24587" name="Rectangle 11">
            <a:extLst>
              <a:ext uri="{FF2B5EF4-FFF2-40B4-BE49-F238E27FC236}">
                <a16:creationId xmlns:a16="http://schemas.microsoft.com/office/drawing/2014/main" id="{853419C9-5FB4-7AAF-9111-4A43082483C1}"/>
              </a:ext>
            </a:extLst>
          </p:cNvPr>
          <p:cNvSpPr>
            <a:spLocks noChangeArrowheads="1"/>
          </p:cNvSpPr>
          <p:nvPr/>
        </p:nvSpPr>
        <p:spPr bwMode="auto">
          <a:xfrm>
            <a:off x="6858000" y="1905000"/>
            <a:ext cx="457200" cy="9144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lnSpc>
                <a:spcPct val="150000"/>
              </a:lnSpc>
            </a:pPr>
            <a:r>
              <a:rPr lang="en-US" altLang="en-US" i="1">
                <a:latin typeface="Helvetica" panose="020B0604020202020204" pitchFamily="34" charset="0"/>
                <a:sym typeface="Symbol" panose="05050102010706020507" pitchFamily="18" charset="2"/>
              </a:rPr>
              <a:t></a:t>
            </a:r>
          </a:p>
          <a:p>
            <a:pPr algn="ctr">
              <a:lnSpc>
                <a:spcPct val="150000"/>
              </a:lnSpc>
            </a:pPr>
            <a:r>
              <a:rPr lang="en-US" altLang="en-US" i="1">
                <a:latin typeface="Helvetica" panose="020B0604020202020204" pitchFamily="34" charset="0"/>
                <a:sym typeface="Symbol" panose="05050102010706020507" pitchFamily="18" charset="2"/>
              </a:rPr>
              <a:t></a:t>
            </a:r>
          </a:p>
        </p:txBody>
      </p:sp>
      <p:sp>
        <p:nvSpPr>
          <p:cNvPr id="24588" name="Rectangle 12">
            <a:extLst>
              <a:ext uri="{FF2B5EF4-FFF2-40B4-BE49-F238E27FC236}">
                <a16:creationId xmlns:a16="http://schemas.microsoft.com/office/drawing/2014/main" id="{3B8FD727-82EC-3328-F4AC-0623EFD7D69E}"/>
              </a:ext>
            </a:extLst>
          </p:cNvPr>
          <p:cNvSpPr>
            <a:spLocks noChangeArrowheads="1"/>
          </p:cNvSpPr>
          <p:nvPr/>
        </p:nvSpPr>
        <p:spPr bwMode="auto">
          <a:xfrm>
            <a:off x="7315200" y="1905000"/>
            <a:ext cx="457200" cy="9144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lnSpc>
                <a:spcPct val="150000"/>
              </a:lnSpc>
            </a:pPr>
            <a:r>
              <a:rPr lang="en-US" altLang="en-US" i="1">
                <a:latin typeface="Helvetica" panose="020B0604020202020204" pitchFamily="34" charset="0"/>
                <a:sym typeface="Symbol" panose="05050102010706020507" pitchFamily="18" charset="2"/>
              </a:rPr>
              <a:t>2</a:t>
            </a:r>
          </a:p>
          <a:p>
            <a:pPr algn="ctr">
              <a:lnSpc>
                <a:spcPct val="150000"/>
              </a:lnSpc>
            </a:pPr>
            <a:r>
              <a:rPr lang="en-US" altLang="en-US" i="1">
                <a:latin typeface="Helvetica" panose="020B0604020202020204" pitchFamily="34" charset="0"/>
                <a:sym typeface="Symbol" panose="05050102010706020507" pitchFamily="18" charset="2"/>
              </a:rPr>
              <a:t>3</a:t>
            </a:r>
          </a:p>
        </p:txBody>
      </p:sp>
      <p:sp>
        <p:nvSpPr>
          <p:cNvPr id="24589" name="Text Box 13">
            <a:extLst>
              <a:ext uri="{FF2B5EF4-FFF2-40B4-BE49-F238E27FC236}">
                <a16:creationId xmlns:a16="http://schemas.microsoft.com/office/drawing/2014/main" id="{48B2D2F5-272D-59BF-130E-E920752AB991}"/>
              </a:ext>
            </a:extLst>
          </p:cNvPr>
          <p:cNvSpPr txBox="1">
            <a:spLocks noChangeArrowheads="1"/>
          </p:cNvSpPr>
          <p:nvPr/>
        </p:nvSpPr>
        <p:spPr bwMode="auto">
          <a:xfrm>
            <a:off x="5038725" y="3155950"/>
            <a:ext cx="285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spcBef>
                <a:spcPct val="50000"/>
              </a:spcBef>
            </a:pPr>
            <a:r>
              <a:rPr lang="en-US" altLang="en-US" sz="2400" i="1">
                <a:latin typeface="Helvetica" panose="020B0604020202020204" pitchFamily="34" charset="0"/>
              </a:rPr>
              <a:t>r</a:t>
            </a:r>
          </a:p>
        </p:txBody>
      </p:sp>
      <p:sp>
        <p:nvSpPr>
          <p:cNvPr id="24590" name="Text Box 14">
            <a:extLst>
              <a:ext uri="{FF2B5EF4-FFF2-40B4-BE49-F238E27FC236}">
                <a16:creationId xmlns:a16="http://schemas.microsoft.com/office/drawing/2014/main" id="{11307928-FC85-B00E-6B32-3DC2B4B3BFC2}"/>
              </a:ext>
            </a:extLst>
          </p:cNvPr>
          <p:cNvSpPr txBox="1">
            <a:spLocks noChangeArrowheads="1"/>
          </p:cNvSpPr>
          <p:nvPr/>
        </p:nvSpPr>
        <p:spPr bwMode="auto">
          <a:xfrm>
            <a:off x="7124700" y="285115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spcBef>
                <a:spcPct val="50000"/>
              </a:spcBef>
            </a:pPr>
            <a:r>
              <a:rPr lang="en-US" altLang="en-US" sz="2400" i="1">
                <a:latin typeface="Helvetica" panose="020B0604020202020204" pitchFamily="34" charset="0"/>
              </a:rPr>
              <a:t>s</a:t>
            </a:r>
          </a:p>
        </p:txBody>
      </p:sp>
      <p:sp>
        <p:nvSpPr>
          <p:cNvPr id="10255" name="Rectangle 15">
            <a:extLst>
              <a:ext uri="{FF2B5EF4-FFF2-40B4-BE49-F238E27FC236}">
                <a16:creationId xmlns:a16="http://schemas.microsoft.com/office/drawing/2014/main" id="{1D8855B6-1B07-BA19-1B97-B231DFABF0CE}"/>
              </a:ext>
            </a:extLst>
          </p:cNvPr>
          <p:cNvSpPr>
            <a:spLocks noChangeArrowheads="1"/>
          </p:cNvSpPr>
          <p:nvPr/>
        </p:nvSpPr>
        <p:spPr bwMode="auto">
          <a:xfrm>
            <a:off x="5791200" y="4114800"/>
            <a:ext cx="457200" cy="4572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r>
              <a:rPr lang="en-US" altLang="en-US" i="1">
                <a:latin typeface="Helvetica" panose="020B0604020202020204" pitchFamily="34" charset="0"/>
              </a:rPr>
              <a:t>A</a:t>
            </a:r>
          </a:p>
        </p:txBody>
      </p:sp>
      <p:sp>
        <p:nvSpPr>
          <p:cNvPr id="10256" name="Rectangle 16">
            <a:extLst>
              <a:ext uri="{FF2B5EF4-FFF2-40B4-BE49-F238E27FC236}">
                <a16:creationId xmlns:a16="http://schemas.microsoft.com/office/drawing/2014/main" id="{532739CE-0E62-FAE7-0DDD-66AA4229B0C8}"/>
              </a:ext>
            </a:extLst>
          </p:cNvPr>
          <p:cNvSpPr>
            <a:spLocks noChangeArrowheads="1"/>
          </p:cNvSpPr>
          <p:nvPr/>
        </p:nvSpPr>
        <p:spPr bwMode="auto">
          <a:xfrm>
            <a:off x="6248400" y="4114800"/>
            <a:ext cx="457200" cy="4572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r>
              <a:rPr lang="en-US" altLang="en-US" i="1">
                <a:latin typeface="Helvetica" panose="020B0604020202020204" pitchFamily="34" charset="0"/>
              </a:rPr>
              <a:t>B</a:t>
            </a:r>
          </a:p>
        </p:txBody>
      </p:sp>
      <p:sp>
        <p:nvSpPr>
          <p:cNvPr id="10257" name="Rectangle 17">
            <a:extLst>
              <a:ext uri="{FF2B5EF4-FFF2-40B4-BE49-F238E27FC236}">
                <a16:creationId xmlns:a16="http://schemas.microsoft.com/office/drawing/2014/main" id="{D9B7052E-C128-F4AC-A8AA-B51081B4C08A}"/>
              </a:ext>
            </a:extLst>
          </p:cNvPr>
          <p:cNvSpPr>
            <a:spLocks noChangeArrowheads="1"/>
          </p:cNvSpPr>
          <p:nvPr/>
        </p:nvSpPr>
        <p:spPr bwMode="auto">
          <a:xfrm>
            <a:off x="5791200" y="4648200"/>
            <a:ext cx="457200" cy="16764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lnSpc>
                <a:spcPct val="150000"/>
              </a:lnSpc>
            </a:pPr>
            <a:r>
              <a:rPr lang="en-US" altLang="en-US" i="1">
                <a:latin typeface="Helvetica" panose="020B0604020202020204" pitchFamily="34" charset="0"/>
                <a:sym typeface="Symbol" panose="05050102010706020507" pitchFamily="18" charset="2"/>
              </a:rPr>
              <a:t></a:t>
            </a:r>
          </a:p>
          <a:p>
            <a:pPr algn="ctr">
              <a:lnSpc>
                <a:spcPct val="150000"/>
              </a:lnSpc>
            </a:pPr>
            <a:r>
              <a:rPr lang="en-US" altLang="en-US" i="1">
                <a:latin typeface="Helvetica" panose="020B0604020202020204" pitchFamily="34" charset="0"/>
                <a:sym typeface="Symbol" panose="05050102010706020507" pitchFamily="18" charset="2"/>
              </a:rPr>
              <a:t></a:t>
            </a:r>
          </a:p>
          <a:p>
            <a:pPr algn="ctr">
              <a:lnSpc>
                <a:spcPct val="150000"/>
              </a:lnSpc>
            </a:pPr>
            <a:r>
              <a:rPr lang="en-US" altLang="en-US" i="1">
                <a:latin typeface="Helvetica" panose="020B0604020202020204" pitchFamily="34" charset="0"/>
                <a:sym typeface="Symbol" panose="05050102010706020507" pitchFamily="18" charset="2"/>
              </a:rPr>
              <a:t></a:t>
            </a:r>
          </a:p>
          <a:p>
            <a:pPr algn="ctr">
              <a:lnSpc>
                <a:spcPct val="150000"/>
              </a:lnSpc>
            </a:pPr>
            <a:r>
              <a:rPr lang="en-US" altLang="en-US" i="1">
                <a:latin typeface="Helvetica" panose="020B0604020202020204" pitchFamily="34" charset="0"/>
                <a:sym typeface="Symbol" panose="05050102010706020507" pitchFamily="18" charset="2"/>
              </a:rPr>
              <a:t></a:t>
            </a:r>
          </a:p>
        </p:txBody>
      </p:sp>
      <p:sp>
        <p:nvSpPr>
          <p:cNvPr id="10258" name="Rectangle 18">
            <a:extLst>
              <a:ext uri="{FF2B5EF4-FFF2-40B4-BE49-F238E27FC236}">
                <a16:creationId xmlns:a16="http://schemas.microsoft.com/office/drawing/2014/main" id="{091EA869-2527-1740-F1D8-142B62E8FABC}"/>
              </a:ext>
            </a:extLst>
          </p:cNvPr>
          <p:cNvSpPr>
            <a:spLocks noChangeArrowheads="1"/>
          </p:cNvSpPr>
          <p:nvPr/>
        </p:nvSpPr>
        <p:spPr bwMode="auto">
          <a:xfrm>
            <a:off x="6248400" y="4648200"/>
            <a:ext cx="457200" cy="16764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lnSpc>
                <a:spcPct val="150000"/>
              </a:lnSpc>
            </a:pPr>
            <a:r>
              <a:rPr lang="en-US" altLang="en-US" i="1">
                <a:latin typeface="Helvetica" panose="020B0604020202020204" pitchFamily="34" charset="0"/>
                <a:sym typeface="Symbol" panose="05050102010706020507" pitchFamily="18" charset="2"/>
              </a:rPr>
              <a:t>1</a:t>
            </a:r>
          </a:p>
          <a:p>
            <a:pPr algn="ctr">
              <a:lnSpc>
                <a:spcPct val="150000"/>
              </a:lnSpc>
            </a:pPr>
            <a:r>
              <a:rPr lang="en-US" altLang="en-US" i="1">
                <a:latin typeface="Helvetica" panose="020B0604020202020204" pitchFamily="34" charset="0"/>
                <a:sym typeface="Symbol" panose="05050102010706020507" pitchFamily="18" charset="2"/>
              </a:rPr>
              <a:t>2</a:t>
            </a:r>
          </a:p>
          <a:p>
            <a:pPr algn="ctr">
              <a:lnSpc>
                <a:spcPct val="150000"/>
              </a:lnSpc>
            </a:pPr>
            <a:r>
              <a:rPr lang="en-US" altLang="en-US" i="1">
                <a:latin typeface="Helvetica" panose="020B0604020202020204" pitchFamily="34" charset="0"/>
                <a:sym typeface="Symbol" panose="05050102010706020507" pitchFamily="18" charset="2"/>
              </a:rPr>
              <a:t>1</a:t>
            </a:r>
          </a:p>
          <a:p>
            <a:pPr algn="ctr">
              <a:lnSpc>
                <a:spcPct val="150000"/>
              </a:lnSpc>
            </a:pPr>
            <a:r>
              <a:rPr lang="en-US" altLang="en-US" i="1">
                <a:latin typeface="Helvetica" panose="020B0604020202020204" pitchFamily="34" charset="0"/>
                <a:sym typeface="Symbol" panose="05050102010706020507" pitchFamily="18" charset="2"/>
              </a:rPr>
              <a:t>3</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0255"/>
                                        </p:tgtEl>
                                        <p:attrNameLst>
                                          <p:attrName>style.visibility</p:attrName>
                                        </p:attrNameLst>
                                      </p:cBhvr>
                                      <p:to>
                                        <p:strVal val="visible"/>
                                      </p:to>
                                    </p:set>
                                    <p:animEffect transition="in" filter="checkerboard(across)">
                                      <p:cBhvr>
                                        <p:cTn id="7" dur="500"/>
                                        <p:tgtEl>
                                          <p:spTgt spid="10255"/>
                                        </p:tgtEl>
                                      </p:cBhvr>
                                    </p:animEffect>
                                  </p:childTnLst>
                                </p:cTn>
                              </p:par>
                              <p:par>
                                <p:cTn id="8" presetID="5" presetClass="entr" presetSubtype="10" fill="hold" nodeType="withEffect">
                                  <p:stCondLst>
                                    <p:cond delay="0"/>
                                  </p:stCondLst>
                                  <p:childTnLst>
                                    <p:set>
                                      <p:cBhvr>
                                        <p:cTn id="9" dur="1" fill="hold">
                                          <p:stCondLst>
                                            <p:cond delay="0"/>
                                          </p:stCondLst>
                                        </p:cTn>
                                        <p:tgtEl>
                                          <p:spTgt spid="10256"/>
                                        </p:tgtEl>
                                        <p:attrNameLst>
                                          <p:attrName>style.visibility</p:attrName>
                                        </p:attrNameLst>
                                      </p:cBhvr>
                                      <p:to>
                                        <p:strVal val="visible"/>
                                      </p:to>
                                    </p:set>
                                    <p:animEffect transition="in" filter="checkerboard(across)">
                                      <p:cBhvr>
                                        <p:cTn id="10" dur="500"/>
                                        <p:tgtEl>
                                          <p:spTgt spid="10256"/>
                                        </p:tgtEl>
                                      </p:cBhvr>
                                    </p:animEffect>
                                  </p:childTnLst>
                                </p:cTn>
                              </p:par>
                              <p:par>
                                <p:cTn id="11" presetID="5" presetClass="entr" presetSubtype="10" fill="hold" nodeType="withEffect">
                                  <p:stCondLst>
                                    <p:cond delay="0"/>
                                  </p:stCondLst>
                                  <p:childTnLst>
                                    <p:set>
                                      <p:cBhvr>
                                        <p:cTn id="12" dur="1" fill="hold">
                                          <p:stCondLst>
                                            <p:cond delay="0"/>
                                          </p:stCondLst>
                                        </p:cTn>
                                        <p:tgtEl>
                                          <p:spTgt spid="10257"/>
                                        </p:tgtEl>
                                        <p:attrNameLst>
                                          <p:attrName>style.visibility</p:attrName>
                                        </p:attrNameLst>
                                      </p:cBhvr>
                                      <p:to>
                                        <p:strVal val="visible"/>
                                      </p:to>
                                    </p:set>
                                    <p:animEffect transition="in" filter="checkerboard(across)">
                                      <p:cBhvr>
                                        <p:cTn id="13" dur="500"/>
                                        <p:tgtEl>
                                          <p:spTgt spid="10257"/>
                                        </p:tgtEl>
                                      </p:cBhvr>
                                    </p:animEffect>
                                  </p:childTnLst>
                                </p:cTn>
                              </p:par>
                              <p:par>
                                <p:cTn id="14" presetID="5" presetClass="entr" presetSubtype="10" fill="hold" nodeType="withEffect">
                                  <p:stCondLst>
                                    <p:cond delay="0"/>
                                  </p:stCondLst>
                                  <p:childTnLst>
                                    <p:set>
                                      <p:cBhvr>
                                        <p:cTn id="15" dur="1" fill="hold">
                                          <p:stCondLst>
                                            <p:cond delay="0"/>
                                          </p:stCondLst>
                                        </p:cTn>
                                        <p:tgtEl>
                                          <p:spTgt spid="10258"/>
                                        </p:tgtEl>
                                        <p:attrNameLst>
                                          <p:attrName>style.visibility</p:attrName>
                                        </p:attrNameLst>
                                      </p:cBhvr>
                                      <p:to>
                                        <p:strVal val="visible"/>
                                      </p:to>
                                    </p:set>
                                    <p:animEffect transition="in" filter="checkerboard(across)">
                                      <p:cBhvr>
                                        <p:cTn id="16" dur="500"/>
                                        <p:tgtEl>
                                          <p:spTgt spid="102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55" grpId="0" animBg="1"/>
      <p:bldP spid="10256" grpId="0" animBg="1"/>
      <p:bldP spid="10257" grpId="0" animBg="1"/>
      <p:bldP spid="1025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FC3FEC55-3A3B-190E-68E2-BF1D2456160F}"/>
              </a:ext>
            </a:extLst>
          </p:cNvPr>
          <p:cNvSpPr>
            <a:spLocks noGrp="1" noChangeArrowheads="1"/>
          </p:cNvSpPr>
          <p:nvPr>
            <p:ph type="title"/>
          </p:nvPr>
        </p:nvSpPr>
        <p:spPr/>
        <p:txBody>
          <a:bodyPr/>
          <a:lstStyle/>
          <a:p>
            <a:pPr eaLnBrk="1" hangingPunct="1"/>
            <a:r>
              <a:rPr lang="en-US" altLang="en-US" sz="2800"/>
              <a:t>Set Difference Operation</a:t>
            </a:r>
          </a:p>
        </p:txBody>
      </p:sp>
      <p:sp>
        <p:nvSpPr>
          <p:cNvPr id="25603" name="Rectangle 3">
            <a:extLst>
              <a:ext uri="{FF2B5EF4-FFF2-40B4-BE49-F238E27FC236}">
                <a16:creationId xmlns:a16="http://schemas.microsoft.com/office/drawing/2014/main" id="{36885894-B784-2D2B-7C6D-B2B7E3D0FECE}"/>
              </a:ext>
            </a:extLst>
          </p:cNvPr>
          <p:cNvSpPr>
            <a:spLocks noGrp="1" noChangeArrowheads="1"/>
          </p:cNvSpPr>
          <p:nvPr>
            <p:ph type="body" idx="1"/>
          </p:nvPr>
        </p:nvSpPr>
        <p:spPr/>
        <p:txBody>
          <a:bodyPr/>
          <a:lstStyle/>
          <a:p>
            <a:pPr>
              <a:tabLst>
                <a:tab pos="3195638" algn="ctr"/>
              </a:tabLst>
            </a:pPr>
            <a:r>
              <a:rPr lang="en-US" altLang="en-US" sz="2400"/>
              <a:t>Notation </a:t>
            </a:r>
            <a:r>
              <a:rPr lang="en-US" altLang="en-US" sz="2400" i="1"/>
              <a:t>r – s</a:t>
            </a:r>
            <a:endParaRPr lang="en-US" altLang="en-US" sz="2400"/>
          </a:p>
          <a:p>
            <a:pPr>
              <a:tabLst>
                <a:tab pos="3195638" algn="ctr"/>
              </a:tabLst>
            </a:pPr>
            <a:r>
              <a:rPr lang="en-US" altLang="en-US" sz="2400"/>
              <a:t>Defined as:</a:t>
            </a:r>
          </a:p>
          <a:p>
            <a:pPr>
              <a:buNone/>
              <a:tabLst>
                <a:tab pos="3195638" algn="ctr"/>
              </a:tabLst>
            </a:pPr>
            <a:r>
              <a:rPr lang="en-US" altLang="en-US" sz="2400"/>
              <a:t>		 </a:t>
            </a:r>
            <a:r>
              <a:rPr lang="en-US" altLang="en-US" sz="2400" i="1"/>
              <a:t>r – s</a:t>
            </a:r>
            <a:r>
              <a:rPr lang="en-US" altLang="en-US" sz="2400"/>
              <a:t>  = {</a:t>
            </a:r>
            <a:r>
              <a:rPr lang="en-US" altLang="en-US" sz="2400" i="1"/>
              <a:t>t</a:t>
            </a:r>
            <a:r>
              <a:rPr lang="en-US" altLang="en-US" sz="2400"/>
              <a:t> | </a:t>
            </a:r>
            <a:r>
              <a:rPr lang="en-US" altLang="en-US" sz="2400" i="1"/>
              <a:t>t</a:t>
            </a:r>
            <a:r>
              <a:rPr lang="en-US" altLang="en-US" sz="2400"/>
              <a:t> </a:t>
            </a:r>
            <a:r>
              <a:rPr lang="en-US" altLang="en-US" sz="2400">
                <a:sym typeface="Symbol" panose="05050102010706020507" pitchFamily="18" charset="2"/>
              </a:rPr>
              <a:t> </a:t>
            </a:r>
            <a:r>
              <a:rPr lang="en-US" altLang="en-US" sz="2400" i="1">
                <a:sym typeface="Symbol" panose="05050102010706020507" pitchFamily="18" charset="2"/>
              </a:rPr>
              <a:t>r</a:t>
            </a:r>
            <a:r>
              <a:rPr lang="en-US" altLang="en-US" sz="2400">
                <a:sym typeface="Symbol" panose="05050102010706020507" pitchFamily="18" charset="2"/>
              </a:rPr>
              <a:t> </a:t>
            </a:r>
            <a:r>
              <a:rPr lang="en-US" altLang="en-US" sz="2400" b="1">
                <a:sym typeface="Symbol" panose="05050102010706020507" pitchFamily="18" charset="2"/>
              </a:rPr>
              <a:t>and</a:t>
            </a:r>
            <a:r>
              <a:rPr lang="en-US" altLang="en-US" sz="2400">
                <a:sym typeface="Symbol" panose="05050102010706020507" pitchFamily="18" charset="2"/>
              </a:rPr>
              <a:t> t  </a:t>
            </a:r>
            <a:r>
              <a:rPr lang="en-US" altLang="en-US" sz="2400" i="1">
                <a:sym typeface="Symbol" panose="05050102010706020507" pitchFamily="18" charset="2"/>
              </a:rPr>
              <a:t>s</a:t>
            </a:r>
            <a:r>
              <a:rPr lang="en-US" altLang="en-US" sz="2400">
                <a:sym typeface="Symbol" panose="05050102010706020507" pitchFamily="18" charset="2"/>
              </a:rPr>
              <a:t>}</a:t>
            </a:r>
            <a:r>
              <a:rPr lang="en-US" altLang="en-US" sz="2400"/>
              <a:t>	</a:t>
            </a:r>
          </a:p>
          <a:p>
            <a:pPr>
              <a:tabLst>
                <a:tab pos="3195638" algn="ctr"/>
              </a:tabLst>
            </a:pPr>
            <a:r>
              <a:rPr lang="en-US" altLang="en-US" sz="2400"/>
              <a:t>Set differences must be taken between </a:t>
            </a:r>
            <a:r>
              <a:rPr lang="en-US" altLang="en-US" sz="2400" i="1"/>
              <a:t>compatible</a:t>
            </a:r>
            <a:r>
              <a:rPr lang="en-US" altLang="en-US" sz="2400"/>
              <a:t> relations.</a:t>
            </a:r>
          </a:p>
          <a:p>
            <a:pPr lvl="1">
              <a:tabLst>
                <a:tab pos="3195638" algn="ctr"/>
              </a:tabLst>
            </a:pPr>
            <a:r>
              <a:rPr lang="en-US" altLang="en-US" i="1"/>
              <a:t>r</a:t>
            </a:r>
            <a:r>
              <a:rPr lang="en-US" altLang="en-US"/>
              <a:t> and </a:t>
            </a:r>
            <a:r>
              <a:rPr lang="en-US" altLang="en-US" i="1"/>
              <a:t>s</a:t>
            </a:r>
            <a:r>
              <a:rPr lang="en-US" altLang="en-US"/>
              <a:t> must have the same number of attributes</a:t>
            </a:r>
          </a:p>
          <a:p>
            <a:pPr lvl="1">
              <a:tabLst>
                <a:tab pos="3195638" algn="ctr"/>
              </a:tabLst>
            </a:pPr>
            <a:r>
              <a:rPr lang="en-US" altLang="en-US"/>
              <a:t>attribute domains of </a:t>
            </a:r>
            <a:r>
              <a:rPr lang="en-US" altLang="en-US" i="1"/>
              <a:t>r </a:t>
            </a:r>
            <a:r>
              <a:rPr lang="en-US" altLang="en-US"/>
              <a:t>and </a:t>
            </a:r>
            <a:r>
              <a:rPr lang="en-US" altLang="en-US" i="1"/>
              <a:t>s </a:t>
            </a:r>
            <a:r>
              <a:rPr lang="en-US" altLang="en-US"/>
              <a:t>must be compatible</a:t>
            </a:r>
          </a:p>
          <a:p>
            <a:pPr>
              <a:buNone/>
              <a:tabLst>
                <a:tab pos="3195638" algn="ctr"/>
              </a:tabLst>
            </a:pPr>
            <a:endParaRPr lang="en-US" altLang="en-US" sz="24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AE9DA2DE-BD0E-B9E4-C7F9-A4C36CD056AE}"/>
              </a:ext>
            </a:extLst>
          </p:cNvPr>
          <p:cNvSpPr>
            <a:spLocks noGrp="1" noChangeArrowheads="1"/>
          </p:cNvSpPr>
          <p:nvPr>
            <p:ph type="title"/>
          </p:nvPr>
        </p:nvSpPr>
        <p:spPr>
          <a:xfrm>
            <a:off x="2209800" y="0"/>
            <a:ext cx="7772400" cy="1143000"/>
          </a:xfrm>
        </p:spPr>
        <p:txBody>
          <a:bodyPr/>
          <a:lstStyle/>
          <a:p>
            <a:pPr eaLnBrk="1" hangingPunct="1"/>
            <a:r>
              <a:rPr lang="en-US" altLang="en-US" sz="2800"/>
              <a:t>Set Difference Operation – Example</a:t>
            </a:r>
          </a:p>
        </p:txBody>
      </p:sp>
      <p:sp>
        <p:nvSpPr>
          <p:cNvPr id="26627" name="Rectangle 3">
            <a:extLst>
              <a:ext uri="{FF2B5EF4-FFF2-40B4-BE49-F238E27FC236}">
                <a16:creationId xmlns:a16="http://schemas.microsoft.com/office/drawing/2014/main" id="{BF81A18C-3879-41C7-6AE6-5CCEAE3F9077}"/>
              </a:ext>
            </a:extLst>
          </p:cNvPr>
          <p:cNvSpPr>
            <a:spLocks noGrp="1" noChangeArrowheads="1"/>
          </p:cNvSpPr>
          <p:nvPr>
            <p:ph type="body" idx="1"/>
          </p:nvPr>
        </p:nvSpPr>
        <p:spPr>
          <a:xfrm>
            <a:off x="1981200" y="2209800"/>
            <a:ext cx="6961188" cy="280988"/>
          </a:xfrm>
          <a:noFill/>
        </p:spPr>
        <p:txBody>
          <a:bodyPr>
            <a:normAutofit fontScale="55000" lnSpcReduction="20000"/>
          </a:bodyPr>
          <a:lstStyle/>
          <a:p>
            <a:pPr eaLnBrk="1" hangingPunct="1">
              <a:lnSpc>
                <a:spcPct val="90000"/>
              </a:lnSpc>
            </a:pPr>
            <a:r>
              <a:rPr lang="en-US" altLang="en-US"/>
              <a:t>Relations </a:t>
            </a:r>
            <a:r>
              <a:rPr lang="en-US" altLang="en-US" i="1"/>
              <a:t>r, s:</a:t>
            </a:r>
            <a:endParaRPr lang="en-US" altLang="en-US"/>
          </a:p>
        </p:txBody>
      </p:sp>
      <p:sp>
        <p:nvSpPr>
          <p:cNvPr id="26628" name="Rectangle 4">
            <a:extLst>
              <a:ext uri="{FF2B5EF4-FFF2-40B4-BE49-F238E27FC236}">
                <a16:creationId xmlns:a16="http://schemas.microsoft.com/office/drawing/2014/main" id="{618EB42C-9101-0A1B-7B1B-3C69E1E04FD1}"/>
              </a:ext>
            </a:extLst>
          </p:cNvPr>
          <p:cNvSpPr>
            <a:spLocks noChangeArrowheads="1"/>
          </p:cNvSpPr>
          <p:nvPr/>
        </p:nvSpPr>
        <p:spPr bwMode="auto">
          <a:xfrm>
            <a:off x="3048000" y="4800601"/>
            <a:ext cx="70294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spcBef>
                <a:spcPct val="35000"/>
              </a:spcBef>
              <a:buClr>
                <a:schemeClr val="tx2"/>
              </a:buClr>
              <a:buFont typeface="Monotype Sorts" pitchFamily="1" charset="2"/>
              <a:buNone/>
            </a:pPr>
            <a:r>
              <a:rPr kumimoji="1" lang="en-US" altLang="en-US" sz="2400" i="1">
                <a:latin typeface="Helvetica" panose="020B0604020202020204" pitchFamily="34" charset="0"/>
              </a:rPr>
              <a:t>r </a:t>
            </a:r>
            <a:r>
              <a:rPr kumimoji="1" lang="en-US" altLang="en-US" sz="2400" i="1">
                <a:latin typeface="Helvetica" panose="020B0604020202020204" pitchFamily="34" charset="0"/>
                <a:sym typeface="Symbol" panose="05050102010706020507" pitchFamily="18" charset="2"/>
              </a:rPr>
              <a:t>– s</a:t>
            </a:r>
            <a:r>
              <a:rPr kumimoji="1" lang="en-US" altLang="en-US" sz="2400"/>
              <a:t>:</a:t>
            </a:r>
          </a:p>
        </p:txBody>
      </p:sp>
      <p:sp>
        <p:nvSpPr>
          <p:cNvPr id="26629" name="Rectangle 5">
            <a:extLst>
              <a:ext uri="{FF2B5EF4-FFF2-40B4-BE49-F238E27FC236}">
                <a16:creationId xmlns:a16="http://schemas.microsoft.com/office/drawing/2014/main" id="{3E90572E-8EA3-210A-7EB5-556492A8F6B5}"/>
              </a:ext>
            </a:extLst>
          </p:cNvPr>
          <p:cNvSpPr>
            <a:spLocks noChangeArrowheads="1"/>
          </p:cNvSpPr>
          <p:nvPr/>
        </p:nvSpPr>
        <p:spPr bwMode="auto">
          <a:xfrm>
            <a:off x="4724400" y="1371600"/>
            <a:ext cx="457200" cy="4572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r>
              <a:rPr lang="en-US" altLang="en-US" i="1">
                <a:latin typeface="Helvetica" panose="020B0604020202020204" pitchFamily="34" charset="0"/>
              </a:rPr>
              <a:t>A</a:t>
            </a:r>
          </a:p>
        </p:txBody>
      </p:sp>
      <p:sp>
        <p:nvSpPr>
          <p:cNvPr id="26630" name="Rectangle 6">
            <a:extLst>
              <a:ext uri="{FF2B5EF4-FFF2-40B4-BE49-F238E27FC236}">
                <a16:creationId xmlns:a16="http://schemas.microsoft.com/office/drawing/2014/main" id="{2F8ECAEE-6FB8-8BFE-555E-2A890C4DCD3A}"/>
              </a:ext>
            </a:extLst>
          </p:cNvPr>
          <p:cNvSpPr>
            <a:spLocks noChangeArrowheads="1"/>
          </p:cNvSpPr>
          <p:nvPr/>
        </p:nvSpPr>
        <p:spPr bwMode="auto">
          <a:xfrm>
            <a:off x="5181600" y="1371600"/>
            <a:ext cx="457200" cy="4572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r>
              <a:rPr lang="en-US" altLang="en-US" i="1">
                <a:latin typeface="Helvetica" panose="020B0604020202020204" pitchFamily="34" charset="0"/>
              </a:rPr>
              <a:t>B</a:t>
            </a:r>
          </a:p>
        </p:txBody>
      </p:sp>
      <p:sp>
        <p:nvSpPr>
          <p:cNvPr id="26631" name="Rectangle 7">
            <a:extLst>
              <a:ext uri="{FF2B5EF4-FFF2-40B4-BE49-F238E27FC236}">
                <a16:creationId xmlns:a16="http://schemas.microsoft.com/office/drawing/2014/main" id="{485E941B-4925-089D-FCD0-E62D8DB249CC}"/>
              </a:ext>
            </a:extLst>
          </p:cNvPr>
          <p:cNvSpPr>
            <a:spLocks noChangeArrowheads="1"/>
          </p:cNvSpPr>
          <p:nvPr/>
        </p:nvSpPr>
        <p:spPr bwMode="auto">
          <a:xfrm>
            <a:off x="4724400" y="1905000"/>
            <a:ext cx="457200" cy="12954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lnSpc>
                <a:spcPct val="150000"/>
              </a:lnSpc>
            </a:pPr>
            <a:r>
              <a:rPr lang="en-US" altLang="en-US" i="1">
                <a:latin typeface="Helvetica" panose="020B0604020202020204" pitchFamily="34" charset="0"/>
                <a:sym typeface="Symbol" panose="05050102010706020507" pitchFamily="18" charset="2"/>
              </a:rPr>
              <a:t></a:t>
            </a:r>
          </a:p>
          <a:p>
            <a:pPr algn="ctr">
              <a:lnSpc>
                <a:spcPct val="150000"/>
              </a:lnSpc>
            </a:pPr>
            <a:r>
              <a:rPr lang="en-US" altLang="en-US" i="1">
                <a:latin typeface="Helvetica" panose="020B0604020202020204" pitchFamily="34" charset="0"/>
                <a:sym typeface="Symbol" panose="05050102010706020507" pitchFamily="18" charset="2"/>
              </a:rPr>
              <a:t></a:t>
            </a:r>
          </a:p>
          <a:p>
            <a:pPr algn="ctr">
              <a:lnSpc>
                <a:spcPct val="150000"/>
              </a:lnSpc>
            </a:pPr>
            <a:r>
              <a:rPr lang="en-US" altLang="en-US" i="1">
                <a:latin typeface="Helvetica" panose="020B0604020202020204" pitchFamily="34" charset="0"/>
                <a:sym typeface="Symbol" panose="05050102010706020507" pitchFamily="18" charset="2"/>
              </a:rPr>
              <a:t></a:t>
            </a:r>
          </a:p>
        </p:txBody>
      </p:sp>
      <p:sp>
        <p:nvSpPr>
          <p:cNvPr id="26632" name="Rectangle 8">
            <a:extLst>
              <a:ext uri="{FF2B5EF4-FFF2-40B4-BE49-F238E27FC236}">
                <a16:creationId xmlns:a16="http://schemas.microsoft.com/office/drawing/2014/main" id="{116DCE78-87E2-61CA-B762-84B20D132F57}"/>
              </a:ext>
            </a:extLst>
          </p:cNvPr>
          <p:cNvSpPr>
            <a:spLocks noChangeArrowheads="1"/>
          </p:cNvSpPr>
          <p:nvPr/>
        </p:nvSpPr>
        <p:spPr bwMode="auto">
          <a:xfrm>
            <a:off x="5181600" y="1905000"/>
            <a:ext cx="457200" cy="12954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lnSpc>
                <a:spcPct val="150000"/>
              </a:lnSpc>
            </a:pPr>
            <a:r>
              <a:rPr lang="en-US" altLang="en-US" i="1">
                <a:latin typeface="Helvetica" panose="020B0604020202020204" pitchFamily="34" charset="0"/>
                <a:sym typeface="Symbol" panose="05050102010706020507" pitchFamily="18" charset="2"/>
              </a:rPr>
              <a:t>1</a:t>
            </a:r>
          </a:p>
          <a:p>
            <a:pPr algn="ctr">
              <a:lnSpc>
                <a:spcPct val="150000"/>
              </a:lnSpc>
            </a:pPr>
            <a:r>
              <a:rPr lang="en-US" altLang="en-US" i="1">
                <a:latin typeface="Helvetica" panose="020B0604020202020204" pitchFamily="34" charset="0"/>
                <a:sym typeface="Symbol" panose="05050102010706020507" pitchFamily="18" charset="2"/>
              </a:rPr>
              <a:t>2</a:t>
            </a:r>
          </a:p>
          <a:p>
            <a:pPr algn="ctr">
              <a:lnSpc>
                <a:spcPct val="150000"/>
              </a:lnSpc>
            </a:pPr>
            <a:r>
              <a:rPr lang="en-US" altLang="en-US" i="1">
                <a:latin typeface="Helvetica" panose="020B0604020202020204" pitchFamily="34" charset="0"/>
                <a:sym typeface="Symbol" panose="05050102010706020507" pitchFamily="18" charset="2"/>
              </a:rPr>
              <a:t>1</a:t>
            </a:r>
          </a:p>
        </p:txBody>
      </p:sp>
      <p:sp>
        <p:nvSpPr>
          <p:cNvPr id="26633" name="Rectangle 9">
            <a:extLst>
              <a:ext uri="{FF2B5EF4-FFF2-40B4-BE49-F238E27FC236}">
                <a16:creationId xmlns:a16="http://schemas.microsoft.com/office/drawing/2014/main" id="{1D8A6914-7A0A-E451-24E1-34ECF4D6388C}"/>
              </a:ext>
            </a:extLst>
          </p:cNvPr>
          <p:cNvSpPr>
            <a:spLocks noChangeArrowheads="1"/>
          </p:cNvSpPr>
          <p:nvPr/>
        </p:nvSpPr>
        <p:spPr bwMode="auto">
          <a:xfrm>
            <a:off x="6858000" y="1371600"/>
            <a:ext cx="457200" cy="4572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r>
              <a:rPr lang="en-US" altLang="en-US" i="1">
                <a:latin typeface="Helvetica" panose="020B0604020202020204" pitchFamily="34" charset="0"/>
              </a:rPr>
              <a:t>A</a:t>
            </a:r>
          </a:p>
        </p:txBody>
      </p:sp>
      <p:sp>
        <p:nvSpPr>
          <p:cNvPr id="26634" name="Rectangle 10">
            <a:extLst>
              <a:ext uri="{FF2B5EF4-FFF2-40B4-BE49-F238E27FC236}">
                <a16:creationId xmlns:a16="http://schemas.microsoft.com/office/drawing/2014/main" id="{C78E2B1A-0AE7-DB11-B7AF-7BD86CC35BDA}"/>
              </a:ext>
            </a:extLst>
          </p:cNvPr>
          <p:cNvSpPr>
            <a:spLocks noChangeArrowheads="1"/>
          </p:cNvSpPr>
          <p:nvPr/>
        </p:nvSpPr>
        <p:spPr bwMode="auto">
          <a:xfrm>
            <a:off x="7315200" y="1371600"/>
            <a:ext cx="457200" cy="4572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r>
              <a:rPr lang="en-US" altLang="en-US" i="1">
                <a:latin typeface="Helvetica" panose="020B0604020202020204" pitchFamily="34" charset="0"/>
              </a:rPr>
              <a:t>B</a:t>
            </a:r>
          </a:p>
        </p:txBody>
      </p:sp>
      <p:sp>
        <p:nvSpPr>
          <p:cNvPr id="26635" name="Rectangle 11">
            <a:extLst>
              <a:ext uri="{FF2B5EF4-FFF2-40B4-BE49-F238E27FC236}">
                <a16:creationId xmlns:a16="http://schemas.microsoft.com/office/drawing/2014/main" id="{E1169A2C-2129-0520-9244-D74AA3A8AC18}"/>
              </a:ext>
            </a:extLst>
          </p:cNvPr>
          <p:cNvSpPr>
            <a:spLocks noChangeArrowheads="1"/>
          </p:cNvSpPr>
          <p:nvPr/>
        </p:nvSpPr>
        <p:spPr bwMode="auto">
          <a:xfrm>
            <a:off x="6858000" y="1905000"/>
            <a:ext cx="457200" cy="9144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lnSpc>
                <a:spcPct val="150000"/>
              </a:lnSpc>
            </a:pPr>
            <a:r>
              <a:rPr lang="en-US" altLang="en-US" i="1">
                <a:latin typeface="Helvetica" panose="020B0604020202020204" pitchFamily="34" charset="0"/>
                <a:sym typeface="Symbol" panose="05050102010706020507" pitchFamily="18" charset="2"/>
              </a:rPr>
              <a:t></a:t>
            </a:r>
          </a:p>
          <a:p>
            <a:pPr algn="ctr">
              <a:lnSpc>
                <a:spcPct val="150000"/>
              </a:lnSpc>
            </a:pPr>
            <a:r>
              <a:rPr lang="en-US" altLang="en-US" i="1">
                <a:latin typeface="Helvetica" panose="020B0604020202020204" pitchFamily="34" charset="0"/>
                <a:sym typeface="Symbol" panose="05050102010706020507" pitchFamily="18" charset="2"/>
              </a:rPr>
              <a:t></a:t>
            </a:r>
          </a:p>
        </p:txBody>
      </p:sp>
      <p:sp>
        <p:nvSpPr>
          <p:cNvPr id="26636" name="Rectangle 12">
            <a:extLst>
              <a:ext uri="{FF2B5EF4-FFF2-40B4-BE49-F238E27FC236}">
                <a16:creationId xmlns:a16="http://schemas.microsoft.com/office/drawing/2014/main" id="{3D35CC91-1B57-4DD5-2027-F4ADC3EF0BF5}"/>
              </a:ext>
            </a:extLst>
          </p:cNvPr>
          <p:cNvSpPr>
            <a:spLocks noChangeArrowheads="1"/>
          </p:cNvSpPr>
          <p:nvPr/>
        </p:nvSpPr>
        <p:spPr bwMode="auto">
          <a:xfrm>
            <a:off x="7315200" y="1905000"/>
            <a:ext cx="457200" cy="9144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lnSpc>
                <a:spcPct val="150000"/>
              </a:lnSpc>
            </a:pPr>
            <a:r>
              <a:rPr lang="en-US" altLang="en-US" i="1">
                <a:latin typeface="Helvetica" panose="020B0604020202020204" pitchFamily="34" charset="0"/>
                <a:sym typeface="Symbol" panose="05050102010706020507" pitchFamily="18" charset="2"/>
              </a:rPr>
              <a:t>2</a:t>
            </a:r>
          </a:p>
          <a:p>
            <a:pPr algn="ctr">
              <a:lnSpc>
                <a:spcPct val="150000"/>
              </a:lnSpc>
            </a:pPr>
            <a:r>
              <a:rPr lang="en-US" altLang="en-US" i="1">
                <a:latin typeface="Helvetica" panose="020B0604020202020204" pitchFamily="34" charset="0"/>
                <a:sym typeface="Symbol" panose="05050102010706020507" pitchFamily="18" charset="2"/>
              </a:rPr>
              <a:t>3</a:t>
            </a:r>
          </a:p>
        </p:txBody>
      </p:sp>
      <p:sp>
        <p:nvSpPr>
          <p:cNvPr id="26637" name="Text Box 14">
            <a:extLst>
              <a:ext uri="{FF2B5EF4-FFF2-40B4-BE49-F238E27FC236}">
                <a16:creationId xmlns:a16="http://schemas.microsoft.com/office/drawing/2014/main" id="{7ABC9947-A6D0-F965-AFEF-6508AE207D2C}"/>
              </a:ext>
            </a:extLst>
          </p:cNvPr>
          <p:cNvSpPr txBox="1">
            <a:spLocks noChangeArrowheads="1"/>
          </p:cNvSpPr>
          <p:nvPr/>
        </p:nvSpPr>
        <p:spPr bwMode="auto">
          <a:xfrm>
            <a:off x="7124700" y="285115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spcBef>
                <a:spcPct val="50000"/>
              </a:spcBef>
            </a:pPr>
            <a:r>
              <a:rPr lang="en-US" altLang="en-US" sz="2400" i="1">
                <a:latin typeface="Helvetica" panose="020B0604020202020204" pitchFamily="34" charset="0"/>
              </a:rPr>
              <a:t>s</a:t>
            </a:r>
          </a:p>
        </p:txBody>
      </p:sp>
      <p:sp>
        <p:nvSpPr>
          <p:cNvPr id="12303" name="Rectangle 15">
            <a:extLst>
              <a:ext uri="{FF2B5EF4-FFF2-40B4-BE49-F238E27FC236}">
                <a16:creationId xmlns:a16="http://schemas.microsoft.com/office/drawing/2014/main" id="{6FE8D63F-AFD2-3E94-D2FF-BDED95E27A9C}"/>
              </a:ext>
            </a:extLst>
          </p:cNvPr>
          <p:cNvSpPr>
            <a:spLocks noChangeArrowheads="1"/>
          </p:cNvSpPr>
          <p:nvPr/>
        </p:nvSpPr>
        <p:spPr bwMode="auto">
          <a:xfrm>
            <a:off x="5791200" y="4114800"/>
            <a:ext cx="457200" cy="4572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r>
              <a:rPr lang="en-US" altLang="en-US" i="1">
                <a:latin typeface="Helvetica" panose="020B0604020202020204" pitchFamily="34" charset="0"/>
              </a:rPr>
              <a:t>A</a:t>
            </a:r>
          </a:p>
        </p:txBody>
      </p:sp>
      <p:sp>
        <p:nvSpPr>
          <p:cNvPr id="12304" name="Rectangle 16">
            <a:extLst>
              <a:ext uri="{FF2B5EF4-FFF2-40B4-BE49-F238E27FC236}">
                <a16:creationId xmlns:a16="http://schemas.microsoft.com/office/drawing/2014/main" id="{269947D7-F2B2-C11D-7429-88924439179D}"/>
              </a:ext>
            </a:extLst>
          </p:cNvPr>
          <p:cNvSpPr>
            <a:spLocks noChangeArrowheads="1"/>
          </p:cNvSpPr>
          <p:nvPr/>
        </p:nvSpPr>
        <p:spPr bwMode="auto">
          <a:xfrm>
            <a:off x="6248400" y="4114800"/>
            <a:ext cx="457200" cy="4572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r>
              <a:rPr lang="en-US" altLang="en-US" i="1">
                <a:latin typeface="Helvetica" panose="020B0604020202020204" pitchFamily="34" charset="0"/>
              </a:rPr>
              <a:t>B</a:t>
            </a:r>
          </a:p>
        </p:txBody>
      </p:sp>
      <p:sp>
        <p:nvSpPr>
          <p:cNvPr id="12305" name="Rectangle 17">
            <a:extLst>
              <a:ext uri="{FF2B5EF4-FFF2-40B4-BE49-F238E27FC236}">
                <a16:creationId xmlns:a16="http://schemas.microsoft.com/office/drawing/2014/main" id="{953AC06F-74C8-FAFD-A9CB-8E37E91477EA}"/>
              </a:ext>
            </a:extLst>
          </p:cNvPr>
          <p:cNvSpPr>
            <a:spLocks noChangeArrowheads="1"/>
          </p:cNvSpPr>
          <p:nvPr/>
        </p:nvSpPr>
        <p:spPr bwMode="auto">
          <a:xfrm>
            <a:off x="5791200" y="4648200"/>
            <a:ext cx="457200" cy="9144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lnSpc>
                <a:spcPct val="150000"/>
              </a:lnSpc>
            </a:pPr>
            <a:r>
              <a:rPr lang="en-US" altLang="en-US" i="1">
                <a:latin typeface="Helvetica" panose="020B0604020202020204" pitchFamily="34" charset="0"/>
                <a:sym typeface="Symbol" panose="05050102010706020507" pitchFamily="18" charset="2"/>
              </a:rPr>
              <a:t></a:t>
            </a:r>
          </a:p>
          <a:p>
            <a:pPr algn="ctr">
              <a:lnSpc>
                <a:spcPct val="150000"/>
              </a:lnSpc>
            </a:pPr>
            <a:r>
              <a:rPr lang="en-US" altLang="en-US" i="1">
                <a:latin typeface="Helvetica" panose="020B0604020202020204" pitchFamily="34" charset="0"/>
                <a:sym typeface="Symbol" panose="05050102010706020507" pitchFamily="18" charset="2"/>
              </a:rPr>
              <a:t></a:t>
            </a:r>
          </a:p>
        </p:txBody>
      </p:sp>
      <p:sp>
        <p:nvSpPr>
          <p:cNvPr id="12306" name="Rectangle 18">
            <a:extLst>
              <a:ext uri="{FF2B5EF4-FFF2-40B4-BE49-F238E27FC236}">
                <a16:creationId xmlns:a16="http://schemas.microsoft.com/office/drawing/2014/main" id="{069CFF72-F9E6-21D1-82B4-57E930A6427D}"/>
              </a:ext>
            </a:extLst>
          </p:cNvPr>
          <p:cNvSpPr>
            <a:spLocks noChangeArrowheads="1"/>
          </p:cNvSpPr>
          <p:nvPr/>
        </p:nvSpPr>
        <p:spPr bwMode="auto">
          <a:xfrm>
            <a:off x="6248400" y="4648200"/>
            <a:ext cx="457200" cy="9144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lnSpc>
                <a:spcPct val="150000"/>
              </a:lnSpc>
            </a:pPr>
            <a:r>
              <a:rPr lang="en-US" altLang="en-US" i="1">
                <a:latin typeface="Helvetica" panose="020B0604020202020204" pitchFamily="34" charset="0"/>
                <a:sym typeface="Symbol" panose="05050102010706020507" pitchFamily="18" charset="2"/>
              </a:rPr>
              <a:t>1</a:t>
            </a:r>
          </a:p>
          <a:p>
            <a:pPr algn="ctr">
              <a:lnSpc>
                <a:spcPct val="150000"/>
              </a:lnSpc>
            </a:pPr>
            <a:r>
              <a:rPr lang="en-US" altLang="en-US" i="1">
                <a:latin typeface="Helvetica" panose="020B0604020202020204" pitchFamily="34" charset="0"/>
                <a:sym typeface="Symbol" panose="05050102010706020507" pitchFamily="18" charset="2"/>
              </a:rPr>
              <a:t>1</a:t>
            </a:r>
          </a:p>
        </p:txBody>
      </p:sp>
      <p:sp>
        <p:nvSpPr>
          <p:cNvPr id="26642" name="Text Box 19">
            <a:extLst>
              <a:ext uri="{FF2B5EF4-FFF2-40B4-BE49-F238E27FC236}">
                <a16:creationId xmlns:a16="http://schemas.microsoft.com/office/drawing/2014/main" id="{A41DC4BC-73F9-2FE4-1023-8F6092834A6F}"/>
              </a:ext>
            </a:extLst>
          </p:cNvPr>
          <p:cNvSpPr txBox="1">
            <a:spLocks noChangeArrowheads="1"/>
          </p:cNvSpPr>
          <p:nvPr/>
        </p:nvSpPr>
        <p:spPr bwMode="auto">
          <a:xfrm>
            <a:off x="5089525" y="3089275"/>
            <a:ext cx="285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eaLnBrk="1" hangingPunct="1"/>
            <a:r>
              <a:rPr lang="en-US" altLang="en-US" sz="2400"/>
              <a:t>r</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nodeType="clickEffect">
                                  <p:stCondLst>
                                    <p:cond delay="0"/>
                                  </p:stCondLst>
                                  <p:childTnLst>
                                    <p:set>
                                      <p:cBhvr>
                                        <p:cTn id="6" dur="1" fill="hold">
                                          <p:stCondLst>
                                            <p:cond delay="0"/>
                                          </p:stCondLst>
                                        </p:cTn>
                                        <p:tgtEl>
                                          <p:spTgt spid="12303"/>
                                        </p:tgtEl>
                                        <p:attrNameLst>
                                          <p:attrName>style.visibility</p:attrName>
                                        </p:attrNameLst>
                                      </p:cBhvr>
                                      <p:to>
                                        <p:strVal val="visible"/>
                                      </p:to>
                                    </p:set>
                                    <p:animEffect transition="in" filter="diamond(in)">
                                      <p:cBhvr>
                                        <p:cTn id="7" dur="500"/>
                                        <p:tgtEl>
                                          <p:spTgt spid="12303"/>
                                        </p:tgtEl>
                                      </p:cBhvr>
                                    </p:animEffect>
                                  </p:childTnLst>
                                </p:cTn>
                              </p:par>
                              <p:par>
                                <p:cTn id="8" presetID="8" presetClass="entr" presetSubtype="16" fill="hold" nodeType="withEffect">
                                  <p:stCondLst>
                                    <p:cond delay="0"/>
                                  </p:stCondLst>
                                  <p:childTnLst>
                                    <p:set>
                                      <p:cBhvr>
                                        <p:cTn id="9" dur="1" fill="hold">
                                          <p:stCondLst>
                                            <p:cond delay="0"/>
                                          </p:stCondLst>
                                        </p:cTn>
                                        <p:tgtEl>
                                          <p:spTgt spid="12304"/>
                                        </p:tgtEl>
                                        <p:attrNameLst>
                                          <p:attrName>style.visibility</p:attrName>
                                        </p:attrNameLst>
                                      </p:cBhvr>
                                      <p:to>
                                        <p:strVal val="visible"/>
                                      </p:to>
                                    </p:set>
                                    <p:animEffect transition="in" filter="diamond(in)">
                                      <p:cBhvr>
                                        <p:cTn id="10" dur="500"/>
                                        <p:tgtEl>
                                          <p:spTgt spid="12304"/>
                                        </p:tgtEl>
                                      </p:cBhvr>
                                    </p:animEffect>
                                  </p:childTnLst>
                                </p:cTn>
                              </p:par>
                              <p:par>
                                <p:cTn id="11" presetID="8" presetClass="entr" presetSubtype="16" fill="hold" nodeType="withEffect">
                                  <p:stCondLst>
                                    <p:cond delay="0"/>
                                  </p:stCondLst>
                                  <p:childTnLst>
                                    <p:set>
                                      <p:cBhvr>
                                        <p:cTn id="12" dur="1" fill="hold">
                                          <p:stCondLst>
                                            <p:cond delay="0"/>
                                          </p:stCondLst>
                                        </p:cTn>
                                        <p:tgtEl>
                                          <p:spTgt spid="12305"/>
                                        </p:tgtEl>
                                        <p:attrNameLst>
                                          <p:attrName>style.visibility</p:attrName>
                                        </p:attrNameLst>
                                      </p:cBhvr>
                                      <p:to>
                                        <p:strVal val="visible"/>
                                      </p:to>
                                    </p:set>
                                    <p:animEffect transition="in" filter="diamond(in)">
                                      <p:cBhvr>
                                        <p:cTn id="13" dur="500"/>
                                        <p:tgtEl>
                                          <p:spTgt spid="12305"/>
                                        </p:tgtEl>
                                      </p:cBhvr>
                                    </p:animEffect>
                                  </p:childTnLst>
                                </p:cTn>
                              </p:par>
                              <p:par>
                                <p:cTn id="14" presetID="8" presetClass="entr" presetSubtype="16" fill="hold" nodeType="withEffect">
                                  <p:stCondLst>
                                    <p:cond delay="0"/>
                                  </p:stCondLst>
                                  <p:childTnLst>
                                    <p:set>
                                      <p:cBhvr>
                                        <p:cTn id="15" dur="1" fill="hold">
                                          <p:stCondLst>
                                            <p:cond delay="0"/>
                                          </p:stCondLst>
                                        </p:cTn>
                                        <p:tgtEl>
                                          <p:spTgt spid="12306"/>
                                        </p:tgtEl>
                                        <p:attrNameLst>
                                          <p:attrName>style.visibility</p:attrName>
                                        </p:attrNameLst>
                                      </p:cBhvr>
                                      <p:to>
                                        <p:strVal val="visible"/>
                                      </p:to>
                                    </p:set>
                                    <p:animEffect transition="in" filter="diamond(in)">
                                      <p:cBhvr>
                                        <p:cTn id="16" dur="500"/>
                                        <p:tgtEl>
                                          <p:spTgt spid="123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03" grpId="0" animBg="1"/>
      <p:bldP spid="12304" grpId="0" animBg="1"/>
      <p:bldP spid="12305" grpId="0" animBg="1"/>
      <p:bldP spid="12306"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45FCF33E-0DEE-3120-B6B3-39A5B7B22EA1}"/>
              </a:ext>
            </a:extLst>
          </p:cNvPr>
          <p:cNvSpPr>
            <a:spLocks noGrp="1" noChangeArrowheads="1"/>
          </p:cNvSpPr>
          <p:nvPr>
            <p:ph type="title"/>
          </p:nvPr>
        </p:nvSpPr>
        <p:spPr>
          <a:xfrm>
            <a:off x="2209800" y="0"/>
            <a:ext cx="7772400" cy="1143000"/>
          </a:xfrm>
        </p:spPr>
        <p:txBody>
          <a:bodyPr/>
          <a:lstStyle/>
          <a:p>
            <a:pPr eaLnBrk="1" hangingPunct="1"/>
            <a:r>
              <a:rPr lang="en-US" altLang="en-US" sz="2800"/>
              <a:t>Cartesian-Product Operation</a:t>
            </a:r>
          </a:p>
        </p:txBody>
      </p:sp>
      <p:sp>
        <p:nvSpPr>
          <p:cNvPr id="27651" name="Rectangle 3">
            <a:extLst>
              <a:ext uri="{FF2B5EF4-FFF2-40B4-BE49-F238E27FC236}">
                <a16:creationId xmlns:a16="http://schemas.microsoft.com/office/drawing/2014/main" id="{6544FCD1-9D8C-400D-4CF8-AD9AEFFE4343}"/>
              </a:ext>
            </a:extLst>
          </p:cNvPr>
          <p:cNvSpPr>
            <a:spLocks noGrp="1" noChangeArrowheads="1"/>
          </p:cNvSpPr>
          <p:nvPr>
            <p:ph type="body" idx="1"/>
          </p:nvPr>
        </p:nvSpPr>
        <p:spPr/>
        <p:txBody>
          <a:bodyPr/>
          <a:lstStyle/>
          <a:p>
            <a:pPr>
              <a:tabLst>
                <a:tab pos="3149600" algn="ctr"/>
              </a:tabLst>
            </a:pPr>
            <a:r>
              <a:rPr lang="en-US" altLang="en-US" sz="2400"/>
              <a:t>Notation</a:t>
            </a:r>
            <a:r>
              <a:rPr lang="en-US" altLang="en-US" sz="2400" i="1"/>
              <a:t> r </a:t>
            </a:r>
            <a:r>
              <a:rPr lang="en-US" altLang="en-US" sz="2400"/>
              <a:t>x</a:t>
            </a:r>
            <a:r>
              <a:rPr lang="en-US" altLang="en-US" sz="2400" i="1"/>
              <a:t> s</a:t>
            </a:r>
            <a:endParaRPr lang="en-US" altLang="en-US" sz="2400"/>
          </a:p>
          <a:p>
            <a:pPr>
              <a:tabLst>
                <a:tab pos="3149600" algn="ctr"/>
              </a:tabLst>
            </a:pPr>
            <a:r>
              <a:rPr lang="en-US" altLang="en-US" sz="2400"/>
              <a:t>Defined as:</a:t>
            </a:r>
          </a:p>
          <a:p>
            <a:pPr>
              <a:buNone/>
              <a:tabLst>
                <a:tab pos="3149600" algn="ctr"/>
              </a:tabLst>
            </a:pPr>
            <a:r>
              <a:rPr lang="en-US" altLang="en-US" sz="2400"/>
              <a:t>		</a:t>
            </a:r>
            <a:r>
              <a:rPr lang="en-US" altLang="en-US" sz="2400" i="1"/>
              <a:t>r</a:t>
            </a:r>
            <a:r>
              <a:rPr lang="en-US" altLang="en-US" sz="2400"/>
              <a:t> x </a:t>
            </a:r>
            <a:r>
              <a:rPr lang="en-US" altLang="en-US" sz="2400" i="1"/>
              <a:t>s</a:t>
            </a:r>
            <a:r>
              <a:rPr lang="en-US" altLang="en-US" sz="2400"/>
              <a:t> = {</a:t>
            </a:r>
            <a:r>
              <a:rPr lang="en-US" altLang="en-US" sz="2400" i="1"/>
              <a:t>t q </a:t>
            </a:r>
            <a:r>
              <a:rPr lang="en-US" altLang="en-US" sz="2400"/>
              <a:t>|</a:t>
            </a:r>
            <a:r>
              <a:rPr lang="en-US" altLang="en-US" sz="2400" i="1"/>
              <a:t> t </a:t>
            </a:r>
            <a:r>
              <a:rPr lang="en-US" altLang="en-US" sz="2400">
                <a:sym typeface="Symbol" panose="05050102010706020507" pitchFamily="18" charset="2"/>
              </a:rPr>
              <a:t></a:t>
            </a:r>
            <a:r>
              <a:rPr lang="en-US" altLang="en-US" sz="2400" i="1">
                <a:sym typeface="Symbol" panose="05050102010706020507" pitchFamily="18" charset="2"/>
              </a:rPr>
              <a:t> r </a:t>
            </a:r>
            <a:r>
              <a:rPr lang="en-US" altLang="en-US" sz="2400" b="1">
                <a:sym typeface="Symbol" panose="05050102010706020507" pitchFamily="18" charset="2"/>
              </a:rPr>
              <a:t>and </a:t>
            </a:r>
            <a:r>
              <a:rPr lang="en-US" altLang="en-US" sz="2400" i="1">
                <a:sym typeface="Symbol" panose="05050102010706020507" pitchFamily="18" charset="2"/>
              </a:rPr>
              <a:t>q </a:t>
            </a:r>
            <a:r>
              <a:rPr lang="en-US" altLang="en-US" sz="2400">
                <a:sym typeface="Symbol" panose="05050102010706020507" pitchFamily="18" charset="2"/>
              </a:rPr>
              <a:t> </a:t>
            </a:r>
            <a:r>
              <a:rPr lang="en-US" altLang="en-US" sz="2400" i="1">
                <a:sym typeface="Symbol" panose="05050102010706020507" pitchFamily="18" charset="2"/>
              </a:rPr>
              <a:t>s</a:t>
            </a:r>
            <a:r>
              <a:rPr lang="en-US" altLang="en-US" sz="2400">
                <a:sym typeface="Symbol" panose="05050102010706020507" pitchFamily="18" charset="2"/>
              </a:rPr>
              <a:t>}</a:t>
            </a:r>
          </a:p>
          <a:p>
            <a:pPr>
              <a:tabLst>
                <a:tab pos="3149600" algn="ctr"/>
              </a:tabLst>
            </a:pPr>
            <a:r>
              <a:rPr lang="en-US" altLang="en-US" sz="2400">
                <a:sym typeface="Symbol" panose="05050102010706020507" pitchFamily="18" charset="2"/>
              </a:rPr>
              <a:t>Assume that attributes of r(R) and s(S) are disjoint.  (That is, </a:t>
            </a:r>
            <a:r>
              <a:rPr lang="en-US" altLang="en-US" sz="2400" i="1">
                <a:sym typeface="Symbol" panose="05050102010706020507" pitchFamily="18" charset="2"/>
              </a:rPr>
              <a:t>R</a:t>
            </a:r>
            <a:r>
              <a:rPr lang="en-US" altLang="en-US" sz="2400">
                <a:sym typeface="Symbol" panose="05050102010706020507" pitchFamily="18" charset="2"/>
              </a:rPr>
              <a:t> </a:t>
            </a:r>
            <a:r>
              <a:rPr lang="en-US" altLang="en-US" sz="2400" i="1">
                <a:sym typeface="Symbol" panose="05050102010706020507" pitchFamily="18" charset="2"/>
              </a:rPr>
              <a:t> S</a:t>
            </a:r>
            <a:r>
              <a:rPr lang="en-US" altLang="en-US" sz="2400">
                <a:sym typeface="Symbol" panose="05050102010706020507" pitchFamily="18" charset="2"/>
              </a:rPr>
              <a:t> = </a:t>
            </a:r>
            <a:r>
              <a:rPr lang="en-US" altLang="en-US" sz="2400" i="1">
                <a:sym typeface="Symbol" panose="05050102010706020507" pitchFamily="18" charset="2"/>
              </a:rPr>
              <a:t> </a:t>
            </a:r>
            <a:r>
              <a:rPr lang="en-US" altLang="en-US" sz="2400">
                <a:sym typeface="Symbol" panose="05050102010706020507" pitchFamily="18" charset="2"/>
              </a:rPr>
              <a:t>).</a:t>
            </a:r>
          </a:p>
          <a:p>
            <a:pPr>
              <a:tabLst>
                <a:tab pos="3149600" algn="ctr"/>
              </a:tabLst>
            </a:pPr>
            <a:r>
              <a:rPr lang="en-US" altLang="en-US" sz="2400">
                <a:sym typeface="Symbol" panose="05050102010706020507" pitchFamily="18" charset="2"/>
              </a:rPr>
              <a:t>If attributes of </a:t>
            </a:r>
            <a:r>
              <a:rPr lang="en-US" altLang="en-US" sz="2400" i="1">
                <a:sym typeface="Symbol" panose="05050102010706020507" pitchFamily="18" charset="2"/>
              </a:rPr>
              <a:t>r(R)</a:t>
            </a:r>
            <a:r>
              <a:rPr lang="en-US" altLang="en-US" sz="2400">
                <a:sym typeface="Symbol" panose="05050102010706020507" pitchFamily="18" charset="2"/>
              </a:rPr>
              <a:t> and </a:t>
            </a:r>
            <a:r>
              <a:rPr lang="en-US" altLang="en-US" sz="2400" i="1">
                <a:sym typeface="Symbol" panose="05050102010706020507" pitchFamily="18" charset="2"/>
              </a:rPr>
              <a:t>s(S</a:t>
            </a:r>
            <a:r>
              <a:rPr lang="en-US" altLang="en-US" sz="2400">
                <a:sym typeface="Symbol" panose="05050102010706020507" pitchFamily="18" charset="2"/>
              </a:rPr>
              <a:t>) are not disjoint, then renaming must be used</a:t>
            </a:r>
            <a:r>
              <a:rPr lang="en-US" altLang="en-US">
                <a:sym typeface="Symbol" panose="05050102010706020507" pitchFamily="18" charset="2"/>
              </a:rPr>
              <a: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a:extLst>
              <a:ext uri="{FF2B5EF4-FFF2-40B4-BE49-F238E27FC236}">
                <a16:creationId xmlns:a16="http://schemas.microsoft.com/office/drawing/2014/main" id="{E81B83D8-BE9A-7192-5836-862A6B0E8A2B}"/>
              </a:ext>
            </a:extLst>
          </p:cNvPr>
          <p:cNvSpPr>
            <a:spLocks noGrp="1" noChangeArrowheads="1"/>
          </p:cNvSpPr>
          <p:nvPr>
            <p:ph type="title"/>
          </p:nvPr>
        </p:nvSpPr>
        <p:spPr>
          <a:xfrm>
            <a:off x="2663825" y="193675"/>
            <a:ext cx="7678738" cy="503238"/>
          </a:xfrm>
        </p:spPr>
        <p:txBody>
          <a:bodyPr/>
          <a:lstStyle/>
          <a:p>
            <a:pPr eaLnBrk="1" hangingPunct="1"/>
            <a:r>
              <a:rPr lang="en-US" altLang="en-US" sz="2800"/>
              <a:t>Cartesian-Product Operation-Example</a:t>
            </a:r>
          </a:p>
        </p:txBody>
      </p:sp>
      <p:sp>
        <p:nvSpPr>
          <p:cNvPr id="1028" name="Rectangle 3">
            <a:extLst>
              <a:ext uri="{FF2B5EF4-FFF2-40B4-BE49-F238E27FC236}">
                <a16:creationId xmlns:a16="http://schemas.microsoft.com/office/drawing/2014/main" id="{3510253E-40FC-F369-5408-4E5B9D6184C7}"/>
              </a:ext>
            </a:extLst>
          </p:cNvPr>
          <p:cNvSpPr>
            <a:spLocks noChangeArrowheads="1"/>
          </p:cNvSpPr>
          <p:nvPr/>
        </p:nvSpPr>
        <p:spPr bwMode="auto">
          <a:xfrm>
            <a:off x="2057400" y="1295401"/>
            <a:ext cx="70294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tabLst>
                <a:tab pos="3149600" algn="ctr"/>
              </a:tabLst>
              <a:defRPr>
                <a:solidFill>
                  <a:schemeClr val="tx1"/>
                </a:solidFill>
                <a:latin typeface="Times New Roman" panose="02020603050405020304" pitchFamily="18" charset="0"/>
              </a:defRPr>
            </a:lvl1pPr>
            <a:lvl2pPr marL="742950" indent="-285750" eaLnBrk="0" hangingPunct="0">
              <a:tabLst>
                <a:tab pos="3149600" algn="ctr"/>
              </a:tabLst>
              <a:defRPr>
                <a:solidFill>
                  <a:schemeClr val="tx1"/>
                </a:solidFill>
                <a:latin typeface="Times New Roman" panose="02020603050405020304" pitchFamily="18" charset="0"/>
              </a:defRPr>
            </a:lvl2pPr>
            <a:lvl3pPr marL="1143000" indent="-228600" eaLnBrk="0" hangingPunct="0">
              <a:tabLst>
                <a:tab pos="3149600" algn="ctr"/>
              </a:tabLst>
              <a:defRPr>
                <a:solidFill>
                  <a:schemeClr val="tx1"/>
                </a:solidFill>
                <a:latin typeface="Times New Roman" panose="02020603050405020304" pitchFamily="18" charset="0"/>
              </a:defRPr>
            </a:lvl3pPr>
            <a:lvl4pPr marL="1600200" indent="-228600" eaLnBrk="0" hangingPunct="0">
              <a:tabLst>
                <a:tab pos="3149600" algn="ctr"/>
              </a:tabLst>
              <a:defRPr>
                <a:solidFill>
                  <a:schemeClr val="tx1"/>
                </a:solidFill>
                <a:latin typeface="Times New Roman" panose="02020603050405020304" pitchFamily="18" charset="0"/>
              </a:defRPr>
            </a:lvl4pPr>
            <a:lvl5pPr marL="2057400" indent="-228600" eaLnBrk="0" hangingPunct="0">
              <a:tabLst>
                <a:tab pos="3149600" algn="ctr"/>
              </a:tabLst>
              <a:defRPr>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3149600" algn="ctr"/>
              </a:tabLst>
              <a:defRPr>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3149600" algn="ctr"/>
              </a:tabLst>
              <a:defRPr>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3149600" algn="ctr"/>
              </a:tabLst>
              <a:defRPr>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3149600" algn="ctr"/>
              </a:tabLst>
              <a:defRPr>
                <a:solidFill>
                  <a:schemeClr val="tx1"/>
                </a:solidFill>
                <a:latin typeface="Times New Roman" panose="02020603050405020304" pitchFamily="18" charset="0"/>
              </a:defRPr>
            </a:lvl9pPr>
          </a:lstStyle>
          <a:p>
            <a:pPr>
              <a:spcBef>
                <a:spcPct val="35000"/>
              </a:spcBef>
              <a:buClr>
                <a:schemeClr val="tx2"/>
              </a:buClr>
              <a:buFont typeface="Monotype Sorts" pitchFamily="1" charset="2"/>
              <a:buNone/>
            </a:pPr>
            <a:r>
              <a:rPr kumimoji="1" lang="en-US" altLang="en-US" sz="2400">
                <a:latin typeface="Helvetica" panose="020B0604020202020204" pitchFamily="34" charset="0"/>
              </a:rPr>
              <a:t>Relations </a:t>
            </a:r>
            <a:r>
              <a:rPr kumimoji="1" lang="en-US" altLang="en-US" sz="2400" i="1">
                <a:latin typeface="Helvetica" panose="020B0604020202020204" pitchFamily="34" charset="0"/>
              </a:rPr>
              <a:t>r, s</a:t>
            </a:r>
            <a:r>
              <a:rPr kumimoji="1" lang="en-US" altLang="en-US" sz="2400">
                <a:latin typeface="Helvetica" panose="020B0604020202020204" pitchFamily="34" charset="0"/>
              </a:rPr>
              <a:t>:</a:t>
            </a:r>
          </a:p>
        </p:txBody>
      </p:sp>
      <p:sp>
        <p:nvSpPr>
          <p:cNvPr id="1029" name="Rectangle 4">
            <a:extLst>
              <a:ext uri="{FF2B5EF4-FFF2-40B4-BE49-F238E27FC236}">
                <a16:creationId xmlns:a16="http://schemas.microsoft.com/office/drawing/2014/main" id="{68350850-491B-80B0-CA45-A69A28841AA5}"/>
              </a:ext>
            </a:extLst>
          </p:cNvPr>
          <p:cNvSpPr>
            <a:spLocks noChangeArrowheads="1"/>
          </p:cNvSpPr>
          <p:nvPr/>
        </p:nvSpPr>
        <p:spPr bwMode="auto">
          <a:xfrm>
            <a:off x="2133600" y="3200401"/>
            <a:ext cx="70294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tabLst>
                <a:tab pos="3149600" algn="ctr"/>
              </a:tabLst>
              <a:defRPr>
                <a:solidFill>
                  <a:schemeClr val="tx1"/>
                </a:solidFill>
                <a:latin typeface="Times New Roman" panose="02020603050405020304" pitchFamily="18" charset="0"/>
              </a:defRPr>
            </a:lvl1pPr>
            <a:lvl2pPr marL="742950" indent="-285750" eaLnBrk="0" hangingPunct="0">
              <a:tabLst>
                <a:tab pos="3149600" algn="ctr"/>
              </a:tabLst>
              <a:defRPr>
                <a:solidFill>
                  <a:schemeClr val="tx1"/>
                </a:solidFill>
                <a:latin typeface="Times New Roman" panose="02020603050405020304" pitchFamily="18" charset="0"/>
              </a:defRPr>
            </a:lvl2pPr>
            <a:lvl3pPr marL="1143000" indent="-228600" eaLnBrk="0" hangingPunct="0">
              <a:tabLst>
                <a:tab pos="3149600" algn="ctr"/>
              </a:tabLst>
              <a:defRPr>
                <a:solidFill>
                  <a:schemeClr val="tx1"/>
                </a:solidFill>
                <a:latin typeface="Times New Roman" panose="02020603050405020304" pitchFamily="18" charset="0"/>
              </a:defRPr>
            </a:lvl3pPr>
            <a:lvl4pPr marL="1600200" indent="-228600" eaLnBrk="0" hangingPunct="0">
              <a:tabLst>
                <a:tab pos="3149600" algn="ctr"/>
              </a:tabLst>
              <a:defRPr>
                <a:solidFill>
                  <a:schemeClr val="tx1"/>
                </a:solidFill>
                <a:latin typeface="Times New Roman" panose="02020603050405020304" pitchFamily="18" charset="0"/>
              </a:defRPr>
            </a:lvl4pPr>
            <a:lvl5pPr marL="2057400" indent="-228600" eaLnBrk="0" hangingPunct="0">
              <a:tabLst>
                <a:tab pos="3149600" algn="ctr"/>
              </a:tabLst>
              <a:defRPr>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3149600" algn="ctr"/>
              </a:tabLst>
              <a:defRPr>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3149600" algn="ctr"/>
              </a:tabLst>
              <a:defRPr>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3149600" algn="ctr"/>
              </a:tabLst>
              <a:defRPr>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3149600" algn="ctr"/>
              </a:tabLst>
              <a:defRPr>
                <a:solidFill>
                  <a:schemeClr val="tx1"/>
                </a:solidFill>
                <a:latin typeface="Times New Roman" panose="02020603050405020304" pitchFamily="18" charset="0"/>
              </a:defRPr>
            </a:lvl9pPr>
          </a:lstStyle>
          <a:p>
            <a:pPr>
              <a:spcBef>
                <a:spcPct val="35000"/>
              </a:spcBef>
              <a:buClr>
                <a:schemeClr val="tx2"/>
              </a:buClr>
              <a:buFont typeface="Monotype Sorts" pitchFamily="1" charset="2"/>
              <a:buNone/>
            </a:pPr>
            <a:r>
              <a:rPr kumimoji="1" lang="en-US" altLang="en-US" sz="2400" i="1">
                <a:latin typeface="Helvetica" panose="020B0604020202020204" pitchFamily="34" charset="0"/>
              </a:rPr>
              <a:t>r</a:t>
            </a:r>
            <a:r>
              <a:rPr kumimoji="1" lang="en-US" altLang="en-US" sz="2400">
                <a:latin typeface="Helvetica" panose="020B0604020202020204" pitchFamily="34" charset="0"/>
              </a:rPr>
              <a:t> x</a:t>
            </a:r>
            <a:r>
              <a:rPr kumimoji="1" lang="en-US" altLang="en-US" sz="2400">
                <a:latin typeface="Helvetica" panose="020B0604020202020204" pitchFamily="34" charset="0"/>
                <a:sym typeface="Symbol" panose="05050102010706020507" pitchFamily="18" charset="2"/>
              </a:rPr>
              <a:t> </a:t>
            </a:r>
            <a:r>
              <a:rPr kumimoji="1" lang="en-US" altLang="en-US" sz="2400" i="1">
                <a:latin typeface="Helvetica" panose="020B0604020202020204" pitchFamily="34" charset="0"/>
                <a:sym typeface="Symbol" panose="05050102010706020507" pitchFamily="18" charset="2"/>
              </a:rPr>
              <a:t>s</a:t>
            </a:r>
            <a:r>
              <a:rPr kumimoji="1" lang="en-US" altLang="en-US" sz="2400">
                <a:latin typeface="Helvetica" panose="020B0604020202020204" pitchFamily="34" charset="0"/>
              </a:rPr>
              <a:t>:</a:t>
            </a:r>
          </a:p>
        </p:txBody>
      </p:sp>
      <p:sp>
        <p:nvSpPr>
          <p:cNvPr id="1030" name="Rectangle 5">
            <a:extLst>
              <a:ext uri="{FF2B5EF4-FFF2-40B4-BE49-F238E27FC236}">
                <a16:creationId xmlns:a16="http://schemas.microsoft.com/office/drawing/2014/main" id="{3A2EB2EA-2322-EA60-0AAF-40DD4F8A9860}"/>
              </a:ext>
            </a:extLst>
          </p:cNvPr>
          <p:cNvSpPr>
            <a:spLocks noChangeArrowheads="1"/>
          </p:cNvSpPr>
          <p:nvPr/>
        </p:nvSpPr>
        <p:spPr bwMode="auto">
          <a:xfrm>
            <a:off x="4419600" y="1219200"/>
            <a:ext cx="457200" cy="4572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r>
              <a:rPr lang="en-US" altLang="en-US" i="1">
                <a:latin typeface="Helvetica" panose="020B0604020202020204" pitchFamily="34" charset="0"/>
              </a:rPr>
              <a:t>A</a:t>
            </a:r>
          </a:p>
        </p:txBody>
      </p:sp>
      <p:sp>
        <p:nvSpPr>
          <p:cNvPr id="1031" name="Rectangle 6">
            <a:extLst>
              <a:ext uri="{FF2B5EF4-FFF2-40B4-BE49-F238E27FC236}">
                <a16:creationId xmlns:a16="http://schemas.microsoft.com/office/drawing/2014/main" id="{342A95AB-C399-4C9D-7CD1-7693A58BC169}"/>
              </a:ext>
            </a:extLst>
          </p:cNvPr>
          <p:cNvSpPr>
            <a:spLocks noChangeArrowheads="1"/>
          </p:cNvSpPr>
          <p:nvPr/>
        </p:nvSpPr>
        <p:spPr bwMode="auto">
          <a:xfrm>
            <a:off x="4876800" y="1219200"/>
            <a:ext cx="457200" cy="4572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r>
              <a:rPr lang="en-US" altLang="en-US" i="1">
                <a:latin typeface="Helvetica" panose="020B0604020202020204" pitchFamily="34" charset="0"/>
              </a:rPr>
              <a:t>B</a:t>
            </a:r>
          </a:p>
        </p:txBody>
      </p:sp>
      <p:sp>
        <p:nvSpPr>
          <p:cNvPr id="1032" name="Rectangle 7">
            <a:extLst>
              <a:ext uri="{FF2B5EF4-FFF2-40B4-BE49-F238E27FC236}">
                <a16:creationId xmlns:a16="http://schemas.microsoft.com/office/drawing/2014/main" id="{4F32C355-7950-2D31-833E-701379D9C8B0}"/>
              </a:ext>
            </a:extLst>
          </p:cNvPr>
          <p:cNvSpPr>
            <a:spLocks noChangeArrowheads="1"/>
          </p:cNvSpPr>
          <p:nvPr/>
        </p:nvSpPr>
        <p:spPr bwMode="auto">
          <a:xfrm>
            <a:off x="4419600" y="1752600"/>
            <a:ext cx="457200" cy="7620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lnSpc>
                <a:spcPct val="150000"/>
              </a:lnSpc>
            </a:pPr>
            <a:r>
              <a:rPr lang="en-US" altLang="en-US" i="1">
                <a:latin typeface="Helvetica" panose="020B0604020202020204" pitchFamily="34" charset="0"/>
                <a:sym typeface="Symbol" panose="05050102010706020507" pitchFamily="18" charset="2"/>
              </a:rPr>
              <a:t></a:t>
            </a:r>
          </a:p>
          <a:p>
            <a:pPr algn="ctr">
              <a:lnSpc>
                <a:spcPct val="150000"/>
              </a:lnSpc>
            </a:pPr>
            <a:r>
              <a:rPr lang="en-US" altLang="en-US" i="1">
                <a:latin typeface="Helvetica" panose="020B0604020202020204" pitchFamily="34" charset="0"/>
                <a:sym typeface="Symbol" panose="05050102010706020507" pitchFamily="18" charset="2"/>
              </a:rPr>
              <a:t></a:t>
            </a:r>
          </a:p>
        </p:txBody>
      </p:sp>
      <p:sp>
        <p:nvSpPr>
          <p:cNvPr id="1033" name="Rectangle 8">
            <a:extLst>
              <a:ext uri="{FF2B5EF4-FFF2-40B4-BE49-F238E27FC236}">
                <a16:creationId xmlns:a16="http://schemas.microsoft.com/office/drawing/2014/main" id="{8DC89494-8D6A-9F11-BDD1-FE06E74860E8}"/>
              </a:ext>
            </a:extLst>
          </p:cNvPr>
          <p:cNvSpPr>
            <a:spLocks noChangeArrowheads="1"/>
          </p:cNvSpPr>
          <p:nvPr/>
        </p:nvSpPr>
        <p:spPr bwMode="auto">
          <a:xfrm>
            <a:off x="4876800" y="1752600"/>
            <a:ext cx="457200" cy="7620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lnSpc>
                <a:spcPct val="150000"/>
              </a:lnSpc>
            </a:pPr>
            <a:r>
              <a:rPr lang="en-US" altLang="en-US" i="1">
                <a:latin typeface="Helvetica" panose="020B0604020202020204" pitchFamily="34" charset="0"/>
                <a:sym typeface="Symbol" panose="05050102010706020507" pitchFamily="18" charset="2"/>
              </a:rPr>
              <a:t>1</a:t>
            </a:r>
          </a:p>
          <a:p>
            <a:pPr algn="ctr">
              <a:lnSpc>
                <a:spcPct val="150000"/>
              </a:lnSpc>
            </a:pPr>
            <a:r>
              <a:rPr lang="en-US" altLang="en-US" i="1">
                <a:latin typeface="Helvetica" panose="020B0604020202020204" pitchFamily="34" charset="0"/>
                <a:sym typeface="Symbol" panose="05050102010706020507" pitchFamily="18" charset="2"/>
              </a:rPr>
              <a:t>2</a:t>
            </a:r>
          </a:p>
        </p:txBody>
      </p:sp>
      <p:sp>
        <p:nvSpPr>
          <p:cNvPr id="14345" name="Rectangle 9">
            <a:extLst>
              <a:ext uri="{FF2B5EF4-FFF2-40B4-BE49-F238E27FC236}">
                <a16:creationId xmlns:a16="http://schemas.microsoft.com/office/drawing/2014/main" id="{7D3CED09-282A-987F-44D6-6431CC3C4A6B}"/>
              </a:ext>
            </a:extLst>
          </p:cNvPr>
          <p:cNvSpPr>
            <a:spLocks noChangeArrowheads="1"/>
          </p:cNvSpPr>
          <p:nvPr/>
        </p:nvSpPr>
        <p:spPr bwMode="auto">
          <a:xfrm>
            <a:off x="4343400" y="3505200"/>
            <a:ext cx="457200" cy="5334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r>
              <a:rPr lang="en-US" altLang="en-US" i="1">
                <a:latin typeface="Helvetica" panose="020B0604020202020204" pitchFamily="34" charset="0"/>
              </a:rPr>
              <a:t>A</a:t>
            </a:r>
          </a:p>
        </p:txBody>
      </p:sp>
      <p:sp>
        <p:nvSpPr>
          <p:cNvPr id="14346" name="Rectangle 10">
            <a:extLst>
              <a:ext uri="{FF2B5EF4-FFF2-40B4-BE49-F238E27FC236}">
                <a16:creationId xmlns:a16="http://schemas.microsoft.com/office/drawing/2014/main" id="{6ED4B7D1-CB14-9DEA-B585-1B6689423DAE}"/>
              </a:ext>
            </a:extLst>
          </p:cNvPr>
          <p:cNvSpPr>
            <a:spLocks noChangeArrowheads="1"/>
          </p:cNvSpPr>
          <p:nvPr/>
        </p:nvSpPr>
        <p:spPr bwMode="auto">
          <a:xfrm>
            <a:off x="4800600" y="3505200"/>
            <a:ext cx="457200" cy="5334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r>
              <a:rPr lang="en-US" altLang="en-US" i="1">
                <a:latin typeface="Helvetica" panose="020B0604020202020204" pitchFamily="34" charset="0"/>
              </a:rPr>
              <a:t>B</a:t>
            </a:r>
          </a:p>
        </p:txBody>
      </p:sp>
      <p:sp>
        <p:nvSpPr>
          <p:cNvPr id="14347" name="Rectangle 11">
            <a:extLst>
              <a:ext uri="{FF2B5EF4-FFF2-40B4-BE49-F238E27FC236}">
                <a16:creationId xmlns:a16="http://schemas.microsoft.com/office/drawing/2014/main" id="{F53FDDAB-47FA-1154-4364-4B239FB2E374}"/>
              </a:ext>
            </a:extLst>
          </p:cNvPr>
          <p:cNvSpPr>
            <a:spLocks noChangeArrowheads="1"/>
          </p:cNvSpPr>
          <p:nvPr/>
        </p:nvSpPr>
        <p:spPr bwMode="auto">
          <a:xfrm>
            <a:off x="4343400" y="4114800"/>
            <a:ext cx="457200" cy="21336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r>
              <a:rPr lang="en-US" altLang="en-US" i="1">
                <a:latin typeface="Helvetica" panose="020B0604020202020204" pitchFamily="34" charset="0"/>
                <a:sym typeface="Symbol" panose="05050102010706020507" pitchFamily="18" charset="2"/>
              </a:rPr>
              <a:t></a:t>
            </a:r>
          </a:p>
          <a:p>
            <a:pPr algn="ctr"/>
            <a:r>
              <a:rPr lang="en-US" altLang="en-US" i="1">
                <a:latin typeface="Helvetica" panose="020B0604020202020204" pitchFamily="34" charset="0"/>
                <a:sym typeface="Symbol" panose="05050102010706020507" pitchFamily="18" charset="2"/>
              </a:rPr>
              <a:t></a:t>
            </a:r>
          </a:p>
          <a:p>
            <a:pPr algn="ctr"/>
            <a:r>
              <a:rPr lang="en-US" altLang="en-US" i="1">
                <a:latin typeface="Helvetica" panose="020B0604020202020204" pitchFamily="34" charset="0"/>
                <a:sym typeface="Symbol" panose="05050102010706020507" pitchFamily="18" charset="2"/>
              </a:rPr>
              <a:t></a:t>
            </a:r>
          </a:p>
          <a:p>
            <a:pPr algn="ctr"/>
            <a:r>
              <a:rPr lang="en-US" altLang="en-US" i="1">
                <a:latin typeface="Helvetica" panose="020B0604020202020204" pitchFamily="34" charset="0"/>
                <a:sym typeface="Symbol" panose="05050102010706020507" pitchFamily="18" charset="2"/>
              </a:rPr>
              <a:t></a:t>
            </a:r>
          </a:p>
          <a:p>
            <a:pPr algn="ctr"/>
            <a:r>
              <a:rPr lang="en-US" altLang="en-US" i="1">
                <a:latin typeface="Helvetica" panose="020B0604020202020204" pitchFamily="34" charset="0"/>
                <a:sym typeface="Symbol" panose="05050102010706020507" pitchFamily="18" charset="2"/>
              </a:rPr>
              <a:t></a:t>
            </a:r>
          </a:p>
          <a:p>
            <a:pPr algn="ctr"/>
            <a:r>
              <a:rPr lang="en-US" altLang="en-US" i="1">
                <a:latin typeface="Helvetica" panose="020B0604020202020204" pitchFamily="34" charset="0"/>
                <a:sym typeface="Symbol" panose="05050102010706020507" pitchFamily="18" charset="2"/>
              </a:rPr>
              <a:t></a:t>
            </a:r>
          </a:p>
          <a:p>
            <a:pPr algn="ctr"/>
            <a:r>
              <a:rPr lang="en-US" altLang="en-US" i="1">
                <a:latin typeface="Helvetica" panose="020B0604020202020204" pitchFamily="34" charset="0"/>
                <a:sym typeface="Symbol" panose="05050102010706020507" pitchFamily="18" charset="2"/>
              </a:rPr>
              <a:t></a:t>
            </a:r>
          </a:p>
          <a:p>
            <a:pPr algn="ctr"/>
            <a:r>
              <a:rPr lang="en-US" altLang="en-US" i="1">
                <a:latin typeface="Helvetica" panose="020B0604020202020204" pitchFamily="34" charset="0"/>
                <a:sym typeface="Symbol" panose="05050102010706020507" pitchFamily="18" charset="2"/>
              </a:rPr>
              <a:t></a:t>
            </a:r>
          </a:p>
        </p:txBody>
      </p:sp>
      <p:sp>
        <p:nvSpPr>
          <p:cNvPr id="14348" name="Rectangle 12">
            <a:extLst>
              <a:ext uri="{FF2B5EF4-FFF2-40B4-BE49-F238E27FC236}">
                <a16:creationId xmlns:a16="http://schemas.microsoft.com/office/drawing/2014/main" id="{67884E66-0CAA-B8A8-75B5-78FB182361F6}"/>
              </a:ext>
            </a:extLst>
          </p:cNvPr>
          <p:cNvSpPr>
            <a:spLocks noChangeArrowheads="1"/>
          </p:cNvSpPr>
          <p:nvPr/>
        </p:nvSpPr>
        <p:spPr bwMode="auto">
          <a:xfrm>
            <a:off x="4800600" y="4114800"/>
            <a:ext cx="457200" cy="21336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r>
              <a:rPr lang="en-US" altLang="en-US" i="1">
                <a:latin typeface="Helvetica" panose="020B0604020202020204" pitchFamily="34" charset="0"/>
                <a:sym typeface="Symbol" panose="05050102010706020507" pitchFamily="18" charset="2"/>
              </a:rPr>
              <a:t>1</a:t>
            </a:r>
          </a:p>
          <a:p>
            <a:pPr algn="ctr"/>
            <a:r>
              <a:rPr lang="en-US" altLang="en-US" i="1">
                <a:latin typeface="Helvetica" panose="020B0604020202020204" pitchFamily="34" charset="0"/>
                <a:sym typeface="Symbol" panose="05050102010706020507" pitchFamily="18" charset="2"/>
              </a:rPr>
              <a:t>1</a:t>
            </a:r>
          </a:p>
          <a:p>
            <a:pPr algn="ctr"/>
            <a:r>
              <a:rPr lang="en-US" altLang="en-US" i="1">
                <a:latin typeface="Helvetica" panose="020B0604020202020204" pitchFamily="34" charset="0"/>
                <a:sym typeface="Symbol" panose="05050102010706020507" pitchFamily="18" charset="2"/>
              </a:rPr>
              <a:t>1</a:t>
            </a:r>
          </a:p>
          <a:p>
            <a:pPr algn="ctr"/>
            <a:r>
              <a:rPr lang="en-US" altLang="en-US" i="1">
                <a:latin typeface="Helvetica" panose="020B0604020202020204" pitchFamily="34" charset="0"/>
                <a:sym typeface="Symbol" panose="05050102010706020507" pitchFamily="18" charset="2"/>
              </a:rPr>
              <a:t>1</a:t>
            </a:r>
          </a:p>
          <a:p>
            <a:pPr algn="ctr"/>
            <a:r>
              <a:rPr lang="en-US" altLang="en-US" i="1">
                <a:latin typeface="Helvetica" panose="020B0604020202020204" pitchFamily="34" charset="0"/>
                <a:sym typeface="Symbol" panose="05050102010706020507" pitchFamily="18" charset="2"/>
              </a:rPr>
              <a:t>2</a:t>
            </a:r>
          </a:p>
          <a:p>
            <a:pPr algn="ctr"/>
            <a:r>
              <a:rPr lang="en-US" altLang="en-US" i="1">
                <a:latin typeface="Helvetica" panose="020B0604020202020204" pitchFamily="34" charset="0"/>
                <a:sym typeface="Symbol" panose="05050102010706020507" pitchFamily="18" charset="2"/>
              </a:rPr>
              <a:t>2</a:t>
            </a:r>
          </a:p>
          <a:p>
            <a:pPr algn="ctr"/>
            <a:r>
              <a:rPr lang="en-US" altLang="en-US" i="1">
                <a:latin typeface="Helvetica" panose="020B0604020202020204" pitchFamily="34" charset="0"/>
                <a:sym typeface="Symbol" panose="05050102010706020507" pitchFamily="18" charset="2"/>
              </a:rPr>
              <a:t>2</a:t>
            </a:r>
          </a:p>
          <a:p>
            <a:pPr algn="ctr"/>
            <a:r>
              <a:rPr lang="en-US" altLang="en-US" i="1">
                <a:latin typeface="Helvetica" panose="020B0604020202020204" pitchFamily="34" charset="0"/>
                <a:sym typeface="Symbol" panose="05050102010706020507" pitchFamily="18" charset="2"/>
              </a:rPr>
              <a:t>2</a:t>
            </a:r>
          </a:p>
        </p:txBody>
      </p:sp>
      <p:sp>
        <p:nvSpPr>
          <p:cNvPr id="14349" name="Rectangle 13">
            <a:extLst>
              <a:ext uri="{FF2B5EF4-FFF2-40B4-BE49-F238E27FC236}">
                <a16:creationId xmlns:a16="http://schemas.microsoft.com/office/drawing/2014/main" id="{513632CA-6CF3-8D46-6338-7745A1CE3959}"/>
              </a:ext>
            </a:extLst>
          </p:cNvPr>
          <p:cNvSpPr>
            <a:spLocks noChangeArrowheads="1"/>
          </p:cNvSpPr>
          <p:nvPr/>
        </p:nvSpPr>
        <p:spPr bwMode="auto">
          <a:xfrm>
            <a:off x="5257800" y="3505200"/>
            <a:ext cx="457200" cy="5334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r>
              <a:rPr lang="en-US" altLang="en-US" i="1">
                <a:latin typeface="Helvetica" panose="020B0604020202020204" pitchFamily="34" charset="0"/>
              </a:rPr>
              <a:t>C</a:t>
            </a:r>
          </a:p>
        </p:txBody>
      </p:sp>
      <p:sp>
        <p:nvSpPr>
          <p:cNvPr id="14350" name="Rectangle 14">
            <a:extLst>
              <a:ext uri="{FF2B5EF4-FFF2-40B4-BE49-F238E27FC236}">
                <a16:creationId xmlns:a16="http://schemas.microsoft.com/office/drawing/2014/main" id="{891729B3-4FB8-850C-8C09-F9A37DBE65B5}"/>
              </a:ext>
            </a:extLst>
          </p:cNvPr>
          <p:cNvSpPr>
            <a:spLocks noChangeArrowheads="1"/>
          </p:cNvSpPr>
          <p:nvPr/>
        </p:nvSpPr>
        <p:spPr bwMode="auto">
          <a:xfrm>
            <a:off x="5715000" y="3505200"/>
            <a:ext cx="457200" cy="5334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r>
              <a:rPr lang="en-US" altLang="en-US" i="1">
                <a:latin typeface="Helvetica" panose="020B0604020202020204" pitchFamily="34" charset="0"/>
              </a:rPr>
              <a:t>D</a:t>
            </a:r>
          </a:p>
        </p:txBody>
      </p:sp>
      <p:sp>
        <p:nvSpPr>
          <p:cNvPr id="14351" name="Rectangle 15">
            <a:extLst>
              <a:ext uri="{FF2B5EF4-FFF2-40B4-BE49-F238E27FC236}">
                <a16:creationId xmlns:a16="http://schemas.microsoft.com/office/drawing/2014/main" id="{196DC9B6-6D5F-2B36-72A8-35EA68D8B5D8}"/>
              </a:ext>
            </a:extLst>
          </p:cNvPr>
          <p:cNvSpPr>
            <a:spLocks noChangeArrowheads="1"/>
          </p:cNvSpPr>
          <p:nvPr/>
        </p:nvSpPr>
        <p:spPr bwMode="auto">
          <a:xfrm>
            <a:off x="5257800" y="4114800"/>
            <a:ext cx="457200" cy="21336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r>
              <a:rPr lang="en-US" altLang="en-US" i="1">
                <a:latin typeface="Helvetica" panose="020B0604020202020204" pitchFamily="34" charset="0"/>
                <a:sym typeface="Symbol" panose="05050102010706020507" pitchFamily="18" charset="2"/>
              </a:rPr>
              <a:t></a:t>
            </a:r>
          </a:p>
          <a:p>
            <a:pPr algn="ctr"/>
            <a:r>
              <a:rPr lang="en-US" altLang="en-US" i="1">
                <a:latin typeface="Helvetica" panose="020B0604020202020204" pitchFamily="34" charset="0"/>
                <a:sym typeface="Symbol" panose="05050102010706020507" pitchFamily="18" charset="2"/>
              </a:rPr>
              <a:t> </a:t>
            </a:r>
          </a:p>
          <a:p>
            <a:pPr algn="ctr"/>
            <a:r>
              <a:rPr lang="en-US" altLang="en-US" i="1">
                <a:latin typeface="Helvetica" panose="020B0604020202020204" pitchFamily="34" charset="0"/>
                <a:sym typeface="Symbol" panose="05050102010706020507" pitchFamily="18" charset="2"/>
              </a:rPr>
              <a:t></a:t>
            </a:r>
          </a:p>
          <a:p>
            <a:pPr algn="ctr"/>
            <a:r>
              <a:rPr lang="en-US" altLang="en-US" i="1">
                <a:latin typeface="Helvetica" panose="020B0604020202020204" pitchFamily="34" charset="0"/>
                <a:sym typeface="Symbol" panose="05050102010706020507" pitchFamily="18" charset="2"/>
              </a:rPr>
              <a:t></a:t>
            </a:r>
          </a:p>
          <a:p>
            <a:pPr algn="ctr"/>
            <a:r>
              <a:rPr lang="en-US" altLang="en-US" i="1">
                <a:latin typeface="Helvetica" panose="020B0604020202020204" pitchFamily="34" charset="0"/>
                <a:sym typeface="Symbol" panose="05050102010706020507" pitchFamily="18" charset="2"/>
              </a:rPr>
              <a:t></a:t>
            </a:r>
          </a:p>
          <a:p>
            <a:pPr algn="ctr"/>
            <a:r>
              <a:rPr lang="en-US" altLang="en-US" i="1">
                <a:latin typeface="Helvetica" panose="020B0604020202020204" pitchFamily="34" charset="0"/>
                <a:sym typeface="Symbol" panose="05050102010706020507" pitchFamily="18" charset="2"/>
              </a:rPr>
              <a:t></a:t>
            </a:r>
          </a:p>
          <a:p>
            <a:pPr algn="ctr"/>
            <a:r>
              <a:rPr lang="en-US" altLang="en-US" i="1">
                <a:latin typeface="Helvetica" panose="020B0604020202020204" pitchFamily="34" charset="0"/>
                <a:sym typeface="Symbol" panose="05050102010706020507" pitchFamily="18" charset="2"/>
              </a:rPr>
              <a:t></a:t>
            </a:r>
          </a:p>
          <a:p>
            <a:pPr algn="ctr"/>
            <a:r>
              <a:rPr lang="en-US" altLang="en-US" i="1">
                <a:latin typeface="Helvetica" panose="020B0604020202020204" pitchFamily="34" charset="0"/>
                <a:sym typeface="Symbol" panose="05050102010706020507" pitchFamily="18" charset="2"/>
              </a:rPr>
              <a:t></a:t>
            </a:r>
          </a:p>
        </p:txBody>
      </p:sp>
      <p:sp>
        <p:nvSpPr>
          <p:cNvPr id="14352" name="Rectangle 16">
            <a:extLst>
              <a:ext uri="{FF2B5EF4-FFF2-40B4-BE49-F238E27FC236}">
                <a16:creationId xmlns:a16="http://schemas.microsoft.com/office/drawing/2014/main" id="{AAE9E025-35CF-EC59-5357-79C36C228906}"/>
              </a:ext>
            </a:extLst>
          </p:cNvPr>
          <p:cNvSpPr>
            <a:spLocks noChangeArrowheads="1"/>
          </p:cNvSpPr>
          <p:nvPr/>
        </p:nvSpPr>
        <p:spPr bwMode="auto">
          <a:xfrm>
            <a:off x="5715000" y="4114800"/>
            <a:ext cx="457200" cy="21336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r>
              <a:rPr lang="en-US" altLang="en-US" i="1">
                <a:latin typeface="Helvetica" panose="020B0604020202020204" pitchFamily="34" charset="0"/>
                <a:sym typeface="Symbol" panose="05050102010706020507" pitchFamily="18" charset="2"/>
              </a:rPr>
              <a:t>10</a:t>
            </a:r>
          </a:p>
          <a:p>
            <a:pPr algn="ctr"/>
            <a:r>
              <a:rPr lang="en-US" altLang="en-US" i="1">
                <a:latin typeface="Helvetica" panose="020B0604020202020204" pitchFamily="34" charset="0"/>
                <a:sym typeface="Symbol" panose="05050102010706020507" pitchFamily="18" charset="2"/>
              </a:rPr>
              <a:t>10</a:t>
            </a:r>
          </a:p>
          <a:p>
            <a:pPr algn="ctr"/>
            <a:r>
              <a:rPr lang="en-US" altLang="en-US" i="1">
                <a:latin typeface="Helvetica" panose="020B0604020202020204" pitchFamily="34" charset="0"/>
                <a:sym typeface="Symbol" panose="05050102010706020507" pitchFamily="18" charset="2"/>
              </a:rPr>
              <a:t>20</a:t>
            </a:r>
          </a:p>
          <a:p>
            <a:pPr algn="ctr"/>
            <a:r>
              <a:rPr lang="en-US" altLang="en-US" i="1">
                <a:latin typeface="Helvetica" panose="020B0604020202020204" pitchFamily="34" charset="0"/>
                <a:sym typeface="Symbol" panose="05050102010706020507" pitchFamily="18" charset="2"/>
              </a:rPr>
              <a:t>10</a:t>
            </a:r>
          </a:p>
          <a:p>
            <a:pPr algn="ctr"/>
            <a:r>
              <a:rPr lang="en-US" altLang="en-US" i="1">
                <a:latin typeface="Helvetica" panose="020B0604020202020204" pitchFamily="34" charset="0"/>
                <a:sym typeface="Symbol" panose="05050102010706020507" pitchFamily="18" charset="2"/>
              </a:rPr>
              <a:t>10</a:t>
            </a:r>
          </a:p>
          <a:p>
            <a:pPr algn="ctr"/>
            <a:r>
              <a:rPr lang="en-US" altLang="en-US" i="1">
                <a:latin typeface="Helvetica" panose="020B0604020202020204" pitchFamily="34" charset="0"/>
                <a:sym typeface="Symbol" panose="05050102010706020507" pitchFamily="18" charset="2"/>
              </a:rPr>
              <a:t>10</a:t>
            </a:r>
          </a:p>
          <a:p>
            <a:pPr algn="ctr"/>
            <a:r>
              <a:rPr lang="en-US" altLang="en-US" i="1">
                <a:latin typeface="Helvetica" panose="020B0604020202020204" pitchFamily="34" charset="0"/>
                <a:sym typeface="Symbol" panose="05050102010706020507" pitchFamily="18" charset="2"/>
              </a:rPr>
              <a:t>20</a:t>
            </a:r>
          </a:p>
          <a:p>
            <a:pPr algn="ctr"/>
            <a:r>
              <a:rPr lang="en-US" altLang="en-US" i="1">
                <a:latin typeface="Helvetica" panose="020B0604020202020204" pitchFamily="34" charset="0"/>
                <a:sym typeface="Symbol" panose="05050102010706020507" pitchFamily="18" charset="2"/>
              </a:rPr>
              <a:t>10</a:t>
            </a:r>
          </a:p>
        </p:txBody>
      </p:sp>
      <p:sp>
        <p:nvSpPr>
          <p:cNvPr id="14353" name="Rectangle 17">
            <a:extLst>
              <a:ext uri="{FF2B5EF4-FFF2-40B4-BE49-F238E27FC236}">
                <a16:creationId xmlns:a16="http://schemas.microsoft.com/office/drawing/2014/main" id="{E6D619EB-1CDB-6F5B-6995-AB771F9D365F}"/>
              </a:ext>
            </a:extLst>
          </p:cNvPr>
          <p:cNvSpPr>
            <a:spLocks noChangeArrowheads="1"/>
          </p:cNvSpPr>
          <p:nvPr/>
        </p:nvSpPr>
        <p:spPr bwMode="auto">
          <a:xfrm>
            <a:off x="6172200" y="3505200"/>
            <a:ext cx="457200" cy="5334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r>
              <a:rPr lang="en-US" altLang="en-US" i="1">
                <a:latin typeface="Helvetica" panose="020B0604020202020204" pitchFamily="34" charset="0"/>
              </a:rPr>
              <a:t>E</a:t>
            </a:r>
          </a:p>
        </p:txBody>
      </p:sp>
      <p:sp>
        <p:nvSpPr>
          <p:cNvPr id="14354" name="Rectangle 18">
            <a:extLst>
              <a:ext uri="{FF2B5EF4-FFF2-40B4-BE49-F238E27FC236}">
                <a16:creationId xmlns:a16="http://schemas.microsoft.com/office/drawing/2014/main" id="{ED2D5C13-E284-19F9-11E9-4294B0A8B025}"/>
              </a:ext>
            </a:extLst>
          </p:cNvPr>
          <p:cNvSpPr>
            <a:spLocks noChangeArrowheads="1"/>
          </p:cNvSpPr>
          <p:nvPr/>
        </p:nvSpPr>
        <p:spPr bwMode="auto">
          <a:xfrm>
            <a:off x="6172200" y="4114800"/>
            <a:ext cx="457200" cy="21336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r>
              <a:rPr lang="en-US" altLang="en-US" i="1">
                <a:latin typeface="Helvetica" panose="020B0604020202020204" pitchFamily="34" charset="0"/>
                <a:sym typeface="Symbol" panose="05050102010706020507" pitchFamily="18" charset="2"/>
              </a:rPr>
              <a:t>a</a:t>
            </a:r>
          </a:p>
          <a:p>
            <a:pPr algn="ctr"/>
            <a:r>
              <a:rPr lang="en-US" altLang="en-US" i="1">
                <a:latin typeface="Helvetica" panose="020B0604020202020204" pitchFamily="34" charset="0"/>
                <a:sym typeface="Symbol" panose="05050102010706020507" pitchFamily="18" charset="2"/>
              </a:rPr>
              <a:t>a</a:t>
            </a:r>
          </a:p>
          <a:p>
            <a:pPr algn="ctr"/>
            <a:r>
              <a:rPr lang="en-US" altLang="en-US" i="1">
                <a:latin typeface="Helvetica" panose="020B0604020202020204" pitchFamily="34" charset="0"/>
                <a:sym typeface="Symbol" panose="05050102010706020507" pitchFamily="18" charset="2"/>
              </a:rPr>
              <a:t>b</a:t>
            </a:r>
          </a:p>
          <a:p>
            <a:pPr algn="ctr"/>
            <a:r>
              <a:rPr lang="en-US" altLang="en-US" i="1">
                <a:latin typeface="Helvetica" panose="020B0604020202020204" pitchFamily="34" charset="0"/>
                <a:sym typeface="Symbol" panose="05050102010706020507" pitchFamily="18" charset="2"/>
              </a:rPr>
              <a:t>b</a:t>
            </a:r>
          </a:p>
          <a:p>
            <a:pPr algn="ctr"/>
            <a:r>
              <a:rPr lang="en-US" altLang="en-US" i="1">
                <a:latin typeface="Helvetica" panose="020B0604020202020204" pitchFamily="34" charset="0"/>
                <a:sym typeface="Symbol" panose="05050102010706020507" pitchFamily="18" charset="2"/>
              </a:rPr>
              <a:t>a</a:t>
            </a:r>
          </a:p>
          <a:p>
            <a:pPr algn="ctr"/>
            <a:r>
              <a:rPr lang="en-US" altLang="en-US" i="1">
                <a:latin typeface="Helvetica" panose="020B0604020202020204" pitchFamily="34" charset="0"/>
                <a:sym typeface="Symbol" panose="05050102010706020507" pitchFamily="18" charset="2"/>
              </a:rPr>
              <a:t>a</a:t>
            </a:r>
          </a:p>
          <a:p>
            <a:pPr algn="ctr"/>
            <a:r>
              <a:rPr lang="en-US" altLang="en-US" i="1">
                <a:latin typeface="Helvetica" panose="020B0604020202020204" pitchFamily="34" charset="0"/>
                <a:sym typeface="Symbol" panose="05050102010706020507" pitchFamily="18" charset="2"/>
              </a:rPr>
              <a:t>b</a:t>
            </a:r>
          </a:p>
          <a:p>
            <a:pPr algn="ctr"/>
            <a:r>
              <a:rPr lang="en-US" altLang="en-US" i="1">
                <a:latin typeface="Helvetica" panose="020B0604020202020204" pitchFamily="34" charset="0"/>
                <a:sym typeface="Symbol" panose="05050102010706020507" pitchFamily="18" charset="2"/>
              </a:rPr>
              <a:t>b</a:t>
            </a:r>
          </a:p>
        </p:txBody>
      </p:sp>
      <p:sp>
        <p:nvSpPr>
          <p:cNvPr id="1044" name="Rectangle 19">
            <a:extLst>
              <a:ext uri="{FF2B5EF4-FFF2-40B4-BE49-F238E27FC236}">
                <a16:creationId xmlns:a16="http://schemas.microsoft.com/office/drawing/2014/main" id="{13A88F0D-6D5B-8EC1-E1A6-2BF00E744D46}"/>
              </a:ext>
            </a:extLst>
          </p:cNvPr>
          <p:cNvSpPr>
            <a:spLocks noChangeArrowheads="1"/>
          </p:cNvSpPr>
          <p:nvPr/>
        </p:nvSpPr>
        <p:spPr bwMode="auto">
          <a:xfrm>
            <a:off x="6172200" y="1219200"/>
            <a:ext cx="457200" cy="4572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r>
              <a:rPr lang="en-US" altLang="en-US" i="1">
                <a:latin typeface="Helvetica" panose="020B0604020202020204" pitchFamily="34" charset="0"/>
              </a:rPr>
              <a:t>C</a:t>
            </a:r>
          </a:p>
        </p:txBody>
      </p:sp>
      <p:sp>
        <p:nvSpPr>
          <p:cNvPr id="1045" name="Rectangle 20">
            <a:extLst>
              <a:ext uri="{FF2B5EF4-FFF2-40B4-BE49-F238E27FC236}">
                <a16:creationId xmlns:a16="http://schemas.microsoft.com/office/drawing/2014/main" id="{5B5300D9-069C-3E32-D9AE-9D284AC8FB67}"/>
              </a:ext>
            </a:extLst>
          </p:cNvPr>
          <p:cNvSpPr>
            <a:spLocks noChangeArrowheads="1"/>
          </p:cNvSpPr>
          <p:nvPr/>
        </p:nvSpPr>
        <p:spPr bwMode="auto">
          <a:xfrm>
            <a:off x="6629400" y="1219200"/>
            <a:ext cx="457200" cy="4572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r>
              <a:rPr lang="en-US" altLang="en-US" i="1">
                <a:latin typeface="Helvetica" panose="020B0604020202020204" pitchFamily="34" charset="0"/>
              </a:rPr>
              <a:t>D</a:t>
            </a:r>
          </a:p>
        </p:txBody>
      </p:sp>
      <p:sp>
        <p:nvSpPr>
          <p:cNvPr id="1046" name="Rectangle 21">
            <a:extLst>
              <a:ext uri="{FF2B5EF4-FFF2-40B4-BE49-F238E27FC236}">
                <a16:creationId xmlns:a16="http://schemas.microsoft.com/office/drawing/2014/main" id="{2A001C40-22E4-6906-1BD8-007245F1BAB2}"/>
              </a:ext>
            </a:extLst>
          </p:cNvPr>
          <p:cNvSpPr>
            <a:spLocks noChangeArrowheads="1"/>
          </p:cNvSpPr>
          <p:nvPr/>
        </p:nvSpPr>
        <p:spPr bwMode="auto">
          <a:xfrm>
            <a:off x="6172200" y="1752600"/>
            <a:ext cx="457200" cy="12192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r>
              <a:rPr lang="en-US" altLang="en-US" i="1">
                <a:latin typeface="Helvetica" panose="020B0604020202020204" pitchFamily="34" charset="0"/>
                <a:sym typeface="Symbol" panose="05050102010706020507" pitchFamily="18" charset="2"/>
              </a:rPr>
              <a:t></a:t>
            </a:r>
          </a:p>
          <a:p>
            <a:pPr algn="ctr"/>
            <a:r>
              <a:rPr lang="en-US" altLang="en-US" i="1">
                <a:latin typeface="Helvetica" panose="020B0604020202020204" pitchFamily="34" charset="0"/>
                <a:sym typeface="Symbol" panose="05050102010706020507" pitchFamily="18" charset="2"/>
              </a:rPr>
              <a:t></a:t>
            </a:r>
          </a:p>
          <a:p>
            <a:pPr algn="ctr"/>
            <a:r>
              <a:rPr lang="en-US" altLang="en-US" i="1">
                <a:latin typeface="Helvetica" panose="020B0604020202020204" pitchFamily="34" charset="0"/>
                <a:sym typeface="Symbol" panose="05050102010706020507" pitchFamily="18" charset="2"/>
              </a:rPr>
              <a:t></a:t>
            </a:r>
          </a:p>
          <a:p>
            <a:pPr algn="ctr"/>
            <a:r>
              <a:rPr lang="en-US" altLang="en-US" i="1">
                <a:latin typeface="Helvetica" panose="020B0604020202020204" pitchFamily="34" charset="0"/>
                <a:sym typeface="Symbol" panose="05050102010706020507" pitchFamily="18" charset="2"/>
              </a:rPr>
              <a:t></a:t>
            </a:r>
          </a:p>
        </p:txBody>
      </p:sp>
      <p:sp>
        <p:nvSpPr>
          <p:cNvPr id="1047" name="Rectangle 22">
            <a:extLst>
              <a:ext uri="{FF2B5EF4-FFF2-40B4-BE49-F238E27FC236}">
                <a16:creationId xmlns:a16="http://schemas.microsoft.com/office/drawing/2014/main" id="{153124D0-3B1F-FDD6-D26E-3E07B4C355C5}"/>
              </a:ext>
            </a:extLst>
          </p:cNvPr>
          <p:cNvSpPr>
            <a:spLocks noChangeArrowheads="1"/>
          </p:cNvSpPr>
          <p:nvPr/>
        </p:nvSpPr>
        <p:spPr bwMode="auto">
          <a:xfrm>
            <a:off x="6629400" y="1752600"/>
            <a:ext cx="457200" cy="12192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r>
              <a:rPr lang="en-US" altLang="en-US" i="1">
                <a:latin typeface="Helvetica" panose="020B0604020202020204" pitchFamily="34" charset="0"/>
                <a:sym typeface="Symbol" panose="05050102010706020507" pitchFamily="18" charset="2"/>
              </a:rPr>
              <a:t>10</a:t>
            </a:r>
          </a:p>
          <a:p>
            <a:pPr algn="ctr"/>
            <a:r>
              <a:rPr lang="en-US" altLang="en-US" i="1">
                <a:latin typeface="Helvetica" panose="020B0604020202020204" pitchFamily="34" charset="0"/>
                <a:sym typeface="Symbol" panose="05050102010706020507" pitchFamily="18" charset="2"/>
              </a:rPr>
              <a:t>10</a:t>
            </a:r>
          </a:p>
          <a:p>
            <a:pPr algn="ctr"/>
            <a:r>
              <a:rPr lang="en-US" altLang="en-US" i="1">
                <a:latin typeface="Helvetica" panose="020B0604020202020204" pitchFamily="34" charset="0"/>
                <a:sym typeface="Symbol" panose="05050102010706020507" pitchFamily="18" charset="2"/>
              </a:rPr>
              <a:t>20</a:t>
            </a:r>
          </a:p>
          <a:p>
            <a:pPr algn="ctr"/>
            <a:r>
              <a:rPr lang="en-US" altLang="en-US" i="1">
                <a:latin typeface="Helvetica" panose="020B0604020202020204" pitchFamily="34" charset="0"/>
                <a:sym typeface="Symbol" panose="05050102010706020507" pitchFamily="18" charset="2"/>
              </a:rPr>
              <a:t>10</a:t>
            </a:r>
          </a:p>
        </p:txBody>
      </p:sp>
      <p:sp>
        <p:nvSpPr>
          <p:cNvPr id="1048" name="Rectangle 23">
            <a:extLst>
              <a:ext uri="{FF2B5EF4-FFF2-40B4-BE49-F238E27FC236}">
                <a16:creationId xmlns:a16="http://schemas.microsoft.com/office/drawing/2014/main" id="{D7F9E690-B31A-E209-45A7-427616CBB99F}"/>
              </a:ext>
            </a:extLst>
          </p:cNvPr>
          <p:cNvSpPr>
            <a:spLocks noChangeArrowheads="1"/>
          </p:cNvSpPr>
          <p:nvPr/>
        </p:nvSpPr>
        <p:spPr bwMode="auto">
          <a:xfrm>
            <a:off x="7086600" y="1219200"/>
            <a:ext cx="457200" cy="4572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r>
              <a:rPr lang="en-US" altLang="en-US" i="1">
                <a:latin typeface="Helvetica" panose="020B0604020202020204" pitchFamily="34" charset="0"/>
              </a:rPr>
              <a:t>E</a:t>
            </a:r>
          </a:p>
        </p:txBody>
      </p:sp>
      <p:sp>
        <p:nvSpPr>
          <p:cNvPr id="1049" name="Rectangle 24">
            <a:extLst>
              <a:ext uri="{FF2B5EF4-FFF2-40B4-BE49-F238E27FC236}">
                <a16:creationId xmlns:a16="http://schemas.microsoft.com/office/drawing/2014/main" id="{7E5B5C53-1250-48CC-A8A9-84F692BEE66E}"/>
              </a:ext>
            </a:extLst>
          </p:cNvPr>
          <p:cNvSpPr>
            <a:spLocks noChangeArrowheads="1"/>
          </p:cNvSpPr>
          <p:nvPr/>
        </p:nvSpPr>
        <p:spPr bwMode="auto">
          <a:xfrm>
            <a:off x="7086600" y="1752600"/>
            <a:ext cx="457200" cy="12192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r>
              <a:rPr lang="en-US" altLang="en-US" i="1">
                <a:latin typeface="Helvetica" panose="020B0604020202020204" pitchFamily="34" charset="0"/>
                <a:sym typeface="Symbol" panose="05050102010706020507" pitchFamily="18" charset="2"/>
              </a:rPr>
              <a:t>a</a:t>
            </a:r>
          </a:p>
          <a:p>
            <a:pPr algn="ctr"/>
            <a:r>
              <a:rPr lang="en-US" altLang="en-US" i="1">
                <a:latin typeface="Helvetica" panose="020B0604020202020204" pitchFamily="34" charset="0"/>
                <a:sym typeface="Symbol" panose="05050102010706020507" pitchFamily="18" charset="2"/>
              </a:rPr>
              <a:t>a</a:t>
            </a:r>
          </a:p>
          <a:p>
            <a:pPr algn="ctr"/>
            <a:r>
              <a:rPr lang="en-US" altLang="en-US" i="1">
                <a:latin typeface="Helvetica" panose="020B0604020202020204" pitchFamily="34" charset="0"/>
                <a:sym typeface="Symbol" panose="05050102010706020507" pitchFamily="18" charset="2"/>
              </a:rPr>
              <a:t>b</a:t>
            </a:r>
          </a:p>
          <a:p>
            <a:pPr algn="ctr"/>
            <a:r>
              <a:rPr lang="en-US" altLang="en-US" i="1">
                <a:latin typeface="Helvetica" panose="020B0604020202020204" pitchFamily="34" charset="0"/>
                <a:sym typeface="Symbol" panose="05050102010706020507" pitchFamily="18" charset="2"/>
              </a:rPr>
              <a:t>b</a:t>
            </a:r>
          </a:p>
        </p:txBody>
      </p:sp>
      <p:graphicFrame>
        <p:nvGraphicFramePr>
          <p:cNvPr id="14361" name="Object 25">
            <a:extLst>
              <a:ext uri="{FF2B5EF4-FFF2-40B4-BE49-F238E27FC236}">
                <a16:creationId xmlns:a16="http://schemas.microsoft.com/office/drawing/2014/main" id="{9367477F-8403-3AEA-B19C-AADB90F5117F}"/>
              </a:ext>
            </a:extLst>
          </p:cNvPr>
          <p:cNvGraphicFramePr>
            <a:graphicFrameLocks noChangeAspect="1"/>
          </p:cNvGraphicFramePr>
          <p:nvPr/>
        </p:nvGraphicFramePr>
        <p:xfrm>
          <a:off x="6026150" y="3359150"/>
          <a:ext cx="139700" cy="319088"/>
        </p:xfrm>
        <a:graphic>
          <a:graphicData uri="http://schemas.openxmlformats.org/presentationml/2006/ole">
            <mc:AlternateContent xmlns:mc="http://schemas.openxmlformats.org/markup-compatibility/2006">
              <mc:Choice xmlns:v="urn:schemas-microsoft-com:vml" Requires="v">
                <p:oleObj name="Equation" r:id="rId2" imgW="139680" imgH="291960" progId="Equation.3">
                  <p:embed/>
                </p:oleObj>
              </mc:Choice>
              <mc:Fallback>
                <p:oleObj name="Equation" r:id="rId2" imgW="139680" imgH="291960" progId="Equation.3">
                  <p:embed/>
                  <p:pic>
                    <p:nvPicPr>
                      <p:cNvPr id="14361" name="Object 25">
                        <a:extLst>
                          <a:ext uri="{FF2B5EF4-FFF2-40B4-BE49-F238E27FC236}">
                            <a16:creationId xmlns:a16="http://schemas.microsoft.com/office/drawing/2014/main" id="{9367477F-8403-3AEA-B19C-AADB90F511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26150" y="3359150"/>
                        <a:ext cx="139700" cy="319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50" name="Text Box 26">
            <a:extLst>
              <a:ext uri="{FF2B5EF4-FFF2-40B4-BE49-F238E27FC236}">
                <a16:creationId xmlns:a16="http://schemas.microsoft.com/office/drawing/2014/main" id="{E0AF6CD1-5F16-17AC-4930-08405A5BE437}"/>
              </a:ext>
            </a:extLst>
          </p:cNvPr>
          <p:cNvSpPr txBox="1">
            <a:spLocks noChangeArrowheads="1"/>
          </p:cNvSpPr>
          <p:nvPr/>
        </p:nvSpPr>
        <p:spPr bwMode="auto">
          <a:xfrm>
            <a:off x="4724400" y="2667000"/>
            <a:ext cx="285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spcBef>
                <a:spcPct val="50000"/>
              </a:spcBef>
            </a:pPr>
            <a:r>
              <a:rPr lang="en-US" altLang="en-US" sz="2400" i="1">
                <a:latin typeface="Helvetica" panose="020B0604020202020204" pitchFamily="34" charset="0"/>
              </a:rPr>
              <a:t>r</a:t>
            </a:r>
          </a:p>
        </p:txBody>
      </p:sp>
      <p:sp>
        <p:nvSpPr>
          <p:cNvPr id="1051" name="Text Box 27">
            <a:extLst>
              <a:ext uri="{FF2B5EF4-FFF2-40B4-BE49-F238E27FC236}">
                <a16:creationId xmlns:a16="http://schemas.microsoft.com/office/drawing/2014/main" id="{9F4974BC-987A-8982-5F95-3E040AC36967}"/>
              </a:ext>
            </a:extLst>
          </p:cNvPr>
          <p:cNvSpPr txBox="1">
            <a:spLocks noChangeArrowheads="1"/>
          </p:cNvSpPr>
          <p:nvPr/>
        </p:nvSpPr>
        <p:spPr bwMode="auto">
          <a:xfrm>
            <a:off x="6743700" y="292735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spcBef>
                <a:spcPct val="50000"/>
              </a:spcBef>
            </a:pPr>
            <a:r>
              <a:rPr lang="en-US" altLang="en-US" sz="2400" i="1">
                <a:latin typeface="Helvetica" panose="020B0604020202020204" pitchFamily="34" charset="0"/>
              </a:rPr>
              <a:t>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4345"/>
                                        </p:tgtEl>
                                        <p:attrNameLst>
                                          <p:attrName>style.visibility</p:attrName>
                                        </p:attrNameLst>
                                      </p:cBhvr>
                                      <p:to>
                                        <p:strVal val="visible"/>
                                      </p:to>
                                    </p:set>
                                    <p:anim calcmode="lin" valueType="num">
                                      <p:cBhvr additive="base">
                                        <p:cTn id="7" dur="500" fill="hold"/>
                                        <p:tgtEl>
                                          <p:spTgt spid="14345"/>
                                        </p:tgtEl>
                                        <p:attrNameLst>
                                          <p:attrName>ppt_x</p:attrName>
                                        </p:attrNameLst>
                                      </p:cBhvr>
                                      <p:tavLst>
                                        <p:tav tm="0">
                                          <p:val>
                                            <p:strVal val="#ppt_x"/>
                                          </p:val>
                                        </p:tav>
                                        <p:tav tm="100000">
                                          <p:val>
                                            <p:strVal val="#ppt_x"/>
                                          </p:val>
                                        </p:tav>
                                      </p:tavLst>
                                    </p:anim>
                                    <p:anim calcmode="lin" valueType="num">
                                      <p:cBhvr additive="base">
                                        <p:cTn id="8" dur="500" fill="hold"/>
                                        <p:tgtEl>
                                          <p:spTgt spid="14345"/>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4346"/>
                                        </p:tgtEl>
                                        <p:attrNameLst>
                                          <p:attrName>style.visibility</p:attrName>
                                        </p:attrNameLst>
                                      </p:cBhvr>
                                      <p:to>
                                        <p:strVal val="visible"/>
                                      </p:to>
                                    </p:set>
                                    <p:anim calcmode="lin" valueType="num">
                                      <p:cBhvr additive="base">
                                        <p:cTn id="11" dur="500" fill="hold"/>
                                        <p:tgtEl>
                                          <p:spTgt spid="14346"/>
                                        </p:tgtEl>
                                        <p:attrNameLst>
                                          <p:attrName>ppt_x</p:attrName>
                                        </p:attrNameLst>
                                      </p:cBhvr>
                                      <p:tavLst>
                                        <p:tav tm="0">
                                          <p:val>
                                            <p:strVal val="#ppt_x"/>
                                          </p:val>
                                        </p:tav>
                                        <p:tav tm="100000">
                                          <p:val>
                                            <p:strVal val="#ppt_x"/>
                                          </p:val>
                                        </p:tav>
                                      </p:tavLst>
                                    </p:anim>
                                    <p:anim calcmode="lin" valueType="num">
                                      <p:cBhvr additive="base">
                                        <p:cTn id="12" dur="500" fill="hold"/>
                                        <p:tgtEl>
                                          <p:spTgt spid="14346"/>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4347"/>
                                        </p:tgtEl>
                                        <p:attrNameLst>
                                          <p:attrName>style.visibility</p:attrName>
                                        </p:attrNameLst>
                                      </p:cBhvr>
                                      <p:to>
                                        <p:strVal val="visible"/>
                                      </p:to>
                                    </p:set>
                                    <p:anim calcmode="lin" valueType="num">
                                      <p:cBhvr additive="base">
                                        <p:cTn id="15" dur="500" fill="hold"/>
                                        <p:tgtEl>
                                          <p:spTgt spid="14347"/>
                                        </p:tgtEl>
                                        <p:attrNameLst>
                                          <p:attrName>ppt_x</p:attrName>
                                        </p:attrNameLst>
                                      </p:cBhvr>
                                      <p:tavLst>
                                        <p:tav tm="0">
                                          <p:val>
                                            <p:strVal val="#ppt_x"/>
                                          </p:val>
                                        </p:tav>
                                        <p:tav tm="100000">
                                          <p:val>
                                            <p:strVal val="#ppt_x"/>
                                          </p:val>
                                        </p:tav>
                                      </p:tavLst>
                                    </p:anim>
                                    <p:anim calcmode="lin" valueType="num">
                                      <p:cBhvr additive="base">
                                        <p:cTn id="16" dur="500" fill="hold"/>
                                        <p:tgtEl>
                                          <p:spTgt spid="14347"/>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4348"/>
                                        </p:tgtEl>
                                        <p:attrNameLst>
                                          <p:attrName>style.visibility</p:attrName>
                                        </p:attrNameLst>
                                      </p:cBhvr>
                                      <p:to>
                                        <p:strVal val="visible"/>
                                      </p:to>
                                    </p:set>
                                    <p:anim calcmode="lin" valueType="num">
                                      <p:cBhvr additive="base">
                                        <p:cTn id="19" dur="500" fill="hold"/>
                                        <p:tgtEl>
                                          <p:spTgt spid="14348"/>
                                        </p:tgtEl>
                                        <p:attrNameLst>
                                          <p:attrName>ppt_x</p:attrName>
                                        </p:attrNameLst>
                                      </p:cBhvr>
                                      <p:tavLst>
                                        <p:tav tm="0">
                                          <p:val>
                                            <p:strVal val="#ppt_x"/>
                                          </p:val>
                                        </p:tav>
                                        <p:tav tm="100000">
                                          <p:val>
                                            <p:strVal val="#ppt_x"/>
                                          </p:val>
                                        </p:tav>
                                      </p:tavLst>
                                    </p:anim>
                                    <p:anim calcmode="lin" valueType="num">
                                      <p:cBhvr additive="base">
                                        <p:cTn id="20" dur="500" fill="hold"/>
                                        <p:tgtEl>
                                          <p:spTgt spid="14348"/>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4349"/>
                                        </p:tgtEl>
                                        <p:attrNameLst>
                                          <p:attrName>style.visibility</p:attrName>
                                        </p:attrNameLst>
                                      </p:cBhvr>
                                      <p:to>
                                        <p:strVal val="visible"/>
                                      </p:to>
                                    </p:set>
                                    <p:anim calcmode="lin" valueType="num">
                                      <p:cBhvr additive="base">
                                        <p:cTn id="23" dur="500" fill="hold"/>
                                        <p:tgtEl>
                                          <p:spTgt spid="14349"/>
                                        </p:tgtEl>
                                        <p:attrNameLst>
                                          <p:attrName>ppt_x</p:attrName>
                                        </p:attrNameLst>
                                      </p:cBhvr>
                                      <p:tavLst>
                                        <p:tav tm="0">
                                          <p:val>
                                            <p:strVal val="#ppt_x"/>
                                          </p:val>
                                        </p:tav>
                                        <p:tav tm="100000">
                                          <p:val>
                                            <p:strVal val="#ppt_x"/>
                                          </p:val>
                                        </p:tav>
                                      </p:tavLst>
                                    </p:anim>
                                    <p:anim calcmode="lin" valueType="num">
                                      <p:cBhvr additive="base">
                                        <p:cTn id="24" dur="500" fill="hold"/>
                                        <p:tgtEl>
                                          <p:spTgt spid="14349"/>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4350"/>
                                        </p:tgtEl>
                                        <p:attrNameLst>
                                          <p:attrName>style.visibility</p:attrName>
                                        </p:attrNameLst>
                                      </p:cBhvr>
                                      <p:to>
                                        <p:strVal val="visible"/>
                                      </p:to>
                                    </p:set>
                                    <p:anim calcmode="lin" valueType="num">
                                      <p:cBhvr additive="base">
                                        <p:cTn id="27" dur="500" fill="hold"/>
                                        <p:tgtEl>
                                          <p:spTgt spid="14350"/>
                                        </p:tgtEl>
                                        <p:attrNameLst>
                                          <p:attrName>ppt_x</p:attrName>
                                        </p:attrNameLst>
                                      </p:cBhvr>
                                      <p:tavLst>
                                        <p:tav tm="0">
                                          <p:val>
                                            <p:strVal val="#ppt_x"/>
                                          </p:val>
                                        </p:tav>
                                        <p:tav tm="100000">
                                          <p:val>
                                            <p:strVal val="#ppt_x"/>
                                          </p:val>
                                        </p:tav>
                                      </p:tavLst>
                                    </p:anim>
                                    <p:anim calcmode="lin" valueType="num">
                                      <p:cBhvr additive="base">
                                        <p:cTn id="28" dur="500" fill="hold"/>
                                        <p:tgtEl>
                                          <p:spTgt spid="14350"/>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14351"/>
                                        </p:tgtEl>
                                        <p:attrNameLst>
                                          <p:attrName>style.visibility</p:attrName>
                                        </p:attrNameLst>
                                      </p:cBhvr>
                                      <p:to>
                                        <p:strVal val="visible"/>
                                      </p:to>
                                    </p:set>
                                    <p:anim calcmode="lin" valueType="num">
                                      <p:cBhvr additive="base">
                                        <p:cTn id="31" dur="500" fill="hold"/>
                                        <p:tgtEl>
                                          <p:spTgt spid="14351"/>
                                        </p:tgtEl>
                                        <p:attrNameLst>
                                          <p:attrName>ppt_x</p:attrName>
                                        </p:attrNameLst>
                                      </p:cBhvr>
                                      <p:tavLst>
                                        <p:tav tm="0">
                                          <p:val>
                                            <p:strVal val="#ppt_x"/>
                                          </p:val>
                                        </p:tav>
                                        <p:tav tm="100000">
                                          <p:val>
                                            <p:strVal val="#ppt_x"/>
                                          </p:val>
                                        </p:tav>
                                      </p:tavLst>
                                    </p:anim>
                                    <p:anim calcmode="lin" valueType="num">
                                      <p:cBhvr additive="base">
                                        <p:cTn id="32" dur="500" fill="hold"/>
                                        <p:tgtEl>
                                          <p:spTgt spid="14351"/>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14352"/>
                                        </p:tgtEl>
                                        <p:attrNameLst>
                                          <p:attrName>style.visibility</p:attrName>
                                        </p:attrNameLst>
                                      </p:cBhvr>
                                      <p:to>
                                        <p:strVal val="visible"/>
                                      </p:to>
                                    </p:set>
                                    <p:anim calcmode="lin" valueType="num">
                                      <p:cBhvr additive="base">
                                        <p:cTn id="35" dur="500" fill="hold"/>
                                        <p:tgtEl>
                                          <p:spTgt spid="14352"/>
                                        </p:tgtEl>
                                        <p:attrNameLst>
                                          <p:attrName>ppt_x</p:attrName>
                                        </p:attrNameLst>
                                      </p:cBhvr>
                                      <p:tavLst>
                                        <p:tav tm="0">
                                          <p:val>
                                            <p:strVal val="#ppt_x"/>
                                          </p:val>
                                        </p:tav>
                                        <p:tav tm="100000">
                                          <p:val>
                                            <p:strVal val="#ppt_x"/>
                                          </p:val>
                                        </p:tav>
                                      </p:tavLst>
                                    </p:anim>
                                    <p:anim calcmode="lin" valueType="num">
                                      <p:cBhvr additive="base">
                                        <p:cTn id="36" dur="500" fill="hold"/>
                                        <p:tgtEl>
                                          <p:spTgt spid="14352"/>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14353"/>
                                        </p:tgtEl>
                                        <p:attrNameLst>
                                          <p:attrName>style.visibility</p:attrName>
                                        </p:attrNameLst>
                                      </p:cBhvr>
                                      <p:to>
                                        <p:strVal val="visible"/>
                                      </p:to>
                                    </p:set>
                                    <p:anim calcmode="lin" valueType="num">
                                      <p:cBhvr additive="base">
                                        <p:cTn id="39" dur="500" fill="hold"/>
                                        <p:tgtEl>
                                          <p:spTgt spid="14353"/>
                                        </p:tgtEl>
                                        <p:attrNameLst>
                                          <p:attrName>ppt_x</p:attrName>
                                        </p:attrNameLst>
                                      </p:cBhvr>
                                      <p:tavLst>
                                        <p:tav tm="0">
                                          <p:val>
                                            <p:strVal val="#ppt_x"/>
                                          </p:val>
                                        </p:tav>
                                        <p:tav tm="100000">
                                          <p:val>
                                            <p:strVal val="#ppt_x"/>
                                          </p:val>
                                        </p:tav>
                                      </p:tavLst>
                                    </p:anim>
                                    <p:anim calcmode="lin" valueType="num">
                                      <p:cBhvr additive="base">
                                        <p:cTn id="40" dur="500" fill="hold"/>
                                        <p:tgtEl>
                                          <p:spTgt spid="14353"/>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14354"/>
                                        </p:tgtEl>
                                        <p:attrNameLst>
                                          <p:attrName>style.visibility</p:attrName>
                                        </p:attrNameLst>
                                      </p:cBhvr>
                                      <p:to>
                                        <p:strVal val="visible"/>
                                      </p:to>
                                    </p:set>
                                    <p:anim calcmode="lin" valueType="num">
                                      <p:cBhvr additive="base">
                                        <p:cTn id="43" dur="500" fill="hold"/>
                                        <p:tgtEl>
                                          <p:spTgt spid="14354"/>
                                        </p:tgtEl>
                                        <p:attrNameLst>
                                          <p:attrName>ppt_x</p:attrName>
                                        </p:attrNameLst>
                                      </p:cBhvr>
                                      <p:tavLst>
                                        <p:tav tm="0">
                                          <p:val>
                                            <p:strVal val="#ppt_x"/>
                                          </p:val>
                                        </p:tav>
                                        <p:tav tm="100000">
                                          <p:val>
                                            <p:strVal val="#ppt_x"/>
                                          </p:val>
                                        </p:tav>
                                      </p:tavLst>
                                    </p:anim>
                                    <p:anim calcmode="lin" valueType="num">
                                      <p:cBhvr additive="base">
                                        <p:cTn id="44" dur="500" fill="hold"/>
                                        <p:tgtEl>
                                          <p:spTgt spid="14354"/>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14361"/>
                                        </p:tgtEl>
                                        <p:attrNameLst>
                                          <p:attrName>style.visibility</p:attrName>
                                        </p:attrNameLst>
                                      </p:cBhvr>
                                      <p:to>
                                        <p:strVal val="visible"/>
                                      </p:to>
                                    </p:set>
                                    <p:anim calcmode="lin" valueType="num">
                                      <p:cBhvr additive="base">
                                        <p:cTn id="47" dur="500" fill="hold"/>
                                        <p:tgtEl>
                                          <p:spTgt spid="14361"/>
                                        </p:tgtEl>
                                        <p:attrNameLst>
                                          <p:attrName>ppt_x</p:attrName>
                                        </p:attrNameLst>
                                      </p:cBhvr>
                                      <p:tavLst>
                                        <p:tav tm="0">
                                          <p:val>
                                            <p:strVal val="#ppt_x"/>
                                          </p:val>
                                        </p:tav>
                                        <p:tav tm="100000">
                                          <p:val>
                                            <p:strVal val="#ppt_x"/>
                                          </p:val>
                                        </p:tav>
                                      </p:tavLst>
                                    </p:anim>
                                    <p:anim calcmode="lin" valueType="num">
                                      <p:cBhvr additive="base">
                                        <p:cTn id="48" dur="500" fill="hold"/>
                                        <p:tgtEl>
                                          <p:spTgt spid="1436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5" grpId="0" animBg="1"/>
      <p:bldP spid="14346" grpId="0" animBg="1"/>
      <p:bldP spid="14347" grpId="0" animBg="1"/>
      <p:bldP spid="14348" grpId="0" animBg="1"/>
      <p:bldP spid="14349" grpId="0" animBg="1"/>
      <p:bldP spid="14350" grpId="0" animBg="1"/>
      <p:bldP spid="14351" grpId="0" animBg="1"/>
      <p:bldP spid="14352" grpId="0" animBg="1"/>
      <p:bldP spid="14353" grpId="0" animBg="1"/>
      <p:bldP spid="1435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2">
            <a:extLst>
              <a:ext uri="{FF2B5EF4-FFF2-40B4-BE49-F238E27FC236}">
                <a16:creationId xmlns:a16="http://schemas.microsoft.com/office/drawing/2014/main" id="{7CCF0041-1545-51F5-10C2-F09C704BE663}"/>
              </a:ext>
            </a:extLst>
          </p:cNvPr>
          <p:cNvSpPr>
            <a:spLocks noGrp="1" noChangeArrowheads="1"/>
          </p:cNvSpPr>
          <p:nvPr>
            <p:ph type="title"/>
          </p:nvPr>
        </p:nvSpPr>
        <p:spPr>
          <a:xfrm>
            <a:off x="2209800" y="0"/>
            <a:ext cx="7772400" cy="1143000"/>
          </a:xfrm>
        </p:spPr>
        <p:txBody>
          <a:bodyPr/>
          <a:lstStyle/>
          <a:p>
            <a:pPr eaLnBrk="1" hangingPunct="1"/>
            <a:r>
              <a:rPr lang="en-US" altLang="en-US" sz="2800"/>
              <a:t>Composition of Operations</a:t>
            </a:r>
          </a:p>
        </p:txBody>
      </p:sp>
      <p:sp>
        <p:nvSpPr>
          <p:cNvPr id="2052" name="Rectangle 3">
            <a:extLst>
              <a:ext uri="{FF2B5EF4-FFF2-40B4-BE49-F238E27FC236}">
                <a16:creationId xmlns:a16="http://schemas.microsoft.com/office/drawing/2014/main" id="{2165812F-A05D-97FC-E170-6DCB40E4D2EE}"/>
              </a:ext>
            </a:extLst>
          </p:cNvPr>
          <p:cNvSpPr>
            <a:spLocks noGrp="1" noChangeArrowheads="1"/>
          </p:cNvSpPr>
          <p:nvPr>
            <p:ph type="body" idx="1"/>
          </p:nvPr>
        </p:nvSpPr>
        <p:spPr>
          <a:xfrm>
            <a:off x="2514600" y="838200"/>
            <a:ext cx="7772400" cy="4114800"/>
          </a:xfrm>
        </p:spPr>
        <p:txBody>
          <a:bodyPr>
            <a:normAutofit fontScale="92500" lnSpcReduction="10000"/>
          </a:bodyPr>
          <a:lstStyle/>
          <a:p>
            <a:pPr eaLnBrk="1" hangingPunct="1">
              <a:lnSpc>
                <a:spcPct val="90000"/>
              </a:lnSpc>
            </a:pPr>
            <a:r>
              <a:rPr lang="en-US" altLang="en-US" sz="2400"/>
              <a:t>Can build expressions using multiple operations</a:t>
            </a:r>
          </a:p>
          <a:p>
            <a:pPr eaLnBrk="1" hangingPunct="1">
              <a:lnSpc>
                <a:spcPct val="90000"/>
              </a:lnSpc>
            </a:pPr>
            <a:r>
              <a:rPr lang="en-US" altLang="en-US" sz="2400"/>
              <a:t>Example:  </a:t>
            </a:r>
            <a:r>
              <a:rPr lang="en-US" altLang="en-US" sz="2400">
                <a:sym typeface="Symbol" panose="05050102010706020507" pitchFamily="18" charset="2"/>
              </a:rPr>
              <a:t></a:t>
            </a:r>
            <a:r>
              <a:rPr lang="en-US" altLang="en-US" sz="2400" baseline="-25000">
                <a:sym typeface="Symbol" panose="05050102010706020507" pitchFamily="18" charset="2"/>
              </a:rPr>
              <a:t>A=C</a:t>
            </a:r>
            <a:r>
              <a:rPr lang="en-US" altLang="en-US" sz="2400">
                <a:sym typeface="Symbol" panose="05050102010706020507" pitchFamily="18" charset="2"/>
              </a:rPr>
              <a:t>(</a:t>
            </a:r>
            <a:r>
              <a:rPr lang="en-US" altLang="en-US" sz="2400" i="1">
                <a:sym typeface="Symbol" panose="05050102010706020507" pitchFamily="18" charset="2"/>
              </a:rPr>
              <a:t>r </a:t>
            </a:r>
            <a:r>
              <a:rPr lang="en-US" altLang="en-US" sz="2400">
                <a:sym typeface="Symbol" panose="05050102010706020507" pitchFamily="18" charset="2"/>
              </a:rPr>
              <a:t></a:t>
            </a:r>
            <a:r>
              <a:rPr lang="en-US" altLang="en-US" sz="2400" i="1">
                <a:sym typeface="Symbol" panose="05050102010706020507" pitchFamily="18" charset="2"/>
              </a:rPr>
              <a:t> s</a:t>
            </a:r>
            <a:r>
              <a:rPr lang="en-US" altLang="en-US" sz="2400">
                <a:sym typeface="Symbol" panose="05050102010706020507" pitchFamily="18" charset="2"/>
              </a:rPr>
              <a:t>)</a:t>
            </a:r>
          </a:p>
          <a:p>
            <a:pPr eaLnBrk="1" hangingPunct="1">
              <a:lnSpc>
                <a:spcPct val="90000"/>
              </a:lnSpc>
            </a:pPr>
            <a:r>
              <a:rPr lang="en-US" altLang="en-US" sz="2400" i="1">
                <a:sym typeface="Symbol" panose="05050102010706020507" pitchFamily="18" charset="2"/>
              </a:rPr>
              <a:t>r </a:t>
            </a:r>
            <a:r>
              <a:rPr lang="en-US" altLang="en-US" sz="2400">
                <a:sym typeface="Symbol" panose="05050102010706020507" pitchFamily="18" charset="2"/>
              </a:rPr>
              <a:t></a:t>
            </a:r>
            <a:r>
              <a:rPr lang="en-US" altLang="en-US" sz="2400" i="1">
                <a:sym typeface="Symbol" panose="05050102010706020507" pitchFamily="18" charset="2"/>
              </a:rPr>
              <a:t> s</a:t>
            </a:r>
          </a:p>
          <a:p>
            <a:pPr eaLnBrk="1" hangingPunct="1">
              <a:lnSpc>
                <a:spcPct val="90000"/>
              </a:lnSpc>
            </a:pPr>
            <a:endParaRPr lang="en-US" altLang="en-US" sz="2400" i="1">
              <a:sym typeface="Symbol" panose="05050102010706020507" pitchFamily="18" charset="2"/>
            </a:endParaRPr>
          </a:p>
          <a:p>
            <a:pPr eaLnBrk="1" hangingPunct="1">
              <a:lnSpc>
                <a:spcPct val="90000"/>
              </a:lnSpc>
            </a:pPr>
            <a:endParaRPr lang="en-US" altLang="en-US" sz="2400" i="1">
              <a:sym typeface="Symbol" panose="05050102010706020507" pitchFamily="18" charset="2"/>
            </a:endParaRPr>
          </a:p>
          <a:p>
            <a:pPr eaLnBrk="1" hangingPunct="1">
              <a:lnSpc>
                <a:spcPct val="90000"/>
              </a:lnSpc>
            </a:pPr>
            <a:endParaRPr lang="en-US" altLang="en-US" sz="2400" i="1">
              <a:sym typeface="Symbol" panose="05050102010706020507" pitchFamily="18" charset="2"/>
            </a:endParaRPr>
          </a:p>
          <a:p>
            <a:pPr eaLnBrk="1" hangingPunct="1">
              <a:lnSpc>
                <a:spcPct val="90000"/>
              </a:lnSpc>
            </a:pPr>
            <a:endParaRPr lang="en-US" altLang="en-US" sz="2400" i="1">
              <a:sym typeface="Symbol" panose="05050102010706020507" pitchFamily="18" charset="2"/>
            </a:endParaRPr>
          </a:p>
          <a:p>
            <a:pPr eaLnBrk="1" hangingPunct="1">
              <a:lnSpc>
                <a:spcPct val="90000"/>
              </a:lnSpc>
            </a:pPr>
            <a:endParaRPr lang="en-US" altLang="en-US" sz="2400" i="1">
              <a:sym typeface="Symbol" panose="05050102010706020507" pitchFamily="18" charset="2"/>
            </a:endParaRPr>
          </a:p>
          <a:p>
            <a:pPr eaLnBrk="1" hangingPunct="1">
              <a:lnSpc>
                <a:spcPct val="90000"/>
              </a:lnSpc>
            </a:pPr>
            <a:endParaRPr lang="en-US" altLang="en-US" sz="2400" i="1">
              <a:sym typeface="Symbol" panose="05050102010706020507" pitchFamily="18" charset="2"/>
            </a:endParaRPr>
          </a:p>
          <a:p>
            <a:pPr eaLnBrk="1" hangingPunct="1">
              <a:lnSpc>
                <a:spcPct val="90000"/>
              </a:lnSpc>
            </a:pPr>
            <a:r>
              <a:rPr lang="en-US" altLang="en-US" sz="2400">
                <a:sym typeface="Symbol" panose="05050102010706020507" pitchFamily="18" charset="2"/>
              </a:rPr>
              <a:t></a:t>
            </a:r>
            <a:r>
              <a:rPr lang="en-US" altLang="en-US" sz="2400" baseline="-25000">
                <a:sym typeface="Symbol" panose="05050102010706020507" pitchFamily="18" charset="2"/>
              </a:rPr>
              <a:t>A=C</a:t>
            </a:r>
            <a:r>
              <a:rPr lang="en-US" altLang="en-US" sz="2400">
                <a:sym typeface="Symbol" panose="05050102010706020507" pitchFamily="18" charset="2"/>
              </a:rPr>
              <a:t>(</a:t>
            </a:r>
            <a:r>
              <a:rPr lang="en-US" altLang="en-US" sz="2400" i="1">
                <a:sym typeface="Symbol" panose="05050102010706020507" pitchFamily="18" charset="2"/>
              </a:rPr>
              <a:t>r </a:t>
            </a:r>
            <a:r>
              <a:rPr lang="en-US" altLang="en-US" sz="2400">
                <a:sym typeface="Symbol" panose="05050102010706020507" pitchFamily="18" charset="2"/>
              </a:rPr>
              <a:t></a:t>
            </a:r>
            <a:r>
              <a:rPr lang="en-US" altLang="en-US" sz="2400" i="1">
                <a:sym typeface="Symbol" panose="05050102010706020507" pitchFamily="18" charset="2"/>
              </a:rPr>
              <a:t> s</a:t>
            </a:r>
            <a:r>
              <a:rPr lang="en-US" altLang="en-US" sz="2400">
                <a:sym typeface="Symbol" panose="05050102010706020507" pitchFamily="18" charset="2"/>
              </a:rPr>
              <a:t>)</a:t>
            </a:r>
          </a:p>
        </p:txBody>
      </p:sp>
      <p:graphicFrame>
        <p:nvGraphicFramePr>
          <p:cNvPr id="2050" name="Object 4">
            <a:extLst>
              <a:ext uri="{FF2B5EF4-FFF2-40B4-BE49-F238E27FC236}">
                <a16:creationId xmlns:a16="http://schemas.microsoft.com/office/drawing/2014/main" id="{6521E619-3A90-A93C-75A3-A4F6A8ECC6B3}"/>
              </a:ext>
            </a:extLst>
          </p:cNvPr>
          <p:cNvGraphicFramePr>
            <a:graphicFrameLocks noChangeAspect="1"/>
          </p:cNvGraphicFramePr>
          <p:nvPr/>
        </p:nvGraphicFramePr>
        <p:xfrm>
          <a:off x="6026150" y="3282951"/>
          <a:ext cx="139700" cy="290513"/>
        </p:xfrm>
        <a:graphic>
          <a:graphicData uri="http://schemas.openxmlformats.org/presentationml/2006/ole">
            <mc:AlternateContent xmlns:mc="http://schemas.openxmlformats.org/markup-compatibility/2006">
              <mc:Choice xmlns:v="urn:schemas-microsoft-com:vml" Requires="v">
                <p:oleObj name="Equation" r:id="rId2" imgW="139680" imgH="291960" progId="Equation.3">
                  <p:embed/>
                </p:oleObj>
              </mc:Choice>
              <mc:Fallback>
                <p:oleObj name="Equation" r:id="rId2" imgW="139680" imgH="291960" progId="Equation.3">
                  <p:embed/>
                  <p:pic>
                    <p:nvPicPr>
                      <p:cNvPr id="2050" name="Object 4">
                        <a:extLst>
                          <a:ext uri="{FF2B5EF4-FFF2-40B4-BE49-F238E27FC236}">
                            <a16:creationId xmlns:a16="http://schemas.microsoft.com/office/drawing/2014/main" id="{6521E619-3A90-A93C-75A3-A4F6A8ECC6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26150" y="3282951"/>
                        <a:ext cx="139700" cy="290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53" name="Rectangle 5">
            <a:extLst>
              <a:ext uri="{FF2B5EF4-FFF2-40B4-BE49-F238E27FC236}">
                <a16:creationId xmlns:a16="http://schemas.microsoft.com/office/drawing/2014/main" id="{F9ACCDD0-759A-83D0-5BC6-537367B88E11}"/>
              </a:ext>
            </a:extLst>
          </p:cNvPr>
          <p:cNvSpPr>
            <a:spLocks noChangeArrowheads="1"/>
          </p:cNvSpPr>
          <p:nvPr/>
        </p:nvSpPr>
        <p:spPr bwMode="auto">
          <a:xfrm>
            <a:off x="4937125" y="1966913"/>
            <a:ext cx="457200" cy="5334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r>
              <a:rPr lang="en-US" altLang="en-US" i="1">
                <a:latin typeface="Helvetica" panose="020B0604020202020204" pitchFamily="34" charset="0"/>
              </a:rPr>
              <a:t>A</a:t>
            </a:r>
          </a:p>
        </p:txBody>
      </p:sp>
      <p:sp>
        <p:nvSpPr>
          <p:cNvPr id="2054" name="Rectangle 6">
            <a:extLst>
              <a:ext uri="{FF2B5EF4-FFF2-40B4-BE49-F238E27FC236}">
                <a16:creationId xmlns:a16="http://schemas.microsoft.com/office/drawing/2014/main" id="{7074D946-EB87-53A1-DFD3-79E224E2D2DC}"/>
              </a:ext>
            </a:extLst>
          </p:cNvPr>
          <p:cNvSpPr>
            <a:spLocks noChangeArrowheads="1"/>
          </p:cNvSpPr>
          <p:nvPr/>
        </p:nvSpPr>
        <p:spPr bwMode="auto">
          <a:xfrm>
            <a:off x="5394325" y="1966913"/>
            <a:ext cx="457200" cy="5334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r>
              <a:rPr lang="en-US" altLang="en-US" i="1">
                <a:latin typeface="Helvetica" panose="020B0604020202020204" pitchFamily="34" charset="0"/>
              </a:rPr>
              <a:t>B</a:t>
            </a:r>
          </a:p>
        </p:txBody>
      </p:sp>
      <p:sp>
        <p:nvSpPr>
          <p:cNvPr id="2055" name="Rectangle 7">
            <a:extLst>
              <a:ext uri="{FF2B5EF4-FFF2-40B4-BE49-F238E27FC236}">
                <a16:creationId xmlns:a16="http://schemas.microsoft.com/office/drawing/2014/main" id="{3731CAEC-BB90-48AD-661D-BA1C8F4C80B4}"/>
              </a:ext>
            </a:extLst>
          </p:cNvPr>
          <p:cNvSpPr>
            <a:spLocks noChangeArrowheads="1"/>
          </p:cNvSpPr>
          <p:nvPr/>
        </p:nvSpPr>
        <p:spPr bwMode="auto">
          <a:xfrm>
            <a:off x="4937125" y="2576513"/>
            <a:ext cx="457200" cy="21336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r>
              <a:rPr lang="en-US" altLang="en-US" i="1">
                <a:latin typeface="Helvetica" panose="020B0604020202020204" pitchFamily="34" charset="0"/>
                <a:sym typeface="Symbol" panose="05050102010706020507" pitchFamily="18" charset="2"/>
              </a:rPr>
              <a:t></a:t>
            </a:r>
          </a:p>
          <a:p>
            <a:pPr algn="ctr"/>
            <a:r>
              <a:rPr lang="en-US" altLang="en-US" i="1">
                <a:latin typeface="Helvetica" panose="020B0604020202020204" pitchFamily="34" charset="0"/>
                <a:sym typeface="Symbol" panose="05050102010706020507" pitchFamily="18" charset="2"/>
              </a:rPr>
              <a:t></a:t>
            </a:r>
          </a:p>
          <a:p>
            <a:pPr algn="ctr"/>
            <a:r>
              <a:rPr lang="en-US" altLang="en-US" i="1">
                <a:latin typeface="Helvetica" panose="020B0604020202020204" pitchFamily="34" charset="0"/>
                <a:sym typeface="Symbol" panose="05050102010706020507" pitchFamily="18" charset="2"/>
              </a:rPr>
              <a:t></a:t>
            </a:r>
          </a:p>
          <a:p>
            <a:pPr algn="ctr"/>
            <a:r>
              <a:rPr lang="en-US" altLang="en-US" i="1">
                <a:latin typeface="Helvetica" panose="020B0604020202020204" pitchFamily="34" charset="0"/>
                <a:sym typeface="Symbol" panose="05050102010706020507" pitchFamily="18" charset="2"/>
              </a:rPr>
              <a:t></a:t>
            </a:r>
          </a:p>
          <a:p>
            <a:pPr algn="ctr"/>
            <a:r>
              <a:rPr lang="en-US" altLang="en-US" i="1">
                <a:latin typeface="Helvetica" panose="020B0604020202020204" pitchFamily="34" charset="0"/>
                <a:sym typeface="Symbol" panose="05050102010706020507" pitchFamily="18" charset="2"/>
              </a:rPr>
              <a:t></a:t>
            </a:r>
          </a:p>
          <a:p>
            <a:pPr algn="ctr"/>
            <a:r>
              <a:rPr lang="en-US" altLang="en-US" i="1">
                <a:latin typeface="Helvetica" panose="020B0604020202020204" pitchFamily="34" charset="0"/>
                <a:sym typeface="Symbol" panose="05050102010706020507" pitchFamily="18" charset="2"/>
              </a:rPr>
              <a:t></a:t>
            </a:r>
          </a:p>
          <a:p>
            <a:pPr algn="ctr"/>
            <a:r>
              <a:rPr lang="en-US" altLang="en-US" i="1">
                <a:latin typeface="Helvetica" panose="020B0604020202020204" pitchFamily="34" charset="0"/>
                <a:sym typeface="Symbol" panose="05050102010706020507" pitchFamily="18" charset="2"/>
              </a:rPr>
              <a:t></a:t>
            </a:r>
          </a:p>
          <a:p>
            <a:pPr algn="ctr"/>
            <a:r>
              <a:rPr lang="en-US" altLang="en-US" i="1">
                <a:latin typeface="Helvetica" panose="020B0604020202020204" pitchFamily="34" charset="0"/>
                <a:sym typeface="Symbol" panose="05050102010706020507" pitchFamily="18" charset="2"/>
              </a:rPr>
              <a:t></a:t>
            </a:r>
          </a:p>
        </p:txBody>
      </p:sp>
      <p:sp>
        <p:nvSpPr>
          <p:cNvPr id="2056" name="Rectangle 8">
            <a:extLst>
              <a:ext uri="{FF2B5EF4-FFF2-40B4-BE49-F238E27FC236}">
                <a16:creationId xmlns:a16="http://schemas.microsoft.com/office/drawing/2014/main" id="{354EBA82-1F40-6CA0-9EAE-71BD6C516366}"/>
              </a:ext>
            </a:extLst>
          </p:cNvPr>
          <p:cNvSpPr>
            <a:spLocks noChangeArrowheads="1"/>
          </p:cNvSpPr>
          <p:nvPr/>
        </p:nvSpPr>
        <p:spPr bwMode="auto">
          <a:xfrm>
            <a:off x="5394325" y="2576513"/>
            <a:ext cx="457200" cy="21336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r>
              <a:rPr lang="en-US" altLang="en-US" i="1">
                <a:latin typeface="Helvetica" panose="020B0604020202020204" pitchFamily="34" charset="0"/>
                <a:sym typeface="Symbol" panose="05050102010706020507" pitchFamily="18" charset="2"/>
              </a:rPr>
              <a:t>1</a:t>
            </a:r>
          </a:p>
          <a:p>
            <a:pPr algn="ctr"/>
            <a:r>
              <a:rPr lang="en-US" altLang="en-US" i="1">
                <a:latin typeface="Helvetica" panose="020B0604020202020204" pitchFamily="34" charset="0"/>
                <a:sym typeface="Symbol" panose="05050102010706020507" pitchFamily="18" charset="2"/>
              </a:rPr>
              <a:t>1</a:t>
            </a:r>
          </a:p>
          <a:p>
            <a:pPr algn="ctr"/>
            <a:r>
              <a:rPr lang="en-US" altLang="en-US" i="1">
                <a:latin typeface="Helvetica" panose="020B0604020202020204" pitchFamily="34" charset="0"/>
                <a:sym typeface="Symbol" panose="05050102010706020507" pitchFamily="18" charset="2"/>
              </a:rPr>
              <a:t>1</a:t>
            </a:r>
          </a:p>
          <a:p>
            <a:pPr algn="ctr"/>
            <a:r>
              <a:rPr lang="en-US" altLang="en-US" i="1">
                <a:latin typeface="Helvetica" panose="020B0604020202020204" pitchFamily="34" charset="0"/>
                <a:sym typeface="Symbol" panose="05050102010706020507" pitchFamily="18" charset="2"/>
              </a:rPr>
              <a:t>1</a:t>
            </a:r>
          </a:p>
          <a:p>
            <a:pPr algn="ctr"/>
            <a:r>
              <a:rPr lang="en-US" altLang="en-US" i="1">
                <a:latin typeface="Helvetica" panose="020B0604020202020204" pitchFamily="34" charset="0"/>
                <a:sym typeface="Symbol" panose="05050102010706020507" pitchFamily="18" charset="2"/>
              </a:rPr>
              <a:t>2</a:t>
            </a:r>
          </a:p>
          <a:p>
            <a:pPr algn="ctr"/>
            <a:r>
              <a:rPr lang="en-US" altLang="en-US" i="1">
                <a:latin typeface="Helvetica" panose="020B0604020202020204" pitchFamily="34" charset="0"/>
                <a:sym typeface="Symbol" panose="05050102010706020507" pitchFamily="18" charset="2"/>
              </a:rPr>
              <a:t>2</a:t>
            </a:r>
          </a:p>
          <a:p>
            <a:pPr algn="ctr"/>
            <a:r>
              <a:rPr lang="en-US" altLang="en-US" i="1">
                <a:latin typeface="Helvetica" panose="020B0604020202020204" pitchFamily="34" charset="0"/>
                <a:sym typeface="Symbol" panose="05050102010706020507" pitchFamily="18" charset="2"/>
              </a:rPr>
              <a:t>2</a:t>
            </a:r>
          </a:p>
          <a:p>
            <a:pPr algn="ctr"/>
            <a:r>
              <a:rPr lang="en-US" altLang="en-US" i="1">
                <a:latin typeface="Helvetica" panose="020B0604020202020204" pitchFamily="34" charset="0"/>
                <a:sym typeface="Symbol" panose="05050102010706020507" pitchFamily="18" charset="2"/>
              </a:rPr>
              <a:t>2</a:t>
            </a:r>
          </a:p>
        </p:txBody>
      </p:sp>
      <p:sp>
        <p:nvSpPr>
          <p:cNvPr id="2057" name="Rectangle 9">
            <a:extLst>
              <a:ext uri="{FF2B5EF4-FFF2-40B4-BE49-F238E27FC236}">
                <a16:creationId xmlns:a16="http://schemas.microsoft.com/office/drawing/2014/main" id="{81B80B28-11C6-747B-197C-2C308A112B22}"/>
              </a:ext>
            </a:extLst>
          </p:cNvPr>
          <p:cNvSpPr>
            <a:spLocks noChangeArrowheads="1"/>
          </p:cNvSpPr>
          <p:nvPr/>
        </p:nvSpPr>
        <p:spPr bwMode="auto">
          <a:xfrm>
            <a:off x="5851525" y="1966913"/>
            <a:ext cx="457200" cy="5334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r>
              <a:rPr lang="en-US" altLang="en-US" i="1">
                <a:latin typeface="Helvetica" panose="020B0604020202020204" pitchFamily="34" charset="0"/>
              </a:rPr>
              <a:t>C</a:t>
            </a:r>
          </a:p>
        </p:txBody>
      </p:sp>
      <p:sp>
        <p:nvSpPr>
          <p:cNvPr id="2058" name="Rectangle 10">
            <a:extLst>
              <a:ext uri="{FF2B5EF4-FFF2-40B4-BE49-F238E27FC236}">
                <a16:creationId xmlns:a16="http://schemas.microsoft.com/office/drawing/2014/main" id="{35F29E09-A6BE-3450-0AC6-324567205161}"/>
              </a:ext>
            </a:extLst>
          </p:cNvPr>
          <p:cNvSpPr>
            <a:spLocks noChangeArrowheads="1"/>
          </p:cNvSpPr>
          <p:nvPr/>
        </p:nvSpPr>
        <p:spPr bwMode="auto">
          <a:xfrm>
            <a:off x="6308725" y="1966913"/>
            <a:ext cx="457200" cy="5334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r>
              <a:rPr lang="en-US" altLang="en-US" i="1">
                <a:latin typeface="Helvetica" panose="020B0604020202020204" pitchFamily="34" charset="0"/>
              </a:rPr>
              <a:t>D</a:t>
            </a:r>
          </a:p>
        </p:txBody>
      </p:sp>
      <p:sp>
        <p:nvSpPr>
          <p:cNvPr id="2059" name="Rectangle 11">
            <a:extLst>
              <a:ext uri="{FF2B5EF4-FFF2-40B4-BE49-F238E27FC236}">
                <a16:creationId xmlns:a16="http://schemas.microsoft.com/office/drawing/2014/main" id="{9AAFE938-4052-8375-F220-D32A9D4C85B0}"/>
              </a:ext>
            </a:extLst>
          </p:cNvPr>
          <p:cNvSpPr>
            <a:spLocks noChangeArrowheads="1"/>
          </p:cNvSpPr>
          <p:nvPr/>
        </p:nvSpPr>
        <p:spPr bwMode="auto">
          <a:xfrm>
            <a:off x="5851525" y="2576513"/>
            <a:ext cx="457200" cy="21336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r>
              <a:rPr lang="en-US" altLang="en-US" i="1">
                <a:latin typeface="Helvetica" panose="020B0604020202020204" pitchFamily="34" charset="0"/>
                <a:sym typeface="Symbol" panose="05050102010706020507" pitchFamily="18" charset="2"/>
              </a:rPr>
              <a:t></a:t>
            </a:r>
          </a:p>
          <a:p>
            <a:pPr algn="ctr"/>
            <a:r>
              <a:rPr lang="en-US" altLang="en-US" i="1">
                <a:latin typeface="Helvetica" panose="020B0604020202020204" pitchFamily="34" charset="0"/>
                <a:sym typeface="Symbol" panose="05050102010706020507" pitchFamily="18" charset="2"/>
              </a:rPr>
              <a:t> </a:t>
            </a:r>
          </a:p>
          <a:p>
            <a:pPr algn="ctr"/>
            <a:r>
              <a:rPr lang="en-US" altLang="en-US" i="1">
                <a:latin typeface="Helvetica" panose="020B0604020202020204" pitchFamily="34" charset="0"/>
                <a:sym typeface="Symbol" panose="05050102010706020507" pitchFamily="18" charset="2"/>
              </a:rPr>
              <a:t></a:t>
            </a:r>
          </a:p>
          <a:p>
            <a:pPr algn="ctr"/>
            <a:r>
              <a:rPr lang="en-US" altLang="en-US" i="1">
                <a:latin typeface="Helvetica" panose="020B0604020202020204" pitchFamily="34" charset="0"/>
                <a:sym typeface="Symbol" panose="05050102010706020507" pitchFamily="18" charset="2"/>
              </a:rPr>
              <a:t> </a:t>
            </a:r>
            <a:br>
              <a:rPr lang="en-US" altLang="en-US" i="1">
                <a:latin typeface="Helvetica" panose="020B0604020202020204" pitchFamily="34" charset="0"/>
                <a:sym typeface="Symbol" panose="05050102010706020507" pitchFamily="18" charset="2"/>
              </a:rPr>
            </a:br>
            <a:r>
              <a:rPr lang="en-US" altLang="en-US" i="1">
                <a:latin typeface="Helvetica" panose="020B0604020202020204" pitchFamily="34" charset="0"/>
                <a:sym typeface="Symbol" panose="05050102010706020507" pitchFamily="18" charset="2"/>
              </a:rPr>
              <a:t></a:t>
            </a:r>
          </a:p>
          <a:p>
            <a:pPr algn="ctr"/>
            <a:r>
              <a:rPr lang="en-US" altLang="en-US" i="1">
                <a:latin typeface="Helvetica" panose="020B0604020202020204" pitchFamily="34" charset="0"/>
                <a:sym typeface="Symbol" panose="05050102010706020507" pitchFamily="18" charset="2"/>
              </a:rPr>
              <a:t></a:t>
            </a:r>
          </a:p>
          <a:p>
            <a:pPr algn="ctr"/>
            <a:r>
              <a:rPr lang="en-US" altLang="en-US" i="1">
                <a:latin typeface="Helvetica" panose="020B0604020202020204" pitchFamily="34" charset="0"/>
                <a:sym typeface="Symbol" panose="05050102010706020507" pitchFamily="18" charset="2"/>
              </a:rPr>
              <a:t></a:t>
            </a:r>
          </a:p>
          <a:p>
            <a:pPr algn="ctr"/>
            <a:r>
              <a:rPr lang="en-US" altLang="en-US" i="1">
                <a:latin typeface="Helvetica" panose="020B0604020202020204" pitchFamily="34" charset="0"/>
                <a:sym typeface="Symbol" panose="05050102010706020507" pitchFamily="18" charset="2"/>
              </a:rPr>
              <a:t></a:t>
            </a:r>
          </a:p>
        </p:txBody>
      </p:sp>
      <p:sp>
        <p:nvSpPr>
          <p:cNvPr id="2060" name="Rectangle 12">
            <a:extLst>
              <a:ext uri="{FF2B5EF4-FFF2-40B4-BE49-F238E27FC236}">
                <a16:creationId xmlns:a16="http://schemas.microsoft.com/office/drawing/2014/main" id="{3C215B12-B6E3-7CA4-1124-0C954405E1AB}"/>
              </a:ext>
            </a:extLst>
          </p:cNvPr>
          <p:cNvSpPr>
            <a:spLocks noChangeArrowheads="1"/>
          </p:cNvSpPr>
          <p:nvPr/>
        </p:nvSpPr>
        <p:spPr bwMode="auto">
          <a:xfrm>
            <a:off x="6308725" y="2576513"/>
            <a:ext cx="457200" cy="21336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r>
              <a:rPr lang="en-US" altLang="en-US" i="1">
                <a:latin typeface="Helvetica" panose="020B0604020202020204" pitchFamily="34" charset="0"/>
                <a:sym typeface="Symbol" panose="05050102010706020507" pitchFamily="18" charset="2"/>
              </a:rPr>
              <a:t>10</a:t>
            </a:r>
          </a:p>
          <a:p>
            <a:pPr algn="ctr"/>
            <a:r>
              <a:rPr lang="en-US" altLang="en-US" i="1">
                <a:latin typeface="Helvetica" panose="020B0604020202020204" pitchFamily="34" charset="0"/>
                <a:sym typeface="Symbol" panose="05050102010706020507" pitchFamily="18" charset="2"/>
              </a:rPr>
              <a:t>10</a:t>
            </a:r>
          </a:p>
          <a:p>
            <a:pPr algn="ctr"/>
            <a:r>
              <a:rPr lang="en-US" altLang="en-US" i="1">
                <a:latin typeface="Helvetica" panose="020B0604020202020204" pitchFamily="34" charset="0"/>
                <a:sym typeface="Symbol" panose="05050102010706020507" pitchFamily="18" charset="2"/>
              </a:rPr>
              <a:t>20</a:t>
            </a:r>
          </a:p>
          <a:p>
            <a:pPr algn="ctr"/>
            <a:r>
              <a:rPr lang="en-US" altLang="en-US" i="1">
                <a:latin typeface="Helvetica" panose="020B0604020202020204" pitchFamily="34" charset="0"/>
                <a:sym typeface="Symbol" panose="05050102010706020507" pitchFamily="18" charset="2"/>
              </a:rPr>
              <a:t>10</a:t>
            </a:r>
          </a:p>
          <a:p>
            <a:pPr algn="ctr"/>
            <a:r>
              <a:rPr lang="en-US" altLang="en-US" i="1">
                <a:latin typeface="Helvetica" panose="020B0604020202020204" pitchFamily="34" charset="0"/>
                <a:sym typeface="Symbol" panose="05050102010706020507" pitchFamily="18" charset="2"/>
              </a:rPr>
              <a:t>10</a:t>
            </a:r>
          </a:p>
          <a:p>
            <a:pPr algn="ctr"/>
            <a:r>
              <a:rPr lang="en-US" altLang="en-US" i="1">
                <a:latin typeface="Helvetica" panose="020B0604020202020204" pitchFamily="34" charset="0"/>
                <a:sym typeface="Symbol" panose="05050102010706020507" pitchFamily="18" charset="2"/>
              </a:rPr>
              <a:t>10</a:t>
            </a:r>
          </a:p>
          <a:p>
            <a:pPr algn="ctr"/>
            <a:r>
              <a:rPr lang="en-US" altLang="en-US" i="1">
                <a:latin typeface="Helvetica" panose="020B0604020202020204" pitchFamily="34" charset="0"/>
                <a:sym typeface="Symbol" panose="05050102010706020507" pitchFamily="18" charset="2"/>
              </a:rPr>
              <a:t>20</a:t>
            </a:r>
          </a:p>
          <a:p>
            <a:pPr algn="ctr"/>
            <a:r>
              <a:rPr lang="en-US" altLang="en-US" i="1">
                <a:latin typeface="Helvetica" panose="020B0604020202020204" pitchFamily="34" charset="0"/>
                <a:sym typeface="Symbol" panose="05050102010706020507" pitchFamily="18" charset="2"/>
              </a:rPr>
              <a:t>10</a:t>
            </a:r>
          </a:p>
        </p:txBody>
      </p:sp>
      <p:sp>
        <p:nvSpPr>
          <p:cNvPr id="2061" name="Rectangle 13">
            <a:extLst>
              <a:ext uri="{FF2B5EF4-FFF2-40B4-BE49-F238E27FC236}">
                <a16:creationId xmlns:a16="http://schemas.microsoft.com/office/drawing/2014/main" id="{914D5731-8B9B-7287-CF67-8B650B757B08}"/>
              </a:ext>
            </a:extLst>
          </p:cNvPr>
          <p:cNvSpPr>
            <a:spLocks noChangeArrowheads="1"/>
          </p:cNvSpPr>
          <p:nvPr/>
        </p:nvSpPr>
        <p:spPr bwMode="auto">
          <a:xfrm>
            <a:off x="6765925" y="1966913"/>
            <a:ext cx="457200" cy="5334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r>
              <a:rPr lang="en-US" altLang="en-US" i="1">
                <a:latin typeface="Helvetica" panose="020B0604020202020204" pitchFamily="34" charset="0"/>
              </a:rPr>
              <a:t>E</a:t>
            </a:r>
          </a:p>
        </p:txBody>
      </p:sp>
      <p:sp>
        <p:nvSpPr>
          <p:cNvPr id="2062" name="Rectangle 14">
            <a:extLst>
              <a:ext uri="{FF2B5EF4-FFF2-40B4-BE49-F238E27FC236}">
                <a16:creationId xmlns:a16="http://schemas.microsoft.com/office/drawing/2014/main" id="{FD759AD7-B994-C6C3-91FA-2575C93D3157}"/>
              </a:ext>
            </a:extLst>
          </p:cNvPr>
          <p:cNvSpPr>
            <a:spLocks noChangeArrowheads="1"/>
          </p:cNvSpPr>
          <p:nvPr/>
        </p:nvSpPr>
        <p:spPr bwMode="auto">
          <a:xfrm>
            <a:off x="6765925" y="2576513"/>
            <a:ext cx="457200" cy="21336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r>
              <a:rPr lang="en-US" altLang="en-US" i="1">
                <a:latin typeface="Helvetica" panose="020B0604020202020204" pitchFamily="34" charset="0"/>
                <a:sym typeface="Symbol" panose="05050102010706020507" pitchFamily="18" charset="2"/>
              </a:rPr>
              <a:t>a</a:t>
            </a:r>
          </a:p>
          <a:p>
            <a:pPr algn="ctr"/>
            <a:r>
              <a:rPr lang="en-US" altLang="en-US" i="1">
                <a:latin typeface="Helvetica" panose="020B0604020202020204" pitchFamily="34" charset="0"/>
                <a:sym typeface="Symbol" panose="05050102010706020507" pitchFamily="18" charset="2"/>
              </a:rPr>
              <a:t>a</a:t>
            </a:r>
          </a:p>
          <a:p>
            <a:pPr algn="ctr"/>
            <a:r>
              <a:rPr lang="en-US" altLang="en-US" i="1">
                <a:latin typeface="Helvetica" panose="020B0604020202020204" pitchFamily="34" charset="0"/>
                <a:sym typeface="Symbol" panose="05050102010706020507" pitchFamily="18" charset="2"/>
              </a:rPr>
              <a:t>b</a:t>
            </a:r>
          </a:p>
          <a:p>
            <a:pPr algn="ctr"/>
            <a:r>
              <a:rPr lang="en-US" altLang="en-US" i="1">
                <a:latin typeface="Helvetica" panose="020B0604020202020204" pitchFamily="34" charset="0"/>
                <a:sym typeface="Symbol" panose="05050102010706020507" pitchFamily="18" charset="2"/>
              </a:rPr>
              <a:t>b</a:t>
            </a:r>
          </a:p>
          <a:p>
            <a:pPr algn="ctr"/>
            <a:r>
              <a:rPr lang="en-US" altLang="en-US" i="1">
                <a:latin typeface="Helvetica" panose="020B0604020202020204" pitchFamily="34" charset="0"/>
                <a:sym typeface="Symbol" panose="05050102010706020507" pitchFamily="18" charset="2"/>
              </a:rPr>
              <a:t>a</a:t>
            </a:r>
          </a:p>
          <a:p>
            <a:pPr algn="ctr"/>
            <a:r>
              <a:rPr lang="en-US" altLang="en-US" i="1">
                <a:latin typeface="Helvetica" panose="020B0604020202020204" pitchFamily="34" charset="0"/>
                <a:sym typeface="Symbol" panose="05050102010706020507" pitchFamily="18" charset="2"/>
              </a:rPr>
              <a:t>a</a:t>
            </a:r>
          </a:p>
          <a:p>
            <a:pPr algn="ctr"/>
            <a:r>
              <a:rPr lang="en-US" altLang="en-US" i="1">
                <a:latin typeface="Helvetica" panose="020B0604020202020204" pitchFamily="34" charset="0"/>
                <a:sym typeface="Symbol" panose="05050102010706020507" pitchFamily="18" charset="2"/>
              </a:rPr>
              <a:t>b</a:t>
            </a:r>
          </a:p>
          <a:p>
            <a:pPr algn="ctr"/>
            <a:r>
              <a:rPr lang="en-US" altLang="en-US" i="1">
                <a:latin typeface="Helvetica" panose="020B0604020202020204" pitchFamily="34" charset="0"/>
                <a:sym typeface="Symbol" panose="05050102010706020507" pitchFamily="18" charset="2"/>
              </a:rPr>
              <a:t>b</a:t>
            </a:r>
          </a:p>
        </p:txBody>
      </p:sp>
      <p:sp>
        <p:nvSpPr>
          <p:cNvPr id="16399" name="Rectangle 15">
            <a:extLst>
              <a:ext uri="{FF2B5EF4-FFF2-40B4-BE49-F238E27FC236}">
                <a16:creationId xmlns:a16="http://schemas.microsoft.com/office/drawing/2014/main" id="{14190028-A6C3-4C20-44FD-436310C85916}"/>
              </a:ext>
            </a:extLst>
          </p:cNvPr>
          <p:cNvSpPr>
            <a:spLocks noChangeArrowheads="1"/>
          </p:cNvSpPr>
          <p:nvPr/>
        </p:nvSpPr>
        <p:spPr bwMode="auto">
          <a:xfrm>
            <a:off x="4927600" y="5006975"/>
            <a:ext cx="457200" cy="5334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r>
              <a:rPr lang="en-US" altLang="en-US" i="1">
                <a:latin typeface="Helvetica" panose="020B0604020202020204" pitchFamily="34" charset="0"/>
              </a:rPr>
              <a:t>A</a:t>
            </a:r>
          </a:p>
        </p:txBody>
      </p:sp>
      <p:sp>
        <p:nvSpPr>
          <p:cNvPr id="16400" name="Rectangle 16">
            <a:extLst>
              <a:ext uri="{FF2B5EF4-FFF2-40B4-BE49-F238E27FC236}">
                <a16:creationId xmlns:a16="http://schemas.microsoft.com/office/drawing/2014/main" id="{21111A7C-C80D-78B9-CF8D-2103415D2FDB}"/>
              </a:ext>
            </a:extLst>
          </p:cNvPr>
          <p:cNvSpPr>
            <a:spLocks noChangeArrowheads="1"/>
          </p:cNvSpPr>
          <p:nvPr/>
        </p:nvSpPr>
        <p:spPr bwMode="auto">
          <a:xfrm>
            <a:off x="5384800" y="5006975"/>
            <a:ext cx="457200" cy="5334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r>
              <a:rPr lang="en-US" altLang="en-US" i="1">
                <a:latin typeface="Helvetica" panose="020B0604020202020204" pitchFamily="34" charset="0"/>
              </a:rPr>
              <a:t>B</a:t>
            </a:r>
          </a:p>
        </p:txBody>
      </p:sp>
      <p:sp>
        <p:nvSpPr>
          <p:cNvPr id="16401" name="Rectangle 17">
            <a:extLst>
              <a:ext uri="{FF2B5EF4-FFF2-40B4-BE49-F238E27FC236}">
                <a16:creationId xmlns:a16="http://schemas.microsoft.com/office/drawing/2014/main" id="{9CBAE317-3228-1109-EFB6-C0AF1A9EB185}"/>
              </a:ext>
            </a:extLst>
          </p:cNvPr>
          <p:cNvSpPr>
            <a:spLocks noChangeArrowheads="1"/>
          </p:cNvSpPr>
          <p:nvPr/>
        </p:nvSpPr>
        <p:spPr bwMode="auto">
          <a:xfrm>
            <a:off x="5842000" y="5006975"/>
            <a:ext cx="457200" cy="5334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r>
              <a:rPr lang="en-US" altLang="en-US" i="1">
                <a:latin typeface="Helvetica" panose="020B0604020202020204" pitchFamily="34" charset="0"/>
              </a:rPr>
              <a:t>C</a:t>
            </a:r>
          </a:p>
        </p:txBody>
      </p:sp>
      <p:sp>
        <p:nvSpPr>
          <p:cNvPr id="16402" name="Rectangle 18">
            <a:extLst>
              <a:ext uri="{FF2B5EF4-FFF2-40B4-BE49-F238E27FC236}">
                <a16:creationId xmlns:a16="http://schemas.microsoft.com/office/drawing/2014/main" id="{A11BE9F4-E195-FCD3-40C2-EF8A780E8C6A}"/>
              </a:ext>
            </a:extLst>
          </p:cNvPr>
          <p:cNvSpPr>
            <a:spLocks noChangeArrowheads="1"/>
          </p:cNvSpPr>
          <p:nvPr/>
        </p:nvSpPr>
        <p:spPr bwMode="auto">
          <a:xfrm>
            <a:off x="6299200" y="5006975"/>
            <a:ext cx="457200" cy="5334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r>
              <a:rPr lang="en-US" altLang="en-US" i="1">
                <a:latin typeface="Helvetica" panose="020B0604020202020204" pitchFamily="34" charset="0"/>
              </a:rPr>
              <a:t>D</a:t>
            </a:r>
          </a:p>
        </p:txBody>
      </p:sp>
      <p:sp>
        <p:nvSpPr>
          <p:cNvPr id="16403" name="Rectangle 19">
            <a:extLst>
              <a:ext uri="{FF2B5EF4-FFF2-40B4-BE49-F238E27FC236}">
                <a16:creationId xmlns:a16="http://schemas.microsoft.com/office/drawing/2014/main" id="{998B11FF-3CA4-AE32-F286-7E6D83832365}"/>
              </a:ext>
            </a:extLst>
          </p:cNvPr>
          <p:cNvSpPr>
            <a:spLocks noChangeArrowheads="1"/>
          </p:cNvSpPr>
          <p:nvPr/>
        </p:nvSpPr>
        <p:spPr bwMode="auto">
          <a:xfrm>
            <a:off x="6756400" y="5006975"/>
            <a:ext cx="457200" cy="5334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r>
              <a:rPr lang="en-US" altLang="en-US" i="1">
                <a:latin typeface="Helvetica" panose="020B0604020202020204" pitchFamily="34" charset="0"/>
              </a:rPr>
              <a:t>E</a:t>
            </a:r>
          </a:p>
        </p:txBody>
      </p:sp>
      <p:sp>
        <p:nvSpPr>
          <p:cNvPr id="16404" name="Rectangle 20">
            <a:extLst>
              <a:ext uri="{FF2B5EF4-FFF2-40B4-BE49-F238E27FC236}">
                <a16:creationId xmlns:a16="http://schemas.microsoft.com/office/drawing/2014/main" id="{86EA4D4F-0FF6-9B66-518A-C39F3CF3EC3B}"/>
              </a:ext>
            </a:extLst>
          </p:cNvPr>
          <p:cNvSpPr>
            <a:spLocks noChangeArrowheads="1"/>
          </p:cNvSpPr>
          <p:nvPr/>
        </p:nvSpPr>
        <p:spPr bwMode="auto">
          <a:xfrm>
            <a:off x="4927600" y="5589588"/>
            <a:ext cx="482600" cy="90805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lnSpc>
                <a:spcPct val="70000"/>
              </a:lnSpc>
            </a:pPr>
            <a:endParaRPr lang="en-US" altLang="en-US" i="1">
              <a:latin typeface="Helvetica" panose="020B0604020202020204" pitchFamily="34" charset="0"/>
              <a:sym typeface="Symbol" panose="05050102010706020507" pitchFamily="18" charset="2"/>
            </a:endParaRPr>
          </a:p>
        </p:txBody>
      </p:sp>
      <p:sp>
        <p:nvSpPr>
          <p:cNvPr id="16405" name="Rectangle 21">
            <a:extLst>
              <a:ext uri="{FF2B5EF4-FFF2-40B4-BE49-F238E27FC236}">
                <a16:creationId xmlns:a16="http://schemas.microsoft.com/office/drawing/2014/main" id="{72773184-6ABA-9705-2536-ADD2F24D883D}"/>
              </a:ext>
            </a:extLst>
          </p:cNvPr>
          <p:cNvSpPr>
            <a:spLocks noChangeArrowheads="1"/>
          </p:cNvSpPr>
          <p:nvPr/>
        </p:nvSpPr>
        <p:spPr bwMode="auto">
          <a:xfrm>
            <a:off x="5384800" y="5589589"/>
            <a:ext cx="457200" cy="917575"/>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endParaRPr lang="en-US" altLang="en-US" i="1">
              <a:latin typeface="Helvetica" panose="020B0604020202020204" pitchFamily="34" charset="0"/>
              <a:sym typeface="Symbol" panose="05050102010706020507" pitchFamily="18" charset="2"/>
            </a:endParaRPr>
          </a:p>
        </p:txBody>
      </p:sp>
      <p:sp>
        <p:nvSpPr>
          <p:cNvPr id="16406" name="Rectangle 22">
            <a:extLst>
              <a:ext uri="{FF2B5EF4-FFF2-40B4-BE49-F238E27FC236}">
                <a16:creationId xmlns:a16="http://schemas.microsoft.com/office/drawing/2014/main" id="{BAEA190A-BD26-4A7F-7FC1-21B79F511A3E}"/>
              </a:ext>
            </a:extLst>
          </p:cNvPr>
          <p:cNvSpPr>
            <a:spLocks noChangeArrowheads="1"/>
          </p:cNvSpPr>
          <p:nvPr/>
        </p:nvSpPr>
        <p:spPr bwMode="auto">
          <a:xfrm>
            <a:off x="5842001" y="5589589"/>
            <a:ext cx="430213" cy="917575"/>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endParaRPr lang="en-US" altLang="en-US" i="1">
              <a:latin typeface="Helvetica" panose="020B0604020202020204" pitchFamily="34" charset="0"/>
              <a:sym typeface="Symbol" panose="05050102010706020507" pitchFamily="18" charset="2"/>
            </a:endParaRPr>
          </a:p>
        </p:txBody>
      </p:sp>
      <p:sp>
        <p:nvSpPr>
          <p:cNvPr id="16407" name="Rectangle 23">
            <a:extLst>
              <a:ext uri="{FF2B5EF4-FFF2-40B4-BE49-F238E27FC236}">
                <a16:creationId xmlns:a16="http://schemas.microsoft.com/office/drawing/2014/main" id="{5399A936-4E4C-064B-3069-5D67FAF359A8}"/>
              </a:ext>
            </a:extLst>
          </p:cNvPr>
          <p:cNvSpPr>
            <a:spLocks noChangeArrowheads="1"/>
          </p:cNvSpPr>
          <p:nvPr/>
        </p:nvSpPr>
        <p:spPr bwMode="auto">
          <a:xfrm>
            <a:off x="6273801" y="5589589"/>
            <a:ext cx="481013" cy="917575"/>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endParaRPr lang="en-US" altLang="en-US" i="1">
              <a:latin typeface="Helvetica" panose="020B0604020202020204" pitchFamily="34" charset="0"/>
              <a:sym typeface="Symbol" panose="05050102010706020507" pitchFamily="18" charset="2"/>
            </a:endParaRPr>
          </a:p>
        </p:txBody>
      </p:sp>
      <p:sp>
        <p:nvSpPr>
          <p:cNvPr id="16408" name="Rectangle 24">
            <a:extLst>
              <a:ext uri="{FF2B5EF4-FFF2-40B4-BE49-F238E27FC236}">
                <a16:creationId xmlns:a16="http://schemas.microsoft.com/office/drawing/2014/main" id="{85FE53AD-D4F9-002C-75E0-E8D6FF6FD647}"/>
              </a:ext>
            </a:extLst>
          </p:cNvPr>
          <p:cNvSpPr>
            <a:spLocks noChangeArrowheads="1"/>
          </p:cNvSpPr>
          <p:nvPr/>
        </p:nvSpPr>
        <p:spPr bwMode="auto">
          <a:xfrm>
            <a:off x="6742113" y="5589589"/>
            <a:ext cx="457200" cy="942975"/>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endParaRPr lang="en-US" altLang="en-US" i="1">
              <a:latin typeface="Helvetica" panose="020B0604020202020204" pitchFamily="34" charset="0"/>
              <a:sym typeface="Symbol" panose="05050102010706020507" pitchFamily="18" charset="2"/>
            </a:endParaRPr>
          </a:p>
        </p:txBody>
      </p:sp>
      <p:sp>
        <p:nvSpPr>
          <p:cNvPr id="16409" name="Text Box 25">
            <a:extLst>
              <a:ext uri="{FF2B5EF4-FFF2-40B4-BE49-F238E27FC236}">
                <a16:creationId xmlns:a16="http://schemas.microsoft.com/office/drawing/2014/main" id="{7C92840F-834A-512B-A989-756BF9C1C683}"/>
              </a:ext>
            </a:extLst>
          </p:cNvPr>
          <p:cNvSpPr txBox="1">
            <a:spLocks noChangeArrowheads="1"/>
          </p:cNvSpPr>
          <p:nvPr/>
        </p:nvSpPr>
        <p:spPr bwMode="auto">
          <a:xfrm>
            <a:off x="5003800" y="5740401"/>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endParaRPr lang="en-US" altLang="en-US">
              <a:latin typeface="Helvetica" panose="020B0604020202020204" pitchFamily="34" charset="0"/>
            </a:endParaRPr>
          </a:p>
        </p:txBody>
      </p:sp>
      <p:sp>
        <p:nvSpPr>
          <p:cNvPr id="16410" name="Text Box 26">
            <a:extLst>
              <a:ext uri="{FF2B5EF4-FFF2-40B4-BE49-F238E27FC236}">
                <a16:creationId xmlns:a16="http://schemas.microsoft.com/office/drawing/2014/main" id="{F73B47A0-A76F-01D8-7D4A-2F90469D4E5D}"/>
              </a:ext>
            </a:extLst>
          </p:cNvPr>
          <p:cNvSpPr txBox="1">
            <a:spLocks noChangeArrowheads="1"/>
          </p:cNvSpPr>
          <p:nvPr/>
        </p:nvSpPr>
        <p:spPr bwMode="auto">
          <a:xfrm>
            <a:off x="4959351" y="5548314"/>
            <a:ext cx="328613" cy="91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r>
              <a:rPr lang="en-US" altLang="en-US" i="1">
                <a:latin typeface="Helvetica" panose="020B0604020202020204" pitchFamily="34" charset="0"/>
                <a:sym typeface="Symbol" panose="05050102010706020507" pitchFamily="18" charset="2"/>
              </a:rPr>
              <a:t></a:t>
            </a:r>
          </a:p>
          <a:p>
            <a:pPr algn="ctr"/>
            <a:r>
              <a:rPr lang="en-US" altLang="en-US" i="1">
                <a:latin typeface="Helvetica" panose="020B0604020202020204" pitchFamily="34" charset="0"/>
                <a:sym typeface="Symbol" panose="05050102010706020507" pitchFamily="18" charset="2"/>
              </a:rPr>
              <a:t></a:t>
            </a:r>
          </a:p>
          <a:p>
            <a:pPr algn="ctr"/>
            <a:r>
              <a:rPr lang="en-US" altLang="en-US" i="1">
                <a:latin typeface="Helvetica" panose="020B0604020202020204" pitchFamily="34" charset="0"/>
                <a:sym typeface="Symbol" panose="05050102010706020507" pitchFamily="18" charset="2"/>
              </a:rPr>
              <a:t></a:t>
            </a:r>
          </a:p>
        </p:txBody>
      </p:sp>
      <p:sp>
        <p:nvSpPr>
          <p:cNvPr id="16411" name="Text Box 27">
            <a:extLst>
              <a:ext uri="{FF2B5EF4-FFF2-40B4-BE49-F238E27FC236}">
                <a16:creationId xmlns:a16="http://schemas.microsoft.com/office/drawing/2014/main" id="{AF01FED9-BCD1-E537-898A-714F957424FB}"/>
              </a:ext>
            </a:extLst>
          </p:cNvPr>
          <p:cNvSpPr txBox="1">
            <a:spLocks noChangeArrowheads="1"/>
          </p:cNvSpPr>
          <p:nvPr/>
        </p:nvSpPr>
        <p:spPr bwMode="auto">
          <a:xfrm>
            <a:off x="5443538" y="5597525"/>
            <a:ext cx="31115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r>
              <a:rPr lang="en-US" altLang="en-US" i="1">
                <a:latin typeface="Helvetica" panose="020B0604020202020204" pitchFamily="34" charset="0"/>
                <a:sym typeface="Symbol" panose="05050102010706020507" pitchFamily="18" charset="2"/>
              </a:rPr>
              <a:t>1</a:t>
            </a:r>
          </a:p>
          <a:p>
            <a:pPr algn="ctr"/>
            <a:r>
              <a:rPr lang="en-US" altLang="en-US" i="1">
                <a:latin typeface="Helvetica" panose="020B0604020202020204" pitchFamily="34" charset="0"/>
                <a:sym typeface="Symbol" panose="05050102010706020507" pitchFamily="18" charset="2"/>
              </a:rPr>
              <a:t>2</a:t>
            </a:r>
          </a:p>
          <a:p>
            <a:pPr algn="ctr"/>
            <a:r>
              <a:rPr lang="en-US" altLang="en-US" i="1">
                <a:latin typeface="Helvetica" panose="020B0604020202020204" pitchFamily="34" charset="0"/>
                <a:sym typeface="Symbol" panose="05050102010706020507" pitchFamily="18" charset="2"/>
              </a:rPr>
              <a:t>2</a:t>
            </a:r>
          </a:p>
        </p:txBody>
      </p:sp>
      <p:sp>
        <p:nvSpPr>
          <p:cNvPr id="16412" name="Text Box 28">
            <a:extLst>
              <a:ext uri="{FF2B5EF4-FFF2-40B4-BE49-F238E27FC236}">
                <a16:creationId xmlns:a16="http://schemas.microsoft.com/office/drawing/2014/main" id="{F291670E-8D8C-9641-946D-FF147D1A6B9E}"/>
              </a:ext>
            </a:extLst>
          </p:cNvPr>
          <p:cNvSpPr txBox="1">
            <a:spLocks noChangeArrowheads="1"/>
          </p:cNvSpPr>
          <p:nvPr/>
        </p:nvSpPr>
        <p:spPr bwMode="auto">
          <a:xfrm>
            <a:off x="5921376" y="5538789"/>
            <a:ext cx="328613" cy="91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r>
              <a:rPr lang="en-US" altLang="en-US" i="1">
                <a:latin typeface="Helvetica" panose="020B0604020202020204" pitchFamily="34" charset="0"/>
                <a:sym typeface="Symbol" panose="05050102010706020507" pitchFamily="18" charset="2"/>
              </a:rPr>
              <a:t></a:t>
            </a:r>
          </a:p>
          <a:p>
            <a:pPr algn="ctr"/>
            <a:r>
              <a:rPr lang="en-US" altLang="en-US" i="1">
                <a:latin typeface="Helvetica" panose="020B0604020202020204" pitchFamily="34" charset="0"/>
                <a:sym typeface="Symbol" panose="05050102010706020507" pitchFamily="18" charset="2"/>
              </a:rPr>
              <a:t></a:t>
            </a:r>
          </a:p>
          <a:p>
            <a:pPr algn="ctr"/>
            <a:r>
              <a:rPr lang="en-US" altLang="en-US" i="1">
                <a:latin typeface="Helvetica" panose="020B0604020202020204" pitchFamily="34" charset="0"/>
                <a:sym typeface="Symbol" panose="05050102010706020507" pitchFamily="18" charset="2"/>
              </a:rPr>
              <a:t></a:t>
            </a:r>
          </a:p>
        </p:txBody>
      </p:sp>
      <p:sp>
        <p:nvSpPr>
          <p:cNvPr id="16413" name="Text Box 29">
            <a:extLst>
              <a:ext uri="{FF2B5EF4-FFF2-40B4-BE49-F238E27FC236}">
                <a16:creationId xmlns:a16="http://schemas.microsoft.com/office/drawing/2014/main" id="{C901BEC8-7B87-134B-075A-6E99A79C53CB}"/>
              </a:ext>
            </a:extLst>
          </p:cNvPr>
          <p:cNvSpPr txBox="1">
            <a:spLocks noChangeArrowheads="1"/>
          </p:cNvSpPr>
          <p:nvPr/>
        </p:nvSpPr>
        <p:spPr bwMode="auto">
          <a:xfrm>
            <a:off x="6259513" y="5576889"/>
            <a:ext cx="519112" cy="91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r>
              <a:rPr lang="en-US" altLang="en-US" i="1">
                <a:latin typeface="Helvetica" panose="020B0604020202020204" pitchFamily="34" charset="0"/>
                <a:sym typeface="Symbol" panose="05050102010706020507" pitchFamily="18" charset="2"/>
              </a:rPr>
              <a:t>10</a:t>
            </a:r>
          </a:p>
          <a:p>
            <a:pPr algn="ctr"/>
            <a:r>
              <a:rPr lang="en-US" altLang="en-US" i="1">
                <a:latin typeface="Helvetica" panose="020B0604020202020204" pitchFamily="34" charset="0"/>
                <a:sym typeface="Symbol" panose="05050102010706020507" pitchFamily="18" charset="2"/>
              </a:rPr>
              <a:t>20</a:t>
            </a:r>
          </a:p>
          <a:p>
            <a:pPr algn="ctr"/>
            <a:r>
              <a:rPr lang="en-US" altLang="en-US" i="1">
                <a:latin typeface="Helvetica" panose="020B0604020202020204" pitchFamily="34" charset="0"/>
                <a:sym typeface="Symbol" panose="05050102010706020507" pitchFamily="18" charset="2"/>
              </a:rPr>
              <a:t>20</a:t>
            </a:r>
          </a:p>
        </p:txBody>
      </p:sp>
      <p:sp>
        <p:nvSpPr>
          <p:cNvPr id="16414" name="Text Box 30">
            <a:extLst>
              <a:ext uri="{FF2B5EF4-FFF2-40B4-BE49-F238E27FC236}">
                <a16:creationId xmlns:a16="http://schemas.microsoft.com/office/drawing/2014/main" id="{0B91F091-63B1-BEF6-F95A-11ED68777BF2}"/>
              </a:ext>
            </a:extLst>
          </p:cNvPr>
          <p:cNvSpPr txBox="1">
            <a:spLocks noChangeArrowheads="1"/>
          </p:cNvSpPr>
          <p:nvPr/>
        </p:nvSpPr>
        <p:spPr bwMode="auto">
          <a:xfrm>
            <a:off x="6810375" y="5578475"/>
            <a:ext cx="31115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algn="ctr"/>
            <a:r>
              <a:rPr lang="en-US" altLang="en-US" i="1">
                <a:latin typeface="Helvetica" panose="020B0604020202020204" pitchFamily="34" charset="0"/>
                <a:sym typeface="Symbol" panose="05050102010706020507" pitchFamily="18" charset="2"/>
              </a:rPr>
              <a:t>a</a:t>
            </a:r>
          </a:p>
          <a:p>
            <a:pPr algn="ctr"/>
            <a:r>
              <a:rPr lang="en-US" altLang="en-US" i="1">
                <a:latin typeface="Helvetica" panose="020B0604020202020204" pitchFamily="34" charset="0"/>
                <a:sym typeface="Symbol" panose="05050102010706020507" pitchFamily="18" charset="2"/>
              </a:rPr>
              <a:t>a</a:t>
            </a:r>
          </a:p>
          <a:p>
            <a:pPr algn="ctr"/>
            <a:r>
              <a:rPr lang="en-US" altLang="en-US" i="1">
                <a:latin typeface="Helvetica" panose="020B0604020202020204" pitchFamily="34" charset="0"/>
                <a:sym typeface="Symbol" panose="05050102010706020507" pitchFamily="18" charset="2"/>
              </a:rPr>
              <a:t>b</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6399"/>
                                        </p:tgtEl>
                                        <p:attrNameLst>
                                          <p:attrName>style.visibility</p:attrName>
                                        </p:attrNameLst>
                                      </p:cBhvr>
                                      <p:to>
                                        <p:strVal val="visible"/>
                                      </p:to>
                                    </p:set>
                                    <p:animEffect transition="in" filter="blinds(horizontal)">
                                      <p:cBhvr>
                                        <p:cTn id="7" dur="500"/>
                                        <p:tgtEl>
                                          <p:spTgt spid="16399"/>
                                        </p:tgtEl>
                                      </p:cBhvr>
                                    </p:animEffect>
                                  </p:childTnLst>
                                </p:cTn>
                              </p:par>
                              <p:par>
                                <p:cTn id="8" presetID="3" presetClass="entr" presetSubtype="10" fill="hold" nodeType="withEffect">
                                  <p:stCondLst>
                                    <p:cond delay="0"/>
                                  </p:stCondLst>
                                  <p:childTnLst>
                                    <p:set>
                                      <p:cBhvr>
                                        <p:cTn id="9" dur="1" fill="hold">
                                          <p:stCondLst>
                                            <p:cond delay="0"/>
                                          </p:stCondLst>
                                        </p:cTn>
                                        <p:tgtEl>
                                          <p:spTgt spid="16400"/>
                                        </p:tgtEl>
                                        <p:attrNameLst>
                                          <p:attrName>style.visibility</p:attrName>
                                        </p:attrNameLst>
                                      </p:cBhvr>
                                      <p:to>
                                        <p:strVal val="visible"/>
                                      </p:to>
                                    </p:set>
                                    <p:animEffect transition="in" filter="blinds(horizontal)">
                                      <p:cBhvr>
                                        <p:cTn id="10" dur="500"/>
                                        <p:tgtEl>
                                          <p:spTgt spid="16400"/>
                                        </p:tgtEl>
                                      </p:cBhvr>
                                    </p:animEffect>
                                  </p:childTnLst>
                                </p:cTn>
                              </p:par>
                              <p:par>
                                <p:cTn id="11" presetID="3" presetClass="entr" presetSubtype="10" fill="hold" nodeType="withEffect">
                                  <p:stCondLst>
                                    <p:cond delay="0"/>
                                  </p:stCondLst>
                                  <p:childTnLst>
                                    <p:set>
                                      <p:cBhvr>
                                        <p:cTn id="12" dur="1" fill="hold">
                                          <p:stCondLst>
                                            <p:cond delay="0"/>
                                          </p:stCondLst>
                                        </p:cTn>
                                        <p:tgtEl>
                                          <p:spTgt spid="16401"/>
                                        </p:tgtEl>
                                        <p:attrNameLst>
                                          <p:attrName>style.visibility</p:attrName>
                                        </p:attrNameLst>
                                      </p:cBhvr>
                                      <p:to>
                                        <p:strVal val="visible"/>
                                      </p:to>
                                    </p:set>
                                    <p:animEffect transition="in" filter="blinds(horizontal)">
                                      <p:cBhvr>
                                        <p:cTn id="13" dur="500"/>
                                        <p:tgtEl>
                                          <p:spTgt spid="16401"/>
                                        </p:tgtEl>
                                      </p:cBhvr>
                                    </p:animEffect>
                                  </p:childTnLst>
                                </p:cTn>
                              </p:par>
                              <p:par>
                                <p:cTn id="14" presetID="3" presetClass="entr" presetSubtype="10" fill="hold" nodeType="withEffect">
                                  <p:stCondLst>
                                    <p:cond delay="0"/>
                                  </p:stCondLst>
                                  <p:childTnLst>
                                    <p:set>
                                      <p:cBhvr>
                                        <p:cTn id="15" dur="1" fill="hold">
                                          <p:stCondLst>
                                            <p:cond delay="0"/>
                                          </p:stCondLst>
                                        </p:cTn>
                                        <p:tgtEl>
                                          <p:spTgt spid="16402"/>
                                        </p:tgtEl>
                                        <p:attrNameLst>
                                          <p:attrName>style.visibility</p:attrName>
                                        </p:attrNameLst>
                                      </p:cBhvr>
                                      <p:to>
                                        <p:strVal val="visible"/>
                                      </p:to>
                                    </p:set>
                                    <p:animEffect transition="in" filter="blinds(horizontal)">
                                      <p:cBhvr>
                                        <p:cTn id="16" dur="500"/>
                                        <p:tgtEl>
                                          <p:spTgt spid="16402"/>
                                        </p:tgtEl>
                                      </p:cBhvr>
                                    </p:animEffect>
                                  </p:childTnLst>
                                </p:cTn>
                              </p:par>
                              <p:par>
                                <p:cTn id="17" presetID="3" presetClass="entr" presetSubtype="10" fill="hold" nodeType="withEffect">
                                  <p:stCondLst>
                                    <p:cond delay="0"/>
                                  </p:stCondLst>
                                  <p:childTnLst>
                                    <p:set>
                                      <p:cBhvr>
                                        <p:cTn id="18" dur="1" fill="hold">
                                          <p:stCondLst>
                                            <p:cond delay="0"/>
                                          </p:stCondLst>
                                        </p:cTn>
                                        <p:tgtEl>
                                          <p:spTgt spid="16403"/>
                                        </p:tgtEl>
                                        <p:attrNameLst>
                                          <p:attrName>style.visibility</p:attrName>
                                        </p:attrNameLst>
                                      </p:cBhvr>
                                      <p:to>
                                        <p:strVal val="visible"/>
                                      </p:to>
                                    </p:set>
                                    <p:animEffect transition="in" filter="blinds(horizontal)">
                                      <p:cBhvr>
                                        <p:cTn id="19" dur="500"/>
                                        <p:tgtEl>
                                          <p:spTgt spid="16403"/>
                                        </p:tgtEl>
                                      </p:cBhvr>
                                    </p:animEffect>
                                  </p:childTnLst>
                                </p:cTn>
                              </p:par>
                              <p:par>
                                <p:cTn id="20" presetID="3" presetClass="entr" presetSubtype="10" fill="hold" nodeType="withEffect">
                                  <p:stCondLst>
                                    <p:cond delay="0"/>
                                  </p:stCondLst>
                                  <p:childTnLst>
                                    <p:set>
                                      <p:cBhvr>
                                        <p:cTn id="21" dur="1" fill="hold">
                                          <p:stCondLst>
                                            <p:cond delay="0"/>
                                          </p:stCondLst>
                                        </p:cTn>
                                        <p:tgtEl>
                                          <p:spTgt spid="16404"/>
                                        </p:tgtEl>
                                        <p:attrNameLst>
                                          <p:attrName>style.visibility</p:attrName>
                                        </p:attrNameLst>
                                      </p:cBhvr>
                                      <p:to>
                                        <p:strVal val="visible"/>
                                      </p:to>
                                    </p:set>
                                    <p:animEffect transition="in" filter="blinds(horizontal)">
                                      <p:cBhvr>
                                        <p:cTn id="22" dur="500"/>
                                        <p:tgtEl>
                                          <p:spTgt spid="16404"/>
                                        </p:tgtEl>
                                      </p:cBhvr>
                                    </p:animEffect>
                                  </p:childTnLst>
                                </p:cTn>
                              </p:par>
                              <p:par>
                                <p:cTn id="23" presetID="3" presetClass="entr" presetSubtype="10" fill="hold" nodeType="withEffect">
                                  <p:stCondLst>
                                    <p:cond delay="0"/>
                                  </p:stCondLst>
                                  <p:childTnLst>
                                    <p:set>
                                      <p:cBhvr>
                                        <p:cTn id="24" dur="1" fill="hold">
                                          <p:stCondLst>
                                            <p:cond delay="0"/>
                                          </p:stCondLst>
                                        </p:cTn>
                                        <p:tgtEl>
                                          <p:spTgt spid="16405"/>
                                        </p:tgtEl>
                                        <p:attrNameLst>
                                          <p:attrName>style.visibility</p:attrName>
                                        </p:attrNameLst>
                                      </p:cBhvr>
                                      <p:to>
                                        <p:strVal val="visible"/>
                                      </p:to>
                                    </p:set>
                                    <p:animEffect transition="in" filter="blinds(horizontal)">
                                      <p:cBhvr>
                                        <p:cTn id="25" dur="500"/>
                                        <p:tgtEl>
                                          <p:spTgt spid="16405"/>
                                        </p:tgtEl>
                                      </p:cBhvr>
                                    </p:animEffect>
                                  </p:childTnLst>
                                </p:cTn>
                              </p:par>
                              <p:par>
                                <p:cTn id="26" presetID="3" presetClass="entr" presetSubtype="10" fill="hold" nodeType="withEffect">
                                  <p:stCondLst>
                                    <p:cond delay="0"/>
                                  </p:stCondLst>
                                  <p:childTnLst>
                                    <p:set>
                                      <p:cBhvr>
                                        <p:cTn id="27" dur="1" fill="hold">
                                          <p:stCondLst>
                                            <p:cond delay="0"/>
                                          </p:stCondLst>
                                        </p:cTn>
                                        <p:tgtEl>
                                          <p:spTgt spid="16406"/>
                                        </p:tgtEl>
                                        <p:attrNameLst>
                                          <p:attrName>style.visibility</p:attrName>
                                        </p:attrNameLst>
                                      </p:cBhvr>
                                      <p:to>
                                        <p:strVal val="visible"/>
                                      </p:to>
                                    </p:set>
                                    <p:animEffect transition="in" filter="blinds(horizontal)">
                                      <p:cBhvr>
                                        <p:cTn id="28" dur="500"/>
                                        <p:tgtEl>
                                          <p:spTgt spid="16406"/>
                                        </p:tgtEl>
                                      </p:cBhvr>
                                    </p:animEffect>
                                  </p:childTnLst>
                                </p:cTn>
                              </p:par>
                              <p:par>
                                <p:cTn id="29" presetID="3" presetClass="entr" presetSubtype="10" fill="hold" nodeType="withEffect">
                                  <p:stCondLst>
                                    <p:cond delay="0"/>
                                  </p:stCondLst>
                                  <p:childTnLst>
                                    <p:set>
                                      <p:cBhvr>
                                        <p:cTn id="30" dur="1" fill="hold">
                                          <p:stCondLst>
                                            <p:cond delay="0"/>
                                          </p:stCondLst>
                                        </p:cTn>
                                        <p:tgtEl>
                                          <p:spTgt spid="16407"/>
                                        </p:tgtEl>
                                        <p:attrNameLst>
                                          <p:attrName>style.visibility</p:attrName>
                                        </p:attrNameLst>
                                      </p:cBhvr>
                                      <p:to>
                                        <p:strVal val="visible"/>
                                      </p:to>
                                    </p:set>
                                    <p:animEffect transition="in" filter="blinds(horizontal)">
                                      <p:cBhvr>
                                        <p:cTn id="31" dur="500"/>
                                        <p:tgtEl>
                                          <p:spTgt spid="16407"/>
                                        </p:tgtEl>
                                      </p:cBhvr>
                                    </p:animEffect>
                                  </p:childTnLst>
                                </p:cTn>
                              </p:par>
                              <p:par>
                                <p:cTn id="32" presetID="3" presetClass="entr" presetSubtype="10" fill="hold" nodeType="withEffect">
                                  <p:stCondLst>
                                    <p:cond delay="0"/>
                                  </p:stCondLst>
                                  <p:childTnLst>
                                    <p:set>
                                      <p:cBhvr>
                                        <p:cTn id="33" dur="1" fill="hold">
                                          <p:stCondLst>
                                            <p:cond delay="0"/>
                                          </p:stCondLst>
                                        </p:cTn>
                                        <p:tgtEl>
                                          <p:spTgt spid="16408"/>
                                        </p:tgtEl>
                                        <p:attrNameLst>
                                          <p:attrName>style.visibility</p:attrName>
                                        </p:attrNameLst>
                                      </p:cBhvr>
                                      <p:to>
                                        <p:strVal val="visible"/>
                                      </p:to>
                                    </p:set>
                                    <p:animEffect transition="in" filter="blinds(horizontal)">
                                      <p:cBhvr>
                                        <p:cTn id="34" dur="500"/>
                                        <p:tgtEl>
                                          <p:spTgt spid="16408"/>
                                        </p:tgtEl>
                                      </p:cBhvr>
                                    </p:animEffect>
                                  </p:childTnLst>
                                </p:cTn>
                              </p:par>
                              <p:par>
                                <p:cTn id="35" presetID="3" presetClass="entr" presetSubtype="10" fill="hold" nodeType="withEffect">
                                  <p:stCondLst>
                                    <p:cond delay="0"/>
                                  </p:stCondLst>
                                  <p:childTnLst>
                                    <p:set>
                                      <p:cBhvr>
                                        <p:cTn id="36" dur="1" fill="hold">
                                          <p:stCondLst>
                                            <p:cond delay="0"/>
                                          </p:stCondLst>
                                        </p:cTn>
                                        <p:tgtEl>
                                          <p:spTgt spid="16409"/>
                                        </p:tgtEl>
                                        <p:attrNameLst>
                                          <p:attrName>style.visibility</p:attrName>
                                        </p:attrNameLst>
                                      </p:cBhvr>
                                      <p:to>
                                        <p:strVal val="visible"/>
                                      </p:to>
                                    </p:set>
                                    <p:animEffect transition="in" filter="blinds(horizontal)">
                                      <p:cBhvr>
                                        <p:cTn id="37" dur="500"/>
                                        <p:tgtEl>
                                          <p:spTgt spid="16409"/>
                                        </p:tgtEl>
                                      </p:cBhvr>
                                    </p:animEffect>
                                  </p:childTnLst>
                                </p:cTn>
                              </p:par>
                              <p:par>
                                <p:cTn id="38" presetID="3" presetClass="entr" presetSubtype="10" fill="hold" nodeType="withEffect">
                                  <p:stCondLst>
                                    <p:cond delay="0"/>
                                  </p:stCondLst>
                                  <p:childTnLst>
                                    <p:set>
                                      <p:cBhvr>
                                        <p:cTn id="39" dur="1" fill="hold">
                                          <p:stCondLst>
                                            <p:cond delay="0"/>
                                          </p:stCondLst>
                                        </p:cTn>
                                        <p:tgtEl>
                                          <p:spTgt spid="16410"/>
                                        </p:tgtEl>
                                        <p:attrNameLst>
                                          <p:attrName>style.visibility</p:attrName>
                                        </p:attrNameLst>
                                      </p:cBhvr>
                                      <p:to>
                                        <p:strVal val="visible"/>
                                      </p:to>
                                    </p:set>
                                    <p:animEffect transition="in" filter="blinds(horizontal)">
                                      <p:cBhvr>
                                        <p:cTn id="40" dur="500"/>
                                        <p:tgtEl>
                                          <p:spTgt spid="16410"/>
                                        </p:tgtEl>
                                      </p:cBhvr>
                                    </p:animEffect>
                                  </p:childTnLst>
                                </p:cTn>
                              </p:par>
                              <p:par>
                                <p:cTn id="41" presetID="3" presetClass="entr" presetSubtype="10" fill="hold" nodeType="withEffect">
                                  <p:stCondLst>
                                    <p:cond delay="0"/>
                                  </p:stCondLst>
                                  <p:childTnLst>
                                    <p:set>
                                      <p:cBhvr>
                                        <p:cTn id="42" dur="1" fill="hold">
                                          <p:stCondLst>
                                            <p:cond delay="0"/>
                                          </p:stCondLst>
                                        </p:cTn>
                                        <p:tgtEl>
                                          <p:spTgt spid="16411"/>
                                        </p:tgtEl>
                                        <p:attrNameLst>
                                          <p:attrName>style.visibility</p:attrName>
                                        </p:attrNameLst>
                                      </p:cBhvr>
                                      <p:to>
                                        <p:strVal val="visible"/>
                                      </p:to>
                                    </p:set>
                                    <p:animEffect transition="in" filter="blinds(horizontal)">
                                      <p:cBhvr>
                                        <p:cTn id="43" dur="500"/>
                                        <p:tgtEl>
                                          <p:spTgt spid="16411"/>
                                        </p:tgtEl>
                                      </p:cBhvr>
                                    </p:animEffect>
                                  </p:childTnLst>
                                </p:cTn>
                              </p:par>
                              <p:par>
                                <p:cTn id="44" presetID="3" presetClass="entr" presetSubtype="10" fill="hold" nodeType="withEffect">
                                  <p:stCondLst>
                                    <p:cond delay="0"/>
                                  </p:stCondLst>
                                  <p:childTnLst>
                                    <p:set>
                                      <p:cBhvr>
                                        <p:cTn id="45" dur="1" fill="hold">
                                          <p:stCondLst>
                                            <p:cond delay="0"/>
                                          </p:stCondLst>
                                        </p:cTn>
                                        <p:tgtEl>
                                          <p:spTgt spid="16412"/>
                                        </p:tgtEl>
                                        <p:attrNameLst>
                                          <p:attrName>style.visibility</p:attrName>
                                        </p:attrNameLst>
                                      </p:cBhvr>
                                      <p:to>
                                        <p:strVal val="visible"/>
                                      </p:to>
                                    </p:set>
                                    <p:animEffect transition="in" filter="blinds(horizontal)">
                                      <p:cBhvr>
                                        <p:cTn id="46" dur="500"/>
                                        <p:tgtEl>
                                          <p:spTgt spid="16412"/>
                                        </p:tgtEl>
                                      </p:cBhvr>
                                    </p:animEffect>
                                  </p:childTnLst>
                                </p:cTn>
                              </p:par>
                              <p:par>
                                <p:cTn id="47" presetID="3" presetClass="entr" presetSubtype="10" fill="hold" nodeType="withEffect">
                                  <p:stCondLst>
                                    <p:cond delay="0"/>
                                  </p:stCondLst>
                                  <p:childTnLst>
                                    <p:set>
                                      <p:cBhvr>
                                        <p:cTn id="48" dur="1" fill="hold">
                                          <p:stCondLst>
                                            <p:cond delay="0"/>
                                          </p:stCondLst>
                                        </p:cTn>
                                        <p:tgtEl>
                                          <p:spTgt spid="16413"/>
                                        </p:tgtEl>
                                        <p:attrNameLst>
                                          <p:attrName>style.visibility</p:attrName>
                                        </p:attrNameLst>
                                      </p:cBhvr>
                                      <p:to>
                                        <p:strVal val="visible"/>
                                      </p:to>
                                    </p:set>
                                    <p:animEffect transition="in" filter="blinds(horizontal)">
                                      <p:cBhvr>
                                        <p:cTn id="49" dur="500"/>
                                        <p:tgtEl>
                                          <p:spTgt spid="16413"/>
                                        </p:tgtEl>
                                      </p:cBhvr>
                                    </p:animEffect>
                                  </p:childTnLst>
                                </p:cTn>
                              </p:par>
                              <p:par>
                                <p:cTn id="50" presetID="3" presetClass="entr" presetSubtype="10" fill="hold" nodeType="withEffect">
                                  <p:stCondLst>
                                    <p:cond delay="0"/>
                                  </p:stCondLst>
                                  <p:childTnLst>
                                    <p:set>
                                      <p:cBhvr>
                                        <p:cTn id="51" dur="1" fill="hold">
                                          <p:stCondLst>
                                            <p:cond delay="0"/>
                                          </p:stCondLst>
                                        </p:cTn>
                                        <p:tgtEl>
                                          <p:spTgt spid="16414"/>
                                        </p:tgtEl>
                                        <p:attrNameLst>
                                          <p:attrName>style.visibility</p:attrName>
                                        </p:attrNameLst>
                                      </p:cBhvr>
                                      <p:to>
                                        <p:strVal val="visible"/>
                                      </p:to>
                                    </p:set>
                                    <p:animEffect transition="in" filter="blinds(horizontal)">
                                      <p:cBhvr>
                                        <p:cTn id="52" dur="500"/>
                                        <p:tgtEl>
                                          <p:spTgt spid="164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99" grpId="0" animBg="1"/>
      <p:bldP spid="16400" grpId="0" animBg="1"/>
      <p:bldP spid="16401" grpId="0" animBg="1"/>
      <p:bldP spid="16402" grpId="0" animBg="1"/>
      <p:bldP spid="16403" grpId="0" animBg="1"/>
      <p:bldP spid="16404" grpId="0" animBg="1"/>
      <p:bldP spid="16405" grpId="0" animBg="1"/>
      <p:bldP spid="16406" grpId="0" animBg="1"/>
      <p:bldP spid="16407" grpId="0" animBg="1"/>
      <p:bldP spid="16408" grpId="0" animBg="1"/>
      <p:bldP spid="16409" grpId="0"/>
      <p:bldP spid="16410" grpId="0"/>
      <p:bldP spid="16411" grpId="0"/>
      <p:bldP spid="16412" grpId="0"/>
      <p:bldP spid="16413" grpId="0"/>
      <p:bldP spid="1641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7FDF0C82-99F3-69C2-56BA-255FDB96D1F3}"/>
              </a:ext>
            </a:extLst>
          </p:cNvPr>
          <p:cNvSpPr>
            <a:spLocks noGrp="1" noChangeArrowheads="1"/>
          </p:cNvSpPr>
          <p:nvPr>
            <p:ph type="title"/>
          </p:nvPr>
        </p:nvSpPr>
        <p:spPr>
          <a:xfrm>
            <a:off x="2209800" y="0"/>
            <a:ext cx="7772400" cy="1143000"/>
          </a:xfrm>
        </p:spPr>
        <p:txBody>
          <a:bodyPr/>
          <a:lstStyle/>
          <a:p>
            <a:pPr eaLnBrk="1" hangingPunct="1"/>
            <a:r>
              <a:rPr lang="en-US" altLang="en-US" sz="2800"/>
              <a:t>Rename Operation</a:t>
            </a:r>
          </a:p>
        </p:txBody>
      </p:sp>
      <p:sp>
        <p:nvSpPr>
          <p:cNvPr id="28675" name="Rectangle 3">
            <a:extLst>
              <a:ext uri="{FF2B5EF4-FFF2-40B4-BE49-F238E27FC236}">
                <a16:creationId xmlns:a16="http://schemas.microsoft.com/office/drawing/2014/main" id="{3838CC3B-A37C-F4BE-E34A-1554923385D4}"/>
              </a:ext>
            </a:extLst>
          </p:cNvPr>
          <p:cNvSpPr>
            <a:spLocks noGrp="1" noChangeArrowheads="1"/>
          </p:cNvSpPr>
          <p:nvPr>
            <p:ph type="body" idx="1"/>
          </p:nvPr>
        </p:nvSpPr>
        <p:spPr>
          <a:xfrm>
            <a:off x="2209800" y="1066800"/>
            <a:ext cx="7772400" cy="4114800"/>
          </a:xfrm>
        </p:spPr>
        <p:txBody>
          <a:bodyPr>
            <a:normAutofit fontScale="92500" lnSpcReduction="10000"/>
          </a:bodyPr>
          <a:lstStyle/>
          <a:p>
            <a:pPr eaLnBrk="1" hangingPunct="1">
              <a:lnSpc>
                <a:spcPct val="90000"/>
              </a:lnSpc>
            </a:pPr>
            <a:r>
              <a:rPr lang="en-US" altLang="en-US" sz="2400"/>
              <a:t>Allows us to name, and therefore to refer to, the results of relational-algebra expressions.</a:t>
            </a:r>
          </a:p>
          <a:p>
            <a:pPr eaLnBrk="1" hangingPunct="1">
              <a:lnSpc>
                <a:spcPct val="90000"/>
              </a:lnSpc>
            </a:pPr>
            <a:r>
              <a:rPr lang="en-US" altLang="en-US" sz="2400"/>
              <a:t>Allows us to refer to a relation by more than one name.</a:t>
            </a:r>
          </a:p>
          <a:p>
            <a:pPr eaLnBrk="1" hangingPunct="1">
              <a:lnSpc>
                <a:spcPct val="90000"/>
              </a:lnSpc>
              <a:buFontTx/>
              <a:buNone/>
            </a:pPr>
            <a:r>
              <a:rPr lang="en-US" altLang="en-US" sz="2400"/>
              <a:t>Example:</a:t>
            </a:r>
          </a:p>
          <a:p>
            <a:pPr eaLnBrk="1" hangingPunct="1">
              <a:lnSpc>
                <a:spcPct val="90000"/>
              </a:lnSpc>
              <a:buFontTx/>
              <a:buNone/>
            </a:pPr>
            <a:r>
              <a:rPr lang="en-US" altLang="en-US" sz="2400"/>
              <a:t> 				</a:t>
            </a:r>
            <a:r>
              <a:rPr lang="en-US" altLang="en-US" sz="2400" i="1">
                <a:sym typeface="Symbol" panose="05050102010706020507" pitchFamily="18" charset="2"/>
              </a:rPr>
              <a:t></a:t>
            </a:r>
            <a:r>
              <a:rPr lang="en-US" altLang="en-US" sz="2400" i="1"/>
              <a:t> </a:t>
            </a:r>
            <a:r>
              <a:rPr lang="en-US" altLang="en-US" sz="2400" i="1" baseline="-25000"/>
              <a:t>X </a:t>
            </a:r>
            <a:r>
              <a:rPr lang="en-US" altLang="en-US" sz="2400"/>
              <a:t>(</a:t>
            </a:r>
            <a:r>
              <a:rPr lang="en-US" altLang="en-US" sz="2400" i="1"/>
              <a:t>E</a:t>
            </a:r>
            <a:r>
              <a:rPr lang="en-US" altLang="en-US" sz="2400"/>
              <a:t>)</a:t>
            </a:r>
          </a:p>
          <a:p>
            <a:pPr eaLnBrk="1" hangingPunct="1">
              <a:lnSpc>
                <a:spcPct val="90000"/>
              </a:lnSpc>
              <a:buFontTx/>
              <a:buNone/>
            </a:pPr>
            <a:r>
              <a:rPr lang="en-US" altLang="en-US" sz="2400"/>
              <a:t>returns the expression </a:t>
            </a:r>
            <a:r>
              <a:rPr lang="en-US" altLang="en-US" sz="2400" i="1"/>
              <a:t>E</a:t>
            </a:r>
            <a:r>
              <a:rPr lang="en-US" altLang="en-US" sz="2400"/>
              <a:t> under the name </a:t>
            </a:r>
            <a:r>
              <a:rPr lang="en-US" altLang="en-US" sz="2400" i="1"/>
              <a:t>X</a:t>
            </a:r>
            <a:endParaRPr lang="en-US" altLang="en-US" sz="2400"/>
          </a:p>
          <a:p>
            <a:pPr eaLnBrk="1" hangingPunct="1">
              <a:lnSpc>
                <a:spcPct val="90000"/>
              </a:lnSpc>
              <a:buFontTx/>
              <a:buNone/>
            </a:pPr>
            <a:r>
              <a:rPr lang="en-US" altLang="en-US" sz="2400"/>
              <a:t>If a relational-algebra expression </a:t>
            </a:r>
            <a:r>
              <a:rPr lang="en-US" altLang="en-US" sz="2400" i="1"/>
              <a:t>E</a:t>
            </a:r>
            <a:r>
              <a:rPr lang="en-US" altLang="en-US" sz="2400"/>
              <a:t> has arity </a:t>
            </a:r>
            <a:r>
              <a:rPr lang="en-US" altLang="en-US" sz="2400" i="1"/>
              <a:t>n</a:t>
            </a:r>
            <a:r>
              <a:rPr lang="en-US" altLang="en-US" sz="2400"/>
              <a:t>, then </a:t>
            </a:r>
          </a:p>
          <a:p>
            <a:pPr eaLnBrk="1" hangingPunct="1">
              <a:lnSpc>
                <a:spcPct val="90000"/>
              </a:lnSpc>
              <a:buFontTx/>
              <a:buNone/>
            </a:pPr>
            <a:r>
              <a:rPr lang="en-US" altLang="en-US" sz="2400"/>
              <a:t>                                          </a:t>
            </a:r>
            <a:r>
              <a:rPr lang="en-US" altLang="en-US" sz="2400" i="1">
                <a:sym typeface="Symbol" panose="05050102010706020507" pitchFamily="18" charset="2"/>
              </a:rPr>
              <a:t></a:t>
            </a:r>
            <a:r>
              <a:rPr lang="en-US" altLang="en-US" sz="2400"/>
              <a:t> </a:t>
            </a:r>
            <a:r>
              <a:rPr lang="en-US" altLang="en-US" sz="2400" baseline="-25000"/>
              <a:t>(</a:t>
            </a:r>
            <a:r>
              <a:rPr lang="en-US" altLang="en-US" sz="2400" i="1" baseline="-25000"/>
              <a:t>A1, A2, …, An</a:t>
            </a:r>
            <a:r>
              <a:rPr lang="en-US" altLang="en-US" sz="2400" baseline="-25000"/>
              <a:t>) </a:t>
            </a:r>
            <a:r>
              <a:rPr lang="en-US" altLang="en-US" sz="2400"/>
              <a:t>(</a:t>
            </a:r>
            <a:r>
              <a:rPr lang="en-US" altLang="en-US" sz="2400" i="1"/>
              <a:t>E</a:t>
            </a:r>
            <a:r>
              <a:rPr lang="en-US" altLang="en-US" sz="2400"/>
              <a:t>)</a:t>
            </a:r>
          </a:p>
          <a:p>
            <a:pPr eaLnBrk="1" hangingPunct="1">
              <a:lnSpc>
                <a:spcPct val="90000"/>
              </a:lnSpc>
              <a:buFontTx/>
              <a:buNone/>
            </a:pPr>
            <a:endParaRPr lang="en-US" altLang="en-US" sz="2400"/>
          </a:p>
          <a:p>
            <a:pPr eaLnBrk="1" hangingPunct="1">
              <a:lnSpc>
                <a:spcPct val="90000"/>
              </a:lnSpc>
              <a:buFontTx/>
              <a:buNone/>
            </a:pPr>
            <a:r>
              <a:rPr lang="en-US" altLang="en-US" sz="2400"/>
              <a:t>returns the result of expression </a:t>
            </a:r>
            <a:r>
              <a:rPr lang="en-US" altLang="en-US" sz="2400" i="1"/>
              <a:t>E</a:t>
            </a:r>
            <a:r>
              <a:rPr lang="en-US" altLang="en-US" sz="2400"/>
              <a:t> under the name </a:t>
            </a:r>
            <a:r>
              <a:rPr lang="en-US" altLang="en-US" sz="2400" i="1"/>
              <a:t>X</a:t>
            </a:r>
            <a:r>
              <a:rPr lang="en-US" altLang="en-US" sz="2400"/>
              <a:t>, and with  the  attributes renamed to </a:t>
            </a:r>
            <a:r>
              <a:rPr lang="en-US" altLang="en-US" sz="2400" i="1"/>
              <a:t>A1, A2, …., An</a:t>
            </a:r>
            <a:r>
              <a:rPr lang="en-US" altLang="en-US" sz="2400"/>
              <a:t>.</a:t>
            </a:r>
          </a:p>
          <a:p>
            <a:pPr eaLnBrk="1" hangingPunct="1">
              <a:lnSpc>
                <a:spcPct val="90000"/>
              </a:lnSpc>
            </a:pPr>
            <a:endParaRPr lang="en-US" altLang="en-US" sz="2400"/>
          </a:p>
        </p:txBody>
      </p:sp>
      <p:sp>
        <p:nvSpPr>
          <p:cNvPr id="28676" name="Text Box 4">
            <a:extLst>
              <a:ext uri="{FF2B5EF4-FFF2-40B4-BE49-F238E27FC236}">
                <a16:creationId xmlns:a16="http://schemas.microsoft.com/office/drawing/2014/main" id="{D323C31D-5C8E-4538-0598-6A59712EB19C}"/>
              </a:ext>
            </a:extLst>
          </p:cNvPr>
          <p:cNvSpPr txBox="1">
            <a:spLocks noChangeArrowheads="1"/>
          </p:cNvSpPr>
          <p:nvPr/>
        </p:nvSpPr>
        <p:spPr bwMode="auto">
          <a:xfrm>
            <a:off x="5562600" y="403860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imes New Roman" panose="02020603050405020304" pitchFamily="18" charset="0"/>
              </a:defRPr>
            </a:lvl1pPr>
            <a:lvl2pPr marL="742950" indent="-285750" eaLnBrk="0" hangingPunct="0">
              <a:defRPr>
                <a:solidFill>
                  <a:schemeClr val="tx1"/>
                </a:solidFill>
                <a:latin typeface="Times New Roman" panose="02020603050405020304" pitchFamily="18" charset="0"/>
              </a:defRPr>
            </a:lvl2pPr>
            <a:lvl3pPr marL="1143000" indent="-228600" eaLnBrk="0" hangingPunct="0">
              <a:defRPr>
                <a:solidFill>
                  <a:schemeClr val="tx1"/>
                </a:solidFill>
                <a:latin typeface="Times New Roman" panose="02020603050405020304" pitchFamily="18" charset="0"/>
              </a:defRPr>
            </a:lvl3pPr>
            <a:lvl4pPr marL="1600200" indent="-228600" eaLnBrk="0" hangingPunct="0">
              <a:defRPr>
                <a:solidFill>
                  <a:schemeClr val="tx1"/>
                </a:solidFill>
                <a:latin typeface="Times New Roman" panose="02020603050405020304" pitchFamily="18" charset="0"/>
              </a:defRPr>
            </a:lvl4pPr>
            <a:lvl5pPr marL="2057400" indent="-228600" eaLnBrk="0" hangingPunct="0">
              <a:defRPr>
                <a:solidFill>
                  <a:schemeClr val="tx1"/>
                </a:solidFill>
                <a:latin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defRPr>
            </a:lvl9pPr>
          </a:lstStyle>
          <a:p>
            <a:pPr eaLnBrk="1" hangingPunct="1">
              <a:spcBef>
                <a:spcPct val="50000"/>
              </a:spcBef>
            </a:pPr>
            <a:r>
              <a:rPr lang="en-US" altLang="en-US" sz="2400"/>
              <a:t>x</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871AA36D-D8E1-BEB2-AEB3-0D4906C41D5E}"/>
              </a:ext>
            </a:extLst>
          </p:cNvPr>
          <p:cNvSpPr>
            <a:spLocks noGrp="1" noChangeArrowheads="1"/>
          </p:cNvSpPr>
          <p:nvPr>
            <p:ph type="title"/>
          </p:nvPr>
        </p:nvSpPr>
        <p:spPr>
          <a:xfrm>
            <a:off x="2209800" y="0"/>
            <a:ext cx="7772400" cy="1143000"/>
          </a:xfrm>
        </p:spPr>
        <p:txBody>
          <a:bodyPr/>
          <a:lstStyle/>
          <a:p>
            <a:pPr eaLnBrk="1" hangingPunct="1"/>
            <a:r>
              <a:rPr lang="en-US" altLang="en-US" sz="2800"/>
              <a:t>Banking Example</a:t>
            </a:r>
          </a:p>
        </p:txBody>
      </p:sp>
      <p:sp>
        <p:nvSpPr>
          <p:cNvPr id="29699" name="Rectangle 3">
            <a:extLst>
              <a:ext uri="{FF2B5EF4-FFF2-40B4-BE49-F238E27FC236}">
                <a16:creationId xmlns:a16="http://schemas.microsoft.com/office/drawing/2014/main" id="{9EF74E80-34D7-284F-C5DA-D14793153282}"/>
              </a:ext>
            </a:extLst>
          </p:cNvPr>
          <p:cNvSpPr>
            <a:spLocks noGrp="1" noChangeArrowheads="1"/>
          </p:cNvSpPr>
          <p:nvPr>
            <p:ph type="body" idx="1"/>
          </p:nvPr>
        </p:nvSpPr>
        <p:spPr>
          <a:xfrm>
            <a:off x="2614614" y="1295401"/>
            <a:ext cx="6961187" cy="3471863"/>
          </a:xfrm>
        </p:spPr>
        <p:txBody>
          <a:bodyPr>
            <a:normAutofit fontScale="92500" lnSpcReduction="10000"/>
          </a:bodyPr>
          <a:lstStyle/>
          <a:p>
            <a:pPr eaLnBrk="1" hangingPunct="1">
              <a:lnSpc>
                <a:spcPct val="70000"/>
              </a:lnSpc>
              <a:buFontTx/>
              <a:buNone/>
            </a:pPr>
            <a:r>
              <a:rPr lang="en-US" altLang="en-US" sz="2400" i="1"/>
              <a:t>branch (branch-name, branch-city, assets)</a:t>
            </a:r>
            <a:br>
              <a:rPr lang="en-US" altLang="en-US" sz="2400" i="1"/>
            </a:br>
            <a:endParaRPr lang="en-US" altLang="en-US" sz="2400" i="1"/>
          </a:p>
          <a:p>
            <a:pPr eaLnBrk="1" hangingPunct="1">
              <a:lnSpc>
                <a:spcPct val="70000"/>
              </a:lnSpc>
              <a:buFontTx/>
              <a:buNone/>
            </a:pPr>
            <a:r>
              <a:rPr lang="en-US" altLang="en-US" sz="2400" i="1"/>
              <a:t>customer (customer-name, customer-street, customer-city)</a:t>
            </a:r>
          </a:p>
          <a:p>
            <a:pPr eaLnBrk="1" hangingPunct="1">
              <a:lnSpc>
                <a:spcPct val="70000"/>
              </a:lnSpc>
              <a:buFontTx/>
              <a:buNone/>
            </a:pPr>
            <a:endParaRPr lang="en-US" altLang="en-US" sz="2400" i="1"/>
          </a:p>
          <a:p>
            <a:pPr eaLnBrk="1" hangingPunct="1">
              <a:lnSpc>
                <a:spcPct val="70000"/>
              </a:lnSpc>
              <a:buFontTx/>
              <a:buNone/>
            </a:pPr>
            <a:r>
              <a:rPr lang="en-US" altLang="en-US" sz="2400" i="1"/>
              <a:t>account (account-number, branch-name, balance)</a:t>
            </a:r>
          </a:p>
          <a:p>
            <a:pPr eaLnBrk="1" hangingPunct="1">
              <a:lnSpc>
                <a:spcPct val="70000"/>
              </a:lnSpc>
              <a:buFontTx/>
              <a:buNone/>
            </a:pPr>
            <a:endParaRPr lang="en-US" altLang="en-US" sz="2400" i="1"/>
          </a:p>
          <a:p>
            <a:pPr eaLnBrk="1" hangingPunct="1">
              <a:lnSpc>
                <a:spcPct val="70000"/>
              </a:lnSpc>
              <a:buFontTx/>
              <a:buNone/>
            </a:pPr>
            <a:r>
              <a:rPr lang="en-US" altLang="en-US" sz="2400" i="1"/>
              <a:t>loan (loan-number, branch-name, amount)</a:t>
            </a:r>
          </a:p>
          <a:p>
            <a:pPr eaLnBrk="1" hangingPunct="1">
              <a:lnSpc>
                <a:spcPct val="70000"/>
              </a:lnSpc>
              <a:buFontTx/>
              <a:buNone/>
            </a:pPr>
            <a:endParaRPr lang="en-US" altLang="en-US" sz="2400" i="1"/>
          </a:p>
          <a:p>
            <a:pPr eaLnBrk="1" hangingPunct="1">
              <a:lnSpc>
                <a:spcPct val="70000"/>
              </a:lnSpc>
              <a:buFontTx/>
              <a:buNone/>
            </a:pPr>
            <a:r>
              <a:rPr lang="en-US" altLang="en-US" sz="2400" i="1"/>
              <a:t>depositor (customer-name, account-number)</a:t>
            </a:r>
          </a:p>
          <a:p>
            <a:pPr eaLnBrk="1" hangingPunct="1">
              <a:lnSpc>
                <a:spcPct val="70000"/>
              </a:lnSpc>
              <a:buFontTx/>
              <a:buNone/>
            </a:pPr>
            <a:endParaRPr lang="en-US" altLang="en-US" sz="2400" i="1"/>
          </a:p>
          <a:p>
            <a:pPr eaLnBrk="1" hangingPunct="1">
              <a:lnSpc>
                <a:spcPct val="70000"/>
              </a:lnSpc>
              <a:buFontTx/>
              <a:buNone/>
            </a:pPr>
            <a:r>
              <a:rPr lang="en-US" altLang="en-US" sz="2400" i="1"/>
              <a:t>borrower (customer-name, loan-number)</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6"/>
          <p:cNvSpPr txBox="1">
            <a:spLocks noGrp="1"/>
          </p:cNvSpPr>
          <p:nvPr>
            <p:ph type="title"/>
          </p:nvPr>
        </p:nvSpPr>
        <p:spPr>
          <a:xfrm>
            <a:off x="2057400" y="1250316"/>
            <a:ext cx="8229600" cy="730885"/>
          </a:xfrm>
          <a:prstGeom prst="rect">
            <a:avLst/>
          </a:prstGeom>
          <a:noFill/>
          <a:ln>
            <a:noFill/>
          </a:ln>
        </p:spPr>
        <p:txBody>
          <a:bodyPr spcFirstLastPara="1" vert="horz" wrap="square" lIns="91425" tIns="45700" rIns="91425" bIns="45700" rtlCol="0" anchor="ctr" anchorCtr="0">
            <a:noAutofit/>
          </a:bodyPr>
          <a:lstStyle/>
          <a:p>
            <a:pPr>
              <a:lnSpc>
                <a:spcPct val="100000"/>
              </a:lnSpc>
              <a:spcBef>
                <a:spcPts val="0"/>
              </a:spcBef>
              <a:buClr>
                <a:schemeClr val="dk2"/>
              </a:buClr>
              <a:buSzPts val="2800"/>
            </a:pPr>
            <a:r>
              <a:rPr lang="en-US" sz="2800" b="1"/>
              <a:t>What is “algebra”</a:t>
            </a:r>
            <a:endParaRPr sz="2800" b="1"/>
          </a:p>
        </p:txBody>
      </p:sp>
      <p:sp>
        <p:nvSpPr>
          <p:cNvPr id="121" name="Google Shape;121;p6"/>
          <p:cNvSpPr txBox="1">
            <a:spLocks noGrp="1"/>
          </p:cNvSpPr>
          <p:nvPr>
            <p:ph type="body" idx="1"/>
          </p:nvPr>
        </p:nvSpPr>
        <p:spPr>
          <a:xfrm>
            <a:off x="2209800" y="1905000"/>
            <a:ext cx="7772400" cy="4114800"/>
          </a:xfrm>
          <a:prstGeom prst="rect">
            <a:avLst/>
          </a:prstGeom>
          <a:noFill/>
          <a:ln>
            <a:noFill/>
          </a:ln>
        </p:spPr>
        <p:txBody>
          <a:bodyPr spcFirstLastPara="1" vert="horz" wrap="square" lIns="91425" tIns="45700" rIns="91425" bIns="45700" rtlCol="0" anchor="t" anchorCtr="0">
            <a:noAutofit/>
          </a:bodyPr>
          <a:lstStyle/>
          <a:p>
            <a:pPr marL="342900" indent="-342900" algn="just">
              <a:lnSpc>
                <a:spcPct val="100000"/>
              </a:lnSpc>
              <a:spcBef>
                <a:spcPts val="0"/>
              </a:spcBef>
              <a:buClr>
                <a:schemeClr val="dk1"/>
              </a:buClr>
              <a:buSzPts val="2800"/>
              <a:buFont typeface="Times New Roman"/>
              <a:buChar char="•"/>
            </a:pPr>
            <a:r>
              <a:rPr lang="en-US">
                <a:latin typeface="Times New Roman"/>
                <a:ea typeface="Times New Roman"/>
                <a:cs typeface="Times New Roman"/>
                <a:sym typeface="Times New Roman"/>
              </a:rPr>
              <a:t>Mathematical model consisting of:</a:t>
            </a:r>
            <a:endParaRPr>
              <a:latin typeface="Times New Roman"/>
              <a:ea typeface="Times New Roman"/>
              <a:cs typeface="Times New Roman"/>
              <a:sym typeface="Times New Roman"/>
            </a:endParaRPr>
          </a:p>
          <a:p>
            <a:pPr marL="742950" lvl="1" indent="-285750" algn="just">
              <a:lnSpc>
                <a:spcPct val="100000"/>
              </a:lnSpc>
              <a:spcBef>
                <a:spcPts val="560"/>
              </a:spcBef>
              <a:buClr>
                <a:schemeClr val="dk1"/>
              </a:buClr>
              <a:buSzPts val="2800"/>
              <a:buFont typeface="Times New Roman"/>
              <a:buChar char="–"/>
            </a:pPr>
            <a:r>
              <a:rPr lang="en-US" i="1">
                <a:latin typeface="Times New Roman"/>
                <a:ea typeface="Times New Roman"/>
                <a:cs typeface="Times New Roman"/>
                <a:sym typeface="Times New Roman"/>
              </a:rPr>
              <a:t>Operands --- </a:t>
            </a:r>
            <a:r>
              <a:rPr lang="en-US">
                <a:latin typeface="Times New Roman"/>
                <a:ea typeface="Times New Roman"/>
                <a:cs typeface="Times New Roman"/>
                <a:sym typeface="Times New Roman"/>
              </a:rPr>
              <a:t>Variables or values;</a:t>
            </a:r>
            <a:endParaRPr>
              <a:latin typeface="Times New Roman"/>
              <a:ea typeface="Times New Roman"/>
              <a:cs typeface="Times New Roman"/>
              <a:sym typeface="Times New Roman"/>
            </a:endParaRPr>
          </a:p>
          <a:p>
            <a:pPr marL="742950" lvl="1" indent="-285750" algn="just">
              <a:lnSpc>
                <a:spcPct val="100000"/>
              </a:lnSpc>
              <a:spcBef>
                <a:spcPts val="560"/>
              </a:spcBef>
              <a:buClr>
                <a:schemeClr val="dk1"/>
              </a:buClr>
              <a:buSzPts val="2800"/>
              <a:buFont typeface="Times New Roman"/>
              <a:buChar char="–"/>
            </a:pPr>
            <a:r>
              <a:rPr lang="en-US" i="1">
                <a:latin typeface="Times New Roman"/>
                <a:ea typeface="Times New Roman"/>
                <a:cs typeface="Times New Roman"/>
                <a:sym typeface="Times New Roman"/>
              </a:rPr>
              <a:t>Operators --- </a:t>
            </a:r>
            <a:r>
              <a:rPr lang="en-US">
                <a:latin typeface="Times New Roman"/>
                <a:ea typeface="Times New Roman"/>
                <a:cs typeface="Times New Roman"/>
                <a:sym typeface="Times New Roman"/>
              </a:rPr>
              <a:t>Symbols denoting procedures that construct new values from a given values</a:t>
            </a:r>
            <a:endParaRPr>
              <a:latin typeface="Times New Roman"/>
              <a:ea typeface="Times New Roman"/>
              <a:cs typeface="Times New Roman"/>
              <a:sym typeface="Times New Roman"/>
            </a:endParaRPr>
          </a:p>
          <a:p>
            <a:pPr marL="742950" lvl="1" indent="-107950" algn="just">
              <a:lnSpc>
                <a:spcPct val="100000"/>
              </a:lnSpc>
              <a:spcBef>
                <a:spcPts val="560"/>
              </a:spcBef>
              <a:buClr>
                <a:schemeClr val="dk1"/>
              </a:buClr>
              <a:buSzPts val="2800"/>
              <a:buNone/>
            </a:pPr>
            <a:endParaRPr>
              <a:latin typeface="Times New Roman"/>
              <a:ea typeface="Times New Roman"/>
              <a:cs typeface="Times New Roman"/>
              <a:sym typeface="Times New Roman"/>
            </a:endParaRPr>
          </a:p>
          <a:p>
            <a:pPr marL="342900" indent="-342900" algn="just">
              <a:lnSpc>
                <a:spcPct val="100000"/>
              </a:lnSpc>
              <a:spcBef>
                <a:spcPts val="560"/>
              </a:spcBef>
              <a:buClr>
                <a:schemeClr val="dk1"/>
              </a:buClr>
              <a:buSzPts val="2800"/>
              <a:buFont typeface="Times New Roman"/>
              <a:buChar char="•"/>
            </a:pPr>
            <a:r>
              <a:rPr lang="en-US" b="1">
                <a:latin typeface="Times New Roman"/>
                <a:ea typeface="Times New Roman"/>
                <a:cs typeface="Times New Roman"/>
                <a:sym typeface="Times New Roman"/>
              </a:rPr>
              <a:t>Relational Algebra </a:t>
            </a:r>
            <a:r>
              <a:rPr lang="en-US">
                <a:latin typeface="Times New Roman"/>
                <a:ea typeface="Times New Roman"/>
                <a:cs typeface="Times New Roman"/>
                <a:sym typeface="Times New Roman"/>
              </a:rPr>
              <a:t>is algebra whose operands are relations and operators are designed to do the most commons things that we need to do with relations</a:t>
            </a:r>
            <a:endParaRPr b="1">
              <a:latin typeface="Times New Roman"/>
              <a:ea typeface="Times New Roman"/>
              <a:cs typeface="Times New Roman"/>
              <a:sym typeface="Times New Roman"/>
            </a:endParaRPr>
          </a:p>
        </p:txBody>
      </p:sp>
      <p:sp>
        <p:nvSpPr>
          <p:cNvPr id="122" name="Google Shape;122;p6"/>
          <p:cNvSpPr/>
          <p:nvPr/>
        </p:nvSpPr>
        <p:spPr>
          <a:xfrm>
            <a:off x="1981200" y="274955"/>
            <a:ext cx="8229600" cy="588010"/>
          </a:xfrm>
          <a:prstGeom prst="rect">
            <a:avLst/>
          </a:prstGeom>
          <a:noFill/>
          <a:ln>
            <a:noFill/>
          </a:ln>
        </p:spPr>
        <p:txBody>
          <a:bodyPr spcFirstLastPara="1" wrap="square" lIns="91425" tIns="45700" rIns="91425" bIns="45700" anchor="ctr" anchorCtr="0">
            <a:noAutofit/>
          </a:bodyPr>
          <a:lstStyle/>
          <a:p>
            <a:pPr algn="ctr">
              <a:buClr>
                <a:schemeClr val="dk2"/>
              </a:buClr>
              <a:buSzPts val="4400"/>
            </a:pPr>
            <a:r>
              <a:rPr lang="en-US" sz="4400" b="1">
                <a:solidFill>
                  <a:schemeClr val="dk2"/>
                </a:solidFill>
                <a:latin typeface="Times New Roman"/>
                <a:ea typeface="Times New Roman"/>
                <a:cs typeface="Times New Roman"/>
                <a:sym typeface="Times New Roman"/>
              </a:rPr>
              <a:t>The Relational Algebra</a:t>
            </a:r>
            <a:endParaRPr sz="4400">
              <a:solidFill>
                <a:schemeClr val="dk2"/>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7"/>
          <p:cNvSpPr txBox="1">
            <a:spLocks noGrp="1"/>
          </p:cNvSpPr>
          <p:nvPr>
            <p:ph type="title"/>
          </p:nvPr>
        </p:nvSpPr>
        <p:spPr>
          <a:xfrm>
            <a:off x="2133600" y="228600"/>
            <a:ext cx="8229600" cy="648970"/>
          </a:xfrm>
          <a:prstGeom prst="rect">
            <a:avLst/>
          </a:prstGeom>
          <a:noFill/>
          <a:ln>
            <a:noFill/>
          </a:ln>
        </p:spPr>
        <p:txBody>
          <a:bodyPr spcFirstLastPara="1" vert="horz" wrap="square" lIns="91425" tIns="45700" rIns="91425" bIns="45700" rtlCol="0" anchor="ctr" anchorCtr="0">
            <a:noAutofit/>
          </a:bodyPr>
          <a:lstStyle/>
          <a:p>
            <a:pPr algn="ctr">
              <a:lnSpc>
                <a:spcPct val="100000"/>
              </a:lnSpc>
              <a:spcBef>
                <a:spcPts val="0"/>
              </a:spcBef>
              <a:buClr>
                <a:schemeClr val="dk2"/>
              </a:buClr>
              <a:buSzPts val="4400"/>
            </a:pPr>
            <a:r>
              <a:rPr lang="en-US" b="1">
                <a:latin typeface="Times New Roman"/>
                <a:ea typeface="Times New Roman"/>
                <a:cs typeface="Times New Roman"/>
                <a:sym typeface="Times New Roman"/>
              </a:rPr>
              <a:t>The Relational Algebra.........</a:t>
            </a:r>
            <a:endParaRPr b="1">
              <a:latin typeface="Times New Roman"/>
              <a:ea typeface="Times New Roman"/>
              <a:cs typeface="Times New Roman"/>
              <a:sym typeface="Times New Roman"/>
            </a:endParaRPr>
          </a:p>
        </p:txBody>
      </p:sp>
      <p:sp>
        <p:nvSpPr>
          <p:cNvPr id="128" name="Google Shape;128;p7"/>
          <p:cNvSpPr txBox="1">
            <a:spLocks noGrp="1"/>
          </p:cNvSpPr>
          <p:nvPr>
            <p:ph type="body" idx="1"/>
          </p:nvPr>
        </p:nvSpPr>
        <p:spPr>
          <a:xfrm>
            <a:off x="2057400" y="838201"/>
            <a:ext cx="8229600" cy="4525963"/>
          </a:xfrm>
          <a:prstGeom prst="rect">
            <a:avLst/>
          </a:prstGeom>
          <a:noFill/>
          <a:ln>
            <a:noFill/>
          </a:ln>
        </p:spPr>
        <p:txBody>
          <a:bodyPr spcFirstLastPara="1" vert="horz" wrap="square" lIns="91425" tIns="45700" rIns="91425" bIns="45700" rtlCol="0" anchor="t" anchorCtr="0">
            <a:noAutofit/>
          </a:bodyPr>
          <a:lstStyle/>
          <a:p>
            <a:pPr marL="342900" indent="-342900" algn="just">
              <a:lnSpc>
                <a:spcPct val="100000"/>
              </a:lnSpc>
              <a:spcBef>
                <a:spcPts val="0"/>
              </a:spcBef>
              <a:buClr>
                <a:schemeClr val="dk1"/>
              </a:buClr>
              <a:buSzPts val="2400"/>
              <a:buFont typeface="Times New Roman"/>
              <a:buChar char="•"/>
            </a:pPr>
            <a:r>
              <a:rPr lang="en-US" sz="2400">
                <a:latin typeface="Times New Roman"/>
                <a:ea typeface="Times New Roman"/>
                <a:cs typeface="Times New Roman"/>
                <a:sym typeface="Times New Roman"/>
              </a:rPr>
              <a:t>The relational algebra is a procedural query language. It consists of a set of operations that take one or two relations as input and produce a new relation as their output. </a:t>
            </a:r>
            <a:endParaRPr sz="2400">
              <a:latin typeface="Times New Roman"/>
              <a:ea typeface="Times New Roman"/>
              <a:cs typeface="Times New Roman"/>
              <a:sym typeface="Times New Roman"/>
            </a:endParaRPr>
          </a:p>
          <a:p>
            <a:pPr marL="342900" indent="-342900" algn="just">
              <a:lnSpc>
                <a:spcPct val="100000"/>
              </a:lnSpc>
              <a:spcBef>
                <a:spcPts val="480"/>
              </a:spcBef>
              <a:buClr>
                <a:schemeClr val="dk1"/>
              </a:buClr>
              <a:buSzPts val="2400"/>
              <a:buFont typeface="Times New Roman"/>
              <a:buChar char="•"/>
            </a:pPr>
            <a:r>
              <a:rPr lang="en-US" sz="2400">
                <a:latin typeface="Times New Roman"/>
                <a:ea typeface="Times New Roman"/>
                <a:cs typeface="Times New Roman"/>
                <a:sym typeface="Times New Roman"/>
              </a:rPr>
              <a:t>The fundamental operations in the relational algebra are:</a:t>
            </a:r>
            <a:endParaRPr sz="2400">
              <a:latin typeface="Times New Roman"/>
              <a:ea typeface="Times New Roman"/>
              <a:cs typeface="Times New Roman"/>
              <a:sym typeface="Times New Roman"/>
            </a:endParaRPr>
          </a:p>
          <a:p>
            <a:pPr marL="457200" indent="-457200" algn="just">
              <a:lnSpc>
                <a:spcPct val="100000"/>
              </a:lnSpc>
              <a:spcBef>
                <a:spcPts val="480"/>
              </a:spcBef>
              <a:buClr>
                <a:schemeClr val="dk1"/>
              </a:buClr>
              <a:buSzPts val="2400"/>
              <a:buFont typeface="Times New Roman"/>
              <a:buAutoNum type="arabicPeriod"/>
            </a:pPr>
            <a:r>
              <a:rPr lang="en-US" sz="2400">
                <a:latin typeface="Times New Roman"/>
                <a:ea typeface="Times New Roman"/>
                <a:cs typeface="Times New Roman"/>
                <a:sym typeface="Times New Roman"/>
              </a:rPr>
              <a:t>Rename</a:t>
            </a:r>
            <a:endParaRPr sz="2400">
              <a:latin typeface="Times New Roman"/>
              <a:ea typeface="Times New Roman"/>
              <a:cs typeface="Times New Roman"/>
              <a:sym typeface="Times New Roman"/>
            </a:endParaRPr>
          </a:p>
          <a:p>
            <a:pPr marL="457200" indent="-457200" algn="just">
              <a:lnSpc>
                <a:spcPct val="100000"/>
              </a:lnSpc>
              <a:spcBef>
                <a:spcPts val="480"/>
              </a:spcBef>
              <a:buClr>
                <a:schemeClr val="dk1"/>
              </a:buClr>
              <a:buSzPts val="2400"/>
              <a:buFont typeface="Times New Roman"/>
              <a:buAutoNum type="arabicPeriod"/>
            </a:pPr>
            <a:r>
              <a:rPr lang="en-US" sz="2400">
                <a:latin typeface="Times New Roman"/>
                <a:ea typeface="Times New Roman"/>
                <a:cs typeface="Times New Roman"/>
                <a:sym typeface="Times New Roman"/>
              </a:rPr>
              <a:t>Union</a:t>
            </a:r>
            <a:endParaRPr sz="2400">
              <a:latin typeface="Times New Roman"/>
              <a:ea typeface="Times New Roman"/>
              <a:cs typeface="Times New Roman"/>
              <a:sym typeface="Times New Roman"/>
            </a:endParaRPr>
          </a:p>
          <a:p>
            <a:pPr marL="457200" indent="-457200" algn="just">
              <a:lnSpc>
                <a:spcPct val="100000"/>
              </a:lnSpc>
              <a:spcBef>
                <a:spcPts val="480"/>
              </a:spcBef>
              <a:buClr>
                <a:schemeClr val="dk1"/>
              </a:buClr>
              <a:buSzPts val="2400"/>
              <a:buFont typeface="Times New Roman"/>
              <a:buAutoNum type="arabicPeriod"/>
            </a:pPr>
            <a:r>
              <a:rPr lang="en-US" sz="2400">
                <a:latin typeface="Times New Roman"/>
                <a:ea typeface="Times New Roman"/>
                <a:cs typeface="Times New Roman"/>
                <a:sym typeface="Times New Roman"/>
              </a:rPr>
              <a:t>Intersection</a:t>
            </a:r>
            <a:endParaRPr sz="2400">
              <a:latin typeface="Times New Roman"/>
              <a:ea typeface="Times New Roman"/>
              <a:cs typeface="Times New Roman"/>
              <a:sym typeface="Times New Roman"/>
            </a:endParaRPr>
          </a:p>
          <a:p>
            <a:pPr marL="457200" indent="-457200" algn="just">
              <a:lnSpc>
                <a:spcPct val="100000"/>
              </a:lnSpc>
              <a:spcBef>
                <a:spcPts val="480"/>
              </a:spcBef>
              <a:buClr>
                <a:schemeClr val="dk1"/>
              </a:buClr>
              <a:buSzPts val="2400"/>
              <a:buFont typeface="Times New Roman"/>
              <a:buAutoNum type="arabicPeriod"/>
            </a:pPr>
            <a:r>
              <a:rPr lang="en-US" sz="2400">
                <a:latin typeface="Times New Roman"/>
                <a:ea typeface="Times New Roman"/>
                <a:cs typeface="Times New Roman"/>
                <a:sym typeface="Times New Roman"/>
              </a:rPr>
              <a:t>Set difference</a:t>
            </a:r>
            <a:endParaRPr sz="2400">
              <a:latin typeface="Times New Roman"/>
              <a:ea typeface="Times New Roman"/>
              <a:cs typeface="Times New Roman"/>
              <a:sym typeface="Times New Roman"/>
            </a:endParaRPr>
          </a:p>
          <a:p>
            <a:pPr marL="457200" indent="-457200" algn="just">
              <a:lnSpc>
                <a:spcPct val="100000"/>
              </a:lnSpc>
              <a:spcBef>
                <a:spcPts val="480"/>
              </a:spcBef>
              <a:buClr>
                <a:schemeClr val="dk1"/>
              </a:buClr>
              <a:buSzPts val="2400"/>
              <a:buFont typeface="Times New Roman"/>
              <a:buAutoNum type="arabicPeriod"/>
            </a:pPr>
            <a:r>
              <a:rPr lang="en-US" sz="2400">
                <a:latin typeface="Times New Roman"/>
                <a:ea typeface="Times New Roman"/>
                <a:cs typeface="Times New Roman"/>
                <a:sym typeface="Times New Roman"/>
              </a:rPr>
              <a:t>Cartesian product and </a:t>
            </a:r>
            <a:endParaRPr sz="2400">
              <a:latin typeface="Times New Roman"/>
              <a:ea typeface="Times New Roman"/>
              <a:cs typeface="Times New Roman"/>
              <a:sym typeface="Times New Roman"/>
            </a:endParaRPr>
          </a:p>
          <a:p>
            <a:pPr marL="0" indent="0" algn="just">
              <a:lnSpc>
                <a:spcPct val="100000"/>
              </a:lnSpc>
              <a:spcBef>
                <a:spcPts val="480"/>
              </a:spcBef>
              <a:buClr>
                <a:schemeClr val="dk1"/>
              </a:buClr>
              <a:buSzPts val="2400"/>
              <a:buNone/>
            </a:pPr>
            <a:r>
              <a:rPr lang="en-US" sz="2400" b="1">
                <a:latin typeface="Times New Roman"/>
                <a:ea typeface="Times New Roman"/>
                <a:cs typeface="Times New Roman"/>
                <a:sym typeface="Times New Roman"/>
              </a:rPr>
              <a:t>1. Select </a:t>
            </a:r>
            <a:endParaRPr sz="2400" b="1">
              <a:latin typeface="Times New Roman"/>
              <a:ea typeface="Times New Roman"/>
              <a:cs typeface="Times New Roman"/>
              <a:sym typeface="Times New Roman"/>
            </a:endParaRPr>
          </a:p>
          <a:p>
            <a:pPr marL="0" indent="0" algn="just">
              <a:lnSpc>
                <a:spcPct val="100000"/>
              </a:lnSpc>
              <a:spcBef>
                <a:spcPts val="480"/>
              </a:spcBef>
              <a:buClr>
                <a:schemeClr val="dk1"/>
              </a:buClr>
              <a:buSzPts val="2400"/>
              <a:buNone/>
            </a:pPr>
            <a:r>
              <a:rPr lang="en-US" sz="2400" b="1">
                <a:latin typeface="Times New Roman"/>
                <a:ea typeface="Times New Roman"/>
                <a:cs typeface="Times New Roman"/>
                <a:sym typeface="Times New Roman"/>
              </a:rPr>
              <a:t>2. Project </a:t>
            </a:r>
            <a:endParaRPr sz="2400" b="1">
              <a:latin typeface="Times New Roman"/>
              <a:ea typeface="Times New Roman"/>
              <a:cs typeface="Times New Roman"/>
              <a:sym typeface="Times New Roman"/>
            </a:endParaRPr>
          </a:p>
          <a:p>
            <a:pPr marL="0" indent="0" algn="just">
              <a:lnSpc>
                <a:spcPct val="100000"/>
              </a:lnSpc>
              <a:spcBef>
                <a:spcPts val="480"/>
              </a:spcBef>
              <a:buClr>
                <a:schemeClr val="dk1"/>
              </a:buClr>
              <a:buSzPts val="2400"/>
              <a:buNone/>
            </a:pPr>
            <a:r>
              <a:rPr lang="en-US" sz="2400" b="1">
                <a:latin typeface="Times New Roman"/>
                <a:ea typeface="Times New Roman"/>
                <a:cs typeface="Times New Roman"/>
                <a:sym typeface="Times New Roman"/>
              </a:rPr>
              <a:t>3. Join</a:t>
            </a:r>
            <a:endParaRPr sz="2400" b="1">
              <a:latin typeface="Times New Roman"/>
              <a:ea typeface="Times New Roman"/>
              <a:cs typeface="Times New Roman"/>
              <a:sym typeface="Times New Roman"/>
            </a:endParaRPr>
          </a:p>
          <a:p>
            <a:pPr marL="342900" indent="-190500" algn="just">
              <a:lnSpc>
                <a:spcPct val="100000"/>
              </a:lnSpc>
              <a:spcBef>
                <a:spcPts val="480"/>
              </a:spcBef>
              <a:buClr>
                <a:schemeClr val="dk1"/>
              </a:buClr>
              <a:buSzPts val="2400"/>
              <a:buNone/>
            </a:pPr>
            <a:endParaRPr sz="2400" b="1">
              <a:latin typeface="Times New Roman"/>
              <a:ea typeface="Times New Roman"/>
              <a:cs typeface="Times New Roman"/>
              <a:sym typeface="Times New Roman"/>
            </a:endParaRPr>
          </a:p>
        </p:txBody>
      </p:sp>
      <p:sp>
        <p:nvSpPr>
          <p:cNvPr id="129" name="Google Shape;129;p7"/>
          <p:cNvSpPr txBox="1"/>
          <p:nvPr/>
        </p:nvSpPr>
        <p:spPr>
          <a:xfrm>
            <a:off x="5722621" y="3505201"/>
            <a:ext cx="4843145" cy="625475"/>
          </a:xfrm>
          <a:prstGeom prst="rect">
            <a:avLst/>
          </a:prstGeom>
          <a:noFill/>
          <a:ln>
            <a:noFill/>
          </a:ln>
        </p:spPr>
        <p:txBody>
          <a:bodyPr spcFirstLastPara="1" wrap="square" lIns="91425" tIns="45700" rIns="91425" bIns="45700" anchor="t" anchorCtr="0">
            <a:noAutofit/>
          </a:bodyPr>
          <a:lstStyle/>
          <a:p>
            <a:r>
              <a:rPr lang="en-US" sz="2000" b="1">
                <a:solidFill>
                  <a:schemeClr val="dk1"/>
                </a:solidFill>
                <a:latin typeface="Arial"/>
                <a:ea typeface="Arial"/>
                <a:cs typeface="Arial"/>
                <a:sym typeface="Arial"/>
              </a:rPr>
              <a:t>Basic operations Set Theory operations</a:t>
            </a:r>
            <a:endParaRPr sz="2000" b="1">
              <a:solidFill>
                <a:schemeClr val="dk1"/>
              </a:solidFill>
              <a:latin typeface="Arial"/>
              <a:ea typeface="Arial"/>
              <a:cs typeface="Arial"/>
              <a:sym typeface="Arial"/>
            </a:endParaRPr>
          </a:p>
        </p:txBody>
      </p:sp>
      <p:sp>
        <p:nvSpPr>
          <p:cNvPr id="130" name="Google Shape;130;p7"/>
          <p:cNvSpPr/>
          <p:nvPr/>
        </p:nvSpPr>
        <p:spPr>
          <a:xfrm>
            <a:off x="5029200" y="3124200"/>
            <a:ext cx="609600" cy="1295400"/>
          </a:xfrm>
          <a:prstGeom prst="rightBrace">
            <a:avLst>
              <a:gd name="adj1" fmla="val 8333"/>
              <a:gd name="adj2" fmla="val 50000"/>
            </a:avLst>
          </a:prstGeom>
          <a:noFill/>
          <a:ln w="127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algn="ctr"/>
            <a:endParaRPr>
              <a:solidFill>
                <a:schemeClr val="dk1"/>
              </a:solidFill>
              <a:latin typeface="Arial"/>
              <a:ea typeface="Arial"/>
              <a:cs typeface="Arial"/>
              <a:sym typeface="Arial"/>
            </a:endParaRPr>
          </a:p>
        </p:txBody>
      </p:sp>
      <p:sp>
        <p:nvSpPr>
          <p:cNvPr id="131" name="Google Shape;131;p7"/>
          <p:cNvSpPr txBox="1"/>
          <p:nvPr/>
        </p:nvSpPr>
        <p:spPr>
          <a:xfrm>
            <a:off x="5791200" y="5087620"/>
            <a:ext cx="4572000" cy="398780"/>
          </a:xfrm>
          <a:prstGeom prst="rect">
            <a:avLst/>
          </a:prstGeom>
          <a:noFill/>
          <a:ln>
            <a:noFill/>
          </a:ln>
        </p:spPr>
        <p:txBody>
          <a:bodyPr spcFirstLastPara="1" wrap="square" lIns="91425" tIns="45700" rIns="91425" bIns="45700" anchor="t" anchorCtr="0">
            <a:spAutoFit/>
          </a:bodyPr>
          <a:lstStyle/>
          <a:p>
            <a:r>
              <a:rPr lang="en-US" sz="2000" b="1">
                <a:solidFill>
                  <a:schemeClr val="dk1"/>
                </a:solidFill>
                <a:latin typeface="Arial"/>
                <a:ea typeface="Arial"/>
                <a:cs typeface="Arial"/>
                <a:sym typeface="Arial"/>
              </a:rPr>
              <a:t>Relational DB operations</a:t>
            </a:r>
            <a:endParaRPr sz="2000" b="1">
              <a:solidFill>
                <a:schemeClr val="dk1"/>
              </a:solidFill>
              <a:latin typeface="Arial"/>
              <a:ea typeface="Arial"/>
              <a:cs typeface="Arial"/>
              <a:sym typeface="Arial"/>
            </a:endParaRPr>
          </a:p>
        </p:txBody>
      </p:sp>
      <p:sp>
        <p:nvSpPr>
          <p:cNvPr id="132" name="Google Shape;132;p7"/>
          <p:cNvSpPr/>
          <p:nvPr/>
        </p:nvSpPr>
        <p:spPr>
          <a:xfrm>
            <a:off x="4191000" y="4811396"/>
            <a:ext cx="609600" cy="951865"/>
          </a:xfrm>
          <a:prstGeom prst="rightBrace">
            <a:avLst>
              <a:gd name="adj1" fmla="val 8333"/>
              <a:gd name="adj2" fmla="val 50000"/>
            </a:avLst>
          </a:prstGeom>
          <a:noFill/>
          <a:ln w="127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algn="ctr"/>
            <a:endParaRPr>
              <a:solidFill>
                <a:schemeClr val="dk1"/>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8"/>
          <p:cNvSpPr txBox="1">
            <a:spLocks noGrp="1"/>
          </p:cNvSpPr>
          <p:nvPr>
            <p:ph type="title"/>
          </p:nvPr>
        </p:nvSpPr>
        <p:spPr>
          <a:xfrm>
            <a:off x="1981200" y="274956"/>
            <a:ext cx="8229600" cy="581025"/>
          </a:xfrm>
          <a:prstGeom prst="rect">
            <a:avLst/>
          </a:prstGeom>
          <a:noFill/>
          <a:ln>
            <a:noFill/>
          </a:ln>
        </p:spPr>
        <p:txBody>
          <a:bodyPr spcFirstLastPara="1" vert="horz" wrap="square" lIns="91425" tIns="45700" rIns="91425" bIns="45700" rtlCol="0" anchor="ctr" anchorCtr="0">
            <a:noAutofit/>
          </a:bodyPr>
          <a:lstStyle/>
          <a:p>
            <a:pPr algn="ctr">
              <a:lnSpc>
                <a:spcPct val="100000"/>
              </a:lnSpc>
              <a:spcBef>
                <a:spcPts val="0"/>
              </a:spcBef>
              <a:buClr>
                <a:schemeClr val="dk2"/>
              </a:buClr>
              <a:buSzPts val="4400"/>
            </a:pPr>
            <a:r>
              <a:rPr lang="en-US" b="1">
                <a:latin typeface="Times New Roman"/>
                <a:ea typeface="Times New Roman"/>
                <a:cs typeface="Times New Roman"/>
                <a:sym typeface="Times New Roman"/>
              </a:rPr>
              <a:t>Fundamental Operations</a:t>
            </a:r>
            <a:endParaRPr>
              <a:latin typeface="Times New Roman"/>
              <a:ea typeface="Times New Roman"/>
              <a:cs typeface="Times New Roman"/>
              <a:sym typeface="Times New Roman"/>
            </a:endParaRPr>
          </a:p>
        </p:txBody>
      </p:sp>
      <p:sp>
        <p:nvSpPr>
          <p:cNvPr id="138" name="Google Shape;138;p8"/>
          <p:cNvSpPr txBox="1">
            <a:spLocks noGrp="1"/>
          </p:cNvSpPr>
          <p:nvPr>
            <p:ph type="body" idx="1"/>
          </p:nvPr>
        </p:nvSpPr>
        <p:spPr>
          <a:xfrm>
            <a:off x="1730375" y="838200"/>
            <a:ext cx="8709660" cy="5453380"/>
          </a:xfrm>
          <a:prstGeom prst="rect">
            <a:avLst/>
          </a:prstGeom>
          <a:noFill/>
          <a:ln>
            <a:noFill/>
          </a:ln>
        </p:spPr>
        <p:txBody>
          <a:bodyPr spcFirstLastPara="1" vert="horz" wrap="square" lIns="91425" tIns="45700" rIns="91425" bIns="45700" rtlCol="0" anchor="t" anchorCtr="0">
            <a:noAutofit/>
          </a:bodyPr>
          <a:lstStyle/>
          <a:p>
            <a:pPr marL="342900" indent="-342900" algn="just">
              <a:lnSpc>
                <a:spcPct val="100000"/>
              </a:lnSpc>
              <a:spcBef>
                <a:spcPts val="0"/>
              </a:spcBef>
              <a:buClr>
                <a:schemeClr val="dk1"/>
              </a:buClr>
              <a:buSzPts val="2800"/>
              <a:buFont typeface="Times New Roman"/>
              <a:buChar char="•"/>
            </a:pPr>
            <a:r>
              <a:rPr lang="en-US">
                <a:latin typeface="Times New Roman"/>
                <a:ea typeface="Times New Roman"/>
                <a:cs typeface="Times New Roman"/>
                <a:sym typeface="Times New Roman"/>
              </a:rPr>
              <a:t>The select, project, and rename operations are called unary operations, because they operate on one relation. </a:t>
            </a:r>
            <a:endParaRPr>
              <a:latin typeface="Times New Roman"/>
              <a:ea typeface="Times New Roman"/>
              <a:cs typeface="Times New Roman"/>
              <a:sym typeface="Times New Roman"/>
            </a:endParaRPr>
          </a:p>
          <a:p>
            <a:pPr marL="342900" indent="-342900" algn="just">
              <a:lnSpc>
                <a:spcPct val="100000"/>
              </a:lnSpc>
              <a:spcBef>
                <a:spcPts val="560"/>
              </a:spcBef>
              <a:buClr>
                <a:schemeClr val="dk1"/>
              </a:buClr>
              <a:buSzPts val="2800"/>
              <a:buFont typeface="Times New Roman"/>
              <a:buChar char="•"/>
            </a:pPr>
            <a:r>
              <a:rPr lang="en-US">
                <a:latin typeface="Times New Roman"/>
                <a:ea typeface="Times New Roman"/>
                <a:cs typeface="Times New Roman"/>
                <a:sym typeface="Times New Roman"/>
              </a:rPr>
              <a:t>The other three operations operate on pairs of relations and are, therefore, called binary operations.</a:t>
            </a:r>
            <a:endParaRPr>
              <a:latin typeface="Times New Roman"/>
              <a:ea typeface="Times New Roman"/>
              <a:cs typeface="Times New Roman"/>
              <a:sym typeface="Times New Roman"/>
            </a:endParaRPr>
          </a:p>
          <a:p>
            <a:pPr marL="342900" indent="-342900" algn="just">
              <a:lnSpc>
                <a:spcPct val="100000"/>
              </a:lnSpc>
              <a:spcBef>
                <a:spcPts val="560"/>
              </a:spcBef>
              <a:buClr>
                <a:schemeClr val="dk1"/>
              </a:buClr>
              <a:buSzPts val="2800"/>
              <a:buFont typeface="Times New Roman"/>
              <a:buChar char="•"/>
            </a:pPr>
            <a:r>
              <a:rPr lang="en-US">
                <a:latin typeface="Times New Roman"/>
                <a:ea typeface="Times New Roman"/>
                <a:cs typeface="Times New Roman"/>
                <a:sym typeface="Times New Roman"/>
              </a:rPr>
              <a:t>In addition to the fundamental operations, there are several other operations—namely: </a:t>
            </a:r>
            <a:endParaRPr>
              <a:latin typeface="Times New Roman"/>
              <a:ea typeface="Times New Roman"/>
              <a:cs typeface="Times New Roman"/>
              <a:sym typeface="Times New Roman"/>
            </a:endParaRPr>
          </a:p>
          <a:p>
            <a:pPr marL="514350" indent="-514350" algn="just">
              <a:lnSpc>
                <a:spcPct val="100000"/>
              </a:lnSpc>
              <a:spcBef>
                <a:spcPts val="560"/>
              </a:spcBef>
              <a:buClr>
                <a:schemeClr val="dk1"/>
              </a:buClr>
              <a:buSzPts val="2800"/>
              <a:buFont typeface="Times New Roman"/>
              <a:buAutoNum type="arabicPeriod"/>
            </a:pPr>
            <a:r>
              <a:rPr lang="en-US">
                <a:latin typeface="Times New Roman"/>
                <a:ea typeface="Times New Roman"/>
                <a:cs typeface="Times New Roman"/>
                <a:sym typeface="Times New Roman"/>
              </a:rPr>
              <a:t>Set intersection</a:t>
            </a:r>
            <a:endParaRPr>
              <a:latin typeface="Times New Roman"/>
              <a:ea typeface="Times New Roman"/>
              <a:cs typeface="Times New Roman"/>
              <a:sym typeface="Times New Roman"/>
            </a:endParaRPr>
          </a:p>
          <a:p>
            <a:pPr marL="514350" indent="-514350" algn="just">
              <a:lnSpc>
                <a:spcPct val="100000"/>
              </a:lnSpc>
              <a:spcBef>
                <a:spcPts val="560"/>
              </a:spcBef>
              <a:buClr>
                <a:schemeClr val="dk1"/>
              </a:buClr>
              <a:buSzPts val="2800"/>
              <a:buFont typeface="Times New Roman"/>
              <a:buAutoNum type="arabicPeriod"/>
            </a:pPr>
            <a:r>
              <a:rPr lang="en-US">
                <a:latin typeface="Times New Roman"/>
                <a:ea typeface="Times New Roman"/>
                <a:cs typeface="Times New Roman"/>
                <a:sym typeface="Times New Roman"/>
              </a:rPr>
              <a:t>Natural join</a:t>
            </a:r>
            <a:endParaRPr>
              <a:latin typeface="Times New Roman"/>
              <a:ea typeface="Times New Roman"/>
              <a:cs typeface="Times New Roman"/>
              <a:sym typeface="Times New Roman"/>
            </a:endParaRPr>
          </a:p>
          <a:p>
            <a:pPr marL="514350" indent="-514350" algn="just">
              <a:lnSpc>
                <a:spcPct val="100000"/>
              </a:lnSpc>
              <a:spcBef>
                <a:spcPts val="560"/>
              </a:spcBef>
              <a:buClr>
                <a:schemeClr val="dk1"/>
              </a:buClr>
              <a:buSzPts val="2800"/>
              <a:buFont typeface="Times New Roman"/>
              <a:buAutoNum type="arabicPeriod"/>
            </a:pPr>
            <a:r>
              <a:rPr lang="en-US">
                <a:latin typeface="Times New Roman"/>
                <a:ea typeface="Times New Roman"/>
                <a:cs typeface="Times New Roman"/>
                <a:sym typeface="Times New Roman"/>
              </a:rPr>
              <a:t>Division and</a:t>
            </a:r>
            <a:endParaRPr>
              <a:latin typeface="Times New Roman"/>
              <a:ea typeface="Times New Roman"/>
              <a:cs typeface="Times New Roman"/>
              <a:sym typeface="Times New Roman"/>
            </a:endParaRPr>
          </a:p>
          <a:p>
            <a:pPr marL="514350" indent="-514350" algn="just">
              <a:lnSpc>
                <a:spcPct val="100000"/>
              </a:lnSpc>
              <a:spcBef>
                <a:spcPts val="560"/>
              </a:spcBef>
              <a:buClr>
                <a:schemeClr val="dk1"/>
              </a:buClr>
              <a:buSzPts val="2800"/>
              <a:buFont typeface="Times New Roman"/>
              <a:buAutoNum type="arabicPeriod"/>
            </a:pPr>
            <a:r>
              <a:rPr lang="en-US">
                <a:latin typeface="Times New Roman"/>
                <a:ea typeface="Times New Roman"/>
                <a:cs typeface="Times New Roman"/>
                <a:sym typeface="Times New Roman"/>
              </a:rPr>
              <a:t>Assignment</a:t>
            </a:r>
            <a:endParaRPr>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9"/>
          <p:cNvSpPr txBox="1">
            <a:spLocks noGrp="1"/>
          </p:cNvSpPr>
          <p:nvPr>
            <p:ph type="title"/>
          </p:nvPr>
        </p:nvSpPr>
        <p:spPr>
          <a:xfrm>
            <a:off x="2209800" y="76200"/>
            <a:ext cx="8229600" cy="753110"/>
          </a:xfrm>
          <a:prstGeom prst="rect">
            <a:avLst/>
          </a:prstGeom>
          <a:noFill/>
          <a:ln>
            <a:noFill/>
          </a:ln>
        </p:spPr>
        <p:txBody>
          <a:bodyPr spcFirstLastPara="1" vert="horz" wrap="square" lIns="91425" tIns="45700" rIns="91425" bIns="45700" rtlCol="0" anchor="ctr" anchorCtr="0">
            <a:normAutofit fontScale="90000"/>
          </a:bodyPr>
          <a:lstStyle/>
          <a:p>
            <a:pPr algn="ctr">
              <a:lnSpc>
                <a:spcPct val="100000"/>
              </a:lnSpc>
              <a:spcBef>
                <a:spcPts val="0"/>
              </a:spcBef>
              <a:buClr>
                <a:schemeClr val="dk2"/>
              </a:buClr>
              <a:buSzPct val="100000"/>
            </a:pPr>
            <a:r>
              <a:rPr lang="en-US"/>
              <a:t>For example: LOAN Relation</a:t>
            </a:r>
            <a:endParaRPr/>
          </a:p>
        </p:txBody>
      </p:sp>
      <p:sp>
        <p:nvSpPr>
          <p:cNvPr id="144" name="Google Shape;144;p9"/>
          <p:cNvSpPr txBox="1">
            <a:spLocks noGrp="1"/>
          </p:cNvSpPr>
          <p:nvPr>
            <p:ph type="body" idx="1"/>
          </p:nvPr>
        </p:nvSpPr>
        <p:spPr>
          <a:xfrm>
            <a:off x="3429000" y="4648201"/>
            <a:ext cx="8229600" cy="4525963"/>
          </a:xfrm>
          <a:prstGeom prst="rect">
            <a:avLst/>
          </a:prstGeom>
          <a:noFill/>
          <a:ln>
            <a:noFill/>
          </a:ln>
        </p:spPr>
        <p:txBody>
          <a:bodyPr spcFirstLastPara="1" vert="horz" wrap="square" lIns="91425" tIns="45700" rIns="91425" bIns="45700" rtlCol="0" anchor="t" anchorCtr="0">
            <a:normAutofit/>
          </a:bodyPr>
          <a:lstStyle/>
          <a:p>
            <a:pPr marL="342900" indent="-139700">
              <a:lnSpc>
                <a:spcPct val="100000"/>
              </a:lnSpc>
              <a:spcBef>
                <a:spcPts val="0"/>
              </a:spcBef>
              <a:buClr>
                <a:schemeClr val="dk1"/>
              </a:buClr>
              <a:buSzPts val="3200"/>
              <a:buNone/>
            </a:pPr>
            <a:endParaRPr/>
          </a:p>
          <a:p>
            <a:pPr marL="342900" indent="-139700">
              <a:lnSpc>
                <a:spcPct val="100000"/>
              </a:lnSpc>
              <a:spcBef>
                <a:spcPts val="640"/>
              </a:spcBef>
              <a:buClr>
                <a:schemeClr val="dk1"/>
              </a:buClr>
              <a:buSzPts val="3200"/>
              <a:buNone/>
            </a:pPr>
            <a:endParaRPr/>
          </a:p>
        </p:txBody>
      </p:sp>
      <p:graphicFrame>
        <p:nvGraphicFramePr>
          <p:cNvPr id="145" name="Google Shape;145;p9"/>
          <p:cNvGraphicFramePr/>
          <p:nvPr/>
        </p:nvGraphicFramePr>
        <p:xfrm>
          <a:off x="3505201" y="990600"/>
          <a:ext cx="6398925" cy="5501720"/>
        </p:xfrm>
        <a:graphic>
          <a:graphicData uri="http://schemas.openxmlformats.org/drawingml/2006/table">
            <a:tbl>
              <a:tblPr firstRow="1" bandRow="1">
                <a:noFill/>
              </a:tblPr>
              <a:tblGrid>
                <a:gridCol w="2132975">
                  <a:extLst>
                    <a:ext uri="{9D8B030D-6E8A-4147-A177-3AD203B41FA5}">
                      <a16:colId xmlns:a16="http://schemas.microsoft.com/office/drawing/2014/main" val="20000"/>
                    </a:ext>
                  </a:extLst>
                </a:gridCol>
                <a:gridCol w="2132975">
                  <a:extLst>
                    <a:ext uri="{9D8B030D-6E8A-4147-A177-3AD203B41FA5}">
                      <a16:colId xmlns:a16="http://schemas.microsoft.com/office/drawing/2014/main" val="20001"/>
                    </a:ext>
                  </a:extLst>
                </a:gridCol>
                <a:gridCol w="2132975">
                  <a:extLst>
                    <a:ext uri="{9D8B030D-6E8A-4147-A177-3AD203B41FA5}">
                      <a16:colId xmlns:a16="http://schemas.microsoft.com/office/drawing/2014/main" val="20002"/>
                    </a:ext>
                  </a:extLst>
                </a:gridCol>
              </a:tblGrid>
              <a:tr h="381000">
                <a:tc>
                  <a:txBody>
                    <a:bodyPr/>
                    <a:lstStyle/>
                    <a:p>
                      <a:pPr marL="0" marR="0" lvl="0" indent="0" algn="l" rtl="0">
                        <a:lnSpc>
                          <a:spcPct val="100000"/>
                        </a:lnSpc>
                        <a:spcBef>
                          <a:spcPts val="0"/>
                        </a:spcBef>
                        <a:spcAft>
                          <a:spcPts val="0"/>
                        </a:spcAft>
                        <a:buClr>
                          <a:schemeClr val="dk1"/>
                        </a:buClr>
                        <a:buSzPts val="1800"/>
                        <a:buFont typeface="Arial"/>
                        <a:buNone/>
                      </a:pPr>
                      <a:r>
                        <a:rPr lang="en-US" sz="1800" u="none" strike="noStrike" cap="none"/>
                        <a:t>BRANCH_NAME</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chemeClr val="dk1"/>
                        </a:buClr>
                        <a:buSzPts val="1800"/>
                        <a:buFont typeface="Arial"/>
                        <a:buNone/>
                      </a:pPr>
                      <a:r>
                        <a:rPr lang="en-US" sz="1800" u="none" strike="noStrike" cap="none"/>
                        <a:t>LOAN_NO</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chemeClr val="dk1"/>
                        </a:buClr>
                        <a:buSzPts val="1800"/>
                        <a:buFont typeface="Arial"/>
                        <a:buNone/>
                      </a:pPr>
                      <a:r>
                        <a:rPr lang="en-US" sz="1800" u="none" strike="noStrike" cap="none"/>
                        <a:t>AMOUNT</a:t>
                      </a:r>
                      <a:endParaRPr sz="1800" u="none" strike="noStrike" cap="none"/>
                    </a:p>
                  </a:txBody>
                  <a:tcPr marL="91450" marR="91450" marT="45725" marB="45725"/>
                </a:tc>
                <a:extLst>
                  <a:ext uri="{0D108BD9-81ED-4DB2-BD59-A6C34878D82A}">
                    <a16:rowId xmlns:a16="http://schemas.microsoft.com/office/drawing/2014/main" val="10000"/>
                  </a:ext>
                </a:extLst>
              </a:tr>
              <a:tr h="381000">
                <a:tc>
                  <a:txBody>
                    <a:bodyPr/>
                    <a:lstStyle/>
                    <a:p>
                      <a:pPr marL="0" marR="0" lvl="0" indent="0" algn="l" rtl="0">
                        <a:lnSpc>
                          <a:spcPct val="100000"/>
                        </a:lnSpc>
                        <a:spcBef>
                          <a:spcPts val="0"/>
                        </a:spcBef>
                        <a:spcAft>
                          <a:spcPts val="0"/>
                        </a:spcAft>
                        <a:buClr>
                          <a:schemeClr val="dk1"/>
                        </a:buClr>
                        <a:buSzPts val="1800"/>
                        <a:buFont typeface="Arial"/>
                        <a:buNone/>
                      </a:pPr>
                      <a:r>
                        <a:rPr lang="en-US" sz="1800" u="none" strike="noStrike" cap="none"/>
                        <a:t>Downtown</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chemeClr val="dk1"/>
                        </a:buClr>
                        <a:buSzPts val="1800"/>
                        <a:buFont typeface="Arial"/>
                        <a:buNone/>
                      </a:pPr>
                      <a:r>
                        <a:rPr lang="en-US" sz="1800" u="none" strike="noStrike" cap="none"/>
                        <a:t>L-17</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chemeClr val="dk1"/>
                        </a:buClr>
                        <a:buSzPts val="1800"/>
                        <a:buFont typeface="Arial"/>
                        <a:buNone/>
                      </a:pPr>
                      <a:r>
                        <a:rPr lang="en-US" sz="1800" u="none" strike="noStrike" cap="none"/>
                        <a:t>1000</a:t>
                      </a:r>
                      <a:endParaRPr sz="1800" u="none" strike="noStrike" cap="none"/>
                    </a:p>
                    <a:p>
                      <a:pPr marL="0" marR="0" lvl="0" indent="0" algn="l" rtl="0">
                        <a:lnSpc>
                          <a:spcPct val="100000"/>
                        </a:lnSpc>
                        <a:spcBef>
                          <a:spcPts val="0"/>
                        </a:spcBef>
                        <a:spcAft>
                          <a:spcPts val="0"/>
                        </a:spcAft>
                        <a:buClr>
                          <a:schemeClr val="dk1"/>
                        </a:buClr>
                        <a:buSzPts val="1800"/>
                        <a:buFont typeface="Arial"/>
                        <a:buNone/>
                      </a:pPr>
                      <a:endParaRPr sz="1800" u="none" strike="noStrike" cap="none"/>
                    </a:p>
                  </a:txBody>
                  <a:tcPr marL="91450" marR="91450" marT="45725" marB="45725"/>
                </a:tc>
                <a:extLst>
                  <a:ext uri="{0D108BD9-81ED-4DB2-BD59-A6C34878D82A}">
                    <a16:rowId xmlns:a16="http://schemas.microsoft.com/office/drawing/2014/main" val="10001"/>
                  </a:ext>
                </a:extLst>
              </a:tr>
              <a:tr h="381000">
                <a:tc>
                  <a:txBody>
                    <a:bodyPr/>
                    <a:lstStyle/>
                    <a:p>
                      <a:pPr marL="0" marR="0" lvl="0" indent="0" algn="l" rtl="0">
                        <a:lnSpc>
                          <a:spcPct val="100000"/>
                        </a:lnSpc>
                        <a:spcBef>
                          <a:spcPts val="0"/>
                        </a:spcBef>
                        <a:spcAft>
                          <a:spcPts val="0"/>
                        </a:spcAft>
                        <a:buClr>
                          <a:schemeClr val="dk1"/>
                        </a:buClr>
                        <a:buSzPts val="1800"/>
                        <a:buFont typeface="Arial"/>
                        <a:buNone/>
                      </a:pPr>
                      <a:r>
                        <a:rPr lang="en-US" sz="1800" u="none" strike="noStrike" cap="none"/>
                        <a:t>Redwood</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chemeClr val="dk1"/>
                        </a:buClr>
                        <a:buSzPts val="1800"/>
                        <a:buFont typeface="Arial"/>
                        <a:buNone/>
                      </a:pPr>
                      <a:r>
                        <a:rPr lang="en-US" sz="1800" u="none" strike="noStrike" cap="none"/>
                        <a:t>L-23</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chemeClr val="dk1"/>
                        </a:buClr>
                        <a:buSzPts val="1800"/>
                        <a:buFont typeface="Arial"/>
                        <a:buNone/>
                      </a:pPr>
                      <a:r>
                        <a:rPr lang="en-US" sz="1800" u="none" strike="noStrike" cap="none"/>
                        <a:t>2000</a:t>
                      </a:r>
                      <a:endParaRPr sz="1800" u="none" strike="noStrike" cap="none"/>
                    </a:p>
                    <a:p>
                      <a:pPr marL="0" marR="0" lvl="0" indent="0" algn="l" rtl="0">
                        <a:lnSpc>
                          <a:spcPct val="100000"/>
                        </a:lnSpc>
                        <a:spcBef>
                          <a:spcPts val="0"/>
                        </a:spcBef>
                        <a:spcAft>
                          <a:spcPts val="0"/>
                        </a:spcAft>
                        <a:buClr>
                          <a:schemeClr val="dk1"/>
                        </a:buClr>
                        <a:buSzPts val="1800"/>
                        <a:buFont typeface="Arial"/>
                        <a:buNone/>
                      </a:pPr>
                      <a:endParaRPr sz="1800" u="none" strike="noStrike" cap="none"/>
                    </a:p>
                  </a:txBody>
                  <a:tcPr marL="91450" marR="91450" marT="45725" marB="45725"/>
                </a:tc>
                <a:extLst>
                  <a:ext uri="{0D108BD9-81ED-4DB2-BD59-A6C34878D82A}">
                    <a16:rowId xmlns:a16="http://schemas.microsoft.com/office/drawing/2014/main" val="10002"/>
                  </a:ext>
                </a:extLst>
              </a:tr>
              <a:tr h="381000">
                <a:tc>
                  <a:txBody>
                    <a:bodyPr/>
                    <a:lstStyle/>
                    <a:p>
                      <a:pPr marL="0" marR="0" lvl="0" indent="0" algn="l" rtl="0">
                        <a:lnSpc>
                          <a:spcPct val="100000"/>
                        </a:lnSpc>
                        <a:spcBef>
                          <a:spcPts val="0"/>
                        </a:spcBef>
                        <a:spcAft>
                          <a:spcPts val="0"/>
                        </a:spcAft>
                        <a:buClr>
                          <a:schemeClr val="dk1"/>
                        </a:buClr>
                        <a:buSzPts val="1800"/>
                        <a:buFont typeface="Arial"/>
                        <a:buNone/>
                      </a:pPr>
                      <a:r>
                        <a:rPr lang="en-US" sz="1800" u="none" strike="noStrike" cap="none"/>
                        <a:t>Perryride</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chemeClr val="dk1"/>
                        </a:buClr>
                        <a:buSzPts val="1800"/>
                        <a:buFont typeface="Arial"/>
                        <a:buNone/>
                      </a:pPr>
                      <a:r>
                        <a:rPr lang="en-US" sz="1800" u="none" strike="noStrike" cap="none"/>
                        <a:t>L-15</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chemeClr val="dk1"/>
                        </a:buClr>
                        <a:buSzPts val="1800"/>
                        <a:buFont typeface="Arial"/>
                        <a:buNone/>
                      </a:pPr>
                      <a:r>
                        <a:rPr lang="en-US" sz="1800" u="none" strike="noStrike" cap="none"/>
                        <a:t>1500</a:t>
                      </a:r>
                      <a:endParaRPr sz="1800" u="none" strike="noStrike" cap="none"/>
                    </a:p>
                    <a:p>
                      <a:pPr marL="0" marR="0" lvl="0" indent="0" algn="l" rtl="0">
                        <a:lnSpc>
                          <a:spcPct val="100000"/>
                        </a:lnSpc>
                        <a:spcBef>
                          <a:spcPts val="0"/>
                        </a:spcBef>
                        <a:spcAft>
                          <a:spcPts val="0"/>
                        </a:spcAft>
                        <a:buClr>
                          <a:schemeClr val="dk1"/>
                        </a:buClr>
                        <a:buSzPts val="1800"/>
                        <a:buFont typeface="Arial"/>
                        <a:buNone/>
                      </a:pPr>
                      <a:endParaRPr sz="1800" u="none" strike="noStrike" cap="none"/>
                    </a:p>
                  </a:txBody>
                  <a:tcPr marL="91450" marR="91450" marT="45725" marB="45725"/>
                </a:tc>
                <a:extLst>
                  <a:ext uri="{0D108BD9-81ED-4DB2-BD59-A6C34878D82A}">
                    <a16:rowId xmlns:a16="http://schemas.microsoft.com/office/drawing/2014/main" val="10003"/>
                  </a:ext>
                </a:extLst>
              </a:tr>
              <a:tr h="381000">
                <a:tc>
                  <a:txBody>
                    <a:bodyPr/>
                    <a:lstStyle/>
                    <a:p>
                      <a:pPr marL="0" marR="0" lvl="0" indent="0" algn="l" rtl="0">
                        <a:lnSpc>
                          <a:spcPct val="100000"/>
                        </a:lnSpc>
                        <a:spcBef>
                          <a:spcPts val="0"/>
                        </a:spcBef>
                        <a:spcAft>
                          <a:spcPts val="0"/>
                        </a:spcAft>
                        <a:buClr>
                          <a:schemeClr val="dk1"/>
                        </a:buClr>
                        <a:buSzPts val="1800"/>
                        <a:buFont typeface="Arial"/>
                        <a:buNone/>
                      </a:pPr>
                      <a:r>
                        <a:rPr lang="en-US" sz="1800" u="none" strike="noStrike" cap="none"/>
                        <a:t>Downtown</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chemeClr val="dk1"/>
                        </a:buClr>
                        <a:buSzPts val="1800"/>
                        <a:buFont typeface="Arial"/>
                        <a:buNone/>
                      </a:pPr>
                      <a:r>
                        <a:rPr lang="en-US" sz="1800" u="none" strike="noStrike" cap="none"/>
                        <a:t>L-14</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chemeClr val="dk1"/>
                        </a:buClr>
                        <a:buSzPts val="1800"/>
                        <a:buFont typeface="Arial"/>
                        <a:buNone/>
                      </a:pPr>
                      <a:r>
                        <a:rPr lang="en-US" sz="1800" u="none" strike="noStrike" cap="none"/>
                        <a:t>1500</a:t>
                      </a:r>
                      <a:endParaRPr sz="1800" u="none" strike="noStrike" cap="none"/>
                    </a:p>
                    <a:p>
                      <a:pPr marL="0" marR="0" lvl="0" indent="0" algn="l" rtl="0">
                        <a:lnSpc>
                          <a:spcPct val="100000"/>
                        </a:lnSpc>
                        <a:spcBef>
                          <a:spcPts val="0"/>
                        </a:spcBef>
                        <a:spcAft>
                          <a:spcPts val="0"/>
                        </a:spcAft>
                        <a:buClr>
                          <a:schemeClr val="dk1"/>
                        </a:buClr>
                        <a:buSzPts val="1800"/>
                        <a:buFont typeface="Arial"/>
                        <a:buNone/>
                      </a:pPr>
                      <a:endParaRPr sz="1800" u="none" strike="noStrike" cap="none"/>
                    </a:p>
                  </a:txBody>
                  <a:tcPr marL="91450" marR="91450" marT="45725" marB="45725"/>
                </a:tc>
                <a:extLst>
                  <a:ext uri="{0D108BD9-81ED-4DB2-BD59-A6C34878D82A}">
                    <a16:rowId xmlns:a16="http://schemas.microsoft.com/office/drawing/2014/main" val="10004"/>
                  </a:ext>
                </a:extLst>
              </a:tr>
              <a:tr h="381000">
                <a:tc>
                  <a:txBody>
                    <a:bodyPr/>
                    <a:lstStyle/>
                    <a:p>
                      <a:pPr marL="0" marR="0" lvl="0" indent="0" algn="l" rtl="0">
                        <a:lnSpc>
                          <a:spcPct val="100000"/>
                        </a:lnSpc>
                        <a:spcBef>
                          <a:spcPts val="0"/>
                        </a:spcBef>
                        <a:spcAft>
                          <a:spcPts val="0"/>
                        </a:spcAft>
                        <a:buClr>
                          <a:schemeClr val="dk1"/>
                        </a:buClr>
                        <a:buSzPts val="1800"/>
                        <a:buFont typeface="Arial"/>
                        <a:buNone/>
                      </a:pPr>
                      <a:r>
                        <a:rPr lang="en-US" sz="1800" u="none" strike="noStrike" cap="none"/>
                        <a:t>Mianus</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chemeClr val="dk1"/>
                        </a:buClr>
                        <a:buSzPts val="1800"/>
                        <a:buFont typeface="Arial"/>
                        <a:buNone/>
                      </a:pPr>
                      <a:r>
                        <a:rPr lang="en-US" sz="1800" u="none" strike="noStrike" cap="none"/>
                        <a:t>L-13</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chemeClr val="dk1"/>
                        </a:buClr>
                        <a:buSzPts val="1800"/>
                        <a:buFont typeface="Arial"/>
                        <a:buNone/>
                      </a:pPr>
                      <a:r>
                        <a:rPr lang="en-US" sz="1800" u="none" strike="noStrike" cap="none"/>
                        <a:t>500</a:t>
                      </a:r>
                      <a:endParaRPr sz="1800" u="none" strike="noStrike" cap="none"/>
                    </a:p>
                    <a:p>
                      <a:pPr marL="0" marR="0" lvl="0" indent="0" algn="l" rtl="0">
                        <a:lnSpc>
                          <a:spcPct val="100000"/>
                        </a:lnSpc>
                        <a:spcBef>
                          <a:spcPts val="0"/>
                        </a:spcBef>
                        <a:spcAft>
                          <a:spcPts val="0"/>
                        </a:spcAft>
                        <a:buClr>
                          <a:schemeClr val="dk1"/>
                        </a:buClr>
                        <a:buSzPts val="1800"/>
                        <a:buFont typeface="Arial"/>
                        <a:buNone/>
                      </a:pPr>
                      <a:endParaRPr sz="1800" u="none" strike="noStrike" cap="none"/>
                    </a:p>
                  </a:txBody>
                  <a:tcPr marL="91450" marR="91450" marT="45725" marB="45725"/>
                </a:tc>
                <a:extLst>
                  <a:ext uri="{0D108BD9-81ED-4DB2-BD59-A6C34878D82A}">
                    <a16:rowId xmlns:a16="http://schemas.microsoft.com/office/drawing/2014/main" val="10005"/>
                  </a:ext>
                </a:extLst>
              </a:tr>
              <a:tr h="381000">
                <a:tc>
                  <a:txBody>
                    <a:bodyPr/>
                    <a:lstStyle/>
                    <a:p>
                      <a:pPr marL="0" marR="0" lvl="0" indent="0" algn="l" rtl="0">
                        <a:lnSpc>
                          <a:spcPct val="100000"/>
                        </a:lnSpc>
                        <a:spcBef>
                          <a:spcPts val="0"/>
                        </a:spcBef>
                        <a:spcAft>
                          <a:spcPts val="0"/>
                        </a:spcAft>
                        <a:buClr>
                          <a:schemeClr val="dk1"/>
                        </a:buClr>
                        <a:buSzPts val="1800"/>
                        <a:buFont typeface="Arial"/>
                        <a:buNone/>
                      </a:pPr>
                      <a:r>
                        <a:rPr lang="en-US" sz="1800" u="none" strike="noStrike" cap="none"/>
                        <a:t>Roundhill</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chemeClr val="dk1"/>
                        </a:buClr>
                        <a:buSzPts val="1800"/>
                        <a:buFont typeface="Arial"/>
                        <a:buNone/>
                      </a:pPr>
                      <a:r>
                        <a:rPr lang="en-US" sz="1800" u="none" strike="noStrike" cap="none"/>
                        <a:t>L-11</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chemeClr val="dk1"/>
                        </a:buClr>
                        <a:buSzPts val="1800"/>
                        <a:buFont typeface="Arial"/>
                        <a:buNone/>
                      </a:pPr>
                      <a:r>
                        <a:rPr lang="en-US" sz="1800" u="none" strike="noStrike" cap="none"/>
                        <a:t>900</a:t>
                      </a:r>
                      <a:endParaRPr sz="1800" u="none" strike="noStrike" cap="none"/>
                    </a:p>
                    <a:p>
                      <a:pPr marL="0" marR="0" lvl="0" indent="0" algn="l" rtl="0">
                        <a:lnSpc>
                          <a:spcPct val="100000"/>
                        </a:lnSpc>
                        <a:spcBef>
                          <a:spcPts val="0"/>
                        </a:spcBef>
                        <a:spcAft>
                          <a:spcPts val="0"/>
                        </a:spcAft>
                        <a:buClr>
                          <a:schemeClr val="dk1"/>
                        </a:buClr>
                        <a:buSzPts val="1800"/>
                        <a:buFont typeface="Arial"/>
                        <a:buNone/>
                      </a:pPr>
                      <a:endParaRPr sz="1800" u="none" strike="noStrike" cap="none"/>
                    </a:p>
                  </a:txBody>
                  <a:tcPr marL="91450" marR="91450" marT="45725" marB="45725"/>
                </a:tc>
                <a:extLst>
                  <a:ext uri="{0D108BD9-81ED-4DB2-BD59-A6C34878D82A}">
                    <a16:rowId xmlns:a16="http://schemas.microsoft.com/office/drawing/2014/main" val="10006"/>
                  </a:ext>
                </a:extLst>
              </a:tr>
              <a:tr h="381000">
                <a:tc>
                  <a:txBody>
                    <a:bodyPr/>
                    <a:lstStyle/>
                    <a:p>
                      <a:pPr marL="0" marR="0" lvl="0" indent="0" algn="l" rtl="0">
                        <a:lnSpc>
                          <a:spcPct val="100000"/>
                        </a:lnSpc>
                        <a:spcBef>
                          <a:spcPts val="0"/>
                        </a:spcBef>
                        <a:spcAft>
                          <a:spcPts val="0"/>
                        </a:spcAft>
                        <a:buClr>
                          <a:schemeClr val="dk1"/>
                        </a:buClr>
                        <a:buSzPts val="1800"/>
                        <a:buFont typeface="Arial"/>
                        <a:buNone/>
                      </a:pPr>
                      <a:r>
                        <a:rPr lang="en-US" sz="1800" u="none" strike="noStrike" cap="none"/>
                        <a:t>Roundhill</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chemeClr val="dk1"/>
                        </a:buClr>
                        <a:buSzPts val="1800"/>
                        <a:buFont typeface="Arial"/>
                        <a:buNone/>
                      </a:pPr>
                      <a:r>
                        <a:rPr lang="en-US" sz="1800" u="none" strike="noStrike" cap="none"/>
                        <a:t>L-11</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chemeClr val="dk1"/>
                        </a:buClr>
                        <a:buSzPts val="1800"/>
                        <a:buFont typeface="Arial"/>
                        <a:buNone/>
                      </a:pPr>
                      <a:r>
                        <a:rPr lang="en-US" sz="1800" u="none" strike="noStrike" cap="none"/>
                        <a:t>900</a:t>
                      </a:r>
                      <a:endParaRPr sz="1800" u="none" strike="noStrike" cap="none"/>
                    </a:p>
                    <a:p>
                      <a:pPr marL="0" marR="0" lvl="0" indent="0" algn="l" rtl="0">
                        <a:lnSpc>
                          <a:spcPct val="100000"/>
                        </a:lnSpc>
                        <a:spcBef>
                          <a:spcPts val="0"/>
                        </a:spcBef>
                        <a:spcAft>
                          <a:spcPts val="0"/>
                        </a:spcAft>
                        <a:buClr>
                          <a:schemeClr val="dk1"/>
                        </a:buClr>
                        <a:buSzPts val="1800"/>
                        <a:buFont typeface="Arial"/>
                        <a:buNone/>
                      </a:pPr>
                      <a:endParaRPr sz="1800" u="none" strike="noStrike" cap="none"/>
                    </a:p>
                  </a:txBody>
                  <a:tcPr marL="91450" marR="91450" marT="45725" marB="45725"/>
                </a:tc>
                <a:extLst>
                  <a:ext uri="{0D108BD9-81ED-4DB2-BD59-A6C34878D82A}">
                    <a16:rowId xmlns:a16="http://schemas.microsoft.com/office/drawing/2014/main" val="10007"/>
                  </a:ext>
                </a:extLst>
              </a:tr>
              <a:tr h="381000">
                <a:tc>
                  <a:txBody>
                    <a:bodyPr/>
                    <a:lstStyle/>
                    <a:p>
                      <a:pPr marL="0" marR="0" lvl="0" indent="0" algn="l" rtl="0">
                        <a:lnSpc>
                          <a:spcPct val="100000"/>
                        </a:lnSpc>
                        <a:spcBef>
                          <a:spcPts val="0"/>
                        </a:spcBef>
                        <a:spcAft>
                          <a:spcPts val="0"/>
                        </a:spcAft>
                        <a:buClr>
                          <a:schemeClr val="dk1"/>
                        </a:buClr>
                        <a:buSzPts val="1800"/>
                        <a:buFont typeface="Arial"/>
                        <a:buNone/>
                      </a:pPr>
                      <a:r>
                        <a:rPr lang="en-US" sz="1800" u="none" strike="noStrike" cap="none"/>
                        <a:t>Perryride</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chemeClr val="dk1"/>
                        </a:buClr>
                        <a:buSzPts val="1800"/>
                        <a:buFont typeface="Arial"/>
                        <a:buNone/>
                      </a:pPr>
                      <a:r>
                        <a:rPr lang="en-US" sz="1800" u="none" strike="noStrike" cap="none"/>
                        <a:t>L-16</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chemeClr val="dk1"/>
                        </a:buClr>
                        <a:buSzPts val="1800"/>
                        <a:buFont typeface="Arial"/>
                        <a:buNone/>
                      </a:pPr>
                      <a:r>
                        <a:rPr lang="en-US" sz="1800" u="none" strike="noStrike" cap="none"/>
                        <a:t>1300</a:t>
                      </a:r>
                      <a:endParaRPr sz="1800" u="none" strike="noStrike" cap="none"/>
                    </a:p>
                    <a:p>
                      <a:pPr marL="0" marR="0" lvl="0" indent="0" algn="l" rtl="0">
                        <a:lnSpc>
                          <a:spcPct val="100000"/>
                        </a:lnSpc>
                        <a:spcBef>
                          <a:spcPts val="0"/>
                        </a:spcBef>
                        <a:spcAft>
                          <a:spcPts val="0"/>
                        </a:spcAft>
                        <a:buClr>
                          <a:schemeClr val="dk1"/>
                        </a:buClr>
                        <a:buSzPts val="1800"/>
                        <a:buFont typeface="Arial"/>
                        <a:buNone/>
                      </a:pPr>
                      <a:endParaRPr sz="1800" u="none" strike="noStrike" cap="none"/>
                    </a:p>
                  </a:txBody>
                  <a:tcPr marL="91450" marR="91450" marT="45725" marB="45725"/>
                </a:tc>
                <a:extLst>
                  <a:ext uri="{0D108BD9-81ED-4DB2-BD59-A6C34878D82A}">
                    <a16:rowId xmlns:a16="http://schemas.microsoft.com/office/drawing/2014/main" val="10008"/>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10"/>
          <p:cNvSpPr txBox="1">
            <a:spLocks noGrp="1"/>
          </p:cNvSpPr>
          <p:nvPr>
            <p:ph type="title"/>
          </p:nvPr>
        </p:nvSpPr>
        <p:spPr>
          <a:xfrm>
            <a:off x="2000250" y="197485"/>
            <a:ext cx="8229600" cy="628650"/>
          </a:xfrm>
          <a:prstGeom prst="rect">
            <a:avLst/>
          </a:prstGeom>
          <a:noFill/>
          <a:ln>
            <a:noFill/>
          </a:ln>
        </p:spPr>
        <p:txBody>
          <a:bodyPr spcFirstLastPara="1" vert="horz" wrap="square" lIns="91425" tIns="45700" rIns="91425" bIns="45700" rtlCol="0" anchor="ctr" anchorCtr="0">
            <a:normAutofit fontScale="90000"/>
          </a:bodyPr>
          <a:lstStyle/>
          <a:p>
            <a:pPr algn="ctr">
              <a:lnSpc>
                <a:spcPct val="100000"/>
              </a:lnSpc>
              <a:spcBef>
                <a:spcPts val="0"/>
              </a:spcBef>
              <a:buClr>
                <a:schemeClr val="dk2"/>
              </a:buClr>
              <a:buSzPct val="100000"/>
            </a:pPr>
            <a:r>
              <a:rPr lang="en-US" b="1">
                <a:latin typeface="Times New Roman"/>
                <a:ea typeface="Times New Roman"/>
                <a:cs typeface="Times New Roman"/>
                <a:sym typeface="Times New Roman"/>
              </a:rPr>
              <a:t>1. Select Operation</a:t>
            </a:r>
            <a:endParaRPr b="1"/>
          </a:p>
        </p:txBody>
      </p:sp>
      <p:sp>
        <p:nvSpPr>
          <p:cNvPr id="151" name="Google Shape;151;p10"/>
          <p:cNvSpPr txBox="1">
            <a:spLocks noGrp="1"/>
          </p:cNvSpPr>
          <p:nvPr>
            <p:ph type="body" idx="1"/>
          </p:nvPr>
        </p:nvSpPr>
        <p:spPr>
          <a:xfrm>
            <a:off x="1600201" y="762001"/>
            <a:ext cx="8842375" cy="5901055"/>
          </a:xfrm>
          <a:prstGeom prst="rect">
            <a:avLst/>
          </a:prstGeom>
          <a:noFill/>
          <a:ln>
            <a:noFill/>
          </a:ln>
        </p:spPr>
        <p:txBody>
          <a:bodyPr spcFirstLastPara="1" vert="horz" wrap="square" lIns="91425" tIns="45700" rIns="91425" bIns="45700" rtlCol="0" anchor="t" anchorCtr="0">
            <a:noAutofit/>
          </a:bodyPr>
          <a:lstStyle/>
          <a:p>
            <a:pPr marL="342900" indent="-342900" algn="just">
              <a:lnSpc>
                <a:spcPct val="100000"/>
              </a:lnSpc>
              <a:spcBef>
                <a:spcPts val="0"/>
              </a:spcBef>
              <a:buClr>
                <a:schemeClr val="dk1"/>
              </a:buClr>
              <a:buSzPts val="2200"/>
              <a:buFont typeface="Times New Roman"/>
              <a:buChar char="•"/>
            </a:pPr>
            <a:r>
              <a:rPr lang="en-US" sz="2200">
                <a:latin typeface="Times New Roman"/>
                <a:ea typeface="Times New Roman"/>
                <a:cs typeface="Times New Roman"/>
                <a:sym typeface="Times New Roman"/>
              </a:rPr>
              <a:t>The select operation selects subsets of tuples/rows that satisfy a given predicate. We use the lowercase Greek letter sigma (</a:t>
            </a:r>
            <a:r>
              <a:rPr lang="en-US" sz="2200" i="1">
                <a:latin typeface="Times New Roman"/>
                <a:ea typeface="Times New Roman"/>
                <a:cs typeface="Times New Roman"/>
                <a:sym typeface="Times New Roman"/>
              </a:rPr>
              <a:t>σ) to </a:t>
            </a:r>
            <a:r>
              <a:rPr lang="en-US" sz="2200">
                <a:latin typeface="Times New Roman"/>
                <a:ea typeface="Times New Roman"/>
                <a:cs typeface="Times New Roman"/>
                <a:sym typeface="Times New Roman"/>
              </a:rPr>
              <a:t>denote selection. The predicate appears as a subscript to σ.</a:t>
            </a:r>
            <a:endParaRPr sz="2200">
              <a:latin typeface="Times New Roman"/>
              <a:ea typeface="Times New Roman"/>
              <a:cs typeface="Times New Roman"/>
              <a:sym typeface="Times New Roman"/>
            </a:endParaRPr>
          </a:p>
          <a:p>
            <a:pPr marL="342900" indent="-342900" algn="just">
              <a:lnSpc>
                <a:spcPct val="100000"/>
              </a:lnSpc>
              <a:spcBef>
                <a:spcPts val="440"/>
              </a:spcBef>
              <a:buClr>
                <a:schemeClr val="dk1"/>
              </a:buClr>
              <a:buSzPts val="2200"/>
              <a:buFont typeface="Times New Roman"/>
              <a:buChar char="•"/>
            </a:pPr>
            <a:r>
              <a:rPr lang="en-US" sz="2200" b="1">
                <a:latin typeface="Times New Roman"/>
                <a:ea typeface="Times New Roman"/>
                <a:cs typeface="Times New Roman"/>
                <a:sym typeface="Times New Roman"/>
              </a:rPr>
              <a:t>Notation:  σ p(r)  </a:t>
            </a:r>
            <a:endParaRPr sz="2200" b="1">
              <a:latin typeface="Times New Roman"/>
              <a:ea typeface="Times New Roman"/>
              <a:cs typeface="Times New Roman"/>
              <a:sym typeface="Times New Roman"/>
            </a:endParaRPr>
          </a:p>
          <a:p>
            <a:pPr marL="342900" indent="-342900" algn="just">
              <a:lnSpc>
                <a:spcPct val="100000"/>
              </a:lnSpc>
              <a:spcBef>
                <a:spcPts val="440"/>
              </a:spcBef>
              <a:buClr>
                <a:schemeClr val="dk1"/>
              </a:buClr>
              <a:buSzPts val="2200"/>
              <a:buFont typeface="Times New Roman"/>
              <a:buChar char="•"/>
            </a:pPr>
            <a:r>
              <a:rPr lang="en-US" sz="2200">
                <a:latin typeface="Times New Roman"/>
                <a:ea typeface="Times New Roman"/>
                <a:cs typeface="Times New Roman"/>
                <a:sym typeface="Times New Roman"/>
              </a:rPr>
              <a:t>σ is used for selection prediction(select operation)r is used for relation(table name)</a:t>
            </a:r>
            <a:endParaRPr sz="2200">
              <a:latin typeface="Times New Roman"/>
              <a:ea typeface="Times New Roman"/>
              <a:cs typeface="Times New Roman"/>
              <a:sym typeface="Times New Roman"/>
            </a:endParaRPr>
          </a:p>
          <a:p>
            <a:pPr marL="342900" indent="-342900" algn="just">
              <a:lnSpc>
                <a:spcPct val="100000"/>
              </a:lnSpc>
              <a:spcBef>
                <a:spcPts val="440"/>
              </a:spcBef>
              <a:buClr>
                <a:schemeClr val="dk1"/>
              </a:buClr>
              <a:buSzPts val="2200"/>
              <a:buFont typeface="Times New Roman"/>
              <a:buChar char="•"/>
            </a:pPr>
            <a:r>
              <a:rPr lang="en-US" sz="2200">
                <a:latin typeface="Times New Roman"/>
                <a:ea typeface="Times New Roman"/>
                <a:cs typeface="Times New Roman"/>
                <a:sym typeface="Times New Roman"/>
              </a:rPr>
              <a:t>p is used as a propositional logic formula (any condition)which may use connectors like: AND OR and NOT. These relational can use as relational operators like =, ≠, ≥, &lt;, &gt;, ≤.</a:t>
            </a:r>
            <a:endParaRPr sz="2200">
              <a:latin typeface="Times New Roman"/>
              <a:ea typeface="Times New Roman"/>
              <a:cs typeface="Times New Roman"/>
              <a:sym typeface="Times New Roman"/>
            </a:endParaRPr>
          </a:p>
          <a:p>
            <a:pPr marL="342900" indent="-342900">
              <a:spcBef>
                <a:spcPts val="440"/>
              </a:spcBef>
              <a:buClr>
                <a:schemeClr val="dk1"/>
              </a:buClr>
              <a:buSzPts val="2200"/>
              <a:buFont typeface="Times New Roman"/>
              <a:buChar char="•"/>
            </a:pPr>
            <a:r>
              <a:rPr lang="en-US" sz="2200">
                <a:latin typeface="Times New Roman"/>
                <a:ea typeface="Times New Roman"/>
                <a:cs typeface="Times New Roman"/>
                <a:sym typeface="Times New Roman"/>
              </a:rPr>
              <a:t>Each </a:t>
            </a:r>
            <a:r>
              <a:rPr lang="en-US" sz="2200">
                <a:solidFill>
                  <a:schemeClr val="dk2"/>
                </a:solidFill>
                <a:latin typeface="Times New Roman"/>
                <a:ea typeface="Times New Roman"/>
                <a:cs typeface="Times New Roman"/>
                <a:sym typeface="Times New Roman"/>
              </a:rPr>
              <a:t>term</a:t>
            </a:r>
            <a:r>
              <a:rPr lang="en-US" sz="2200">
                <a:latin typeface="Times New Roman"/>
                <a:ea typeface="Times New Roman"/>
                <a:cs typeface="Times New Roman"/>
                <a:sym typeface="Times New Roman"/>
              </a:rPr>
              <a:t> is one of:</a:t>
            </a:r>
            <a:endParaRPr sz="2200">
              <a:latin typeface="Times New Roman"/>
              <a:ea typeface="Times New Roman"/>
              <a:cs typeface="Times New Roman"/>
              <a:sym typeface="Times New Roman"/>
            </a:endParaRPr>
          </a:p>
          <a:p>
            <a:pPr marL="342900" indent="-342900">
              <a:spcBef>
                <a:spcPts val="440"/>
              </a:spcBef>
              <a:buClr>
                <a:schemeClr val="dk1"/>
              </a:buClr>
              <a:buSzPts val="2200"/>
              <a:buNone/>
            </a:pPr>
            <a:r>
              <a:rPr lang="en-US" sz="2200">
                <a:latin typeface="Times New Roman"/>
                <a:ea typeface="Times New Roman"/>
                <a:cs typeface="Times New Roman"/>
                <a:sym typeface="Times New Roman"/>
              </a:rPr>
              <a:t>		</a:t>
            </a:r>
            <a:r>
              <a:rPr lang="en-US" sz="2200" b="1">
                <a:latin typeface="Times New Roman"/>
                <a:ea typeface="Times New Roman"/>
                <a:cs typeface="Times New Roman"/>
                <a:sym typeface="Times New Roman"/>
              </a:rPr>
              <a:t>&lt;attribute&gt;	</a:t>
            </a:r>
            <a:r>
              <a:rPr lang="en-US" sz="2200" b="1" i="1">
                <a:latin typeface="Times New Roman"/>
                <a:ea typeface="Times New Roman"/>
                <a:cs typeface="Times New Roman"/>
                <a:sym typeface="Times New Roman"/>
              </a:rPr>
              <a:t>op</a:t>
            </a:r>
            <a:r>
              <a:rPr lang="en-US" sz="2200" b="1">
                <a:latin typeface="Times New Roman"/>
                <a:ea typeface="Times New Roman"/>
                <a:cs typeface="Times New Roman"/>
                <a:sym typeface="Times New Roman"/>
              </a:rPr>
              <a:t> 	&lt;attribute&gt; or &lt;constant&gt;</a:t>
            </a:r>
            <a:endParaRPr sz="2200" b="1">
              <a:latin typeface="Times New Roman"/>
              <a:ea typeface="Times New Roman"/>
              <a:cs typeface="Times New Roman"/>
              <a:sym typeface="Times New Roman"/>
            </a:endParaRPr>
          </a:p>
          <a:p>
            <a:pPr marL="342900" indent="-342900" algn="just">
              <a:lnSpc>
                <a:spcPct val="100000"/>
              </a:lnSpc>
              <a:spcBef>
                <a:spcPts val="440"/>
              </a:spcBef>
              <a:buClr>
                <a:schemeClr val="dk1"/>
              </a:buClr>
              <a:buSzPts val="2200"/>
              <a:buFont typeface="Times New Roman"/>
              <a:buChar char="•"/>
            </a:pPr>
            <a:r>
              <a:rPr lang="en-US" sz="2200">
                <a:latin typeface="Times New Roman"/>
                <a:ea typeface="Times New Roman"/>
                <a:cs typeface="Times New Roman"/>
                <a:sym typeface="Times New Roman"/>
              </a:rPr>
              <a:t>The argument relation is in parentheses after the </a:t>
            </a:r>
            <a:r>
              <a:rPr lang="en-US" sz="2200" i="1">
                <a:latin typeface="Times New Roman"/>
                <a:ea typeface="Times New Roman"/>
                <a:cs typeface="Times New Roman"/>
                <a:sym typeface="Times New Roman"/>
              </a:rPr>
              <a:t>σ. </a:t>
            </a:r>
            <a:r>
              <a:rPr lang="en-US" sz="2200">
                <a:latin typeface="Times New Roman"/>
                <a:ea typeface="Times New Roman"/>
                <a:cs typeface="Times New Roman"/>
                <a:sym typeface="Times New Roman"/>
              </a:rPr>
              <a:t>Thus, to select those tuples of the loan relation where the branch is “Perryridge,” we write</a:t>
            </a:r>
            <a:endParaRPr sz="2200">
              <a:latin typeface="Times New Roman"/>
              <a:ea typeface="Times New Roman"/>
              <a:cs typeface="Times New Roman"/>
              <a:sym typeface="Times New Roman"/>
            </a:endParaRPr>
          </a:p>
          <a:p>
            <a:pPr marL="342900" indent="-342900" algn="ctr">
              <a:lnSpc>
                <a:spcPct val="100000"/>
              </a:lnSpc>
              <a:spcBef>
                <a:spcPts val="440"/>
              </a:spcBef>
              <a:buClr>
                <a:schemeClr val="dk1"/>
              </a:buClr>
              <a:buSzPts val="2200"/>
              <a:buNone/>
            </a:pPr>
            <a:endParaRPr sz="2200">
              <a:latin typeface="Times New Roman"/>
              <a:ea typeface="Times New Roman"/>
              <a:cs typeface="Times New Roman"/>
              <a:sym typeface="Times New Roman"/>
            </a:endParaRPr>
          </a:p>
          <a:p>
            <a:pPr marL="342900" indent="-342900">
              <a:lnSpc>
                <a:spcPct val="100000"/>
              </a:lnSpc>
              <a:spcBef>
                <a:spcPts val="640"/>
              </a:spcBef>
              <a:buClr>
                <a:schemeClr val="dk1"/>
              </a:buClr>
              <a:buSzPts val="2200"/>
              <a:buNone/>
            </a:pPr>
            <a:r>
              <a:rPr lang="en-US" sz="2200">
                <a:latin typeface="Times New Roman"/>
                <a:ea typeface="Times New Roman"/>
                <a:cs typeface="Times New Roman"/>
                <a:sym typeface="Times New Roman"/>
              </a:rPr>
              <a:t> </a:t>
            </a:r>
            <a:r>
              <a:rPr lang="en-US" b="1">
                <a:latin typeface="Times New Roman"/>
                <a:ea typeface="Times New Roman"/>
                <a:cs typeface="Times New Roman"/>
                <a:sym typeface="Times New Roman"/>
              </a:rPr>
              <a:t>σ</a:t>
            </a:r>
            <a:r>
              <a:rPr lang="en-US" b="1" baseline="-25000">
                <a:latin typeface="Times New Roman"/>
                <a:ea typeface="Times New Roman"/>
                <a:cs typeface="Times New Roman"/>
                <a:sym typeface="Times New Roman"/>
              </a:rPr>
              <a:t>branch-name</a:t>
            </a:r>
            <a:r>
              <a:rPr lang="en-US" b="1">
                <a:latin typeface="Times New Roman"/>
                <a:ea typeface="Times New Roman"/>
                <a:cs typeface="Times New Roman"/>
                <a:sym typeface="Times New Roman"/>
              </a:rPr>
              <a:t> </a:t>
            </a:r>
            <a:r>
              <a:rPr lang="en-US" b="1" baseline="-25000">
                <a:latin typeface="Times New Roman"/>
                <a:ea typeface="Times New Roman"/>
                <a:cs typeface="Times New Roman"/>
                <a:sym typeface="Times New Roman"/>
              </a:rPr>
              <a:t>=“Perryridge” </a:t>
            </a:r>
            <a:r>
              <a:rPr lang="en-US" b="1">
                <a:latin typeface="Times New Roman"/>
                <a:ea typeface="Times New Roman"/>
                <a:cs typeface="Times New Roman"/>
                <a:sym typeface="Times New Roman"/>
              </a:rPr>
              <a:t>(loan)</a:t>
            </a:r>
            <a:endParaRPr sz="2200">
              <a:latin typeface="Times New Roman"/>
              <a:ea typeface="Times New Roman"/>
              <a:cs typeface="Times New Roman"/>
              <a:sym typeface="Times New Roman"/>
            </a:endParaRPr>
          </a:p>
          <a:p>
            <a:pPr marL="342900" indent="-342900" algn="ctr">
              <a:lnSpc>
                <a:spcPct val="100000"/>
              </a:lnSpc>
              <a:spcBef>
                <a:spcPts val="440"/>
              </a:spcBef>
              <a:buClr>
                <a:schemeClr val="dk1"/>
              </a:buClr>
              <a:buSzPts val="2200"/>
              <a:buNone/>
            </a:pPr>
            <a:endParaRPr sz="2200">
              <a:latin typeface="Times New Roman"/>
              <a:ea typeface="Times New Roman"/>
              <a:cs typeface="Times New Roman"/>
              <a:sym typeface="Times New Roman"/>
            </a:endParaRPr>
          </a:p>
          <a:p>
            <a:pPr marL="342900" indent="-203200" algn="just">
              <a:lnSpc>
                <a:spcPct val="100000"/>
              </a:lnSpc>
              <a:spcBef>
                <a:spcPts val="440"/>
              </a:spcBef>
              <a:buClr>
                <a:schemeClr val="dk1"/>
              </a:buClr>
              <a:buSzPts val="2200"/>
              <a:buNone/>
            </a:pPr>
            <a:endParaRPr sz="2200">
              <a:latin typeface="Times New Roman"/>
              <a:ea typeface="Times New Roman"/>
              <a:cs typeface="Times New Roman"/>
              <a:sym typeface="Times New Roman"/>
            </a:endParaRPr>
          </a:p>
        </p:txBody>
      </p:sp>
      <p:graphicFrame>
        <p:nvGraphicFramePr>
          <p:cNvPr id="152" name="Google Shape;152;p10"/>
          <p:cNvGraphicFramePr/>
          <p:nvPr/>
        </p:nvGraphicFramePr>
        <p:xfrm>
          <a:off x="6765925" y="5486400"/>
          <a:ext cx="3676650" cy="1341150"/>
        </p:xfrm>
        <a:graphic>
          <a:graphicData uri="http://schemas.openxmlformats.org/drawingml/2006/table">
            <a:tbl>
              <a:tblPr firstRow="1" bandRow="1">
                <a:noFill/>
              </a:tblPr>
              <a:tblGrid>
                <a:gridCol w="1578600">
                  <a:extLst>
                    <a:ext uri="{9D8B030D-6E8A-4147-A177-3AD203B41FA5}">
                      <a16:colId xmlns:a16="http://schemas.microsoft.com/office/drawing/2014/main" val="20000"/>
                    </a:ext>
                  </a:extLst>
                </a:gridCol>
                <a:gridCol w="1054100">
                  <a:extLst>
                    <a:ext uri="{9D8B030D-6E8A-4147-A177-3AD203B41FA5}">
                      <a16:colId xmlns:a16="http://schemas.microsoft.com/office/drawing/2014/main" val="20001"/>
                    </a:ext>
                  </a:extLst>
                </a:gridCol>
                <a:gridCol w="1043950">
                  <a:extLst>
                    <a:ext uri="{9D8B030D-6E8A-4147-A177-3AD203B41FA5}">
                      <a16:colId xmlns:a16="http://schemas.microsoft.com/office/drawing/2014/main" val="20002"/>
                    </a:ext>
                  </a:extLst>
                </a:gridCol>
              </a:tblGrid>
              <a:tr h="304800">
                <a:tc>
                  <a:txBody>
                    <a:bodyPr/>
                    <a:lstStyle/>
                    <a:p>
                      <a:pPr marL="0" marR="0" lvl="0" indent="0" algn="l" rtl="0">
                        <a:lnSpc>
                          <a:spcPct val="100000"/>
                        </a:lnSpc>
                        <a:spcBef>
                          <a:spcPts val="0"/>
                        </a:spcBef>
                        <a:spcAft>
                          <a:spcPts val="0"/>
                        </a:spcAft>
                        <a:buClr>
                          <a:schemeClr val="dk1"/>
                        </a:buClr>
                        <a:buSzPts val="1400"/>
                        <a:buFont typeface="Arial"/>
                        <a:buNone/>
                      </a:pPr>
                      <a:r>
                        <a:rPr lang="en-US" sz="1400" u="none" strike="noStrike" cap="none"/>
                        <a:t>BRANCH_NAME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chemeClr val="dk1"/>
                        </a:buClr>
                        <a:buSzPts val="1400"/>
                        <a:buFont typeface="Arial"/>
                        <a:buNone/>
                      </a:pPr>
                      <a:r>
                        <a:rPr lang="en-US" sz="1400" u="none" strike="noStrike" cap="none"/>
                        <a:t>LOAN_NO</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chemeClr val="dk1"/>
                        </a:buClr>
                        <a:buSzPts val="1400"/>
                        <a:buFont typeface="Arial"/>
                        <a:buNone/>
                      </a:pPr>
                      <a:r>
                        <a:rPr lang="en-US" sz="1400" u="none" strike="noStrike" cap="none"/>
                        <a:t>AMOUNT</a:t>
                      </a:r>
                      <a:endParaRPr sz="1400" u="none" strike="noStrike" cap="none"/>
                    </a:p>
                  </a:txBody>
                  <a:tcPr marL="91450" marR="91450" marT="45725" marB="45725"/>
                </a:tc>
                <a:extLst>
                  <a:ext uri="{0D108BD9-81ED-4DB2-BD59-A6C34878D82A}">
                    <a16:rowId xmlns:a16="http://schemas.microsoft.com/office/drawing/2014/main" val="10000"/>
                  </a:ext>
                </a:extLst>
              </a:tr>
              <a:tr h="518150">
                <a:tc>
                  <a:txBody>
                    <a:bodyPr/>
                    <a:lstStyle/>
                    <a:p>
                      <a:pPr marL="0" marR="0" lvl="0" indent="0" algn="l" rtl="0">
                        <a:lnSpc>
                          <a:spcPct val="100000"/>
                        </a:lnSpc>
                        <a:spcBef>
                          <a:spcPts val="0"/>
                        </a:spcBef>
                        <a:spcAft>
                          <a:spcPts val="0"/>
                        </a:spcAft>
                        <a:buClr>
                          <a:schemeClr val="dk1"/>
                        </a:buClr>
                        <a:buSzPts val="1400"/>
                        <a:buFont typeface="Arial"/>
                        <a:buNone/>
                      </a:pPr>
                      <a:r>
                        <a:rPr lang="en-US" sz="1400" u="none" strike="noStrike" cap="none"/>
                        <a:t>Perryride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chemeClr val="dk1"/>
                        </a:buClr>
                        <a:buSzPts val="1400"/>
                        <a:buFont typeface="Arial"/>
                        <a:buNone/>
                      </a:pPr>
                      <a:r>
                        <a:rPr lang="en-US" sz="1400" u="none" strike="noStrike" cap="none"/>
                        <a:t>L-15</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chemeClr val="dk1"/>
                        </a:buClr>
                        <a:buSzPts val="1400"/>
                        <a:buFont typeface="Arial"/>
                        <a:buNone/>
                      </a:pPr>
                      <a:r>
                        <a:rPr lang="en-US" sz="1400" u="none" strike="noStrike" cap="none"/>
                        <a:t>1500</a:t>
                      </a:r>
                      <a:endParaRPr sz="1400" u="none" strike="noStrike" cap="none"/>
                    </a:p>
                    <a:p>
                      <a:pPr marL="0" marR="0" lvl="0" indent="0" algn="l" rtl="0">
                        <a:lnSpc>
                          <a:spcPct val="100000"/>
                        </a:lnSpc>
                        <a:spcBef>
                          <a:spcPts val="0"/>
                        </a:spcBef>
                        <a:spcAft>
                          <a:spcPts val="0"/>
                        </a:spcAft>
                        <a:buClr>
                          <a:schemeClr val="dk1"/>
                        </a:buClr>
                        <a:buSzPts val="1400"/>
                        <a:buFont typeface="Arial"/>
                        <a:buNone/>
                      </a:pPr>
                      <a:endParaRPr sz="1400" u="none" strike="noStrike" cap="none"/>
                    </a:p>
                  </a:txBody>
                  <a:tcPr marL="91450" marR="91450" marT="45725" marB="45725"/>
                </a:tc>
                <a:extLst>
                  <a:ext uri="{0D108BD9-81ED-4DB2-BD59-A6C34878D82A}">
                    <a16:rowId xmlns:a16="http://schemas.microsoft.com/office/drawing/2014/main" val="10001"/>
                  </a:ext>
                </a:extLst>
              </a:tr>
              <a:tr h="518150">
                <a:tc>
                  <a:txBody>
                    <a:bodyPr/>
                    <a:lstStyle/>
                    <a:p>
                      <a:pPr marL="0" marR="0" lvl="0" indent="0" algn="l" rtl="0">
                        <a:lnSpc>
                          <a:spcPct val="100000"/>
                        </a:lnSpc>
                        <a:spcBef>
                          <a:spcPts val="0"/>
                        </a:spcBef>
                        <a:spcAft>
                          <a:spcPts val="0"/>
                        </a:spcAft>
                        <a:buClr>
                          <a:schemeClr val="dk1"/>
                        </a:buClr>
                        <a:buSzPts val="1400"/>
                        <a:buFont typeface="Arial"/>
                        <a:buNone/>
                      </a:pPr>
                      <a:r>
                        <a:rPr lang="en-US" sz="1400" u="none" strike="noStrike" cap="none"/>
                        <a:t>Perryride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chemeClr val="dk1"/>
                        </a:buClr>
                        <a:buSzPts val="1400"/>
                        <a:buFont typeface="Arial"/>
                        <a:buNone/>
                      </a:pPr>
                      <a:r>
                        <a:rPr lang="en-US" sz="1400" u="none" strike="noStrike" cap="none"/>
                        <a:t>L-16</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chemeClr val="dk1"/>
                        </a:buClr>
                        <a:buSzPts val="1400"/>
                        <a:buFont typeface="Arial"/>
                        <a:buNone/>
                      </a:pPr>
                      <a:r>
                        <a:rPr lang="en-US" sz="1400" u="none" strike="noStrike" cap="none"/>
                        <a:t>1300</a:t>
                      </a:r>
                      <a:endParaRPr sz="1400" u="none" strike="noStrike" cap="none"/>
                    </a:p>
                    <a:p>
                      <a:pPr marL="0" marR="0" lvl="0" indent="0" algn="l" rtl="0">
                        <a:lnSpc>
                          <a:spcPct val="100000"/>
                        </a:lnSpc>
                        <a:spcBef>
                          <a:spcPts val="0"/>
                        </a:spcBef>
                        <a:spcAft>
                          <a:spcPts val="0"/>
                        </a:spcAft>
                        <a:buClr>
                          <a:schemeClr val="dk1"/>
                        </a:buClr>
                        <a:buSzPts val="1400"/>
                        <a:buFont typeface="Arial"/>
                        <a:buNone/>
                      </a:pPr>
                      <a:endParaRPr sz="1400" u="none" strike="noStrike" cap="none"/>
                    </a:p>
                  </a:txBody>
                  <a:tcPr marL="91450" marR="91450" marT="45725" marB="45725"/>
                </a:tc>
                <a:extLst>
                  <a:ext uri="{0D108BD9-81ED-4DB2-BD59-A6C34878D82A}">
                    <a16:rowId xmlns:a16="http://schemas.microsoft.com/office/drawing/2014/main" val="10002"/>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11"/>
          <p:cNvSpPr txBox="1">
            <a:spLocks noGrp="1"/>
          </p:cNvSpPr>
          <p:nvPr>
            <p:ph type="title"/>
          </p:nvPr>
        </p:nvSpPr>
        <p:spPr>
          <a:xfrm>
            <a:off x="1981200" y="274956"/>
            <a:ext cx="8229600" cy="501015"/>
          </a:xfrm>
          <a:prstGeom prst="rect">
            <a:avLst/>
          </a:prstGeom>
          <a:noFill/>
          <a:ln>
            <a:noFill/>
          </a:ln>
        </p:spPr>
        <p:txBody>
          <a:bodyPr spcFirstLastPara="1" vert="horz" wrap="square" lIns="91425" tIns="45700" rIns="91425" bIns="45700" rtlCol="0" anchor="ctr" anchorCtr="0">
            <a:normAutofit fontScale="90000"/>
          </a:bodyPr>
          <a:lstStyle/>
          <a:p>
            <a:pPr algn="ctr">
              <a:lnSpc>
                <a:spcPct val="100000"/>
              </a:lnSpc>
              <a:spcBef>
                <a:spcPts val="0"/>
              </a:spcBef>
              <a:buClr>
                <a:schemeClr val="dk2"/>
              </a:buClr>
              <a:buSzPct val="100000"/>
            </a:pPr>
            <a:r>
              <a:rPr lang="en-US" b="1">
                <a:latin typeface="Times New Roman"/>
                <a:ea typeface="Times New Roman"/>
                <a:cs typeface="Times New Roman"/>
                <a:sym typeface="Times New Roman"/>
              </a:rPr>
              <a:t>Select Operation........</a:t>
            </a:r>
            <a:endParaRPr b="1">
              <a:latin typeface="Times New Roman"/>
              <a:ea typeface="Times New Roman"/>
              <a:cs typeface="Times New Roman"/>
              <a:sym typeface="Times New Roman"/>
            </a:endParaRPr>
          </a:p>
        </p:txBody>
      </p:sp>
      <p:sp>
        <p:nvSpPr>
          <p:cNvPr id="158" name="Google Shape;158;p11"/>
          <p:cNvSpPr txBox="1">
            <a:spLocks noGrp="1"/>
          </p:cNvSpPr>
          <p:nvPr>
            <p:ph type="body" idx="1"/>
          </p:nvPr>
        </p:nvSpPr>
        <p:spPr>
          <a:xfrm>
            <a:off x="1793240" y="762000"/>
            <a:ext cx="8493760" cy="6046470"/>
          </a:xfrm>
          <a:prstGeom prst="rect">
            <a:avLst/>
          </a:prstGeom>
          <a:noFill/>
          <a:ln>
            <a:noFill/>
          </a:ln>
        </p:spPr>
        <p:txBody>
          <a:bodyPr spcFirstLastPara="1" vert="horz" wrap="square" lIns="91425" tIns="45700" rIns="91425" bIns="45700" rtlCol="0" anchor="t" anchorCtr="0">
            <a:normAutofit lnSpcReduction="10000"/>
          </a:bodyPr>
          <a:lstStyle/>
          <a:p>
            <a:pPr marL="342900" indent="-190500" algn="just">
              <a:lnSpc>
                <a:spcPct val="100000"/>
              </a:lnSpc>
              <a:spcBef>
                <a:spcPts val="0"/>
              </a:spcBef>
              <a:buClr>
                <a:schemeClr val="dk1"/>
              </a:buClr>
              <a:buSzPts val="2400"/>
              <a:buNone/>
            </a:pPr>
            <a:endParaRPr sz="2400">
              <a:latin typeface="Times New Roman"/>
              <a:ea typeface="Times New Roman"/>
              <a:cs typeface="Times New Roman"/>
              <a:sym typeface="Times New Roman"/>
            </a:endParaRPr>
          </a:p>
          <a:p>
            <a:pPr marL="342900" indent="-342900" algn="just">
              <a:lnSpc>
                <a:spcPct val="100000"/>
              </a:lnSpc>
              <a:spcBef>
                <a:spcPts val="480"/>
              </a:spcBef>
              <a:buClr>
                <a:schemeClr val="dk1"/>
              </a:buClr>
              <a:buSzPts val="2400"/>
              <a:buFont typeface="Times New Roman"/>
              <a:buChar char="•"/>
            </a:pPr>
            <a:r>
              <a:rPr lang="en-US" sz="2400">
                <a:latin typeface="Times New Roman"/>
                <a:ea typeface="Times New Roman"/>
                <a:cs typeface="Times New Roman"/>
                <a:sym typeface="Times New Roman"/>
              </a:rPr>
              <a:t>In general, we allow comparisons using =, ≠ , &lt; , ≤ , &gt;, ≥ in the selection predicate. </a:t>
            </a:r>
            <a:endParaRPr sz="2400">
              <a:latin typeface="Times New Roman"/>
              <a:ea typeface="Times New Roman"/>
              <a:cs typeface="Times New Roman"/>
              <a:sym typeface="Times New Roman"/>
            </a:endParaRPr>
          </a:p>
          <a:p>
            <a:pPr marL="342900" indent="-342900" algn="just">
              <a:lnSpc>
                <a:spcPct val="100000"/>
              </a:lnSpc>
              <a:spcBef>
                <a:spcPts val="480"/>
              </a:spcBef>
              <a:buClr>
                <a:schemeClr val="dk1"/>
              </a:buClr>
              <a:buSzPts val="2400"/>
              <a:buFont typeface="Times New Roman"/>
              <a:buChar char="•"/>
            </a:pPr>
            <a:r>
              <a:rPr lang="en-US" sz="2400">
                <a:latin typeface="Times New Roman"/>
                <a:ea typeface="Times New Roman"/>
                <a:cs typeface="Times New Roman"/>
                <a:sym typeface="Times New Roman"/>
              </a:rPr>
              <a:t>We can find all tuples in which the loan amount is more than 1200Rs. by writing</a:t>
            </a:r>
            <a:endParaRPr sz="2400">
              <a:latin typeface="Times New Roman"/>
              <a:ea typeface="Times New Roman"/>
              <a:cs typeface="Times New Roman"/>
              <a:sym typeface="Times New Roman"/>
            </a:endParaRPr>
          </a:p>
          <a:p>
            <a:pPr marL="342900" indent="-342900" algn="ctr">
              <a:lnSpc>
                <a:spcPct val="100000"/>
              </a:lnSpc>
              <a:spcBef>
                <a:spcPts val="480"/>
              </a:spcBef>
              <a:buClr>
                <a:schemeClr val="dk1"/>
              </a:buClr>
              <a:buSzPts val="2400"/>
              <a:buNone/>
            </a:pPr>
            <a:r>
              <a:rPr lang="en-US" sz="2400" i="1">
                <a:latin typeface="Times New Roman"/>
                <a:ea typeface="Times New Roman"/>
                <a:cs typeface="Times New Roman"/>
                <a:sym typeface="Times New Roman"/>
              </a:rPr>
              <a:t>σ</a:t>
            </a:r>
            <a:r>
              <a:rPr lang="en-US" sz="2400" baseline="-25000">
                <a:latin typeface="Times New Roman"/>
                <a:ea typeface="Times New Roman"/>
                <a:cs typeface="Times New Roman"/>
                <a:sym typeface="Times New Roman"/>
              </a:rPr>
              <a:t>amount&gt;1200</a:t>
            </a:r>
            <a:r>
              <a:rPr lang="en-US" sz="2400">
                <a:latin typeface="Times New Roman"/>
                <a:ea typeface="Times New Roman"/>
                <a:cs typeface="Times New Roman"/>
                <a:sym typeface="Times New Roman"/>
              </a:rPr>
              <a:t> (loan)</a:t>
            </a:r>
            <a:endParaRPr sz="2400">
              <a:latin typeface="Times New Roman"/>
              <a:ea typeface="Times New Roman"/>
              <a:cs typeface="Times New Roman"/>
              <a:sym typeface="Times New Roman"/>
            </a:endParaRPr>
          </a:p>
          <a:p>
            <a:pPr marL="342900" indent="-342900" algn="ctr">
              <a:lnSpc>
                <a:spcPct val="100000"/>
              </a:lnSpc>
              <a:spcBef>
                <a:spcPts val="480"/>
              </a:spcBef>
              <a:buClr>
                <a:schemeClr val="dk1"/>
              </a:buClr>
              <a:buSzPts val="2400"/>
              <a:buNone/>
            </a:pPr>
            <a:endParaRPr sz="2400">
              <a:latin typeface="Times New Roman"/>
              <a:ea typeface="Times New Roman"/>
              <a:cs typeface="Times New Roman"/>
              <a:sym typeface="Times New Roman"/>
            </a:endParaRPr>
          </a:p>
          <a:p>
            <a:pPr marL="342900" indent="-342900" algn="ctr">
              <a:lnSpc>
                <a:spcPct val="100000"/>
              </a:lnSpc>
              <a:spcBef>
                <a:spcPts val="480"/>
              </a:spcBef>
              <a:buClr>
                <a:schemeClr val="dk1"/>
              </a:buClr>
              <a:buSzPts val="2400"/>
              <a:buNone/>
            </a:pPr>
            <a:r>
              <a:rPr lang="en-US" sz="2400">
                <a:latin typeface="Times New Roman"/>
                <a:ea typeface="Times New Roman"/>
                <a:cs typeface="Times New Roman"/>
                <a:sym typeface="Times New Roman"/>
              </a:rPr>
              <a:t>a relation with All rows are display those have more than 1200 amount</a:t>
            </a:r>
            <a:endParaRPr sz="2400">
              <a:latin typeface="Times New Roman"/>
              <a:ea typeface="Times New Roman"/>
              <a:cs typeface="Times New Roman"/>
              <a:sym typeface="Times New Roman"/>
            </a:endParaRPr>
          </a:p>
          <a:p>
            <a:pPr marL="342900" indent="-342900" algn="just">
              <a:lnSpc>
                <a:spcPct val="100000"/>
              </a:lnSpc>
              <a:spcBef>
                <a:spcPts val="480"/>
              </a:spcBef>
              <a:buClr>
                <a:schemeClr val="dk1"/>
              </a:buClr>
              <a:buSzPts val="2400"/>
              <a:buFont typeface="Times New Roman"/>
              <a:buChar char="•"/>
            </a:pPr>
            <a:r>
              <a:rPr lang="en-US" sz="2400">
                <a:latin typeface="Times New Roman"/>
                <a:ea typeface="Times New Roman"/>
                <a:cs typeface="Times New Roman"/>
                <a:sym typeface="Times New Roman"/>
              </a:rPr>
              <a:t>Furthermore, we can combine several predicates into a larger predicate by using the connectives and (∧), or (∨) and not (￢).</a:t>
            </a:r>
            <a:endParaRPr sz="2400">
              <a:latin typeface="Times New Roman"/>
              <a:ea typeface="Times New Roman"/>
              <a:cs typeface="Times New Roman"/>
              <a:sym typeface="Times New Roman"/>
            </a:endParaRPr>
          </a:p>
          <a:p>
            <a:pPr marL="342900" indent="-190500" algn="just">
              <a:lnSpc>
                <a:spcPct val="100000"/>
              </a:lnSpc>
              <a:spcBef>
                <a:spcPts val="480"/>
              </a:spcBef>
              <a:buClr>
                <a:schemeClr val="dk1"/>
              </a:buClr>
              <a:buSzPts val="2400"/>
              <a:buNone/>
            </a:pPr>
            <a:endParaRPr sz="2400">
              <a:latin typeface="Times New Roman"/>
              <a:ea typeface="Times New Roman"/>
              <a:cs typeface="Times New Roman"/>
              <a:sym typeface="Times New Roman"/>
            </a:endParaRPr>
          </a:p>
          <a:p>
            <a:pPr marL="342900" indent="-342900" algn="just">
              <a:lnSpc>
                <a:spcPct val="100000"/>
              </a:lnSpc>
              <a:spcBef>
                <a:spcPts val="480"/>
              </a:spcBef>
              <a:buClr>
                <a:schemeClr val="dk1"/>
              </a:buClr>
              <a:buSzPts val="2400"/>
              <a:buFont typeface="Times New Roman"/>
              <a:buChar char="•"/>
            </a:pPr>
            <a:r>
              <a:rPr lang="en-US" sz="2400">
                <a:latin typeface="Times New Roman"/>
                <a:ea typeface="Times New Roman"/>
                <a:cs typeface="Times New Roman"/>
                <a:sym typeface="Times New Roman"/>
              </a:rPr>
              <a:t>Find those tuples pertaining to loans of more than 1200Rs. made by the Perryridge branch, we write</a:t>
            </a:r>
            <a:endParaRPr sz="2400">
              <a:latin typeface="Times New Roman"/>
              <a:ea typeface="Times New Roman"/>
              <a:cs typeface="Times New Roman"/>
              <a:sym typeface="Times New Roman"/>
            </a:endParaRPr>
          </a:p>
          <a:p>
            <a:pPr marL="342900" indent="-342900" algn="just">
              <a:lnSpc>
                <a:spcPct val="100000"/>
              </a:lnSpc>
              <a:spcBef>
                <a:spcPts val="480"/>
              </a:spcBef>
              <a:buClr>
                <a:schemeClr val="dk1"/>
              </a:buClr>
              <a:buSzPts val="2400"/>
              <a:buFont typeface="Times New Roman"/>
              <a:buChar char="•"/>
            </a:pPr>
            <a:r>
              <a:rPr lang="en-US" sz="2400">
                <a:latin typeface="Times New Roman"/>
                <a:ea typeface="Times New Roman"/>
                <a:cs typeface="Times New Roman"/>
                <a:sym typeface="Times New Roman"/>
              </a:rPr>
              <a:t>σ</a:t>
            </a:r>
            <a:r>
              <a:rPr lang="en-US" sz="2400" baseline="-25000">
                <a:latin typeface="Times New Roman"/>
                <a:ea typeface="Times New Roman"/>
                <a:cs typeface="Times New Roman"/>
                <a:sym typeface="Times New Roman"/>
              </a:rPr>
              <a:t>branch-name</a:t>
            </a:r>
            <a:r>
              <a:rPr lang="en-US" sz="2400">
                <a:latin typeface="Times New Roman"/>
                <a:ea typeface="Times New Roman"/>
                <a:cs typeface="Times New Roman"/>
                <a:sym typeface="Times New Roman"/>
              </a:rPr>
              <a:t> </a:t>
            </a:r>
            <a:r>
              <a:rPr lang="en-US" sz="2400" baseline="-25000">
                <a:latin typeface="Times New Roman"/>
                <a:ea typeface="Times New Roman"/>
                <a:cs typeface="Times New Roman"/>
                <a:sym typeface="Times New Roman"/>
              </a:rPr>
              <a:t>=“Perryridge”∧ amount&gt;1300 </a:t>
            </a:r>
            <a:r>
              <a:rPr lang="en-US" sz="2400">
                <a:latin typeface="Times New Roman"/>
                <a:ea typeface="Times New Roman"/>
                <a:cs typeface="Times New Roman"/>
                <a:sym typeface="Times New Roman"/>
              </a:rPr>
              <a:t>(loan)</a:t>
            </a:r>
            <a:endParaRPr sz="2400">
              <a:latin typeface="Times New Roman"/>
              <a:ea typeface="Times New Roman"/>
              <a:cs typeface="Times New Roman"/>
              <a:sym typeface="Times New Roman"/>
            </a:endParaRPr>
          </a:p>
          <a:p>
            <a:pPr marL="342900" indent="-342900" algn="ctr">
              <a:lnSpc>
                <a:spcPct val="100000"/>
              </a:lnSpc>
              <a:spcBef>
                <a:spcPts val="480"/>
              </a:spcBef>
              <a:buClr>
                <a:schemeClr val="dk1"/>
              </a:buClr>
              <a:buSzPts val="2400"/>
              <a:buNone/>
            </a:pPr>
            <a:endParaRPr sz="2400">
              <a:latin typeface="Times New Roman"/>
              <a:ea typeface="Times New Roman"/>
              <a:cs typeface="Times New Roman"/>
              <a:sym typeface="Times New Roman"/>
            </a:endParaRPr>
          </a:p>
        </p:txBody>
      </p:sp>
      <p:graphicFrame>
        <p:nvGraphicFramePr>
          <p:cNvPr id="159" name="Google Shape;159;p11"/>
          <p:cNvGraphicFramePr/>
          <p:nvPr/>
        </p:nvGraphicFramePr>
        <p:xfrm>
          <a:off x="5715000" y="5867400"/>
          <a:ext cx="4953000" cy="822980"/>
        </p:xfrm>
        <a:graphic>
          <a:graphicData uri="http://schemas.openxmlformats.org/drawingml/2006/table">
            <a:tbl>
              <a:tblPr firstRow="1" bandRow="1">
                <a:noFill/>
              </a:tblPr>
              <a:tblGrid>
                <a:gridCol w="1651000">
                  <a:extLst>
                    <a:ext uri="{9D8B030D-6E8A-4147-A177-3AD203B41FA5}">
                      <a16:colId xmlns:a16="http://schemas.microsoft.com/office/drawing/2014/main" val="20000"/>
                    </a:ext>
                  </a:extLst>
                </a:gridCol>
                <a:gridCol w="1651000">
                  <a:extLst>
                    <a:ext uri="{9D8B030D-6E8A-4147-A177-3AD203B41FA5}">
                      <a16:colId xmlns:a16="http://schemas.microsoft.com/office/drawing/2014/main" val="20001"/>
                    </a:ext>
                  </a:extLst>
                </a:gridCol>
                <a:gridCol w="1651000">
                  <a:extLst>
                    <a:ext uri="{9D8B030D-6E8A-4147-A177-3AD203B41FA5}">
                      <a16:colId xmlns:a16="http://schemas.microsoft.com/office/drawing/2014/main" val="20002"/>
                    </a:ext>
                  </a:extLst>
                </a:gridCol>
              </a:tblGrid>
              <a:tr h="161300">
                <a:tc>
                  <a:txBody>
                    <a:bodyPr/>
                    <a:lstStyle/>
                    <a:p>
                      <a:pPr marL="0" marR="0" lvl="0" indent="0" algn="l" rtl="0">
                        <a:lnSpc>
                          <a:spcPct val="100000"/>
                        </a:lnSpc>
                        <a:spcBef>
                          <a:spcPts val="0"/>
                        </a:spcBef>
                        <a:spcAft>
                          <a:spcPts val="0"/>
                        </a:spcAft>
                        <a:buClr>
                          <a:schemeClr val="dk1"/>
                        </a:buClr>
                        <a:buSzPts val="1400"/>
                        <a:buFont typeface="Arial"/>
                        <a:buNone/>
                      </a:pPr>
                      <a:r>
                        <a:rPr lang="en-US" sz="1400" u="none" strike="noStrike" cap="none"/>
                        <a:t>BRANCH_NAME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chemeClr val="dk1"/>
                        </a:buClr>
                        <a:buSzPts val="1400"/>
                        <a:buFont typeface="Arial"/>
                        <a:buNone/>
                      </a:pPr>
                      <a:r>
                        <a:rPr lang="en-US" sz="1400" u="none" strike="noStrike" cap="none"/>
                        <a:t>LOAN_NO</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chemeClr val="dk1"/>
                        </a:buClr>
                        <a:buSzPts val="1400"/>
                        <a:buFont typeface="Arial"/>
                        <a:buNone/>
                      </a:pPr>
                      <a:r>
                        <a:rPr lang="en-US" sz="1400" u="none" strike="noStrike" cap="none"/>
                        <a:t>AMOUNT</a:t>
                      </a:r>
                      <a:endParaRPr sz="1400" u="none" strike="noStrike" cap="none"/>
                    </a:p>
                  </a:txBody>
                  <a:tcPr marL="91450" marR="91450" marT="45725" marB="45725"/>
                </a:tc>
                <a:extLst>
                  <a:ext uri="{0D108BD9-81ED-4DB2-BD59-A6C34878D82A}">
                    <a16:rowId xmlns:a16="http://schemas.microsoft.com/office/drawing/2014/main" val="10000"/>
                  </a:ext>
                </a:extLst>
              </a:tr>
              <a:tr h="306700">
                <a:tc>
                  <a:txBody>
                    <a:bodyPr/>
                    <a:lstStyle/>
                    <a:p>
                      <a:pPr marL="0" marR="0" lvl="0" indent="0" algn="l" rtl="0">
                        <a:lnSpc>
                          <a:spcPct val="100000"/>
                        </a:lnSpc>
                        <a:spcBef>
                          <a:spcPts val="0"/>
                        </a:spcBef>
                        <a:spcAft>
                          <a:spcPts val="0"/>
                        </a:spcAft>
                        <a:buClr>
                          <a:schemeClr val="dk1"/>
                        </a:buClr>
                        <a:buSzPts val="1400"/>
                        <a:buFont typeface="Arial"/>
                        <a:buNone/>
                      </a:pPr>
                      <a:r>
                        <a:rPr lang="en-US" sz="1400" u="none" strike="noStrike" cap="none"/>
                        <a:t>Perryride</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chemeClr val="dk1"/>
                        </a:buClr>
                        <a:buSzPts val="1400"/>
                        <a:buFont typeface="Arial"/>
                        <a:buNone/>
                      </a:pPr>
                      <a:r>
                        <a:rPr lang="en-US" sz="1400" u="none" strike="noStrike" cap="none"/>
                        <a:t>L-15</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chemeClr val="dk1"/>
                        </a:buClr>
                        <a:buSzPts val="1400"/>
                        <a:buFont typeface="Arial"/>
                        <a:buNone/>
                      </a:pPr>
                      <a:r>
                        <a:rPr lang="en-US" sz="1400" u="none" strike="noStrike" cap="none"/>
                        <a:t>1500</a:t>
                      </a:r>
                      <a:endParaRPr sz="1400" u="none" strike="noStrike" cap="none"/>
                    </a:p>
                    <a:p>
                      <a:pPr marL="0" marR="0" lvl="0" indent="0" algn="l" rtl="0">
                        <a:lnSpc>
                          <a:spcPct val="100000"/>
                        </a:lnSpc>
                        <a:spcBef>
                          <a:spcPts val="0"/>
                        </a:spcBef>
                        <a:spcAft>
                          <a:spcPts val="0"/>
                        </a:spcAft>
                        <a:buClr>
                          <a:schemeClr val="dk1"/>
                        </a:buClr>
                        <a:buSzPts val="1400"/>
                        <a:buFont typeface="Arial"/>
                        <a:buNone/>
                      </a:pPr>
                      <a:endParaRPr sz="1400" u="none" strike="noStrike" cap="none"/>
                    </a:p>
                  </a:txBody>
                  <a:tcPr marL="91450" marR="91450" marT="45725" marB="45725"/>
                </a:tc>
                <a:extLst>
                  <a:ext uri="{0D108BD9-81ED-4DB2-BD59-A6C34878D82A}">
                    <a16:rowId xmlns:a16="http://schemas.microsoft.com/office/drawing/2014/main" val="10001"/>
                  </a:ext>
                </a:extLst>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12"/>
          <p:cNvSpPr txBox="1">
            <a:spLocks noGrp="1"/>
          </p:cNvSpPr>
          <p:nvPr>
            <p:ph type="title"/>
          </p:nvPr>
        </p:nvSpPr>
        <p:spPr>
          <a:xfrm>
            <a:off x="2209800" y="419100"/>
            <a:ext cx="7772400" cy="723900"/>
          </a:xfrm>
          <a:prstGeom prst="rect">
            <a:avLst/>
          </a:prstGeom>
          <a:noFill/>
          <a:ln>
            <a:noFill/>
          </a:ln>
        </p:spPr>
        <p:txBody>
          <a:bodyPr spcFirstLastPara="1" vert="horz" wrap="square" lIns="91425" tIns="45700" rIns="91425" bIns="45700" rtlCol="0" anchor="ctr" anchorCtr="0">
            <a:noAutofit/>
          </a:bodyPr>
          <a:lstStyle/>
          <a:p>
            <a:pPr algn="ctr">
              <a:lnSpc>
                <a:spcPct val="100000"/>
              </a:lnSpc>
              <a:spcBef>
                <a:spcPts val="0"/>
              </a:spcBef>
              <a:buClr>
                <a:schemeClr val="dk2"/>
              </a:buClr>
              <a:buSzPts val="2800"/>
            </a:pPr>
            <a:r>
              <a:rPr lang="en-US" sz="2800" b="1"/>
              <a:t>Select Operation – Example</a:t>
            </a:r>
            <a:endParaRPr sz="2800" b="1"/>
          </a:p>
        </p:txBody>
      </p:sp>
      <p:sp>
        <p:nvSpPr>
          <p:cNvPr id="165" name="Google Shape;165;p12"/>
          <p:cNvSpPr txBox="1"/>
          <p:nvPr/>
        </p:nvSpPr>
        <p:spPr>
          <a:xfrm>
            <a:off x="2500314" y="1551078"/>
            <a:ext cx="1501775" cy="707846"/>
          </a:xfrm>
          <a:prstGeom prst="rect">
            <a:avLst/>
          </a:prstGeom>
          <a:noFill/>
          <a:ln>
            <a:noFill/>
          </a:ln>
        </p:spPr>
        <p:txBody>
          <a:bodyPr spcFirstLastPara="1" wrap="square" lIns="91425" tIns="45700" rIns="91425" bIns="45700" anchor="ctr" anchorCtr="0">
            <a:spAutoFit/>
          </a:bodyPr>
          <a:lstStyle/>
          <a:p>
            <a:pPr marL="230505" indent="-230505" algn="ctr">
              <a:buClr>
                <a:schemeClr val="dk1"/>
              </a:buClr>
              <a:buSzPts val="2500"/>
              <a:buFont typeface="Helvetica Neue"/>
              <a:buChar char="•"/>
            </a:pPr>
            <a:r>
              <a:rPr lang="en-US" sz="2000">
                <a:solidFill>
                  <a:schemeClr val="dk1"/>
                </a:solidFill>
                <a:latin typeface="Helvetica Neue"/>
                <a:ea typeface="Helvetica Neue"/>
                <a:cs typeface="Helvetica Neue"/>
                <a:sym typeface="Helvetica Neue"/>
              </a:rPr>
              <a:t>Relation</a:t>
            </a:r>
            <a:r>
              <a:rPr lang="en-US" sz="2000" i="1">
                <a:solidFill>
                  <a:schemeClr val="dk1"/>
                </a:solidFill>
                <a:latin typeface="Helvetica Neue"/>
                <a:ea typeface="Helvetica Neue"/>
                <a:cs typeface="Helvetica Neue"/>
                <a:sym typeface="Helvetica Neue"/>
              </a:rPr>
              <a:t> r</a:t>
            </a:r>
            <a:endParaRPr sz="2000">
              <a:solidFill>
                <a:schemeClr val="dk1"/>
              </a:solidFill>
              <a:latin typeface="Helvetica Neue"/>
              <a:ea typeface="Helvetica Neue"/>
              <a:cs typeface="Helvetica Neue"/>
              <a:sym typeface="Helvetica Neue"/>
            </a:endParaRPr>
          </a:p>
        </p:txBody>
      </p:sp>
      <p:sp>
        <p:nvSpPr>
          <p:cNvPr id="166" name="Google Shape;166;p12"/>
          <p:cNvSpPr/>
          <p:nvPr/>
        </p:nvSpPr>
        <p:spPr>
          <a:xfrm>
            <a:off x="4572000" y="1676400"/>
            <a:ext cx="457200" cy="4572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A</a:t>
            </a:r>
            <a:endParaRPr i="1">
              <a:solidFill>
                <a:schemeClr val="dk1"/>
              </a:solidFill>
              <a:latin typeface="Helvetica Neue"/>
              <a:ea typeface="Helvetica Neue"/>
              <a:cs typeface="Helvetica Neue"/>
              <a:sym typeface="Helvetica Neue"/>
            </a:endParaRPr>
          </a:p>
        </p:txBody>
      </p:sp>
      <p:sp>
        <p:nvSpPr>
          <p:cNvPr id="167" name="Google Shape;167;p12"/>
          <p:cNvSpPr/>
          <p:nvPr/>
        </p:nvSpPr>
        <p:spPr>
          <a:xfrm>
            <a:off x="5029200" y="1676400"/>
            <a:ext cx="457200" cy="4572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B</a:t>
            </a:r>
            <a:endParaRPr i="1">
              <a:solidFill>
                <a:schemeClr val="dk1"/>
              </a:solidFill>
              <a:latin typeface="Helvetica Neue"/>
              <a:ea typeface="Helvetica Neue"/>
              <a:cs typeface="Helvetica Neue"/>
              <a:sym typeface="Helvetica Neue"/>
            </a:endParaRPr>
          </a:p>
        </p:txBody>
      </p:sp>
      <p:sp>
        <p:nvSpPr>
          <p:cNvPr id="168" name="Google Shape;168;p12"/>
          <p:cNvSpPr/>
          <p:nvPr/>
        </p:nvSpPr>
        <p:spPr>
          <a:xfrm>
            <a:off x="5486400" y="1676400"/>
            <a:ext cx="457200" cy="4572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C</a:t>
            </a:r>
            <a:endParaRPr i="1">
              <a:solidFill>
                <a:schemeClr val="dk1"/>
              </a:solidFill>
              <a:latin typeface="Helvetica Neue"/>
              <a:ea typeface="Helvetica Neue"/>
              <a:cs typeface="Helvetica Neue"/>
              <a:sym typeface="Helvetica Neue"/>
            </a:endParaRPr>
          </a:p>
        </p:txBody>
      </p:sp>
      <p:sp>
        <p:nvSpPr>
          <p:cNvPr id="169" name="Google Shape;169;p12"/>
          <p:cNvSpPr/>
          <p:nvPr/>
        </p:nvSpPr>
        <p:spPr>
          <a:xfrm>
            <a:off x="5943600" y="1676400"/>
            <a:ext cx="457200" cy="4572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D</a:t>
            </a:r>
            <a:endParaRPr i="1">
              <a:solidFill>
                <a:schemeClr val="dk1"/>
              </a:solidFill>
              <a:latin typeface="Helvetica Neue"/>
              <a:ea typeface="Helvetica Neue"/>
              <a:cs typeface="Helvetica Neue"/>
              <a:sym typeface="Helvetica Neue"/>
            </a:endParaRPr>
          </a:p>
        </p:txBody>
      </p:sp>
      <p:sp>
        <p:nvSpPr>
          <p:cNvPr id="170" name="Google Shape;170;p12"/>
          <p:cNvSpPr/>
          <p:nvPr/>
        </p:nvSpPr>
        <p:spPr>
          <a:xfrm>
            <a:off x="4572000" y="2209800"/>
            <a:ext cx="457200" cy="16764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lnSpc>
                <a:spcPct val="150000"/>
              </a:lnSpc>
            </a:pPr>
            <a:r>
              <a:rPr lang="en-US" i="1">
                <a:solidFill>
                  <a:schemeClr val="dk1"/>
                </a:solidFill>
                <a:latin typeface="Helvetica Neue"/>
                <a:ea typeface="Helvetica Neue"/>
                <a:cs typeface="Helvetica Neue"/>
                <a:sym typeface="Helvetica Neue"/>
              </a:rPr>
              <a:t>α</a:t>
            </a:r>
            <a:endParaRPr i="1">
              <a:solidFill>
                <a:schemeClr val="dk1"/>
              </a:solidFill>
              <a:latin typeface="Helvetica Neue"/>
              <a:ea typeface="Helvetica Neue"/>
              <a:cs typeface="Helvetica Neue"/>
              <a:sym typeface="Helvetica Neue"/>
            </a:endParaRPr>
          </a:p>
          <a:p>
            <a:pPr algn="ctr">
              <a:lnSpc>
                <a:spcPct val="150000"/>
              </a:lnSpc>
            </a:pPr>
            <a:r>
              <a:rPr lang="en-US" i="1">
                <a:solidFill>
                  <a:schemeClr val="dk1"/>
                </a:solidFill>
                <a:latin typeface="Helvetica Neue"/>
                <a:ea typeface="Helvetica Neue"/>
                <a:cs typeface="Helvetica Neue"/>
                <a:sym typeface="Helvetica Neue"/>
              </a:rPr>
              <a:t>α</a:t>
            </a:r>
            <a:endParaRPr i="1">
              <a:solidFill>
                <a:schemeClr val="dk1"/>
              </a:solidFill>
              <a:latin typeface="Helvetica Neue"/>
              <a:ea typeface="Helvetica Neue"/>
              <a:cs typeface="Helvetica Neue"/>
              <a:sym typeface="Helvetica Neue"/>
            </a:endParaRPr>
          </a:p>
          <a:p>
            <a:pPr algn="ctr">
              <a:lnSpc>
                <a:spcPct val="150000"/>
              </a:lnSpc>
            </a:pPr>
            <a:r>
              <a:rPr lang="en-US" i="1">
                <a:solidFill>
                  <a:schemeClr val="dk1"/>
                </a:solidFill>
                <a:latin typeface="Helvetica Neue"/>
                <a:ea typeface="Helvetica Neue"/>
                <a:cs typeface="Helvetica Neue"/>
                <a:sym typeface="Helvetica Neue"/>
              </a:rPr>
              <a:t>β</a:t>
            </a:r>
            <a:endParaRPr i="1">
              <a:solidFill>
                <a:schemeClr val="dk1"/>
              </a:solidFill>
              <a:latin typeface="Helvetica Neue"/>
              <a:ea typeface="Helvetica Neue"/>
              <a:cs typeface="Helvetica Neue"/>
              <a:sym typeface="Helvetica Neue"/>
            </a:endParaRPr>
          </a:p>
          <a:p>
            <a:pPr algn="ctr">
              <a:lnSpc>
                <a:spcPct val="150000"/>
              </a:lnSpc>
            </a:pPr>
            <a:r>
              <a:rPr lang="en-US" i="1">
                <a:solidFill>
                  <a:schemeClr val="dk1"/>
                </a:solidFill>
                <a:latin typeface="Helvetica Neue"/>
                <a:ea typeface="Helvetica Neue"/>
                <a:cs typeface="Helvetica Neue"/>
                <a:sym typeface="Helvetica Neue"/>
              </a:rPr>
              <a:t>β</a:t>
            </a:r>
            <a:endParaRPr i="1">
              <a:solidFill>
                <a:schemeClr val="dk1"/>
              </a:solidFill>
              <a:latin typeface="Helvetica Neue"/>
              <a:ea typeface="Helvetica Neue"/>
              <a:cs typeface="Helvetica Neue"/>
              <a:sym typeface="Helvetica Neue"/>
            </a:endParaRPr>
          </a:p>
        </p:txBody>
      </p:sp>
      <p:sp>
        <p:nvSpPr>
          <p:cNvPr id="171" name="Google Shape;171;p12"/>
          <p:cNvSpPr/>
          <p:nvPr/>
        </p:nvSpPr>
        <p:spPr>
          <a:xfrm>
            <a:off x="5029200" y="2209800"/>
            <a:ext cx="457200" cy="16764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lnSpc>
                <a:spcPct val="150000"/>
              </a:lnSpc>
            </a:pPr>
            <a:r>
              <a:rPr lang="en-US" i="1">
                <a:solidFill>
                  <a:schemeClr val="dk1"/>
                </a:solidFill>
                <a:latin typeface="Helvetica Neue"/>
                <a:ea typeface="Helvetica Neue"/>
                <a:cs typeface="Helvetica Neue"/>
                <a:sym typeface="Helvetica Neue"/>
              </a:rPr>
              <a:t>α</a:t>
            </a:r>
            <a:endParaRPr i="1">
              <a:solidFill>
                <a:schemeClr val="dk1"/>
              </a:solidFill>
              <a:latin typeface="Helvetica Neue"/>
              <a:ea typeface="Helvetica Neue"/>
              <a:cs typeface="Helvetica Neue"/>
              <a:sym typeface="Helvetica Neue"/>
            </a:endParaRPr>
          </a:p>
          <a:p>
            <a:pPr algn="ctr">
              <a:lnSpc>
                <a:spcPct val="150000"/>
              </a:lnSpc>
            </a:pPr>
            <a:r>
              <a:rPr lang="en-US" i="1">
                <a:solidFill>
                  <a:schemeClr val="dk1"/>
                </a:solidFill>
                <a:latin typeface="Helvetica Neue"/>
                <a:ea typeface="Helvetica Neue"/>
                <a:cs typeface="Helvetica Neue"/>
                <a:sym typeface="Helvetica Neue"/>
              </a:rPr>
              <a:t>β</a:t>
            </a:r>
            <a:endParaRPr i="1">
              <a:solidFill>
                <a:schemeClr val="dk1"/>
              </a:solidFill>
              <a:latin typeface="Helvetica Neue"/>
              <a:ea typeface="Helvetica Neue"/>
              <a:cs typeface="Helvetica Neue"/>
              <a:sym typeface="Helvetica Neue"/>
            </a:endParaRPr>
          </a:p>
          <a:p>
            <a:pPr algn="ctr">
              <a:lnSpc>
                <a:spcPct val="150000"/>
              </a:lnSpc>
            </a:pPr>
            <a:r>
              <a:rPr lang="en-US" i="1">
                <a:solidFill>
                  <a:schemeClr val="dk1"/>
                </a:solidFill>
                <a:latin typeface="Helvetica Neue"/>
                <a:ea typeface="Helvetica Neue"/>
                <a:cs typeface="Helvetica Neue"/>
                <a:sym typeface="Helvetica Neue"/>
              </a:rPr>
              <a:t>β</a:t>
            </a:r>
            <a:endParaRPr i="1">
              <a:solidFill>
                <a:schemeClr val="dk1"/>
              </a:solidFill>
              <a:latin typeface="Helvetica Neue"/>
              <a:ea typeface="Helvetica Neue"/>
              <a:cs typeface="Helvetica Neue"/>
              <a:sym typeface="Helvetica Neue"/>
            </a:endParaRPr>
          </a:p>
          <a:p>
            <a:pPr algn="ctr">
              <a:lnSpc>
                <a:spcPct val="150000"/>
              </a:lnSpc>
            </a:pPr>
            <a:r>
              <a:rPr lang="en-US" i="1">
                <a:solidFill>
                  <a:schemeClr val="dk1"/>
                </a:solidFill>
                <a:latin typeface="Helvetica Neue"/>
                <a:ea typeface="Helvetica Neue"/>
                <a:cs typeface="Helvetica Neue"/>
                <a:sym typeface="Helvetica Neue"/>
              </a:rPr>
              <a:t>β</a:t>
            </a:r>
            <a:endParaRPr i="1">
              <a:solidFill>
                <a:schemeClr val="dk1"/>
              </a:solidFill>
              <a:latin typeface="Helvetica Neue"/>
              <a:ea typeface="Helvetica Neue"/>
              <a:cs typeface="Helvetica Neue"/>
              <a:sym typeface="Helvetica Neue"/>
            </a:endParaRPr>
          </a:p>
        </p:txBody>
      </p:sp>
      <p:sp>
        <p:nvSpPr>
          <p:cNvPr id="172" name="Google Shape;172;p12"/>
          <p:cNvSpPr/>
          <p:nvPr/>
        </p:nvSpPr>
        <p:spPr>
          <a:xfrm>
            <a:off x="5486400" y="2209800"/>
            <a:ext cx="457200" cy="16764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lnSpc>
                <a:spcPct val="150000"/>
              </a:lnSpc>
            </a:pPr>
            <a:r>
              <a:rPr lang="en-US" i="1">
                <a:solidFill>
                  <a:schemeClr val="dk1"/>
                </a:solidFill>
                <a:latin typeface="Helvetica Neue"/>
                <a:ea typeface="Helvetica Neue"/>
                <a:cs typeface="Helvetica Neue"/>
                <a:sym typeface="Helvetica Neue"/>
              </a:rPr>
              <a:t>1</a:t>
            </a:r>
            <a:endParaRPr i="1">
              <a:solidFill>
                <a:schemeClr val="dk1"/>
              </a:solidFill>
              <a:latin typeface="Helvetica Neue"/>
              <a:ea typeface="Helvetica Neue"/>
              <a:cs typeface="Helvetica Neue"/>
              <a:sym typeface="Helvetica Neue"/>
            </a:endParaRPr>
          </a:p>
          <a:p>
            <a:pPr algn="ctr">
              <a:lnSpc>
                <a:spcPct val="150000"/>
              </a:lnSpc>
            </a:pPr>
            <a:r>
              <a:rPr lang="en-US" i="1">
                <a:solidFill>
                  <a:schemeClr val="dk1"/>
                </a:solidFill>
                <a:latin typeface="Helvetica Neue"/>
                <a:ea typeface="Helvetica Neue"/>
                <a:cs typeface="Helvetica Neue"/>
                <a:sym typeface="Helvetica Neue"/>
              </a:rPr>
              <a:t>5</a:t>
            </a:r>
            <a:endParaRPr i="1">
              <a:solidFill>
                <a:schemeClr val="dk1"/>
              </a:solidFill>
              <a:latin typeface="Helvetica Neue"/>
              <a:ea typeface="Helvetica Neue"/>
              <a:cs typeface="Helvetica Neue"/>
              <a:sym typeface="Helvetica Neue"/>
            </a:endParaRPr>
          </a:p>
          <a:p>
            <a:pPr algn="ctr">
              <a:lnSpc>
                <a:spcPct val="150000"/>
              </a:lnSpc>
            </a:pPr>
            <a:r>
              <a:rPr lang="en-US" i="1">
                <a:solidFill>
                  <a:schemeClr val="dk1"/>
                </a:solidFill>
                <a:latin typeface="Helvetica Neue"/>
                <a:ea typeface="Helvetica Neue"/>
                <a:cs typeface="Helvetica Neue"/>
                <a:sym typeface="Helvetica Neue"/>
              </a:rPr>
              <a:t>12</a:t>
            </a:r>
            <a:endParaRPr i="1">
              <a:solidFill>
                <a:schemeClr val="dk1"/>
              </a:solidFill>
              <a:latin typeface="Helvetica Neue"/>
              <a:ea typeface="Helvetica Neue"/>
              <a:cs typeface="Helvetica Neue"/>
              <a:sym typeface="Helvetica Neue"/>
            </a:endParaRPr>
          </a:p>
          <a:p>
            <a:pPr algn="ctr">
              <a:lnSpc>
                <a:spcPct val="150000"/>
              </a:lnSpc>
            </a:pPr>
            <a:r>
              <a:rPr lang="en-US" i="1">
                <a:solidFill>
                  <a:schemeClr val="dk1"/>
                </a:solidFill>
                <a:latin typeface="Helvetica Neue"/>
                <a:ea typeface="Helvetica Neue"/>
                <a:cs typeface="Helvetica Neue"/>
                <a:sym typeface="Helvetica Neue"/>
              </a:rPr>
              <a:t>23</a:t>
            </a:r>
            <a:endParaRPr i="1">
              <a:solidFill>
                <a:schemeClr val="dk1"/>
              </a:solidFill>
              <a:latin typeface="Helvetica Neue"/>
              <a:ea typeface="Helvetica Neue"/>
              <a:cs typeface="Helvetica Neue"/>
              <a:sym typeface="Helvetica Neue"/>
            </a:endParaRPr>
          </a:p>
        </p:txBody>
      </p:sp>
      <p:sp>
        <p:nvSpPr>
          <p:cNvPr id="173" name="Google Shape;173;p12"/>
          <p:cNvSpPr/>
          <p:nvPr/>
        </p:nvSpPr>
        <p:spPr>
          <a:xfrm>
            <a:off x="5943600" y="2209800"/>
            <a:ext cx="457200" cy="16764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lnSpc>
                <a:spcPct val="150000"/>
              </a:lnSpc>
            </a:pPr>
            <a:r>
              <a:rPr lang="en-US" i="1">
                <a:solidFill>
                  <a:schemeClr val="dk1"/>
                </a:solidFill>
                <a:latin typeface="Helvetica Neue"/>
                <a:ea typeface="Helvetica Neue"/>
                <a:cs typeface="Helvetica Neue"/>
                <a:sym typeface="Helvetica Neue"/>
              </a:rPr>
              <a:t>7</a:t>
            </a:r>
            <a:endParaRPr i="1">
              <a:solidFill>
                <a:schemeClr val="dk1"/>
              </a:solidFill>
              <a:latin typeface="Helvetica Neue"/>
              <a:ea typeface="Helvetica Neue"/>
              <a:cs typeface="Helvetica Neue"/>
              <a:sym typeface="Helvetica Neue"/>
            </a:endParaRPr>
          </a:p>
          <a:p>
            <a:pPr algn="ctr">
              <a:lnSpc>
                <a:spcPct val="150000"/>
              </a:lnSpc>
            </a:pPr>
            <a:r>
              <a:rPr lang="en-US" i="1">
                <a:solidFill>
                  <a:schemeClr val="dk1"/>
                </a:solidFill>
                <a:latin typeface="Helvetica Neue"/>
                <a:ea typeface="Helvetica Neue"/>
                <a:cs typeface="Helvetica Neue"/>
                <a:sym typeface="Helvetica Neue"/>
              </a:rPr>
              <a:t>7</a:t>
            </a:r>
            <a:endParaRPr i="1">
              <a:solidFill>
                <a:schemeClr val="dk1"/>
              </a:solidFill>
              <a:latin typeface="Helvetica Neue"/>
              <a:ea typeface="Helvetica Neue"/>
              <a:cs typeface="Helvetica Neue"/>
              <a:sym typeface="Helvetica Neue"/>
            </a:endParaRPr>
          </a:p>
          <a:p>
            <a:pPr algn="ctr">
              <a:lnSpc>
                <a:spcPct val="150000"/>
              </a:lnSpc>
            </a:pPr>
            <a:r>
              <a:rPr lang="en-US" i="1">
                <a:solidFill>
                  <a:schemeClr val="dk1"/>
                </a:solidFill>
                <a:latin typeface="Helvetica Neue"/>
                <a:ea typeface="Helvetica Neue"/>
                <a:cs typeface="Helvetica Neue"/>
                <a:sym typeface="Helvetica Neue"/>
              </a:rPr>
              <a:t>3</a:t>
            </a:r>
            <a:endParaRPr i="1">
              <a:solidFill>
                <a:schemeClr val="dk1"/>
              </a:solidFill>
              <a:latin typeface="Helvetica Neue"/>
              <a:ea typeface="Helvetica Neue"/>
              <a:cs typeface="Helvetica Neue"/>
              <a:sym typeface="Helvetica Neue"/>
            </a:endParaRPr>
          </a:p>
          <a:p>
            <a:pPr algn="ctr">
              <a:lnSpc>
                <a:spcPct val="150000"/>
              </a:lnSpc>
            </a:pPr>
            <a:r>
              <a:rPr lang="en-US" i="1">
                <a:solidFill>
                  <a:schemeClr val="dk1"/>
                </a:solidFill>
                <a:latin typeface="Helvetica Neue"/>
                <a:ea typeface="Helvetica Neue"/>
                <a:cs typeface="Helvetica Neue"/>
                <a:sym typeface="Helvetica Neue"/>
              </a:rPr>
              <a:t>10</a:t>
            </a:r>
            <a:endParaRPr i="1">
              <a:solidFill>
                <a:schemeClr val="dk1"/>
              </a:solidFill>
              <a:latin typeface="Helvetica Neue"/>
              <a:ea typeface="Helvetica Neue"/>
              <a:cs typeface="Helvetica Neue"/>
              <a:sym typeface="Helvetica Neue"/>
            </a:endParaRPr>
          </a:p>
        </p:txBody>
      </p:sp>
      <p:sp>
        <p:nvSpPr>
          <p:cNvPr id="174" name="Google Shape;174;p12"/>
          <p:cNvSpPr txBox="1"/>
          <p:nvPr/>
        </p:nvSpPr>
        <p:spPr>
          <a:xfrm>
            <a:off x="2484438" y="4305747"/>
            <a:ext cx="2036762" cy="830956"/>
          </a:xfrm>
          <a:prstGeom prst="rect">
            <a:avLst/>
          </a:prstGeom>
          <a:noFill/>
          <a:ln>
            <a:noFill/>
          </a:ln>
        </p:spPr>
        <p:txBody>
          <a:bodyPr spcFirstLastPara="1" wrap="square" lIns="91425" tIns="45700" rIns="91425" bIns="45700" anchor="ctr" anchorCtr="0">
            <a:spAutoFit/>
          </a:bodyPr>
          <a:lstStyle/>
          <a:p>
            <a:pPr marL="230505" indent="-230505" algn="ctr">
              <a:buClr>
                <a:schemeClr val="dk1"/>
              </a:buClr>
              <a:buSzPts val="3000"/>
              <a:buFont typeface="Helvetica Neue"/>
              <a:buChar char="•"/>
            </a:pPr>
            <a:r>
              <a:rPr lang="en-US" sz="2400">
                <a:solidFill>
                  <a:schemeClr val="dk1"/>
                </a:solidFill>
                <a:latin typeface="Helvetica Neue"/>
                <a:ea typeface="Helvetica Neue"/>
                <a:cs typeface="Helvetica Neue"/>
                <a:sym typeface="Helvetica Neue"/>
              </a:rPr>
              <a:t>σ</a:t>
            </a:r>
            <a:r>
              <a:rPr lang="en-US" sz="2400" baseline="-25000">
                <a:solidFill>
                  <a:schemeClr val="dk1"/>
                </a:solidFill>
                <a:latin typeface="Helvetica Neue"/>
                <a:ea typeface="Helvetica Neue"/>
                <a:cs typeface="Helvetica Neue"/>
                <a:sym typeface="Helvetica Neue"/>
              </a:rPr>
              <a:t>A=B ^ D &gt; 5</a:t>
            </a:r>
            <a:r>
              <a:rPr lang="en-US" sz="2000" baseline="-25000">
                <a:solidFill>
                  <a:schemeClr val="dk1"/>
                </a:solidFill>
                <a:latin typeface="Helvetica Neue"/>
                <a:ea typeface="Helvetica Neue"/>
                <a:cs typeface="Helvetica Neue"/>
                <a:sym typeface="Helvetica Neue"/>
              </a:rPr>
              <a:t> </a:t>
            </a:r>
            <a:r>
              <a:rPr lang="en-US" sz="2400">
                <a:solidFill>
                  <a:schemeClr val="dk1"/>
                </a:solidFill>
                <a:latin typeface="Helvetica Neue"/>
                <a:ea typeface="Helvetica Neue"/>
                <a:cs typeface="Helvetica Neue"/>
                <a:sym typeface="Helvetica Neue"/>
              </a:rPr>
              <a:t>(r)</a:t>
            </a:r>
            <a:endParaRPr sz="2400">
              <a:solidFill>
                <a:schemeClr val="dk1"/>
              </a:solidFill>
              <a:latin typeface="Helvetica Neue"/>
              <a:ea typeface="Helvetica Neue"/>
              <a:cs typeface="Helvetica Neue"/>
              <a:sym typeface="Helvetica Neue"/>
            </a:endParaRPr>
          </a:p>
        </p:txBody>
      </p:sp>
      <p:sp>
        <p:nvSpPr>
          <p:cNvPr id="175" name="Google Shape;175;p12"/>
          <p:cNvSpPr/>
          <p:nvPr/>
        </p:nvSpPr>
        <p:spPr>
          <a:xfrm>
            <a:off x="4648200" y="4800600"/>
            <a:ext cx="457200" cy="4572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A</a:t>
            </a:r>
            <a:endParaRPr i="1">
              <a:solidFill>
                <a:schemeClr val="dk1"/>
              </a:solidFill>
              <a:latin typeface="Helvetica Neue"/>
              <a:ea typeface="Helvetica Neue"/>
              <a:cs typeface="Helvetica Neue"/>
              <a:sym typeface="Helvetica Neue"/>
            </a:endParaRPr>
          </a:p>
        </p:txBody>
      </p:sp>
      <p:sp>
        <p:nvSpPr>
          <p:cNvPr id="176" name="Google Shape;176;p12"/>
          <p:cNvSpPr/>
          <p:nvPr/>
        </p:nvSpPr>
        <p:spPr>
          <a:xfrm>
            <a:off x="5105400" y="4800600"/>
            <a:ext cx="457200" cy="4572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B</a:t>
            </a:r>
            <a:endParaRPr i="1">
              <a:solidFill>
                <a:schemeClr val="dk1"/>
              </a:solidFill>
              <a:latin typeface="Helvetica Neue"/>
              <a:ea typeface="Helvetica Neue"/>
              <a:cs typeface="Helvetica Neue"/>
              <a:sym typeface="Helvetica Neue"/>
            </a:endParaRPr>
          </a:p>
        </p:txBody>
      </p:sp>
      <p:sp>
        <p:nvSpPr>
          <p:cNvPr id="177" name="Google Shape;177;p12"/>
          <p:cNvSpPr/>
          <p:nvPr/>
        </p:nvSpPr>
        <p:spPr>
          <a:xfrm>
            <a:off x="5562600" y="4800600"/>
            <a:ext cx="457200" cy="4572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C</a:t>
            </a:r>
            <a:endParaRPr i="1">
              <a:solidFill>
                <a:schemeClr val="dk1"/>
              </a:solidFill>
              <a:latin typeface="Helvetica Neue"/>
              <a:ea typeface="Helvetica Neue"/>
              <a:cs typeface="Helvetica Neue"/>
              <a:sym typeface="Helvetica Neue"/>
            </a:endParaRPr>
          </a:p>
        </p:txBody>
      </p:sp>
      <p:sp>
        <p:nvSpPr>
          <p:cNvPr id="178" name="Google Shape;178;p12"/>
          <p:cNvSpPr/>
          <p:nvPr/>
        </p:nvSpPr>
        <p:spPr>
          <a:xfrm>
            <a:off x="6019800" y="4800600"/>
            <a:ext cx="457200" cy="4572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D</a:t>
            </a:r>
            <a:endParaRPr i="1">
              <a:solidFill>
                <a:schemeClr val="dk1"/>
              </a:solidFill>
              <a:latin typeface="Helvetica Neue"/>
              <a:ea typeface="Helvetica Neue"/>
              <a:cs typeface="Helvetica Neue"/>
              <a:sym typeface="Helvetica Neue"/>
            </a:endParaRPr>
          </a:p>
        </p:txBody>
      </p:sp>
      <p:sp>
        <p:nvSpPr>
          <p:cNvPr id="179" name="Google Shape;179;p12"/>
          <p:cNvSpPr/>
          <p:nvPr/>
        </p:nvSpPr>
        <p:spPr>
          <a:xfrm>
            <a:off x="4648200" y="5334000"/>
            <a:ext cx="457200" cy="9144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lnSpc>
                <a:spcPct val="150000"/>
              </a:lnSpc>
            </a:pPr>
            <a:r>
              <a:rPr lang="en-US" i="1">
                <a:solidFill>
                  <a:schemeClr val="dk1"/>
                </a:solidFill>
                <a:latin typeface="Helvetica Neue"/>
                <a:ea typeface="Helvetica Neue"/>
                <a:cs typeface="Helvetica Neue"/>
                <a:sym typeface="Helvetica Neue"/>
              </a:rPr>
              <a:t>α</a:t>
            </a:r>
            <a:endParaRPr i="1">
              <a:solidFill>
                <a:schemeClr val="dk1"/>
              </a:solidFill>
              <a:latin typeface="Helvetica Neue"/>
              <a:ea typeface="Helvetica Neue"/>
              <a:cs typeface="Helvetica Neue"/>
              <a:sym typeface="Helvetica Neue"/>
            </a:endParaRPr>
          </a:p>
          <a:p>
            <a:pPr algn="ctr">
              <a:lnSpc>
                <a:spcPct val="150000"/>
              </a:lnSpc>
            </a:pPr>
            <a:r>
              <a:rPr lang="en-US" i="1">
                <a:solidFill>
                  <a:schemeClr val="dk1"/>
                </a:solidFill>
                <a:latin typeface="Helvetica Neue"/>
                <a:ea typeface="Helvetica Neue"/>
                <a:cs typeface="Helvetica Neue"/>
                <a:sym typeface="Helvetica Neue"/>
              </a:rPr>
              <a:t>β</a:t>
            </a:r>
            <a:endParaRPr i="1">
              <a:solidFill>
                <a:schemeClr val="dk1"/>
              </a:solidFill>
              <a:latin typeface="Helvetica Neue"/>
              <a:ea typeface="Helvetica Neue"/>
              <a:cs typeface="Helvetica Neue"/>
              <a:sym typeface="Helvetica Neue"/>
            </a:endParaRPr>
          </a:p>
        </p:txBody>
      </p:sp>
      <p:sp>
        <p:nvSpPr>
          <p:cNvPr id="180" name="Google Shape;180;p12"/>
          <p:cNvSpPr/>
          <p:nvPr/>
        </p:nvSpPr>
        <p:spPr>
          <a:xfrm>
            <a:off x="5105400" y="5334000"/>
            <a:ext cx="457200" cy="9144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lnSpc>
                <a:spcPct val="150000"/>
              </a:lnSpc>
            </a:pPr>
            <a:r>
              <a:rPr lang="en-US" i="1">
                <a:solidFill>
                  <a:schemeClr val="dk1"/>
                </a:solidFill>
                <a:latin typeface="Helvetica Neue"/>
                <a:ea typeface="Helvetica Neue"/>
                <a:cs typeface="Helvetica Neue"/>
                <a:sym typeface="Helvetica Neue"/>
              </a:rPr>
              <a:t>α</a:t>
            </a:r>
            <a:endParaRPr i="1">
              <a:solidFill>
                <a:schemeClr val="dk1"/>
              </a:solidFill>
              <a:latin typeface="Helvetica Neue"/>
              <a:ea typeface="Helvetica Neue"/>
              <a:cs typeface="Helvetica Neue"/>
              <a:sym typeface="Helvetica Neue"/>
            </a:endParaRPr>
          </a:p>
          <a:p>
            <a:pPr algn="ctr">
              <a:lnSpc>
                <a:spcPct val="150000"/>
              </a:lnSpc>
            </a:pPr>
            <a:r>
              <a:rPr lang="en-US" i="1">
                <a:solidFill>
                  <a:schemeClr val="dk1"/>
                </a:solidFill>
                <a:latin typeface="Helvetica Neue"/>
                <a:ea typeface="Helvetica Neue"/>
                <a:cs typeface="Helvetica Neue"/>
                <a:sym typeface="Helvetica Neue"/>
              </a:rPr>
              <a:t>β</a:t>
            </a:r>
            <a:endParaRPr i="1">
              <a:solidFill>
                <a:schemeClr val="dk1"/>
              </a:solidFill>
              <a:latin typeface="Helvetica Neue"/>
              <a:ea typeface="Helvetica Neue"/>
              <a:cs typeface="Helvetica Neue"/>
              <a:sym typeface="Helvetica Neue"/>
            </a:endParaRPr>
          </a:p>
        </p:txBody>
      </p:sp>
      <p:sp>
        <p:nvSpPr>
          <p:cNvPr id="181" name="Google Shape;181;p12"/>
          <p:cNvSpPr/>
          <p:nvPr/>
        </p:nvSpPr>
        <p:spPr>
          <a:xfrm>
            <a:off x="5562600" y="5334000"/>
            <a:ext cx="457200" cy="9144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lnSpc>
                <a:spcPct val="150000"/>
              </a:lnSpc>
            </a:pPr>
            <a:r>
              <a:rPr lang="en-US" i="1">
                <a:solidFill>
                  <a:schemeClr val="dk1"/>
                </a:solidFill>
                <a:latin typeface="Helvetica Neue"/>
                <a:ea typeface="Helvetica Neue"/>
                <a:cs typeface="Helvetica Neue"/>
                <a:sym typeface="Helvetica Neue"/>
              </a:rPr>
              <a:t>1</a:t>
            </a:r>
            <a:endParaRPr i="1">
              <a:solidFill>
                <a:schemeClr val="dk1"/>
              </a:solidFill>
              <a:latin typeface="Helvetica Neue"/>
              <a:ea typeface="Helvetica Neue"/>
              <a:cs typeface="Helvetica Neue"/>
              <a:sym typeface="Helvetica Neue"/>
            </a:endParaRPr>
          </a:p>
          <a:p>
            <a:pPr algn="ctr">
              <a:lnSpc>
                <a:spcPct val="150000"/>
              </a:lnSpc>
            </a:pPr>
            <a:r>
              <a:rPr lang="en-US" i="1">
                <a:solidFill>
                  <a:schemeClr val="dk1"/>
                </a:solidFill>
                <a:latin typeface="Helvetica Neue"/>
                <a:ea typeface="Helvetica Neue"/>
                <a:cs typeface="Helvetica Neue"/>
                <a:sym typeface="Helvetica Neue"/>
              </a:rPr>
              <a:t>23</a:t>
            </a:r>
            <a:endParaRPr i="1">
              <a:solidFill>
                <a:schemeClr val="dk1"/>
              </a:solidFill>
              <a:latin typeface="Helvetica Neue"/>
              <a:ea typeface="Helvetica Neue"/>
              <a:cs typeface="Helvetica Neue"/>
              <a:sym typeface="Helvetica Neue"/>
            </a:endParaRPr>
          </a:p>
        </p:txBody>
      </p:sp>
      <p:sp>
        <p:nvSpPr>
          <p:cNvPr id="182" name="Google Shape;182;p12"/>
          <p:cNvSpPr/>
          <p:nvPr/>
        </p:nvSpPr>
        <p:spPr>
          <a:xfrm>
            <a:off x="6019800" y="5334000"/>
            <a:ext cx="457200" cy="9144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lnSpc>
                <a:spcPct val="150000"/>
              </a:lnSpc>
            </a:pPr>
            <a:r>
              <a:rPr lang="en-US" i="1">
                <a:solidFill>
                  <a:schemeClr val="dk1"/>
                </a:solidFill>
                <a:latin typeface="Helvetica Neue"/>
                <a:ea typeface="Helvetica Neue"/>
                <a:cs typeface="Helvetica Neue"/>
                <a:sym typeface="Helvetica Neue"/>
              </a:rPr>
              <a:t>7</a:t>
            </a:r>
            <a:endParaRPr i="1">
              <a:solidFill>
                <a:schemeClr val="dk1"/>
              </a:solidFill>
              <a:latin typeface="Helvetica Neue"/>
              <a:ea typeface="Helvetica Neue"/>
              <a:cs typeface="Helvetica Neue"/>
              <a:sym typeface="Helvetica Neue"/>
            </a:endParaRPr>
          </a:p>
          <a:p>
            <a:pPr algn="ctr">
              <a:lnSpc>
                <a:spcPct val="150000"/>
              </a:lnSpc>
            </a:pPr>
            <a:r>
              <a:rPr lang="en-US" i="1">
                <a:solidFill>
                  <a:schemeClr val="dk1"/>
                </a:solidFill>
                <a:latin typeface="Helvetica Neue"/>
                <a:ea typeface="Helvetica Neue"/>
                <a:cs typeface="Helvetica Neue"/>
                <a:sym typeface="Helvetica Neue"/>
              </a:rPr>
              <a:t>10</a:t>
            </a:r>
            <a:endParaRPr i="1">
              <a:solidFill>
                <a:schemeClr val="dk1"/>
              </a:solidFill>
              <a:latin typeface="Helvetica Neue"/>
              <a:ea typeface="Helvetica Neue"/>
              <a:cs typeface="Helvetica Neue"/>
              <a:sym typeface="Helvetica Neue"/>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9"/>
                                        </p:tgtEl>
                                        <p:attrNameLst>
                                          <p:attrName>style.visibility</p:attrName>
                                        </p:attrNameLst>
                                      </p:cBhvr>
                                      <p:to>
                                        <p:strVal val="visible"/>
                                      </p:to>
                                    </p:set>
                                    <p:animEffect transition="in" filter="fade">
                                      <p:cBhvr>
                                        <p:cTn id="7" dur="500"/>
                                        <p:tgtEl>
                                          <p:spTgt spid="179"/>
                                        </p:tgtEl>
                                      </p:cBhvr>
                                    </p:animEffect>
                                  </p:childTnLst>
                                </p:cTn>
                              </p:par>
                              <p:par>
                                <p:cTn id="8" presetID="10" presetClass="entr" presetSubtype="0" fill="hold" nodeType="withEffect">
                                  <p:stCondLst>
                                    <p:cond delay="0"/>
                                  </p:stCondLst>
                                  <p:childTnLst>
                                    <p:set>
                                      <p:cBhvr>
                                        <p:cTn id="9" dur="1" fill="hold">
                                          <p:stCondLst>
                                            <p:cond delay="0"/>
                                          </p:stCondLst>
                                        </p:cTn>
                                        <p:tgtEl>
                                          <p:spTgt spid="180"/>
                                        </p:tgtEl>
                                        <p:attrNameLst>
                                          <p:attrName>style.visibility</p:attrName>
                                        </p:attrNameLst>
                                      </p:cBhvr>
                                      <p:to>
                                        <p:strVal val="visible"/>
                                      </p:to>
                                    </p:set>
                                    <p:animEffect transition="in" filter="fade">
                                      <p:cBhvr>
                                        <p:cTn id="10" dur="500"/>
                                        <p:tgtEl>
                                          <p:spTgt spid="180"/>
                                        </p:tgtEl>
                                      </p:cBhvr>
                                    </p:animEffect>
                                  </p:childTnLst>
                                </p:cTn>
                              </p:par>
                              <p:par>
                                <p:cTn id="11" presetID="10" presetClass="entr" presetSubtype="0" fill="hold" nodeType="withEffect">
                                  <p:stCondLst>
                                    <p:cond delay="0"/>
                                  </p:stCondLst>
                                  <p:childTnLst>
                                    <p:set>
                                      <p:cBhvr>
                                        <p:cTn id="12" dur="1" fill="hold">
                                          <p:stCondLst>
                                            <p:cond delay="0"/>
                                          </p:stCondLst>
                                        </p:cTn>
                                        <p:tgtEl>
                                          <p:spTgt spid="182"/>
                                        </p:tgtEl>
                                        <p:attrNameLst>
                                          <p:attrName>style.visibility</p:attrName>
                                        </p:attrNameLst>
                                      </p:cBhvr>
                                      <p:to>
                                        <p:strVal val="visible"/>
                                      </p:to>
                                    </p:set>
                                    <p:animEffect transition="in" filter="fade">
                                      <p:cBhvr>
                                        <p:cTn id="13" dur="500"/>
                                        <p:tgtEl>
                                          <p:spTgt spid="182"/>
                                        </p:tgtEl>
                                      </p:cBhvr>
                                    </p:animEffect>
                                  </p:childTnLst>
                                </p:cTn>
                              </p:par>
                              <p:par>
                                <p:cTn id="14" presetID="10" presetClass="entr" presetSubtype="0" fill="hold" nodeType="withEffect">
                                  <p:stCondLst>
                                    <p:cond delay="0"/>
                                  </p:stCondLst>
                                  <p:childTnLst>
                                    <p:set>
                                      <p:cBhvr>
                                        <p:cTn id="15" dur="1" fill="hold">
                                          <p:stCondLst>
                                            <p:cond delay="0"/>
                                          </p:stCondLst>
                                        </p:cTn>
                                        <p:tgtEl>
                                          <p:spTgt spid="181"/>
                                        </p:tgtEl>
                                        <p:attrNameLst>
                                          <p:attrName>style.visibility</p:attrName>
                                        </p:attrNameLst>
                                      </p:cBhvr>
                                      <p:to>
                                        <p:strVal val="visible"/>
                                      </p:to>
                                    </p:set>
                                    <p:animEffect transition="in" filter="fade">
                                      <p:cBhvr>
                                        <p:cTn id="16" dur="500"/>
                                        <p:tgtEl>
                                          <p:spTgt spid="1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13"/>
          <p:cNvSpPr txBox="1">
            <a:spLocks noGrp="1"/>
          </p:cNvSpPr>
          <p:nvPr>
            <p:ph type="title"/>
          </p:nvPr>
        </p:nvSpPr>
        <p:spPr>
          <a:xfrm>
            <a:off x="1981200" y="1"/>
            <a:ext cx="8229600" cy="520065"/>
          </a:xfrm>
          <a:prstGeom prst="rect">
            <a:avLst/>
          </a:prstGeom>
          <a:noFill/>
          <a:ln>
            <a:noFill/>
          </a:ln>
        </p:spPr>
        <p:txBody>
          <a:bodyPr spcFirstLastPara="1" vert="horz" wrap="square" lIns="91425" tIns="45700" rIns="91425" bIns="45700" rtlCol="0" anchor="ctr" anchorCtr="0">
            <a:normAutofit fontScale="90000"/>
          </a:bodyPr>
          <a:lstStyle/>
          <a:p>
            <a:pPr algn="ctr">
              <a:lnSpc>
                <a:spcPct val="100000"/>
              </a:lnSpc>
              <a:spcBef>
                <a:spcPts val="0"/>
              </a:spcBef>
              <a:buClr>
                <a:schemeClr val="dk2"/>
              </a:buClr>
              <a:buSzPct val="100000"/>
            </a:pPr>
            <a:r>
              <a:rPr lang="en-US" b="1">
                <a:latin typeface="Times New Roman"/>
                <a:ea typeface="Times New Roman"/>
                <a:cs typeface="Times New Roman"/>
                <a:sym typeface="Times New Roman"/>
              </a:rPr>
              <a:t>2. Project Operation</a:t>
            </a:r>
            <a:endParaRPr>
              <a:latin typeface="Times New Roman"/>
              <a:ea typeface="Times New Roman"/>
              <a:cs typeface="Times New Roman"/>
              <a:sym typeface="Times New Roman"/>
            </a:endParaRPr>
          </a:p>
        </p:txBody>
      </p:sp>
      <p:sp>
        <p:nvSpPr>
          <p:cNvPr id="188" name="Google Shape;188;p13"/>
          <p:cNvSpPr txBox="1">
            <a:spLocks noGrp="1"/>
          </p:cNvSpPr>
          <p:nvPr>
            <p:ph type="body" idx="1"/>
          </p:nvPr>
        </p:nvSpPr>
        <p:spPr>
          <a:xfrm>
            <a:off x="1676401" y="609600"/>
            <a:ext cx="8716645" cy="6062980"/>
          </a:xfrm>
          <a:prstGeom prst="rect">
            <a:avLst/>
          </a:prstGeom>
          <a:noFill/>
          <a:ln>
            <a:noFill/>
          </a:ln>
        </p:spPr>
        <p:txBody>
          <a:bodyPr spcFirstLastPara="1" vert="horz" wrap="square" lIns="91425" tIns="45700" rIns="91425" bIns="45700" rtlCol="0" anchor="t" anchorCtr="0">
            <a:normAutofit fontScale="92500" lnSpcReduction="10000"/>
          </a:bodyPr>
          <a:lstStyle/>
          <a:p>
            <a:pPr marL="342900" indent="-342900" algn="just">
              <a:lnSpc>
                <a:spcPct val="100000"/>
              </a:lnSpc>
              <a:spcBef>
                <a:spcPts val="0"/>
              </a:spcBef>
              <a:buClr>
                <a:schemeClr val="dk1"/>
              </a:buClr>
              <a:buSzPts val="2400"/>
              <a:buFont typeface="Times New Roman"/>
              <a:buChar char="•"/>
            </a:pPr>
            <a:r>
              <a:rPr lang="en-US" sz="2400">
                <a:latin typeface="Times New Roman"/>
                <a:ea typeface="Times New Roman"/>
                <a:cs typeface="Times New Roman"/>
                <a:sym typeface="Times New Roman"/>
              </a:rPr>
              <a:t>The project operation is a unary operation that returns its argument relation, with certain attributes left out.</a:t>
            </a:r>
            <a:endParaRPr sz="2400">
              <a:latin typeface="Times New Roman"/>
              <a:ea typeface="Times New Roman"/>
              <a:cs typeface="Times New Roman"/>
              <a:sym typeface="Times New Roman"/>
            </a:endParaRPr>
          </a:p>
          <a:p>
            <a:pPr marL="342900" indent="-342900" algn="just">
              <a:lnSpc>
                <a:spcPct val="100000"/>
              </a:lnSpc>
              <a:spcBef>
                <a:spcPts val="480"/>
              </a:spcBef>
              <a:buClr>
                <a:schemeClr val="dk1"/>
              </a:buClr>
              <a:buSzPts val="2400"/>
              <a:buFont typeface="Times New Roman"/>
              <a:buChar char="•"/>
            </a:pPr>
            <a:r>
              <a:rPr lang="en-US" sz="2400">
                <a:latin typeface="Times New Roman"/>
                <a:ea typeface="Times New Roman"/>
                <a:cs typeface="Times New Roman"/>
                <a:sym typeface="Times New Roman"/>
              </a:rPr>
              <a:t>Projection always work in distinct form.</a:t>
            </a:r>
            <a:endParaRPr sz="2400">
              <a:latin typeface="Times New Roman"/>
              <a:ea typeface="Times New Roman"/>
              <a:cs typeface="Times New Roman"/>
              <a:sym typeface="Times New Roman"/>
            </a:endParaRPr>
          </a:p>
          <a:p>
            <a:pPr marL="342900" indent="-342900" algn="just">
              <a:lnSpc>
                <a:spcPct val="100000"/>
              </a:lnSpc>
              <a:spcBef>
                <a:spcPts val="480"/>
              </a:spcBef>
              <a:buClr>
                <a:schemeClr val="dk1"/>
              </a:buClr>
              <a:buSzPts val="2400"/>
              <a:buFont typeface="Times New Roman"/>
              <a:buChar char="•"/>
            </a:pPr>
            <a:r>
              <a:rPr lang="en-US" sz="2400">
                <a:latin typeface="Times New Roman"/>
                <a:ea typeface="Times New Roman"/>
                <a:cs typeface="Times New Roman"/>
                <a:sym typeface="Times New Roman"/>
              </a:rPr>
              <a:t>It gives only unique value result.</a:t>
            </a:r>
            <a:endParaRPr sz="2400">
              <a:latin typeface="Times New Roman"/>
              <a:ea typeface="Times New Roman"/>
              <a:cs typeface="Times New Roman"/>
              <a:sym typeface="Times New Roman"/>
            </a:endParaRPr>
          </a:p>
          <a:p>
            <a:pPr marL="342900" indent="-342900" algn="just">
              <a:lnSpc>
                <a:spcPct val="100000"/>
              </a:lnSpc>
              <a:spcBef>
                <a:spcPts val="480"/>
              </a:spcBef>
              <a:buClr>
                <a:schemeClr val="dk1"/>
              </a:buClr>
              <a:buSzPts val="2400"/>
              <a:buFont typeface="Times New Roman"/>
              <a:buChar char="•"/>
            </a:pPr>
            <a:r>
              <a:rPr lang="en-US" sz="2400">
                <a:latin typeface="Times New Roman"/>
                <a:ea typeface="Times New Roman"/>
                <a:cs typeface="Times New Roman"/>
                <a:sym typeface="Times New Roman"/>
              </a:rPr>
              <a:t>It select all the attributes/Columns of the relation. </a:t>
            </a:r>
            <a:endParaRPr sz="2400">
              <a:latin typeface="Times New Roman"/>
              <a:ea typeface="Times New Roman"/>
              <a:cs typeface="Times New Roman"/>
              <a:sym typeface="Times New Roman"/>
            </a:endParaRPr>
          </a:p>
          <a:p>
            <a:pPr marL="342900" indent="-342900" algn="just">
              <a:lnSpc>
                <a:spcPct val="100000"/>
              </a:lnSpc>
              <a:spcBef>
                <a:spcPts val="480"/>
              </a:spcBef>
              <a:buClr>
                <a:schemeClr val="dk1"/>
              </a:buClr>
              <a:buSzPts val="2400"/>
              <a:buFont typeface="Times New Roman"/>
              <a:buChar char="•"/>
            </a:pPr>
            <a:r>
              <a:rPr lang="en-US" sz="2400">
                <a:latin typeface="Times New Roman"/>
                <a:ea typeface="Times New Roman"/>
                <a:cs typeface="Times New Roman"/>
                <a:sym typeface="Times New Roman"/>
              </a:rPr>
              <a:t>In this operation, any duplicate rows are eliminated.</a:t>
            </a:r>
            <a:endParaRPr sz="2400">
              <a:latin typeface="Times New Roman"/>
              <a:ea typeface="Times New Roman"/>
              <a:cs typeface="Times New Roman"/>
              <a:sym typeface="Times New Roman"/>
            </a:endParaRPr>
          </a:p>
          <a:p>
            <a:pPr marL="342900" indent="-342900" algn="just">
              <a:lnSpc>
                <a:spcPct val="100000"/>
              </a:lnSpc>
              <a:spcBef>
                <a:spcPts val="480"/>
              </a:spcBef>
              <a:buClr>
                <a:schemeClr val="dk1"/>
              </a:buClr>
              <a:buSzPts val="2400"/>
              <a:buFont typeface="Times New Roman"/>
              <a:buChar char="•"/>
            </a:pPr>
            <a:r>
              <a:rPr lang="en-US" sz="2400">
                <a:latin typeface="Times New Roman"/>
                <a:ea typeface="Times New Roman"/>
                <a:cs typeface="Times New Roman"/>
                <a:sym typeface="Times New Roman"/>
              </a:rPr>
              <a:t>Projection is denoted by the uppercase Greek letter pi (Π).</a:t>
            </a:r>
            <a:endParaRPr sz="2400">
              <a:latin typeface="Times New Roman"/>
              <a:ea typeface="Times New Roman"/>
              <a:cs typeface="Times New Roman"/>
              <a:sym typeface="Times New Roman"/>
            </a:endParaRPr>
          </a:p>
          <a:p>
            <a:pPr marL="342900" indent="-342900" algn="just">
              <a:lnSpc>
                <a:spcPct val="100000"/>
              </a:lnSpc>
              <a:spcBef>
                <a:spcPts val="480"/>
              </a:spcBef>
              <a:buClr>
                <a:schemeClr val="dk1"/>
              </a:buClr>
              <a:buSzPts val="2400"/>
              <a:buFont typeface="Times New Roman"/>
              <a:buChar char="•"/>
            </a:pPr>
            <a:r>
              <a:rPr lang="en-US" sz="2400" b="1">
                <a:latin typeface="Times New Roman"/>
                <a:ea typeface="Times New Roman"/>
                <a:cs typeface="Times New Roman"/>
                <a:sym typeface="Times New Roman"/>
              </a:rPr>
              <a:t>Notation: ∏ A1, A2, An (r) </a:t>
            </a:r>
            <a:r>
              <a:rPr lang="en-US" sz="2400">
                <a:latin typeface="Times New Roman"/>
                <a:ea typeface="Times New Roman"/>
                <a:cs typeface="Times New Roman"/>
                <a:sym typeface="Times New Roman"/>
              </a:rPr>
              <a:t>  </a:t>
            </a:r>
            <a:endParaRPr sz="2400" b="1">
              <a:latin typeface="Times New Roman"/>
              <a:ea typeface="Times New Roman"/>
              <a:cs typeface="Times New Roman"/>
              <a:sym typeface="Times New Roman"/>
            </a:endParaRPr>
          </a:p>
          <a:p>
            <a:pPr marL="0" indent="0" algn="just">
              <a:lnSpc>
                <a:spcPct val="100000"/>
              </a:lnSpc>
              <a:spcBef>
                <a:spcPts val="480"/>
              </a:spcBef>
              <a:buClr>
                <a:schemeClr val="dk1"/>
              </a:buClr>
              <a:buSzPts val="2400"/>
              <a:buNone/>
            </a:pPr>
            <a:r>
              <a:rPr lang="en-US" sz="2400">
                <a:latin typeface="Times New Roman"/>
                <a:ea typeface="Times New Roman"/>
                <a:cs typeface="Times New Roman"/>
                <a:sym typeface="Times New Roman"/>
              </a:rPr>
              <a:t>A1, A2, A3 is used as an attribute name of relation r.</a:t>
            </a:r>
            <a:endParaRPr sz="2400">
              <a:latin typeface="Times New Roman"/>
              <a:ea typeface="Times New Roman"/>
              <a:cs typeface="Times New Roman"/>
              <a:sym typeface="Times New Roman"/>
            </a:endParaRPr>
          </a:p>
          <a:p>
            <a:pPr marL="0" indent="0" algn="just">
              <a:lnSpc>
                <a:spcPct val="100000"/>
              </a:lnSpc>
              <a:spcBef>
                <a:spcPts val="480"/>
              </a:spcBef>
              <a:buClr>
                <a:schemeClr val="dk1"/>
              </a:buClr>
              <a:buSzPts val="2400"/>
              <a:buNone/>
            </a:pPr>
            <a:endParaRPr sz="2400">
              <a:latin typeface="Times New Roman"/>
              <a:ea typeface="Times New Roman"/>
              <a:cs typeface="Times New Roman"/>
              <a:sym typeface="Times New Roman"/>
            </a:endParaRPr>
          </a:p>
          <a:p>
            <a:pPr marL="342900" indent="-342900" algn="just">
              <a:lnSpc>
                <a:spcPct val="100000"/>
              </a:lnSpc>
              <a:spcBef>
                <a:spcPts val="480"/>
              </a:spcBef>
              <a:buClr>
                <a:schemeClr val="dk1"/>
              </a:buClr>
              <a:buSzPts val="2400"/>
              <a:buFont typeface="Times New Roman"/>
              <a:buChar char="•"/>
            </a:pPr>
            <a:r>
              <a:rPr lang="en-US" sz="2400">
                <a:latin typeface="Times New Roman"/>
                <a:ea typeface="Times New Roman"/>
                <a:cs typeface="Times New Roman"/>
                <a:sym typeface="Times New Roman"/>
              </a:rPr>
              <a:t>We list those attributes that we wish to appear in the result as a subscript to Π. The argument relation follows in parentheses.</a:t>
            </a:r>
            <a:endParaRPr sz="2400">
              <a:latin typeface="Times New Roman"/>
              <a:ea typeface="Times New Roman"/>
              <a:cs typeface="Times New Roman"/>
              <a:sym typeface="Times New Roman"/>
            </a:endParaRPr>
          </a:p>
          <a:p>
            <a:pPr marL="342900" indent="-342900" algn="just">
              <a:lnSpc>
                <a:spcPct val="100000"/>
              </a:lnSpc>
              <a:spcBef>
                <a:spcPts val="480"/>
              </a:spcBef>
              <a:buClr>
                <a:schemeClr val="dk1"/>
              </a:buClr>
              <a:buSzPts val="2400"/>
              <a:buFont typeface="Times New Roman"/>
              <a:buChar char="•"/>
            </a:pPr>
            <a:r>
              <a:rPr lang="en-US" sz="2400">
                <a:latin typeface="Times New Roman"/>
                <a:ea typeface="Times New Roman"/>
                <a:cs typeface="Times New Roman"/>
                <a:sym typeface="Times New Roman"/>
              </a:rPr>
              <a:t>If relation Account contains 50 tuples, how many tuples contains ∏account-number, balance (account) ?</a:t>
            </a:r>
            <a:endParaRPr sz="2400">
              <a:latin typeface="Times New Roman"/>
              <a:ea typeface="Times New Roman"/>
              <a:cs typeface="Times New Roman"/>
              <a:sym typeface="Times New Roman"/>
            </a:endParaRPr>
          </a:p>
          <a:p>
            <a:pPr marL="342900" indent="-342900" algn="just">
              <a:lnSpc>
                <a:spcPct val="100000"/>
              </a:lnSpc>
              <a:spcBef>
                <a:spcPts val="480"/>
              </a:spcBef>
              <a:buClr>
                <a:schemeClr val="dk1"/>
              </a:buClr>
              <a:buSzPts val="2400"/>
              <a:buFont typeface="Times New Roman"/>
              <a:buChar char="•"/>
            </a:pPr>
            <a:r>
              <a:rPr lang="en-US" sz="2400">
                <a:latin typeface="Times New Roman"/>
                <a:ea typeface="Times New Roman"/>
                <a:cs typeface="Times New Roman"/>
                <a:sym typeface="Times New Roman"/>
              </a:rPr>
              <a:t>If relation Account contains 50 tuples, how many tuples contains </a:t>
            </a:r>
            <a:endParaRPr sz="2400">
              <a:latin typeface="Times New Roman"/>
              <a:ea typeface="Times New Roman"/>
              <a:cs typeface="Times New Roman"/>
              <a:sym typeface="Times New Roman"/>
            </a:endParaRPr>
          </a:p>
          <a:p>
            <a:pPr marL="342900" indent="-342900" algn="just">
              <a:lnSpc>
                <a:spcPct val="100000"/>
              </a:lnSpc>
              <a:spcBef>
                <a:spcPts val="480"/>
              </a:spcBef>
              <a:buClr>
                <a:schemeClr val="dk1"/>
              </a:buClr>
              <a:buSzPts val="2400"/>
              <a:buFont typeface="Times New Roman"/>
              <a:buChar char="•"/>
            </a:pPr>
            <a:r>
              <a:rPr lang="en-US" sz="2400">
                <a:latin typeface="Times New Roman"/>
                <a:ea typeface="Times New Roman"/>
                <a:cs typeface="Times New Roman"/>
                <a:sym typeface="Times New Roman"/>
              </a:rPr>
              <a:t>     ∏, balance (account) ?</a:t>
            </a:r>
            <a:endParaRPr sz="2400">
              <a:latin typeface="Times New Roman"/>
              <a:ea typeface="Times New Roman"/>
              <a:cs typeface="Times New Roman"/>
              <a:sym typeface="Times New Roman"/>
            </a:endParaRPr>
          </a:p>
          <a:p>
            <a:pPr marL="0" indent="0" algn="just">
              <a:lnSpc>
                <a:spcPct val="100000"/>
              </a:lnSpc>
              <a:spcBef>
                <a:spcPts val="480"/>
              </a:spcBef>
              <a:buClr>
                <a:schemeClr val="dk1"/>
              </a:buClr>
              <a:buSzPts val="2400"/>
              <a:buNone/>
            </a:pPr>
            <a:endParaRPr sz="2400">
              <a:latin typeface="Times New Roman"/>
              <a:ea typeface="Times New Roman"/>
              <a:cs typeface="Times New Roman"/>
              <a:sym typeface="Times New Roman"/>
            </a:endParaRPr>
          </a:p>
          <a:p>
            <a:pPr marL="342900" indent="-190500" algn="just">
              <a:lnSpc>
                <a:spcPct val="100000"/>
              </a:lnSpc>
              <a:spcBef>
                <a:spcPts val="480"/>
              </a:spcBef>
              <a:buClr>
                <a:schemeClr val="dk1"/>
              </a:buClr>
              <a:buSzPts val="2400"/>
              <a:buNone/>
            </a:pPr>
            <a:endParaRPr sz="2400">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graphicFrame>
        <p:nvGraphicFramePr>
          <p:cNvPr id="193" name="Google Shape;193;p14"/>
          <p:cNvGraphicFramePr/>
          <p:nvPr/>
        </p:nvGraphicFramePr>
        <p:xfrm>
          <a:off x="3581400" y="1219200"/>
          <a:ext cx="4265950" cy="4846400"/>
        </p:xfrm>
        <a:graphic>
          <a:graphicData uri="http://schemas.openxmlformats.org/drawingml/2006/table">
            <a:tbl>
              <a:tblPr firstRow="1" bandRow="1">
                <a:noFill/>
              </a:tblPr>
              <a:tblGrid>
                <a:gridCol w="2132975">
                  <a:extLst>
                    <a:ext uri="{9D8B030D-6E8A-4147-A177-3AD203B41FA5}">
                      <a16:colId xmlns:a16="http://schemas.microsoft.com/office/drawing/2014/main" val="20000"/>
                    </a:ext>
                  </a:extLst>
                </a:gridCol>
                <a:gridCol w="2132975">
                  <a:extLst>
                    <a:ext uri="{9D8B030D-6E8A-4147-A177-3AD203B41FA5}">
                      <a16:colId xmlns:a16="http://schemas.microsoft.com/office/drawing/2014/main" val="20001"/>
                    </a:ext>
                  </a:extLst>
                </a:gridCol>
              </a:tblGrid>
              <a:tr h="365750">
                <a:tc>
                  <a:txBody>
                    <a:bodyPr/>
                    <a:lstStyle/>
                    <a:p>
                      <a:pPr marL="0" marR="0" lvl="0" indent="0" algn="l" rtl="0">
                        <a:lnSpc>
                          <a:spcPct val="100000"/>
                        </a:lnSpc>
                        <a:spcBef>
                          <a:spcPts val="0"/>
                        </a:spcBef>
                        <a:spcAft>
                          <a:spcPts val="0"/>
                        </a:spcAft>
                        <a:buClr>
                          <a:schemeClr val="dk1"/>
                        </a:buClr>
                        <a:buSzPts val="1800"/>
                        <a:buFont typeface="Arial"/>
                        <a:buNone/>
                      </a:pPr>
                      <a:r>
                        <a:rPr lang="en-US" sz="1800" u="none" strike="noStrike" cap="none"/>
                        <a:t>LOAN_NO</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chemeClr val="dk1"/>
                        </a:buClr>
                        <a:buSzPts val="1800"/>
                        <a:buFont typeface="Arial"/>
                        <a:buNone/>
                      </a:pPr>
                      <a:r>
                        <a:rPr lang="en-US" sz="1800" u="none" strike="noStrike" cap="none"/>
                        <a:t>AMOUNT</a:t>
                      </a:r>
                      <a:endParaRPr sz="1800" u="none" strike="noStrike" cap="none"/>
                    </a:p>
                  </a:txBody>
                  <a:tcPr marL="91450" marR="91450" marT="45725" marB="45725"/>
                </a:tc>
                <a:extLst>
                  <a:ext uri="{0D108BD9-81ED-4DB2-BD59-A6C34878D82A}">
                    <a16:rowId xmlns:a16="http://schemas.microsoft.com/office/drawing/2014/main" val="10000"/>
                  </a:ext>
                </a:extLst>
              </a:tr>
              <a:tr h="640075">
                <a:tc>
                  <a:txBody>
                    <a:bodyPr/>
                    <a:lstStyle/>
                    <a:p>
                      <a:pPr marL="0" marR="0" lvl="0" indent="0" algn="l" rtl="0">
                        <a:lnSpc>
                          <a:spcPct val="100000"/>
                        </a:lnSpc>
                        <a:spcBef>
                          <a:spcPts val="0"/>
                        </a:spcBef>
                        <a:spcAft>
                          <a:spcPts val="0"/>
                        </a:spcAft>
                        <a:buClr>
                          <a:schemeClr val="dk1"/>
                        </a:buClr>
                        <a:buSzPts val="1800"/>
                        <a:buFont typeface="Arial"/>
                        <a:buNone/>
                      </a:pPr>
                      <a:r>
                        <a:rPr lang="en-US" sz="1800" u="none" strike="noStrike" cap="none"/>
                        <a:t>L-17</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chemeClr val="dk1"/>
                        </a:buClr>
                        <a:buSzPts val="1800"/>
                        <a:buFont typeface="Arial"/>
                        <a:buNone/>
                      </a:pPr>
                      <a:r>
                        <a:rPr lang="en-US" sz="1800" u="none" strike="noStrike" cap="none"/>
                        <a:t>1000</a:t>
                      </a:r>
                      <a:endParaRPr sz="1800" u="none" strike="noStrike" cap="none"/>
                    </a:p>
                    <a:p>
                      <a:pPr marL="0" marR="0" lvl="0" indent="0" algn="l" rtl="0">
                        <a:lnSpc>
                          <a:spcPct val="100000"/>
                        </a:lnSpc>
                        <a:spcBef>
                          <a:spcPts val="0"/>
                        </a:spcBef>
                        <a:spcAft>
                          <a:spcPts val="0"/>
                        </a:spcAft>
                        <a:buClr>
                          <a:schemeClr val="dk1"/>
                        </a:buClr>
                        <a:buSzPts val="1800"/>
                        <a:buFont typeface="Arial"/>
                        <a:buNone/>
                      </a:pPr>
                      <a:endParaRPr sz="1800" u="none" strike="noStrike" cap="none"/>
                    </a:p>
                  </a:txBody>
                  <a:tcPr marL="91450" marR="91450" marT="45725" marB="45725"/>
                </a:tc>
                <a:extLst>
                  <a:ext uri="{0D108BD9-81ED-4DB2-BD59-A6C34878D82A}">
                    <a16:rowId xmlns:a16="http://schemas.microsoft.com/office/drawing/2014/main" val="10001"/>
                  </a:ext>
                </a:extLst>
              </a:tr>
              <a:tr h="640075">
                <a:tc>
                  <a:txBody>
                    <a:bodyPr/>
                    <a:lstStyle/>
                    <a:p>
                      <a:pPr marL="0" marR="0" lvl="0" indent="0" algn="l" rtl="0">
                        <a:lnSpc>
                          <a:spcPct val="100000"/>
                        </a:lnSpc>
                        <a:spcBef>
                          <a:spcPts val="0"/>
                        </a:spcBef>
                        <a:spcAft>
                          <a:spcPts val="0"/>
                        </a:spcAft>
                        <a:buClr>
                          <a:schemeClr val="dk1"/>
                        </a:buClr>
                        <a:buSzPts val="1800"/>
                        <a:buFont typeface="Arial"/>
                        <a:buNone/>
                      </a:pPr>
                      <a:r>
                        <a:rPr lang="en-US" sz="1800" u="none" strike="noStrike" cap="none"/>
                        <a:t>L-23</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chemeClr val="dk1"/>
                        </a:buClr>
                        <a:buSzPts val="1800"/>
                        <a:buFont typeface="Arial"/>
                        <a:buNone/>
                      </a:pPr>
                      <a:r>
                        <a:rPr lang="en-US" sz="1800" u="none" strike="noStrike" cap="none"/>
                        <a:t>2000</a:t>
                      </a:r>
                      <a:endParaRPr sz="1800" u="none" strike="noStrike" cap="none"/>
                    </a:p>
                    <a:p>
                      <a:pPr marL="0" marR="0" lvl="0" indent="0" algn="l" rtl="0">
                        <a:lnSpc>
                          <a:spcPct val="100000"/>
                        </a:lnSpc>
                        <a:spcBef>
                          <a:spcPts val="0"/>
                        </a:spcBef>
                        <a:spcAft>
                          <a:spcPts val="0"/>
                        </a:spcAft>
                        <a:buClr>
                          <a:schemeClr val="dk1"/>
                        </a:buClr>
                        <a:buSzPts val="1800"/>
                        <a:buFont typeface="Arial"/>
                        <a:buNone/>
                      </a:pPr>
                      <a:endParaRPr sz="1800" u="none" strike="noStrike" cap="none"/>
                    </a:p>
                  </a:txBody>
                  <a:tcPr marL="91450" marR="91450" marT="45725" marB="45725"/>
                </a:tc>
                <a:extLst>
                  <a:ext uri="{0D108BD9-81ED-4DB2-BD59-A6C34878D82A}">
                    <a16:rowId xmlns:a16="http://schemas.microsoft.com/office/drawing/2014/main" val="10002"/>
                  </a:ext>
                </a:extLst>
              </a:tr>
              <a:tr h="640075">
                <a:tc>
                  <a:txBody>
                    <a:bodyPr/>
                    <a:lstStyle/>
                    <a:p>
                      <a:pPr marL="0" marR="0" lvl="0" indent="0" algn="l" rtl="0">
                        <a:lnSpc>
                          <a:spcPct val="100000"/>
                        </a:lnSpc>
                        <a:spcBef>
                          <a:spcPts val="0"/>
                        </a:spcBef>
                        <a:spcAft>
                          <a:spcPts val="0"/>
                        </a:spcAft>
                        <a:buClr>
                          <a:schemeClr val="dk1"/>
                        </a:buClr>
                        <a:buSzPts val="1800"/>
                        <a:buFont typeface="Arial"/>
                        <a:buNone/>
                      </a:pPr>
                      <a:r>
                        <a:rPr lang="en-US" sz="1800" u="none" strike="noStrike" cap="none"/>
                        <a:t>L-15</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chemeClr val="dk1"/>
                        </a:buClr>
                        <a:buSzPts val="1800"/>
                        <a:buFont typeface="Arial"/>
                        <a:buNone/>
                      </a:pPr>
                      <a:r>
                        <a:rPr lang="en-US" sz="1800" u="none" strike="noStrike" cap="none"/>
                        <a:t>1500</a:t>
                      </a:r>
                      <a:endParaRPr sz="1800" u="none" strike="noStrike" cap="none"/>
                    </a:p>
                    <a:p>
                      <a:pPr marL="0" marR="0" lvl="0" indent="0" algn="l" rtl="0">
                        <a:lnSpc>
                          <a:spcPct val="100000"/>
                        </a:lnSpc>
                        <a:spcBef>
                          <a:spcPts val="0"/>
                        </a:spcBef>
                        <a:spcAft>
                          <a:spcPts val="0"/>
                        </a:spcAft>
                        <a:buClr>
                          <a:schemeClr val="dk1"/>
                        </a:buClr>
                        <a:buSzPts val="1800"/>
                        <a:buFont typeface="Arial"/>
                        <a:buNone/>
                      </a:pPr>
                      <a:endParaRPr sz="1800" u="none" strike="noStrike" cap="none"/>
                    </a:p>
                  </a:txBody>
                  <a:tcPr marL="91450" marR="91450" marT="45725" marB="45725"/>
                </a:tc>
                <a:extLst>
                  <a:ext uri="{0D108BD9-81ED-4DB2-BD59-A6C34878D82A}">
                    <a16:rowId xmlns:a16="http://schemas.microsoft.com/office/drawing/2014/main" val="10003"/>
                  </a:ext>
                </a:extLst>
              </a:tr>
              <a:tr h="640075">
                <a:tc>
                  <a:txBody>
                    <a:bodyPr/>
                    <a:lstStyle/>
                    <a:p>
                      <a:pPr marL="0" marR="0" lvl="0" indent="0" algn="l" rtl="0">
                        <a:lnSpc>
                          <a:spcPct val="100000"/>
                        </a:lnSpc>
                        <a:spcBef>
                          <a:spcPts val="0"/>
                        </a:spcBef>
                        <a:spcAft>
                          <a:spcPts val="0"/>
                        </a:spcAft>
                        <a:buClr>
                          <a:schemeClr val="dk1"/>
                        </a:buClr>
                        <a:buSzPts val="1800"/>
                        <a:buFont typeface="Arial"/>
                        <a:buNone/>
                      </a:pPr>
                      <a:r>
                        <a:rPr lang="en-US" sz="1800" u="none" strike="noStrike" cap="none"/>
                        <a:t>L-14</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chemeClr val="dk1"/>
                        </a:buClr>
                        <a:buSzPts val="1800"/>
                        <a:buFont typeface="Arial"/>
                        <a:buNone/>
                      </a:pPr>
                      <a:r>
                        <a:rPr lang="en-US" sz="1800" u="none" strike="noStrike" cap="none"/>
                        <a:t>1500</a:t>
                      </a:r>
                      <a:endParaRPr sz="1800" u="none" strike="noStrike" cap="none"/>
                    </a:p>
                    <a:p>
                      <a:pPr marL="0" marR="0" lvl="0" indent="0" algn="l" rtl="0">
                        <a:lnSpc>
                          <a:spcPct val="100000"/>
                        </a:lnSpc>
                        <a:spcBef>
                          <a:spcPts val="0"/>
                        </a:spcBef>
                        <a:spcAft>
                          <a:spcPts val="0"/>
                        </a:spcAft>
                        <a:buClr>
                          <a:schemeClr val="dk1"/>
                        </a:buClr>
                        <a:buSzPts val="1800"/>
                        <a:buFont typeface="Arial"/>
                        <a:buNone/>
                      </a:pPr>
                      <a:endParaRPr sz="1800" u="none" strike="noStrike" cap="none"/>
                    </a:p>
                  </a:txBody>
                  <a:tcPr marL="91450" marR="91450" marT="45725" marB="45725"/>
                </a:tc>
                <a:extLst>
                  <a:ext uri="{0D108BD9-81ED-4DB2-BD59-A6C34878D82A}">
                    <a16:rowId xmlns:a16="http://schemas.microsoft.com/office/drawing/2014/main" val="10004"/>
                  </a:ext>
                </a:extLst>
              </a:tr>
              <a:tr h="640075">
                <a:tc>
                  <a:txBody>
                    <a:bodyPr/>
                    <a:lstStyle/>
                    <a:p>
                      <a:pPr marL="0" marR="0" lvl="0" indent="0" algn="l" rtl="0">
                        <a:lnSpc>
                          <a:spcPct val="100000"/>
                        </a:lnSpc>
                        <a:spcBef>
                          <a:spcPts val="0"/>
                        </a:spcBef>
                        <a:spcAft>
                          <a:spcPts val="0"/>
                        </a:spcAft>
                        <a:buClr>
                          <a:schemeClr val="dk1"/>
                        </a:buClr>
                        <a:buSzPts val="1800"/>
                        <a:buFont typeface="Arial"/>
                        <a:buNone/>
                      </a:pPr>
                      <a:r>
                        <a:rPr lang="en-US" sz="1800" u="none" strike="noStrike" cap="none"/>
                        <a:t>L-13</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chemeClr val="dk1"/>
                        </a:buClr>
                        <a:buSzPts val="1800"/>
                        <a:buFont typeface="Arial"/>
                        <a:buNone/>
                      </a:pPr>
                      <a:r>
                        <a:rPr lang="en-US" sz="1800" u="none" strike="noStrike" cap="none"/>
                        <a:t>500</a:t>
                      </a:r>
                      <a:endParaRPr sz="1800" u="none" strike="noStrike" cap="none"/>
                    </a:p>
                    <a:p>
                      <a:pPr marL="0" marR="0" lvl="0" indent="0" algn="l" rtl="0">
                        <a:lnSpc>
                          <a:spcPct val="100000"/>
                        </a:lnSpc>
                        <a:spcBef>
                          <a:spcPts val="0"/>
                        </a:spcBef>
                        <a:spcAft>
                          <a:spcPts val="0"/>
                        </a:spcAft>
                        <a:buClr>
                          <a:schemeClr val="dk1"/>
                        </a:buClr>
                        <a:buSzPts val="1800"/>
                        <a:buFont typeface="Arial"/>
                        <a:buNone/>
                      </a:pPr>
                      <a:endParaRPr sz="1800" u="none" strike="noStrike" cap="none"/>
                    </a:p>
                  </a:txBody>
                  <a:tcPr marL="91450" marR="91450" marT="45725" marB="45725"/>
                </a:tc>
                <a:extLst>
                  <a:ext uri="{0D108BD9-81ED-4DB2-BD59-A6C34878D82A}">
                    <a16:rowId xmlns:a16="http://schemas.microsoft.com/office/drawing/2014/main" val="10005"/>
                  </a:ext>
                </a:extLst>
              </a:tr>
              <a:tr h="640075">
                <a:tc>
                  <a:txBody>
                    <a:bodyPr/>
                    <a:lstStyle/>
                    <a:p>
                      <a:pPr marL="0" marR="0" lvl="0" indent="0" algn="l" rtl="0">
                        <a:lnSpc>
                          <a:spcPct val="100000"/>
                        </a:lnSpc>
                        <a:spcBef>
                          <a:spcPts val="0"/>
                        </a:spcBef>
                        <a:spcAft>
                          <a:spcPts val="0"/>
                        </a:spcAft>
                        <a:buClr>
                          <a:schemeClr val="dk1"/>
                        </a:buClr>
                        <a:buSzPts val="1800"/>
                        <a:buFont typeface="Arial"/>
                        <a:buNone/>
                      </a:pPr>
                      <a:r>
                        <a:rPr lang="en-US" sz="1800" u="none" strike="noStrike" cap="none"/>
                        <a:t>L-11</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chemeClr val="dk1"/>
                        </a:buClr>
                        <a:buSzPts val="1800"/>
                        <a:buFont typeface="Arial"/>
                        <a:buNone/>
                      </a:pPr>
                      <a:r>
                        <a:rPr lang="en-US" sz="1800" u="none" strike="noStrike" cap="none"/>
                        <a:t>900</a:t>
                      </a:r>
                      <a:endParaRPr sz="1800" u="none" strike="noStrike" cap="none"/>
                    </a:p>
                    <a:p>
                      <a:pPr marL="0" marR="0" lvl="0" indent="0" algn="l" rtl="0">
                        <a:lnSpc>
                          <a:spcPct val="100000"/>
                        </a:lnSpc>
                        <a:spcBef>
                          <a:spcPts val="0"/>
                        </a:spcBef>
                        <a:spcAft>
                          <a:spcPts val="0"/>
                        </a:spcAft>
                        <a:buClr>
                          <a:schemeClr val="dk1"/>
                        </a:buClr>
                        <a:buSzPts val="1800"/>
                        <a:buFont typeface="Arial"/>
                        <a:buNone/>
                      </a:pPr>
                      <a:endParaRPr sz="1800" u="none" strike="noStrike" cap="none"/>
                    </a:p>
                  </a:txBody>
                  <a:tcPr marL="91450" marR="91450" marT="45725" marB="45725"/>
                </a:tc>
                <a:extLst>
                  <a:ext uri="{0D108BD9-81ED-4DB2-BD59-A6C34878D82A}">
                    <a16:rowId xmlns:a16="http://schemas.microsoft.com/office/drawing/2014/main" val="10006"/>
                  </a:ext>
                </a:extLst>
              </a:tr>
              <a:tr h="640075">
                <a:tc>
                  <a:txBody>
                    <a:bodyPr/>
                    <a:lstStyle/>
                    <a:p>
                      <a:pPr marL="0" marR="0" lvl="0" indent="0" algn="l" rtl="0">
                        <a:lnSpc>
                          <a:spcPct val="100000"/>
                        </a:lnSpc>
                        <a:spcBef>
                          <a:spcPts val="0"/>
                        </a:spcBef>
                        <a:spcAft>
                          <a:spcPts val="0"/>
                        </a:spcAft>
                        <a:buClr>
                          <a:schemeClr val="dk1"/>
                        </a:buClr>
                        <a:buSzPts val="1800"/>
                        <a:buFont typeface="Arial"/>
                        <a:buNone/>
                      </a:pPr>
                      <a:r>
                        <a:rPr lang="en-US" sz="1800" u="none" strike="noStrike" cap="none"/>
                        <a:t>L-16</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Clr>
                          <a:schemeClr val="dk1"/>
                        </a:buClr>
                        <a:buSzPts val="1800"/>
                        <a:buFont typeface="Arial"/>
                        <a:buNone/>
                      </a:pPr>
                      <a:r>
                        <a:rPr lang="en-US" sz="1800" u="none" strike="noStrike" cap="none"/>
                        <a:t>1300</a:t>
                      </a:r>
                      <a:endParaRPr sz="1800" u="none" strike="noStrike" cap="none"/>
                    </a:p>
                    <a:p>
                      <a:pPr marL="0" marR="0" lvl="0" indent="0" algn="l" rtl="0">
                        <a:lnSpc>
                          <a:spcPct val="100000"/>
                        </a:lnSpc>
                        <a:spcBef>
                          <a:spcPts val="0"/>
                        </a:spcBef>
                        <a:spcAft>
                          <a:spcPts val="0"/>
                        </a:spcAft>
                        <a:buClr>
                          <a:schemeClr val="dk1"/>
                        </a:buClr>
                        <a:buSzPts val="1800"/>
                        <a:buFont typeface="Arial"/>
                        <a:buNone/>
                      </a:pPr>
                      <a:endParaRPr sz="1800" u="none" strike="noStrike" cap="none"/>
                    </a:p>
                  </a:txBody>
                  <a:tcPr marL="91450" marR="91450" marT="45725" marB="45725"/>
                </a:tc>
                <a:extLst>
                  <a:ext uri="{0D108BD9-81ED-4DB2-BD59-A6C34878D82A}">
                    <a16:rowId xmlns:a16="http://schemas.microsoft.com/office/drawing/2014/main" val="10007"/>
                  </a:ext>
                </a:extLst>
              </a:tr>
            </a:tbl>
          </a:graphicData>
        </a:graphic>
      </p:graphicFrame>
      <p:sp>
        <p:nvSpPr>
          <p:cNvPr id="194" name="Google Shape;194;p14"/>
          <p:cNvSpPr txBox="1"/>
          <p:nvPr/>
        </p:nvSpPr>
        <p:spPr>
          <a:xfrm>
            <a:off x="1676401" y="76201"/>
            <a:ext cx="8895715" cy="829945"/>
          </a:xfrm>
          <a:prstGeom prst="rect">
            <a:avLst/>
          </a:prstGeom>
          <a:noFill/>
          <a:ln>
            <a:noFill/>
          </a:ln>
        </p:spPr>
        <p:txBody>
          <a:bodyPr spcFirstLastPara="1" wrap="square" lIns="91425" tIns="45700" rIns="91425" bIns="45700" anchor="t" anchorCtr="0">
            <a:spAutoFit/>
          </a:bodyPr>
          <a:lstStyle/>
          <a:p>
            <a:pPr algn="just"/>
            <a:r>
              <a:rPr lang="en-US" sz="2400">
                <a:solidFill>
                  <a:schemeClr val="dk1"/>
                </a:solidFill>
                <a:latin typeface="Times New Roman"/>
                <a:ea typeface="Times New Roman"/>
                <a:cs typeface="Times New Roman"/>
                <a:sym typeface="Times New Roman"/>
              </a:rPr>
              <a:t>Write the query to list all loan numbers and the amount of the loan.</a:t>
            </a:r>
            <a:endParaRPr sz="2400">
              <a:solidFill>
                <a:schemeClr val="dk1"/>
              </a:solidFill>
              <a:latin typeface="Times New Roman"/>
              <a:ea typeface="Times New Roman"/>
              <a:cs typeface="Times New Roman"/>
              <a:sym typeface="Times New Roman"/>
            </a:endParaRPr>
          </a:p>
          <a:p>
            <a:pPr algn="ctr">
              <a:buClr>
                <a:schemeClr val="dk1"/>
              </a:buClr>
              <a:buSzPts val="2400"/>
            </a:pPr>
            <a:r>
              <a:rPr lang="en-US" sz="2400">
                <a:solidFill>
                  <a:schemeClr val="dk1"/>
                </a:solidFill>
                <a:latin typeface="Times New Roman"/>
                <a:ea typeface="Times New Roman"/>
                <a:cs typeface="Times New Roman"/>
                <a:sym typeface="Times New Roman"/>
              </a:rPr>
              <a:t>Π</a:t>
            </a:r>
            <a:r>
              <a:rPr lang="en-US" sz="2400" baseline="-25000">
                <a:solidFill>
                  <a:schemeClr val="dk1"/>
                </a:solidFill>
                <a:latin typeface="Times New Roman"/>
                <a:ea typeface="Times New Roman"/>
                <a:cs typeface="Times New Roman"/>
                <a:sym typeface="Times New Roman"/>
              </a:rPr>
              <a:t>loan-number, amount</a:t>
            </a:r>
            <a:r>
              <a:rPr lang="en-US" sz="2400">
                <a:solidFill>
                  <a:schemeClr val="dk1"/>
                </a:solidFill>
                <a:latin typeface="Times New Roman"/>
                <a:ea typeface="Times New Roman"/>
                <a:cs typeface="Times New Roman"/>
                <a:sym typeface="Times New Roman"/>
              </a:rPr>
              <a:t>(loan)</a:t>
            </a:r>
            <a:endParaRPr sz="2400">
              <a:solidFill>
                <a:schemeClr val="dk1"/>
              </a:solidFill>
              <a:latin typeface="Times New Roman"/>
              <a:ea typeface="Times New Roman"/>
              <a:cs typeface="Times New Roman"/>
              <a:sym typeface="Times New Roman"/>
            </a:endParaRPr>
          </a:p>
        </p:txBody>
      </p:sp>
      <p:sp>
        <p:nvSpPr>
          <p:cNvPr id="195" name="Google Shape;195;p14"/>
          <p:cNvSpPr/>
          <p:nvPr/>
        </p:nvSpPr>
        <p:spPr>
          <a:xfrm>
            <a:off x="7924800" y="5113655"/>
            <a:ext cx="485140" cy="113030"/>
          </a:xfrm>
          <a:prstGeom prst="leftArrow">
            <a:avLst>
              <a:gd name="adj1" fmla="val 50000"/>
              <a:gd name="adj2" fmla="val 50000"/>
            </a:avLst>
          </a:prstGeom>
          <a:solidFill>
            <a:schemeClr val="accent1"/>
          </a:solidFill>
          <a:ln w="12700" cap="flat" cmpd="sng">
            <a:solidFill>
              <a:srgbClr val="2B88E5"/>
            </a:solidFill>
            <a:prstDash val="solid"/>
            <a:miter lim="800000"/>
            <a:headEnd type="none" w="sm" len="sm"/>
            <a:tailEnd type="none" w="sm" len="sm"/>
          </a:ln>
        </p:spPr>
        <p:txBody>
          <a:bodyPr spcFirstLastPara="1" wrap="square" lIns="91425" tIns="45700" rIns="91425" bIns="45700" anchor="ctr" anchorCtr="0">
            <a:noAutofit/>
          </a:bodyPr>
          <a:lstStyle/>
          <a:p>
            <a:pPr algn="ctr"/>
            <a:endParaRPr>
              <a:solidFill>
                <a:schemeClr val="lt1"/>
              </a:solidFill>
              <a:latin typeface="Arial"/>
              <a:ea typeface="Arial"/>
              <a:cs typeface="Arial"/>
              <a:sym typeface="Arial"/>
            </a:endParaRPr>
          </a:p>
        </p:txBody>
      </p:sp>
      <p:sp>
        <p:nvSpPr>
          <p:cNvPr id="196" name="Google Shape;196;p14"/>
          <p:cNvSpPr txBox="1"/>
          <p:nvPr/>
        </p:nvSpPr>
        <p:spPr>
          <a:xfrm>
            <a:off x="8486776" y="4419600"/>
            <a:ext cx="1979295" cy="1754286"/>
          </a:xfrm>
          <a:prstGeom prst="rect">
            <a:avLst/>
          </a:prstGeom>
          <a:noFill/>
          <a:ln>
            <a:noFill/>
          </a:ln>
        </p:spPr>
        <p:txBody>
          <a:bodyPr spcFirstLastPara="1" wrap="square" lIns="91425" tIns="45700" rIns="91425" bIns="45700" anchor="t" anchorCtr="0">
            <a:spAutoFit/>
          </a:bodyPr>
          <a:lstStyle/>
          <a:p>
            <a:r>
              <a:rPr lang="en-US">
                <a:solidFill>
                  <a:schemeClr val="dk1"/>
                </a:solidFill>
                <a:latin typeface="Arial"/>
                <a:ea typeface="Arial"/>
                <a:cs typeface="Arial"/>
                <a:sym typeface="Arial"/>
              </a:rPr>
              <a:t>L-11in relation are Two times but here  it shows only one time means distinct value</a:t>
            </a:r>
            <a:endParaRPr>
              <a:solidFill>
                <a:schemeClr val="dk1"/>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15"/>
          <p:cNvSpPr txBox="1">
            <a:spLocks noGrp="1"/>
          </p:cNvSpPr>
          <p:nvPr>
            <p:ph type="title"/>
          </p:nvPr>
        </p:nvSpPr>
        <p:spPr>
          <a:xfrm>
            <a:off x="1981200" y="76200"/>
            <a:ext cx="8229600" cy="539750"/>
          </a:xfrm>
          <a:prstGeom prst="rect">
            <a:avLst/>
          </a:prstGeom>
          <a:noFill/>
          <a:ln>
            <a:noFill/>
          </a:ln>
        </p:spPr>
        <p:txBody>
          <a:bodyPr spcFirstLastPara="1" vert="horz" wrap="square" lIns="91425" tIns="45700" rIns="91425" bIns="45700" rtlCol="0" anchor="ctr" anchorCtr="0">
            <a:normAutofit fontScale="90000"/>
          </a:bodyPr>
          <a:lstStyle/>
          <a:p>
            <a:pPr algn="ctr">
              <a:lnSpc>
                <a:spcPct val="100000"/>
              </a:lnSpc>
              <a:spcBef>
                <a:spcPts val="0"/>
              </a:spcBef>
              <a:buClr>
                <a:schemeClr val="dk2"/>
              </a:buClr>
              <a:buSzPct val="100000"/>
            </a:pPr>
            <a:r>
              <a:rPr lang="en-US" b="1">
                <a:latin typeface="Times New Roman"/>
                <a:ea typeface="Times New Roman"/>
                <a:cs typeface="Times New Roman"/>
                <a:sym typeface="Times New Roman"/>
              </a:rPr>
              <a:t>Project Operation..........</a:t>
            </a:r>
            <a:endParaRPr b="1">
              <a:latin typeface="Times New Roman"/>
              <a:ea typeface="Times New Roman"/>
              <a:cs typeface="Times New Roman"/>
              <a:sym typeface="Times New Roman"/>
            </a:endParaRPr>
          </a:p>
        </p:txBody>
      </p:sp>
      <p:sp>
        <p:nvSpPr>
          <p:cNvPr id="202" name="Google Shape;202;p15"/>
          <p:cNvSpPr txBox="1">
            <a:spLocks noGrp="1"/>
          </p:cNvSpPr>
          <p:nvPr>
            <p:ph type="body" idx="1"/>
          </p:nvPr>
        </p:nvSpPr>
        <p:spPr>
          <a:xfrm>
            <a:off x="1752600" y="762001"/>
            <a:ext cx="8229600" cy="4525963"/>
          </a:xfrm>
          <a:prstGeom prst="rect">
            <a:avLst/>
          </a:prstGeom>
          <a:noFill/>
          <a:ln>
            <a:noFill/>
          </a:ln>
        </p:spPr>
        <p:txBody>
          <a:bodyPr spcFirstLastPara="1" vert="horz" wrap="square" lIns="91425" tIns="45700" rIns="91425" bIns="45700" rtlCol="0" anchor="t" anchorCtr="0">
            <a:normAutofit/>
          </a:bodyPr>
          <a:lstStyle/>
          <a:p>
            <a:pPr marL="342900" indent="-190500" algn="just">
              <a:lnSpc>
                <a:spcPct val="100000"/>
              </a:lnSpc>
              <a:spcBef>
                <a:spcPts val="0"/>
              </a:spcBef>
              <a:buClr>
                <a:schemeClr val="dk1"/>
              </a:buClr>
              <a:buSzPts val="2400"/>
              <a:buNone/>
            </a:pPr>
            <a:endParaRPr sz="2400">
              <a:latin typeface="Times New Roman"/>
              <a:ea typeface="Times New Roman"/>
              <a:cs typeface="Times New Roman"/>
              <a:sym typeface="Times New Roman"/>
            </a:endParaRPr>
          </a:p>
          <a:p>
            <a:pPr marL="342900" indent="-342900" algn="just">
              <a:lnSpc>
                <a:spcPct val="100000"/>
              </a:lnSpc>
              <a:spcBef>
                <a:spcPts val="480"/>
              </a:spcBef>
              <a:buClr>
                <a:schemeClr val="dk1"/>
              </a:buClr>
              <a:buSzPts val="2400"/>
              <a:buFont typeface="Times New Roman"/>
              <a:buChar char="•"/>
            </a:pPr>
            <a:r>
              <a:rPr lang="en-US" sz="2400" b="1">
                <a:latin typeface="Times New Roman"/>
                <a:ea typeface="Times New Roman"/>
                <a:cs typeface="Times New Roman"/>
                <a:sym typeface="Times New Roman"/>
              </a:rPr>
              <a:t>if we have  relation borrower and depositor</a:t>
            </a:r>
            <a:endParaRPr sz="2400" b="1">
              <a:latin typeface="Times New Roman"/>
              <a:ea typeface="Times New Roman"/>
              <a:cs typeface="Times New Roman"/>
              <a:sym typeface="Times New Roman"/>
            </a:endParaRPr>
          </a:p>
          <a:p>
            <a:pPr marL="342900" indent="-342900" algn="just">
              <a:lnSpc>
                <a:spcPct val="100000"/>
              </a:lnSpc>
              <a:spcBef>
                <a:spcPts val="480"/>
              </a:spcBef>
              <a:buClr>
                <a:schemeClr val="dk1"/>
              </a:buClr>
              <a:buSzPts val="2400"/>
              <a:buFont typeface="Times New Roman"/>
              <a:buChar char="•"/>
            </a:pPr>
            <a:r>
              <a:rPr lang="en-US" sz="2400">
                <a:latin typeface="Times New Roman"/>
                <a:ea typeface="Times New Roman"/>
                <a:cs typeface="Times New Roman"/>
                <a:sym typeface="Times New Roman"/>
              </a:rPr>
              <a:t>Find the names of all customers with a loan in the bank.</a:t>
            </a:r>
            <a:endParaRPr sz="2400">
              <a:latin typeface="Times New Roman"/>
              <a:ea typeface="Times New Roman"/>
              <a:cs typeface="Times New Roman"/>
              <a:sym typeface="Times New Roman"/>
            </a:endParaRPr>
          </a:p>
          <a:p>
            <a:pPr marL="342900" indent="-190500" algn="just">
              <a:lnSpc>
                <a:spcPct val="100000"/>
              </a:lnSpc>
              <a:spcBef>
                <a:spcPts val="480"/>
              </a:spcBef>
              <a:buClr>
                <a:schemeClr val="dk1"/>
              </a:buClr>
              <a:buSzPts val="2400"/>
              <a:buNone/>
            </a:pPr>
            <a:endParaRPr sz="2400">
              <a:latin typeface="Times New Roman"/>
              <a:ea typeface="Times New Roman"/>
              <a:cs typeface="Times New Roman"/>
              <a:sym typeface="Times New Roman"/>
            </a:endParaRPr>
          </a:p>
          <a:p>
            <a:pPr marL="342900" indent="-342900" algn="ctr">
              <a:lnSpc>
                <a:spcPct val="100000"/>
              </a:lnSpc>
              <a:spcBef>
                <a:spcPts val="480"/>
              </a:spcBef>
              <a:buClr>
                <a:schemeClr val="dk1"/>
              </a:buClr>
              <a:buSzPts val="2400"/>
              <a:buNone/>
            </a:pPr>
            <a:r>
              <a:rPr lang="en-US" sz="2400">
                <a:latin typeface="Times New Roman"/>
                <a:ea typeface="Times New Roman"/>
                <a:cs typeface="Times New Roman"/>
                <a:sym typeface="Times New Roman"/>
              </a:rPr>
              <a:t>Π</a:t>
            </a:r>
            <a:r>
              <a:rPr lang="en-US" sz="2400" baseline="-25000">
                <a:latin typeface="Times New Roman"/>
                <a:ea typeface="Times New Roman"/>
                <a:cs typeface="Times New Roman"/>
                <a:sym typeface="Times New Roman"/>
              </a:rPr>
              <a:t>customer_name</a:t>
            </a:r>
            <a:r>
              <a:rPr lang="en-US" sz="2400">
                <a:latin typeface="Times New Roman"/>
                <a:ea typeface="Times New Roman"/>
                <a:cs typeface="Times New Roman"/>
                <a:sym typeface="Times New Roman"/>
              </a:rPr>
              <a:t>(borrower )</a:t>
            </a:r>
            <a:endParaRPr sz="2400">
              <a:latin typeface="Times New Roman"/>
              <a:ea typeface="Times New Roman"/>
              <a:cs typeface="Times New Roman"/>
              <a:sym typeface="Times New Roman"/>
            </a:endParaRPr>
          </a:p>
          <a:p>
            <a:pPr marL="342900" indent="-342900" algn="ctr">
              <a:lnSpc>
                <a:spcPct val="100000"/>
              </a:lnSpc>
              <a:spcBef>
                <a:spcPts val="480"/>
              </a:spcBef>
              <a:buClr>
                <a:schemeClr val="dk1"/>
              </a:buClr>
              <a:buSzPts val="2400"/>
              <a:buNone/>
            </a:pPr>
            <a:endParaRPr sz="2400">
              <a:latin typeface="Times New Roman"/>
              <a:ea typeface="Times New Roman"/>
              <a:cs typeface="Times New Roman"/>
              <a:sym typeface="Times New Roman"/>
            </a:endParaRPr>
          </a:p>
          <a:p>
            <a:pPr marL="342900" indent="-342900" algn="just">
              <a:lnSpc>
                <a:spcPct val="100000"/>
              </a:lnSpc>
              <a:spcBef>
                <a:spcPts val="480"/>
              </a:spcBef>
              <a:buClr>
                <a:schemeClr val="dk1"/>
              </a:buClr>
              <a:buSzPts val="2400"/>
              <a:buFont typeface="Times New Roman"/>
              <a:buChar char="•"/>
            </a:pPr>
            <a:r>
              <a:rPr lang="en-US" sz="2400">
                <a:latin typeface="Times New Roman"/>
                <a:ea typeface="Times New Roman"/>
                <a:cs typeface="Times New Roman"/>
                <a:sym typeface="Times New Roman"/>
              </a:rPr>
              <a:t>Find the names of all customers with an account in the bank.</a:t>
            </a:r>
            <a:endParaRPr sz="2400">
              <a:latin typeface="Times New Roman"/>
              <a:ea typeface="Times New Roman"/>
              <a:cs typeface="Times New Roman"/>
              <a:sym typeface="Times New Roman"/>
            </a:endParaRPr>
          </a:p>
          <a:p>
            <a:pPr marL="342900" indent="-190500" algn="just">
              <a:lnSpc>
                <a:spcPct val="100000"/>
              </a:lnSpc>
              <a:spcBef>
                <a:spcPts val="480"/>
              </a:spcBef>
              <a:buClr>
                <a:schemeClr val="dk1"/>
              </a:buClr>
              <a:buSzPts val="2400"/>
              <a:buNone/>
            </a:pPr>
            <a:endParaRPr sz="2400">
              <a:latin typeface="Times New Roman"/>
              <a:ea typeface="Times New Roman"/>
              <a:cs typeface="Times New Roman"/>
              <a:sym typeface="Times New Roman"/>
            </a:endParaRPr>
          </a:p>
          <a:p>
            <a:pPr marL="342900" indent="-342900" algn="ctr">
              <a:lnSpc>
                <a:spcPct val="100000"/>
              </a:lnSpc>
              <a:spcBef>
                <a:spcPts val="480"/>
              </a:spcBef>
              <a:buClr>
                <a:schemeClr val="dk1"/>
              </a:buClr>
              <a:buSzPts val="2400"/>
              <a:buNone/>
            </a:pPr>
            <a:r>
              <a:rPr lang="en-US" sz="2400">
                <a:latin typeface="Times New Roman"/>
                <a:ea typeface="Times New Roman"/>
                <a:cs typeface="Times New Roman"/>
                <a:sym typeface="Times New Roman"/>
              </a:rPr>
              <a:t>Π</a:t>
            </a:r>
            <a:r>
              <a:rPr lang="en-US" sz="2400" baseline="-25000">
                <a:latin typeface="Times New Roman"/>
                <a:ea typeface="Times New Roman"/>
                <a:cs typeface="Times New Roman"/>
                <a:sym typeface="Times New Roman"/>
              </a:rPr>
              <a:t>customer_name</a:t>
            </a:r>
            <a:r>
              <a:rPr lang="en-US" sz="2400">
                <a:latin typeface="Times New Roman"/>
                <a:ea typeface="Times New Roman"/>
                <a:cs typeface="Times New Roman"/>
                <a:sym typeface="Times New Roman"/>
              </a:rPr>
              <a:t>(depositor)</a:t>
            </a:r>
            <a:endParaRPr sz="2400">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16"/>
          <p:cNvSpPr txBox="1">
            <a:spLocks noGrp="1"/>
          </p:cNvSpPr>
          <p:nvPr>
            <p:ph type="title"/>
          </p:nvPr>
        </p:nvSpPr>
        <p:spPr>
          <a:xfrm>
            <a:off x="2209800" y="0"/>
            <a:ext cx="7772400" cy="1143000"/>
          </a:xfrm>
          <a:prstGeom prst="rect">
            <a:avLst/>
          </a:prstGeom>
          <a:noFill/>
          <a:ln>
            <a:noFill/>
          </a:ln>
        </p:spPr>
        <p:txBody>
          <a:bodyPr spcFirstLastPara="1" vert="horz" wrap="square" lIns="91425" tIns="45700" rIns="91425" bIns="45700" rtlCol="0" anchor="ctr" anchorCtr="0">
            <a:noAutofit/>
          </a:bodyPr>
          <a:lstStyle/>
          <a:p>
            <a:pPr algn="ctr">
              <a:lnSpc>
                <a:spcPct val="100000"/>
              </a:lnSpc>
              <a:spcBef>
                <a:spcPts val="0"/>
              </a:spcBef>
              <a:buClr>
                <a:schemeClr val="dk2"/>
              </a:buClr>
              <a:buSzPts val="2800"/>
            </a:pPr>
            <a:r>
              <a:rPr lang="en-US" sz="2800"/>
              <a:t>Project Operation – Example</a:t>
            </a:r>
            <a:endParaRPr sz="2800"/>
          </a:p>
        </p:txBody>
      </p:sp>
      <p:sp>
        <p:nvSpPr>
          <p:cNvPr id="208" name="Google Shape;208;p16"/>
          <p:cNvSpPr txBox="1">
            <a:spLocks noGrp="1"/>
          </p:cNvSpPr>
          <p:nvPr>
            <p:ph type="body" idx="1"/>
          </p:nvPr>
        </p:nvSpPr>
        <p:spPr>
          <a:xfrm>
            <a:off x="2303464" y="2495551"/>
            <a:ext cx="6961187" cy="346075"/>
          </a:xfrm>
          <a:prstGeom prst="rect">
            <a:avLst/>
          </a:prstGeom>
          <a:noFill/>
          <a:ln>
            <a:noFill/>
          </a:ln>
        </p:spPr>
        <p:txBody>
          <a:bodyPr spcFirstLastPara="1" vert="horz" wrap="square" lIns="91425" tIns="45700" rIns="91425" bIns="45700" rtlCol="0" anchor="t" anchorCtr="0">
            <a:noAutofit/>
          </a:bodyPr>
          <a:lstStyle/>
          <a:p>
            <a:pPr marL="342900" indent="-342900">
              <a:spcBef>
                <a:spcPts val="0"/>
              </a:spcBef>
              <a:buClr>
                <a:schemeClr val="dk1"/>
              </a:buClr>
              <a:buSzPts val="2400"/>
              <a:buFont typeface="Arial"/>
              <a:buChar char="•"/>
            </a:pPr>
            <a:r>
              <a:rPr lang="en-US" sz="2400"/>
              <a:t>Relation</a:t>
            </a:r>
            <a:r>
              <a:rPr lang="en-US" sz="2400" i="1"/>
              <a:t> r</a:t>
            </a:r>
            <a:r>
              <a:rPr lang="en-US" sz="2400"/>
              <a:t>:</a:t>
            </a:r>
            <a:endParaRPr sz="2400"/>
          </a:p>
        </p:txBody>
      </p:sp>
      <p:sp>
        <p:nvSpPr>
          <p:cNvPr id="209" name="Google Shape;209;p16"/>
          <p:cNvSpPr/>
          <p:nvPr/>
        </p:nvSpPr>
        <p:spPr>
          <a:xfrm>
            <a:off x="4572000" y="1676400"/>
            <a:ext cx="457200" cy="4572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A</a:t>
            </a:r>
            <a:endParaRPr i="1">
              <a:solidFill>
                <a:schemeClr val="dk1"/>
              </a:solidFill>
              <a:latin typeface="Helvetica Neue"/>
              <a:ea typeface="Helvetica Neue"/>
              <a:cs typeface="Helvetica Neue"/>
              <a:sym typeface="Helvetica Neue"/>
            </a:endParaRPr>
          </a:p>
        </p:txBody>
      </p:sp>
      <p:sp>
        <p:nvSpPr>
          <p:cNvPr id="210" name="Google Shape;210;p16"/>
          <p:cNvSpPr/>
          <p:nvPr/>
        </p:nvSpPr>
        <p:spPr>
          <a:xfrm>
            <a:off x="5029200" y="1676400"/>
            <a:ext cx="457200" cy="4572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B</a:t>
            </a:r>
            <a:endParaRPr i="1">
              <a:solidFill>
                <a:schemeClr val="dk1"/>
              </a:solidFill>
              <a:latin typeface="Helvetica Neue"/>
              <a:ea typeface="Helvetica Neue"/>
              <a:cs typeface="Helvetica Neue"/>
              <a:sym typeface="Helvetica Neue"/>
            </a:endParaRPr>
          </a:p>
        </p:txBody>
      </p:sp>
      <p:sp>
        <p:nvSpPr>
          <p:cNvPr id="211" name="Google Shape;211;p16"/>
          <p:cNvSpPr/>
          <p:nvPr/>
        </p:nvSpPr>
        <p:spPr>
          <a:xfrm>
            <a:off x="5486400" y="1676400"/>
            <a:ext cx="457200" cy="4572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C</a:t>
            </a:r>
            <a:endParaRPr i="1">
              <a:solidFill>
                <a:schemeClr val="dk1"/>
              </a:solidFill>
              <a:latin typeface="Helvetica Neue"/>
              <a:ea typeface="Helvetica Neue"/>
              <a:cs typeface="Helvetica Neue"/>
              <a:sym typeface="Helvetica Neue"/>
            </a:endParaRPr>
          </a:p>
        </p:txBody>
      </p:sp>
      <p:sp>
        <p:nvSpPr>
          <p:cNvPr id="212" name="Google Shape;212;p16"/>
          <p:cNvSpPr/>
          <p:nvPr/>
        </p:nvSpPr>
        <p:spPr>
          <a:xfrm>
            <a:off x="4572000" y="2209800"/>
            <a:ext cx="457200" cy="16764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lnSpc>
                <a:spcPct val="150000"/>
              </a:lnSpc>
            </a:pPr>
            <a:r>
              <a:rPr lang="en-US" i="1">
                <a:solidFill>
                  <a:schemeClr val="dk1"/>
                </a:solidFill>
                <a:latin typeface="Helvetica Neue"/>
                <a:ea typeface="Helvetica Neue"/>
                <a:cs typeface="Helvetica Neue"/>
                <a:sym typeface="Helvetica Neue"/>
              </a:rPr>
              <a:t>α</a:t>
            </a:r>
            <a:endParaRPr i="1">
              <a:solidFill>
                <a:schemeClr val="dk1"/>
              </a:solidFill>
              <a:latin typeface="Helvetica Neue"/>
              <a:ea typeface="Helvetica Neue"/>
              <a:cs typeface="Helvetica Neue"/>
              <a:sym typeface="Helvetica Neue"/>
            </a:endParaRPr>
          </a:p>
          <a:p>
            <a:pPr algn="ctr">
              <a:lnSpc>
                <a:spcPct val="150000"/>
              </a:lnSpc>
            </a:pPr>
            <a:r>
              <a:rPr lang="en-US" i="1">
                <a:solidFill>
                  <a:schemeClr val="dk1"/>
                </a:solidFill>
                <a:latin typeface="Helvetica Neue"/>
                <a:ea typeface="Helvetica Neue"/>
                <a:cs typeface="Helvetica Neue"/>
                <a:sym typeface="Helvetica Neue"/>
              </a:rPr>
              <a:t>α</a:t>
            </a:r>
            <a:endParaRPr i="1">
              <a:solidFill>
                <a:schemeClr val="dk1"/>
              </a:solidFill>
              <a:latin typeface="Helvetica Neue"/>
              <a:ea typeface="Helvetica Neue"/>
              <a:cs typeface="Helvetica Neue"/>
              <a:sym typeface="Helvetica Neue"/>
            </a:endParaRPr>
          </a:p>
          <a:p>
            <a:pPr algn="ctr">
              <a:lnSpc>
                <a:spcPct val="150000"/>
              </a:lnSpc>
            </a:pPr>
            <a:r>
              <a:rPr lang="en-US" i="1">
                <a:solidFill>
                  <a:schemeClr val="dk1"/>
                </a:solidFill>
                <a:latin typeface="Helvetica Neue"/>
                <a:ea typeface="Helvetica Neue"/>
                <a:cs typeface="Helvetica Neue"/>
                <a:sym typeface="Helvetica Neue"/>
              </a:rPr>
              <a:t>β</a:t>
            </a:r>
            <a:endParaRPr i="1">
              <a:solidFill>
                <a:schemeClr val="dk1"/>
              </a:solidFill>
              <a:latin typeface="Helvetica Neue"/>
              <a:ea typeface="Helvetica Neue"/>
              <a:cs typeface="Helvetica Neue"/>
              <a:sym typeface="Helvetica Neue"/>
            </a:endParaRPr>
          </a:p>
          <a:p>
            <a:pPr algn="ctr">
              <a:lnSpc>
                <a:spcPct val="150000"/>
              </a:lnSpc>
            </a:pPr>
            <a:r>
              <a:rPr lang="en-US" i="1">
                <a:solidFill>
                  <a:schemeClr val="dk1"/>
                </a:solidFill>
                <a:latin typeface="Helvetica Neue"/>
                <a:ea typeface="Helvetica Neue"/>
                <a:cs typeface="Helvetica Neue"/>
                <a:sym typeface="Helvetica Neue"/>
              </a:rPr>
              <a:t>β</a:t>
            </a:r>
            <a:endParaRPr i="1">
              <a:solidFill>
                <a:schemeClr val="dk1"/>
              </a:solidFill>
              <a:latin typeface="Helvetica Neue"/>
              <a:ea typeface="Helvetica Neue"/>
              <a:cs typeface="Helvetica Neue"/>
              <a:sym typeface="Helvetica Neue"/>
            </a:endParaRPr>
          </a:p>
        </p:txBody>
      </p:sp>
      <p:sp>
        <p:nvSpPr>
          <p:cNvPr id="213" name="Google Shape;213;p16"/>
          <p:cNvSpPr/>
          <p:nvPr/>
        </p:nvSpPr>
        <p:spPr>
          <a:xfrm>
            <a:off x="5029200" y="2209800"/>
            <a:ext cx="457200" cy="16764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lnSpc>
                <a:spcPct val="150000"/>
              </a:lnSpc>
            </a:pPr>
            <a:r>
              <a:rPr lang="en-US" i="1">
                <a:solidFill>
                  <a:schemeClr val="dk1"/>
                </a:solidFill>
                <a:latin typeface="Helvetica Neue"/>
                <a:ea typeface="Helvetica Neue"/>
                <a:cs typeface="Helvetica Neue"/>
                <a:sym typeface="Helvetica Neue"/>
              </a:rPr>
              <a:t>10</a:t>
            </a:r>
            <a:endParaRPr i="1">
              <a:solidFill>
                <a:schemeClr val="dk1"/>
              </a:solidFill>
              <a:latin typeface="Helvetica Neue"/>
              <a:ea typeface="Helvetica Neue"/>
              <a:cs typeface="Helvetica Neue"/>
              <a:sym typeface="Helvetica Neue"/>
            </a:endParaRPr>
          </a:p>
          <a:p>
            <a:pPr algn="ctr">
              <a:lnSpc>
                <a:spcPct val="150000"/>
              </a:lnSpc>
            </a:pPr>
            <a:r>
              <a:rPr lang="en-US" i="1">
                <a:solidFill>
                  <a:schemeClr val="dk1"/>
                </a:solidFill>
                <a:latin typeface="Helvetica Neue"/>
                <a:ea typeface="Helvetica Neue"/>
                <a:cs typeface="Helvetica Neue"/>
                <a:sym typeface="Helvetica Neue"/>
              </a:rPr>
              <a:t>20</a:t>
            </a:r>
            <a:endParaRPr i="1">
              <a:solidFill>
                <a:schemeClr val="dk1"/>
              </a:solidFill>
              <a:latin typeface="Helvetica Neue"/>
              <a:ea typeface="Helvetica Neue"/>
              <a:cs typeface="Helvetica Neue"/>
              <a:sym typeface="Helvetica Neue"/>
            </a:endParaRPr>
          </a:p>
          <a:p>
            <a:pPr algn="ctr">
              <a:lnSpc>
                <a:spcPct val="150000"/>
              </a:lnSpc>
            </a:pPr>
            <a:r>
              <a:rPr lang="en-US" i="1">
                <a:solidFill>
                  <a:schemeClr val="dk1"/>
                </a:solidFill>
                <a:latin typeface="Helvetica Neue"/>
                <a:ea typeface="Helvetica Neue"/>
                <a:cs typeface="Helvetica Neue"/>
                <a:sym typeface="Helvetica Neue"/>
              </a:rPr>
              <a:t>30</a:t>
            </a:r>
            <a:endParaRPr i="1">
              <a:solidFill>
                <a:schemeClr val="dk1"/>
              </a:solidFill>
              <a:latin typeface="Helvetica Neue"/>
              <a:ea typeface="Helvetica Neue"/>
              <a:cs typeface="Helvetica Neue"/>
              <a:sym typeface="Helvetica Neue"/>
            </a:endParaRPr>
          </a:p>
          <a:p>
            <a:pPr algn="ctr">
              <a:lnSpc>
                <a:spcPct val="150000"/>
              </a:lnSpc>
            </a:pPr>
            <a:r>
              <a:rPr lang="en-US" i="1">
                <a:solidFill>
                  <a:schemeClr val="dk1"/>
                </a:solidFill>
                <a:latin typeface="Helvetica Neue"/>
                <a:ea typeface="Helvetica Neue"/>
                <a:cs typeface="Helvetica Neue"/>
                <a:sym typeface="Helvetica Neue"/>
              </a:rPr>
              <a:t>40</a:t>
            </a:r>
            <a:endParaRPr i="1">
              <a:solidFill>
                <a:schemeClr val="dk1"/>
              </a:solidFill>
              <a:latin typeface="Helvetica Neue"/>
              <a:ea typeface="Helvetica Neue"/>
              <a:cs typeface="Helvetica Neue"/>
              <a:sym typeface="Helvetica Neue"/>
            </a:endParaRPr>
          </a:p>
        </p:txBody>
      </p:sp>
      <p:sp>
        <p:nvSpPr>
          <p:cNvPr id="214" name="Google Shape;214;p16"/>
          <p:cNvSpPr/>
          <p:nvPr/>
        </p:nvSpPr>
        <p:spPr>
          <a:xfrm>
            <a:off x="5486400" y="2209800"/>
            <a:ext cx="457200" cy="16764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lnSpc>
                <a:spcPct val="150000"/>
              </a:lnSpc>
            </a:pPr>
            <a:r>
              <a:rPr lang="en-US" i="1">
                <a:solidFill>
                  <a:schemeClr val="dk1"/>
                </a:solidFill>
                <a:latin typeface="Helvetica Neue"/>
                <a:ea typeface="Helvetica Neue"/>
                <a:cs typeface="Helvetica Neue"/>
                <a:sym typeface="Helvetica Neue"/>
              </a:rPr>
              <a:t>1</a:t>
            </a:r>
            <a:endParaRPr i="1">
              <a:solidFill>
                <a:schemeClr val="dk1"/>
              </a:solidFill>
              <a:latin typeface="Helvetica Neue"/>
              <a:ea typeface="Helvetica Neue"/>
              <a:cs typeface="Helvetica Neue"/>
              <a:sym typeface="Helvetica Neue"/>
            </a:endParaRPr>
          </a:p>
          <a:p>
            <a:pPr algn="ctr">
              <a:lnSpc>
                <a:spcPct val="150000"/>
              </a:lnSpc>
            </a:pPr>
            <a:r>
              <a:rPr lang="en-US" i="1">
                <a:solidFill>
                  <a:schemeClr val="dk1"/>
                </a:solidFill>
                <a:latin typeface="Helvetica Neue"/>
                <a:ea typeface="Helvetica Neue"/>
                <a:cs typeface="Helvetica Neue"/>
                <a:sym typeface="Helvetica Neue"/>
              </a:rPr>
              <a:t>1</a:t>
            </a:r>
            <a:endParaRPr i="1">
              <a:solidFill>
                <a:schemeClr val="dk1"/>
              </a:solidFill>
              <a:latin typeface="Helvetica Neue"/>
              <a:ea typeface="Helvetica Neue"/>
              <a:cs typeface="Helvetica Neue"/>
              <a:sym typeface="Helvetica Neue"/>
            </a:endParaRPr>
          </a:p>
          <a:p>
            <a:pPr algn="ctr">
              <a:lnSpc>
                <a:spcPct val="150000"/>
              </a:lnSpc>
            </a:pPr>
            <a:r>
              <a:rPr lang="en-US" i="1">
                <a:solidFill>
                  <a:schemeClr val="dk1"/>
                </a:solidFill>
                <a:latin typeface="Helvetica Neue"/>
                <a:ea typeface="Helvetica Neue"/>
                <a:cs typeface="Helvetica Neue"/>
                <a:sym typeface="Helvetica Neue"/>
              </a:rPr>
              <a:t>1</a:t>
            </a:r>
            <a:endParaRPr i="1">
              <a:solidFill>
                <a:schemeClr val="dk1"/>
              </a:solidFill>
              <a:latin typeface="Helvetica Neue"/>
              <a:ea typeface="Helvetica Neue"/>
              <a:cs typeface="Helvetica Neue"/>
              <a:sym typeface="Helvetica Neue"/>
            </a:endParaRPr>
          </a:p>
          <a:p>
            <a:pPr algn="ctr">
              <a:lnSpc>
                <a:spcPct val="150000"/>
              </a:lnSpc>
            </a:pPr>
            <a:r>
              <a:rPr lang="en-US" i="1">
                <a:solidFill>
                  <a:schemeClr val="dk1"/>
                </a:solidFill>
                <a:latin typeface="Helvetica Neue"/>
                <a:ea typeface="Helvetica Neue"/>
                <a:cs typeface="Helvetica Neue"/>
                <a:sym typeface="Helvetica Neue"/>
              </a:rPr>
              <a:t>2</a:t>
            </a:r>
            <a:endParaRPr i="1">
              <a:solidFill>
                <a:schemeClr val="dk1"/>
              </a:solidFill>
              <a:latin typeface="Helvetica Neue"/>
              <a:ea typeface="Helvetica Neue"/>
              <a:cs typeface="Helvetica Neue"/>
              <a:sym typeface="Helvetica Neue"/>
            </a:endParaRPr>
          </a:p>
        </p:txBody>
      </p:sp>
      <p:sp>
        <p:nvSpPr>
          <p:cNvPr id="215" name="Google Shape;215;p16"/>
          <p:cNvSpPr/>
          <p:nvPr/>
        </p:nvSpPr>
        <p:spPr>
          <a:xfrm>
            <a:off x="2514600" y="4114801"/>
            <a:ext cx="7029450" cy="409575"/>
          </a:xfrm>
          <a:prstGeom prst="rect">
            <a:avLst/>
          </a:prstGeom>
          <a:noFill/>
          <a:ln>
            <a:noFill/>
          </a:ln>
        </p:spPr>
        <p:txBody>
          <a:bodyPr spcFirstLastPara="1" wrap="square" lIns="91425" tIns="45700" rIns="91425" bIns="45700" anchor="t" anchorCtr="0">
            <a:noAutofit/>
          </a:bodyPr>
          <a:lstStyle/>
          <a:p>
            <a:endParaRPr sz="2400">
              <a:solidFill>
                <a:schemeClr val="dk1"/>
              </a:solidFill>
              <a:latin typeface="Times New Roman"/>
              <a:ea typeface="Times New Roman"/>
              <a:cs typeface="Times New Roman"/>
              <a:sym typeface="Times New Roman"/>
            </a:endParaRPr>
          </a:p>
        </p:txBody>
      </p:sp>
      <p:sp>
        <p:nvSpPr>
          <p:cNvPr id="216" name="Google Shape;216;p16"/>
          <p:cNvSpPr/>
          <p:nvPr/>
        </p:nvSpPr>
        <p:spPr>
          <a:xfrm>
            <a:off x="2438400" y="3962401"/>
            <a:ext cx="7029450" cy="409575"/>
          </a:xfrm>
          <a:prstGeom prst="rect">
            <a:avLst/>
          </a:prstGeom>
          <a:noFill/>
          <a:ln>
            <a:noFill/>
          </a:ln>
        </p:spPr>
        <p:txBody>
          <a:bodyPr spcFirstLastPara="1" wrap="square" lIns="91425" tIns="45700" rIns="91425" bIns="45700" anchor="t" anchorCtr="0">
            <a:noAutofit/>
          </a:bodyPr>
          <a:lstStyle/>
          <a:p>
            <a:endParaRPr sz="2400">
              <a:solidFill>
                <a:schemeClr val="dk1"/>
              </a:solidFill>
              <a:latin typeface="Times New Roman"/>
              <a:ea typeface="Times New Roman"/>
              <a:cs typeface="Times New Roman"/>
              <a:sym typeface="Times New Roman"/>
            </a:endParaRPr>
          </a:p>
        </p:txBody>
      </p:sp>
      <p:sp>
        <p:nvSpPr>
          <p:cNvPr id="217" name="Google Shape;217;p16"/>
          <p:cNvSpPr/>
          <p:nvPr/>
        </p:nvSpPr>
        <p:spPr>
          <a:xfrm>
            <a:off x="2057400" y="4114801"/>
            <a:ext cx="7029450" cy="409575"/>
          </a:xfrm>
          <a:prstGeom prst="rect">
            <a:avLst/>
          </a:prstGeom>
          <a:noFill/>
          <a:ln>
            <a:noFill/>
          </a:ln>
        </p:spPr>
        <p:txBody>
          <a:bodyPr spcFirstLastPara="1" wrap="square" lIns="91425" tIns="45700" rIns="91425" bIns="45700" anchor="t" anchorCtr="0">
            <a:noAutofit/>
          </a:bodyPr>
          <a:lstStyle/>
          <a:p>
            <a:pPr marL="342900" indent="-342900"/>
            <a:endParaRPr sz="2000">
              <a:solidFill>
                <a:schemeClr val="dk1"/>
              </a:solidFill>
              <a:latin typeface="Times New Roman"/>
              <a:ea typeface="Times New Roman"/>
              <a:cs typeface="Times New Roman"/>
              <a:sym typeface="Times New Roman"/>
            </a:endParaRPr>
          </a:p>
        </p:txBody>
      </p:sp>
      <p:sp>
        <p:nvSpPr>
          <p:cNvPr id="218" name="Google Shape;218;p16"/>
          <p:cNvSpPr/>
          <p:nvPr/>
        </p:nvSpPr>
        <p:spPr>
          <a:xfrm>
            <a:off x="4038600" y="4038600"/>
            <a:ext cx="457200" cy="4572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A</a:t>
            </a:r>
            <a:endParaRPr i="1">
              <a:solidFill>
                <a:schemeClr val="dk1"/>
              </a:solidFill>
              <a:latin typeface="Helvetica Neue"/>
              <a:ea typeface="Helvetica Neue"/>
              <a:cs typeface="Helvetica Neue"/>
              <a:sym typeface="Helvetica Neue"/>
            </a:endParaRPr>
          </a:p>
        </p:txBody>
      </p:sp>
      <p:sp>
        <p:nvSpPr>
          <p:cNvPr id="219" name="Google Shape;219;p16"/>
          <p:cNvSpPr/>
          <p:nvPr/>
        </p:nvSpPr>
        <p:spPr>
          <a:xfrm>
            <a:off x="4495800" y="4038600"/>
            <a:ext cx="457200" cy="4572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C</a:t>
            </a:r>
            <a:endParaRPr i="1">
              <a:solidFill>
                <a:schemeClr val="dk1"/>
              </a:solidFill>
              <a:latin typeface="Helvetica Neue"/>
              <a:ea typeface="Helvetica Neue"/>
              <a:cs typeface="Helvetica Neue"/>
              <a:sym typeface="Helvetica Neue"/>
            </a:endParaRPr>
          </a:p>
        </p:txBody>
      </p:sp>
      <p:sp>
        <p:nvSpPr>
          <p:cNvPr id="220" name="Google Shape;220;p16"/>
          <p:cNvSpPr/>
          <p:nvPr/>
        </p:nvSpPr>
        <p:spPr>
          <a:xfrm>
            <a:off x="4038600" y="4572000"/>
            <a:ext cx="457200" cy="16764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lnSpc>
                <a:spcPct val="150000"/>
              </a:lnSpc>
            </a:pPr>
            <a:r>
              <a:rPr lang="en-US" i="1">
                <a:solidFill>
                  <a:schemeClr val="dk1"/>
                </a:solidFill>
                <a:latin typeface="Helvetica Neue"/>
                <a:ea typeface="Helvetica Neue"/>
                <a:cs typeface="Helvetica Neue"/>
                <a:sym typeface="Helvetica Neue"/>
              </a:rPr>
              <a:t>α</a:t>
            </a:r>
            <a:endParaRPr i="1">
              <a:solidFill>
                <a:schemeClr val="dk1"/>
              </a:solidFill>
              <a:latin typeface="Helvetica Neue"/>
              <a:ea typeface="Helvetica Neue"/>
              <a:cs typeface="Helvetica Neue"/>
              <a:sym typeface="Helvetica Neue"/>
            </a:endParaRPr>
          </a:p>
          <a:p>
            <a:pPr algn="ctr">
              <a:lnSpc>
                <a:spcPct val="150000"/>
              </a:lnSpc>
            </a:pPr>
            <a:r>
              <a:rPr lang="en-US" i="1">
                <a:solidFill>
                  <a:schemeClr val="dk1"/>
                </a:solidFill>
                <a:latin typeface="Helvetica Neue"/>
                <a:ea typeface="Helvetica Neue"/>
                <a:cs typeface="Helvetica Neue"/>
                <a:sym typeface="Helvetica Neue"/>
              </a:rPr>
              <a:t>α</a:t>
            </a:r>
            <a:endParaRPr i="1">
              <a:solidFill>
                <a:schemeClr val="dk1"/>
              </a:solidFill>
              <a:latin typeface="Helvetica Neue"/>
              <a:ea typeface="Helvetica Neue"/>
              <a:cs typeface="Helvetica Neue"/>
              <a:sym typeface="Helvetica Neue"/>
            </a:endParaRPr>
          </a:p>
          <a:p>
            <a:pPr algn="ctr">
              <a:lnSpc>
                <a:spcPct val="150000"/>
              </a:lnSpc>
            </a:pPr>
            <a:r>
              <a:rPr lang="en-US" i="1">
                <a:solidFill>
                  <a:schemeClr val="dk1"/>
                </a:solidFill>
                <a:latin typeface="Helvetica Neue"/>
                <a:ea typeface="Helvetica Neue"/>
                <a:cs typeface="Helvetica Neue"/>
                <a:sym typeface="Helvetica Neue"/>
              </a:rPr>
              <a:t>β</a:t>
            </a:r>
            <a:endParaRPr i="1">
              <a:solidFill>
                <a:schemeClr val="dk1"/>
              </a:solidFill>
              <a:latin typeface="Helvetica Neue"/>
              <a:ea typeface="Helvetica Neue"/>
              <a:cs typeface="Helvetica Neue"/>
              <a:sym typeface="Helvetica Neue"/>
            </a:endParaRPr>
          </a:p>
          <a:p>
            <a:pPr algn="ctr">
              <a:lnSpc>
                <a:spcPct val="150000"/>
              </a:lnSpc>
            </a:pPr>
            <a:r>
              <a:rPr lang="en-US" i="1">
                <a:solidFill>
                  <a:schemeClr val="dk1"/>
                </a:solidFill>
                <a:latin typeface="Helvetica Neue"/>
                <a:ea typeface="Helvetica Neue"/>
                <a:cs typeface="Helvetica Neue"/>
                <a:sym typeface="Helvetica Neue"/>
              </a:rPr>
              <a:t>β</a:t>
            </a:r>
            <a:endParaRPr i="1">
              <a:solidFill>
                <a:schemeClr val="dk1"/>
              </a:solidFill>
              <a:latin typeface="Helvetica Neue"/>
              <a:ea typeface="Helvetica Neue"/>
              <a:cs typeface="Helvetica Neue"/>
              <a:sym typeface="Helvetica Neue"/>
            </a:endParaRPr>
          </a:p>
        </p:txBody>
      </p:sp>
      <p:sp>
        <p:nvSpPr>
          <p:cNvPr id="221" name="Google Shape;221;p16"/>
          <p:cNvSpPr/>
          <p:nvPr/>
        </p:nvSpPr>
        <p:spPr>
          <a:xfrm>
            <a:off x="4495800" y="4572000"/>
            <a:ext cx="457200" cy="16764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lnSpc>
                <a:spcPct val="150000"/>
              </a:lnSpc>
            </a:pPr>
            <a:r>
              <a:rPr lang="en-US" i="1">
                <a:solidFill>
                  <a:schemeClr val="dk1"/>
                </a:solidFill>
                <a:latin typeface="Helvetica Neue"/>
                <a:ea typeface="Helvetica Neue"/>
                <a:cs typeface="Helvetica Neue"/>
                <a:sym typeface="Helvetica Neue"/>
              </a:rPr>
              <a:t>1</a:t>
            </a:r>
            <a:endParaRPr i="1">
              <a:solidFill>
                <a:schemeClr val="dk1"/>
              </a:solidFill>
              <a:latin typeface="Helvetica Neue"/>
              <a:ea typeface="Helvetica Neue"/>
              <a:cs typeface="Helvetica Neue"/>
              <a:sym typeface="Helvetica Neue"/>
            </a:endParaRPr>
          </a:p>
          <a:p>
            <a:pPr algn="ctr">
              <a:lnSpc>
                <a:spcPct val="150000"/>
              </a:lnSpc>
            </a:pPr>
            <a:r>
              <a:rPr lang="en-US" i="1">
                <a:solidFill>
                  <a:schemeClr val="dk1"/>
                </a:solidFill>
                <a:latin typeface="Helvetica Neue"/>
                <a:ea typeface="Helvetica Neue"/>
                <a:cs typeface="Helvetica Neue"/>
                <a:sym typeface="Helvetica Neue"/>
              </a:rPr>
              <a:t>1</a:t>
            </a:r>
            <a:endParaRPr i="1">
              <a:solidFill>
                <a:schemeClr val="dk1"/>
              </a:solidFill>
              <a:latin typeface="Helvetica Neue"/>
              <a:ea typeface="Helvetica Neue"/>
              <a:cs typeface="Helvetica Neue"/>
              <a:sym typeface="Helvetica Neue"/>
            </a:endParaRPr>
          </a:p>
          <a:p>
            <a:pPr algn="ctr">
              <a:lnSpc>
                <a:spcPct val="150000"/>
              </a:lnSpc>
            </a:pPr>
            <a:r>
              <a:rPr lang="en-US" i="1">
                <a:solidFill>
                  <a:schemeClr val="dk1"/>
                </a:solidFill>
                <a:latin typeface="Helvetica Neue"/>
                <a:ea typeface="Helvetica Neue"/>
                <a:cs typeface="Helvetica Neue"/>
                <a:sym typeface="Helvetica Neue"/>
              </a:rPr>
              <a:t>1</a:t>
            </a:r>
            <a:endParaRPr i="1">
              <a:solidFill>
                <a:schemeClr val="dk1"/>
              </a:solidFill>
              <a:latin typeface="Helvetica Neue"/>
              <a:ea typeface="Helvetica Neue"/>
              <a:cs typeface="Helvetica Neue"/>
              <a:sym typeface="Helvetica Neue"/>
            </a:endParaRPr>
          </a:p>
          <a:p>
            <a:pPr algn="ctr">
              <a:lnSpc>
                <a:spcPct val="150000"/>
              </a:lnSpc>
            </a:pPr>
            <a:r>
              <a:rPr lang="en-US" i="1">
                <a:solidFill>
                  <a:schemeClr val="dk1"/>
                </a:solidFill>
                <a:latin typeface="Helvetica Neue"/>
                <a:ea typeface="Helvetica Neue"/>
                <a:cs typeface="Helvetica Neue"/>
                <a:sym typeface="Helvetica Neue"/>
              </a:rPr>
              <a:t>2</a:t>
            </a:r>
            <a:endParaRPr i="1">
              <a:solidFill>
                <a:schemeClr val="dk1"/>
              </a:solidFill>
              <a:latin typeface="Helvetica Neue"/>
              <a:ea typeface="Helvetica Neue"/>
              <a:cs typeface="Helvetica Neue"/>
              <a:sym typeface="Helvetica Neue"/>
            </a:endParaRPr>
          </a:p>
        </p:txBody>
      </p:sp>
      <p:sp>
        <p:nvSpPr>
          <p:cNvPr id="222" name="Google Shape;222;p16"/>
          <p:cNvSpPr txBox="1"/>
          <p:nvPr/>
        </p:nvSpPr>
        <p:spPr>
          <a:xfrm>
            <a:off x="5105400" y="5029201"/>
            <a:ext cx="317500" cy="366713"/>
          </a:xfrm>
          <a:prstGeom prst="rect">
            <a:avLst/>
          </a:prstGeom>
          <a:noFill/>
          <a:ln>
            <a:noFill/>
          </a:ln>
        </p:spPr>
        <p:txBody>
          <a:bodyPr spcFirstLastPara="1" wrap="square" lIns="91425" tIns="45700" rIns="91425" bIns="45700" anchor="ctr" anchorCtr="0">
            <a:spAutoFit/>
          </a:bodyPr>
          <a:lstStyle/>
          <a:p>
            <a:pPr algn="ctr"/>
            <a:r>
              <a:rPr lang="en-US">
                <a:solidFill>
                  <a:schemeClr val="dk1"/>
                </a:solidFill>
                <a:latin typeface="Helvetica Neue"/>
                <a:ea typeface="Helvetica Neue"/>
                <a:cs typeface="Helvetica Neue"/>
                <a:sym typeface="Helvetica Neue"/>
              </a:rPr>
              <a:t>=</a:t>
            </a:r>
            <a:endParaRPr>
              <a:solidFill>
                <a:schemeClr val="dk1"/>
              </a:solidFill>
              <a:latin typeface="Helvetica Neue"/>
              <a:ea typeface="Helvetica Neue"/>
              <a:cs typeface="Helvetica Neue"/>
              <a:sym typeface="Helvetica Neue"/>
            </a:endParaRPr>
          </a:p>
        </p:txBody>
      </p:sp>
      <p:sp>
        <p:nvSpPr>
          <p:cNvPr id="223" name="Google Shape;223;p16"/>
          <p:cNvSpPr/>
          <p:nvPr/>
        </p:nvSpPr>
        <p:spPr>
          <a:xfrm>
            <a:off x="5562600" y="4038600"/>
            <a:ext cx="457200" cy="4572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A</a:t>
            </a:r>
            <a:endParaRPr i="1">
              <a:solidFill>
                <a:schemeClr val="dk1"/>
              </a:solidFill>
              <a:latin typeface="Helvetica Neue"/>
              <a:ea typeface="Helvetica Neue"/>
              <a:cs typeface="Helvetica Neue"/>
              <a:sym typeface="Helvetica Neue"/>
            </a:endParaRPr>
          </a:p>
        </p:txBody>
      </p:sp>
      <p:sp>
        <p:nvSpPr>
          <p:cNvPr id="224" name="Google Shape;224;p16"/>
          <p:cNvSpPr/>
          <p:nvPr/>
        </p:nvSpPr>
        <p:spPr>
          <a:xfrm>
            <a:off x="6019800" y="4038600"/>
            <a:ext cx="457200" cy="4572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C</a:t>
            </a:r>
            <a:endParaRPr i="1">
              <a:solidFill>
                <a:schemeClr val="dk1"/>
              </a:solidFill>
              <a:latin typeface="Helvetica Neue"/>
              <a:ea typeface="Helvetica Neue"/>
              <a:cs typeface="Helvetica Neue"/>
              <a:sym typeface="Helvetica Neue"/>
            </a:endParaRPr>
          </a:p>
        </p:txBody>
      </p:sp>
      <p:sp>
        <p:nvSpPr>
          <p:cNvPr id="225" name="Google Shape;225;p16"/>
          <p:cNvSpPr/>
          <p:nvPr/>
        </p:nvSpPr>
        <p:spPr>
          <a:xfrm>
            <a:off x="5562600" y="4572000"/>
            <a:ext cx="457200" cy="12192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lnSpc>
                <a:spcPct val="150000"/>
              </a:lnSpc>
            </a:pPr>
            <a:r>
              <a:rPr lang="en-US" i="1">
                <a:solidFill>
                  <a:schemeClr val="dk1"/>
                </a:solidFill>
                <a:latin typeface="Helvetica Neue"/>
                <a:ea typeface="Helvetica Neue"/>
                <a:cs typeface="Helvetica Neue"/>
                <a:sym typeface="Helvetica Neue"/>
              </a:rPr>
              <a:t>α</a:t>
            </a:r>
            <a:endParaRPr i="1">
              <a:solidFill>
                <a:schemeClr val="dk1"/>
              </a:solidFill>
              <a:latin typeface="Helvetica Neue"/>
              <a:ea typeface="Helvetica Neue"/>
              <a:cs typeface="Helvetica Neue"/>
              <a:sym typeface="Helvetica Neue"/>
            </a:endParaRPr>
          </a:p>
          <a:p>
            <a:pPr algn="ctr">
              <a:lnSpc>
                <a:spcPct val="150000"/>
              </a:lnSpc>
            </a:pPr>
            <a:r>
              <a:rPr lang="en-US" i="1">
                <a:solidFill>
                  <a:schemeClr val="dk1"/>
                </a:solidFill>
                <a:latin typeface="Helvetica Neue"/>
                <a:ea typeface="Helvetica Neue"/>
                <a:cs typeface="Helvetica Neue"/>
                <a:sym typeface="Helvetica Neue"/>
              </a:rPr>
              <a:t>β</a:t>
            </a:r>
            <a:endParaRPr i="1">
              <a:solidFill>
                <a:schemeClr val="dk1"/>
              </a:solidFill>
              <a:latin typeface="Helvetica Neue"/>
              <a:ea typeface="Helvetica Neue"/>
              <a:cs typeface="Helvetica Neue"/>
              <a:sym typeface="Helvetica Neue"/>
            </a:endParaRPr>
          </a:p>
          <a:p>
            <a:pPr algn="ctr">
              <a:lnSpc>
                <a:spcPct val="150000"/>
              </a:lnSpc>
            </a:pPr>
            <a:r>
              <a:rPr lang="en-US" i="1">
                <a:solidFill>
                  <a:schemeClr val="dk1"/>
                </a:solidFill>
                <a:latin typeface="Helvetica Neue"/>
                <a:ea typeface="Helvetica Neue"/>
                <a:cs typeface="Helvetica Neue"/>
                <a:sym typeface="Helvetica Neue"/>
              </a:rPr>
              <a:t>β</a:t>
            </a:r>
            <a:endParaRPr i="1">
              <a:solidFill>
                <a:schemeClr val="dk1"/>
              </a:solidFill>
              <a:latin typeface="Helvetica Neue"/>
              <a:ea typeface="Helvetica Neue"/>
              <a:cs typeface="Helvetica Neue"/>
              <a:sym typeface="Helvetica Neue"/>
            </a:endParaRPr>
          </a:p>
        </p:txBody>
      </p:sp>
      <p:sp>
        <p:nvSpPr>
          <p:cNvPr id="226" name="Google Shape;226;p16"/>
          <p:cNvSpPr/>
          <p:nvPr/>
        </p:nvSpPr>
        <p:spPr>
          <a:xfrm>
            <a:off x="6019800" y="4572000"/>
            <a:ext cx="457200" cy="12192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lnSpc>
                <a:spcPct val="150000"/>
              </a:lnSpc>
            </a:pPr>
            <a:r>
              <a:rPr lang="en-US" i="1">
                <a:solidFill>
                  <a:schemeClr val="dk1"/>
                </a:solidFill>
                <a:latin typeface="Helvetica Neue"/>
                <a:ea typeface="Helvetica Neue"/>
                <a:cs typeface="Helvetica Neue"/>
                <a:sym typeface="Helvetica Neue"/>
              </a:rPr>
              <a:t>1</a:t>
            </a:r>
            <a:endParaRPr i="1">
              <a:solidFill>
                <a:schemeClr val="dk1"/>
              </a:solidFill>
              <a:latin typeface="Helvetica Neue"/>
              <a:ea typeface="Helvetica Neue"/>
              <a:cs typeface="Helvetica Neue"/>
              <a:sym typeface="Helvetica Neue"/>
            </a:endParaRPr>
          </a:p>
          <a:p>
            <a:pPr algn="ctr">
              <a:lnSpc>
                <a:spcPct val="150000"/>
              </a:lnSpc>
            </a:pPr>
            <a:r>
              <a:rPr lang="en-US" i="1">
                <a:solidFill>
                  <a:schemeClr val="dk1"/>
                </a:solidFill>
                <a:latin typeface="Helvetica Neue"/>
                <a:ea typeface="Helvetica Neue"/>
                <a:cs typeface="Helvetica Neue"/>
                <a:sym typeface="Helvetica Neue"/>
              </a:rPr>
              <a:t>1</a:t>
            </a:r>
            <a:endParaRPr i="1">
              <a:solidFill>
                <a:schemeClr val="dk1"/>
              </a:solidFill>
              <a:latin typeface="Helvetica Neue"/>
              <a:ea typeface="Helvetica Neue"/>
              <a:cs typeface="Helvetica Neue"/>
              <a:sym typeface="Helvetica Neue"/>
            </a:endParaRPr>
          </a:p>
          <a:p>
            <a:pPr algn="ctr">
              <a:lnSpc>
                <a:spcPct val="150000"/>
              </a:lnSpc>
            </a:pPr>
            <a:r>
              <a:rPr lang="en-US" i="1">
                <a:solidFill>
                  <a:schemeClr val="dk1"/>
                </a:solidFill>
                <a:latin typeface="Helvetica Neue"/>
                <a:ea typeface="Helvetica Neue"/>
                <a:cs typeface="Helvetica Neue"/>
                <a:sym typeface="Helvetica Neue"/>
              </a:rPr>
              <a:t>2</a:t>
            </a:r>
            <a:endParaRPr i="1">
              <a:solidFill>
                <a:schemeClr val="dk1"/>
              </a:solidFill>
              <a:latin typeface="Helvetica Neue"/>
              <a:ea typeface="Helvetica Neue"/>
              <a:cs typeface="Helvetica Neue"/>
              <a:sym typeface="Helvetica Neue"/>
            </a:endParaRPr>
          </a:p>
        </p:txBody>
      </p:sp>
      <p:sp>
        <p:nvSpPr>
          <p:cNvPr id="227" name="Google Shape;227;p16"/>
          <p:cNvSpPr/>
          <p:nvPr/>
        </p:nvSpPr>
        <p:spPr>
          <a:xfrm>
            <a:off x="1931988" y="4140201"/>
            <a:ext cx="7029450" cy="409575"/>
          </a:xfrm>
          <a:prstGeom prst="rect">
            <a:avLst/>
          </a:prstGeom>
          <a:noFill/>
          <a:ln>
            <a:noFill/>
          </a:ln>
        </p:spPr>
        <p:txBody>
          <a:bodyPr spcFirstLastPara="1" wrap="square" lIns="91425" tIns="45700" rIns="91425" bIns="45700" anchor="t" anchorCtr="0">
            <a:noAutofit/>
          </a:bodyPr>
          <a:lstStyle/>
          <a:p>
            <a:pPr marL="342900" indent="-139700">
              <a:buClr>
                <a:schemeClr val="dk1"/>
              </a:buClr>
              <a:buSzPts val="3200"/>
            </a:pPr>
            <a:endParaRPr sz="3200">
              <a:solidFill>
                <a:schemeClr val="dk1"/>
              </a:solidFill>
              <a:latin typeface="Times New Roman"/>
              <a:ea typeface="Times New Roman"/>
              <a:cs typeface="Times New Roman"/>
              <a:sym typeface="Times New Roman"/>
            </a:endParaRPr>
          </a:p>
        </p:txBody>
      </p:sp>
      <p:sp>
        <p:nvSpPr>
          <p:cNvPr id="228" name="Google Shape;228;p16"/>
          <p:cNvSpPr/>
          <p:nvPr/>
        </p:nvSpPr>
        <p:spPr>
          <a:xfrm>
            <a:off x="2297113" y="4038601"/>
            <a:ext cx="7029450" cy="409575"/>
          </a:xfrm>
          <a:prstGeom prst="rect">
            <a:avLst/>
          </a:prstGeom>
          <a:noFill/>
          <a:ln>
            <a:noFill/>
          </a:ln>
        </p:spPr>
        <p:txBody>
          <a:bodyPr spcFirstLastPara="1" wrap="square" lIns="91425" tIns="45700" rIns="91425" bIns="45700" anchor="t" anchorCtr="0">
            <a:noAutofit/>
          </a:bodyPr>
          <a:lstStyle/>
          <a:p>
            <a:pPr marL="342900" indent="-342900">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a:t>
            </a:r>
            <a:r>
              <a:rPr lang="en-US" sz="2400" baseline="-25000">
                <a:solidFill>
                  <a:schemeClr val="dk1"/>
                </a:solidFill>
                <a:latin typeface="Times New Roman"/>
                <a:ea typeface="Times New Roman"/>
                <a:cs typeface="Times New Roman"/>
                <a:sym typeface="Times New Roman"/>
              </a:rPr>
              <a:t>A,C</a:t>
            </a:r>
            <a:r>
              <a:rPr lang="en-US" sz="2400">
                <a:solidFill>
                  <a:schemeClr val="dk1"/>
                </a:solidFill>
                <a:latin typeface="Times New Roman"/>
                <a:ea typeface="Times New Roman"/>
                <a:cs typeface="Times New Roman"/>
                <a:sym typeface="Times New Roman"/>
              </a:rPr>
              <a:t> (</a:t>
            </a:r>
            <a:r>
              <a:rPr lang="en-US" sz="2400" i="1">
                <a:solidFill>
                  <a:schemeClr val="dk1"/>
                </a:solidFill>
                <a:latin typeface="Times New Roman"/>
                <a:ea typeface="Times New Roman"/>
                <a:cs typeface="Times New Roman"/>
                <a:sym typeface="Times New Roman"/>
              </a:rPr>
              <a:t>r</a:t>
            </a:r>
            <a:r>
              <a:rPr lang="en-US" sz="2400">
                <a:solidFill>
                  <a:schemeClr val="dk1"/>
                </a:solidFill>
                <a:latin typeface="Times New Roman"/>
                <a:ea typeface="Times New Roman"/>
                <a:cs typeface="Times New Roman"/>
                <a:sym typeface="Times New Roman"/>
              </a:rPr>
              <a:t>)</a:t>
            </a:r>
            <a:endParaRPr sz="2400">
              <a:solidFill>
                <a:schemeClr val="dk1"/>
              </a:solidFill>
              <a:latin typeface="Times New Roman"/>
              <a:ea typeface="Times New Roman"/>
              <a:cs typeface="Times New Roman"/>
              <a:sym typeface="Times New Roman"/>
            </a:endParaRPr>
          </a:p>
        </p:txBody>
      </p:sp>
      <p:sp>
        <p:nvSpPr>
          <p:cNvPr id="229" name="Google Shape;229;p16"/>
          <p:cNvSpPr txBox="1"/>
          <p:nvPr/>
        </p:nvSpPr>
        <p:spPr>
          <a:xfrm>
            <a:off x="7146925" y="4308475"/>
            <a:ext cx="3500438" cy="1200288"/>
          </a:xfrm>
          <a:prstGeom prst="rect">
            <a:avLst/>
          </a:prstGeom>
          <a:noFill/>
          <a:ln>
            <a:noFill/>
          </a:ln>
        </p:spPr>
        <p:txBody>
          <a:bodyPr spcFirstLastPara="1" wrap="square" lIns="91425" tIns="45700" rIns="91425" bIns="45700" anchor="t" anchorCtr="0">
            <a:spAutoFit/>
          </a:bodyPr>
          <a:lstStyle/>
          <a:p>
            <a:r>
              <a:rPr lang="en-US" sz="2400">
                <a:solidFill>
                  <a:schemeClr val="dk1"/>
                </a:solidFill>
                <a:latin typeface="Times New Roman"/>
                <a:ea typeface="Times New Roman"/>
                <a:cs typeface="Times New Roman"/>
                <a:sym typeface="Times New Roman"/>
              </a:rPr>
              <a:t>That is, the projection of</a:t>
            </a:r>
            <a:endParaRPr sz="2400">
              <a:solidFill>
                <a:schemeClr val="dk1"/>
              </a:solidFill>
              <a:latin typeface="Times New Roman"/>
              <a:ea typeface="Times New Roman"/>
              <a:cs typeface="Times New Roman"/>
              <a:sym typeface="Times New Roman"/>
            </a:endParaRPr>
          </a:p>
          <a:p>
            <a:r>
              <a:rPr lang="en-US" sz="2400">
                <a:solidFill>
                  <a:schemeClr val="dk1"/>
                </a:solidFill>
                <a:latin typeface="Times New Roman"/>
                <a:ea typeface="Times New Roman"/>
                <a:cs typeface="Times New Roman"/>
                <a:sym typeface="Times New Roman"/>
              </a:rPr>
              <a:t>a relation on a set of </a:t>
            </a:r>
            <a:endParaRPr sz="2400">
              <a:solidFill>
                <a:schemeClr val="dk1"/>
              </a:solidFill>
              <a:latin typeface="Times New Roman"/>
              <a:ea typeface="Times New Roman"/>
              <a:cs typeface="Times New Roman"/>
              <a:sym typeface="Times New Roman"/>
            </a:endParaRPr>
          </a:p>
          <a:p>
            <a:r>
              <a:rPr lang="en-US" sz="2400">
                <a:solidFill>
                  <a:schemeClr val="dk1"/>
                </a:solidFill>
                <a:latin typeface="Times New Roman"/>
                <a:ea typeface="Times New Roman"/>
                <a:cs typeface="Times New Roman"/>
                <a:sym typeface="Times New Roman"/>
              </a:rPr>
              <a:t>attributes is a </a:t>
            </a:r>
            <a:r>
              <a:rPr lang="en-US" sz="2400" b="1">
                <a:solidFill>
                  <a:schemeClr val="dk1"/>
                </a:solidFill>
                <a:latin typeface="Times New Roman"/>
                <a:ea typeface="Times New Roman"/>
                <a:cs typeface="Times New Roman"/>
                <a:sym typeface="Times New Roman"/>
              </a:rPr>
              <a:t>set of tuples</a:t>
            </a:r>
            <a:r>
              <a:rPr lang="en-US" sz="2400">
                <a:solidFill>
                  <a:schemeClr val="dk1"/>
                </a:solidFill>
                <a:latin typeface="Times New Roman"/>
                <a:ea typeface="Times New Roman"/>
                <a:cs typeface="Times New Roman"/>
                <a:sym typeface="Times New Roman"/>
              </a:rPr>
              <a:t> </a:t>
            </a:r>
            <a:endParaRPr sz="2400">
              <a:solidFill>
                <a:schemeClr val="dk1"/>
              </a:solidFill>
              <a:latin typeface="Times New Roman"/>
              <a:ea typeface="Times New Roman"/>
              <a:cs typeface="Times New Roman"/>
              <a:sym typeface="Times New Roma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8"/>
                                        </p:tgtEl>
                                        <p:attrNameLst>
                                          <p:attrName>style.visibility</p:attrName>
                                        </p:attrNameLst>
                                      </p:cBhvr>
                                      <p:to>
                                        <p:strVal val="visible"/>
                                      </p:to>
                                    </p:set>
                                    <p:animEffect transition="in" filter="fade">
                                      <p:cBhvr>
                                        <p:cTn id="7" dur="500"/>
                                        <p:tgtEl>
                                          <p:spTgt spid="218"/>
                                        </p:tgtEl>
                                      </p:cBhvr>
                                    </p:animEffect>
                                  </p:childTnLst>
                                </p:cTn>
                              </p:par>
                              <p:par>
                                <p:cTn id="8" presetID="10" presetClass="entr" presetSubtype="0" fill="hold" nodeType="withEffect">
                                  <p:stCondLst>
                                    <p:cond delay="0"/>
                                  </p:stCondLst>
                                  <p:childTnLst>
                                    <p:set>
                                      <p:cBhvr>
                                        <p:cTn id="9" dur="1" fill="hold">
                                          <p:stCondLst>
                                            <p:cond delay="0"/>
                                          </p:stCondLst>
                                        </p:cTn>
                                        <p:tgtEl>
                                          <p:spTgt spid="219"/>
                                        </p:tgtEl>
                                        <p:attrNameLst>
                                          <p:attrName>style.visibility</p:attrName>
                                        </p:attrNameLst>
                                      </p:cBhvr>
                                      <p:to>
                                        <p:strVal val="visible"/>
                                      </p:to>
                                    </p:set>
                                    <p:animEffect transition="in" filter="fade">
                                      <p:cBhvr>
                                        <p:cTn id="10" dur="500"/>
                                        <p:tgtEl>
                                          <p:spTgt spid="219"/>
                                        </p:tgtEl>
                                      </p:cBhvr>
                                    </p:animEffect>
                                  </p:childTnLst>
                                </p:cTn>
                              </p:par>
                              <p:par>
                                <p:cTn id="11" presetID="10" presetClass="entr" presetSubtype="0" fill="hold" nodeType="withEffect">
                                  <p:stCondLst>
                                    <p:cond delay="0"/>
                                  </p:stCondLst>
                                  <p:childTnLst>
                                    <p:set>
                                      <p:cBhvr>
                                        <p:cTn id="12" dur="1" fill="hold">
                                          <p:stCondLst>
                                            <p:cond delay="0"/>
                                          </p:stCondLst>
                                        </p:cTn>
                                        <p:tgtEl>
                                          <p:spTgt spid="220"/>
                                        </p:tgtEl>
                                        <p:attrNameLst>
                                          <p:attrName>style.visibility</p:attrName>
                                        </p:attrNameLst>
                                      </p:cBhvr>
                                      <p:to>
                                        <p:strVal val="visible"/>
                                      </p:to>
                                    </p:set>
                                    <p:animEffect transition="in" filter="fade">
                                      <p:cBhvr>
                                        <p:cTn id="13" dur="500"/>
                                        <p:tgtEl>
                                          <p:spTgt spid="220"/>
                                        </p:tgtEl>
                                      </p:cBhvr>
                                    </p:animEffect>
                                  </p:childTnLst>
                                </p:cTn>
                              </p:par>
                              <p:par>
                                <p:cTn id="14" presetID="10" presetClass="entr" presetSubtype="0" fill="hold" nodeType="withEffect">
                                  <p:stCondLst>
                                    <p:cond delay="0"/>
                                  </p:stCondLst>
                                  <p:childTnLst>
                                    <p:set>
                                      <p:cBhvr>
                                        <p:cTn id="15" dur="1" fill="hold">
                                          <p:stCondLst>
                                            <p:cond delay="0"/>
                                          </p:stCondLst>
                                        </p:cTn>
                                        <p:tgtEl>
                                          <p:spTgt spid="221"/>
                                        </p:tgtEl>
                                        <p:attrNameLst>
                                          <p:attrName>style.visibility</p:attrName>
                                        </p:attrNameLst>
                                      </p:cBhvr>
                                      <p:to>
                                        <p:strVal val="visible"/>
                                      </p:to>
                                    </p:set>
                                    <p:animEffect transition="in" filter="fade">
                                      <p:cBhvr>
                                        <p:cTn id="16" dur="500"/>
                                        <p:tgtEl>
                                          <p:spTgt spid="221"/>
                                        </p:tgtEl>
                                      </p:cBhvr>
                                    </p:animEffect>
                                  </p:childTnLst>
                                </p:cTn>
                              </p:par>
                              <p:par>
                                <p:cTn id="17" presetID="10" presetClass="entr" presetSubtype="0" fill="hold" nodeType="withEffect">
                                  <p:stCondLst>
                                    <p:cond delay="0"/>
                                  </p:stCondLst>
                                  <p:childTnLst>
                                    <p:set>
                                      <p:cBhvr>
                                        <p:cTn id="18" dur="1" fill="hold">
                                          <p:stCondLst>
                                            <p:cond delay="0"/>
                                          </p:stCondLst>
                                        </p:cTn>
                                        <p:tgtEl>
                                          <p:spTgt spid="222"/>
                                        </p:tgtEl>
                                        <p:attrNameLst>
                                          <p:attrName>style.visibility</p:attrName>
                                        </p:attrNameLst>
                                      </p:cBhvr>
                                      <p:to>
                                        <p:strVal val="visible"/>
                                      </p:to>
                                    </p:set>
                                    <p:animEffect transition="in" filter="fade">
                                      <p:cBhvr>
                                        <p:cTn id="19" dur="500"/>
                                        <p:tgtEl>
                                          <p:spTgt spid="222"/>
                                        </p:tgtEl>
                                      </p:cBhvr>
                                    </p:animEffect>
                                  </p:childTnLst>
                                </p:cTn>
                              </p:par>
                              <p:par>
                                <p:cTn id="20" presetID="10" presetClass="entr" presetSubtype="0" fill="hold" nodeType="withEffect">
                                  <p:stCondLst>
                                    <p:cond delay="0"/>
                                  </p:stCondLst>
                                  <p:childTnLst>
                                    <p:set>
                                      <p:cBhvr>
                                        <p:cTn id="21" dur="1" fill="hold">
                                          <p:stCondLst>
                                            <p:cond delay="0"/>
                                          </p:stCondLst>
                                        </p:cTn>
                                        <p:tgtEl>
                                          <p:spTgt spid="223"/>
                                        </p:tgtEl>
                                        <p:attrNameLst>
                                          <p:attrName>style.visibility</p:attrName>
                                        </p:attrNameLst>
                                      </p:cBhvr>
                                      <p:to>
                                        <p:strVal val="visible"/>
                                      </p:to>
                                    </p:set>
                                    <p:animEffect transition="in" filter="fade">
                                      <p:cBhvr>
                                        <p:cTn id="22" dur="500"/>
                                        <p:tgtEl>
                                          <p:spTgt spid="223"/>
                                        </p:tgtEl>
                                      </p:cBhvr>
                                    </p:animEffect>
                                  </p:childTnLst>
                                </p:cTn>
                              </p:par>
                              <p:par>
                                <p:cTn id="23" presetID="10" presetClass="entr" presetSubtype="0" fill="hold" nodeType="withEffect">
                                  <p:stCondLst>
                                    <p:cond delay="0"/>
                                  </p:stCondLst>
                                  <p:childTnLst>
                                    <p:set>
                                      <p:cBhvr>
                                        <p:cTn id="24" dur="1" fill="hold">
                                          <p:stCondLst>
                                            <p:cond delay="0"/>
                                          </p:stCondLst>
                                        </p:cTn>
                                        <p:tgtEl>
                                          <p:spTgt spid="224"/>
                                        </p:tgtEl>
                                        <p:attrNameLst>
                                          <p:attrName>style.visibility</p:attrName>
                                        </p:attrNameLst>
                                      </p:cBhvr>
                                      <p:to>
                                        <p:strVal val="visible"/>
                                      </p:to>
                                    </p:set>
                                    <p:animEffect transition="in" filter="fade">
                                      <p:cBhvr>
                                        <p:cTn id="25" dur="500"/>
                                        <p:tgtEl>
                                          <p:spTgt spid="224"/>
                                        </p:tgtEl>
                                      </p:cBhvr>
                                    </p:animEffect>
                                  </p:childTnLst>
                                </p:cTn>
                              </p:par>
                              <p:par>
                                <p:cTn id="26" presetID="10" presetClass="entr" presetSubtype="0" fill="hold" nodeType="withEffect">
                                  <p:stCondLst>
                                    <p:cond delay="0"/>
                                  </p:stCondLst>
                                  <p:childTnLst>
                                    <p:set>
                                      <p:cBhvr>
                                        <p:cTn id="27" dur="1" fill="hold">
                                          <p:stCondLst>
                                            <p:cond delay="0"/>
                                          </p:stCondLst>
                                        </p:cTn>
                                        <p:tgtEl>
                                          <p:spTgt spid="225"/>
                                        </p:tgtEl>
                                        <p:attrNameLst>
                                          <p:attrName>style.visibility</p:attrName>
                                        </p:attrNameLst>
                                      </p:cBhvr>
                                      <p:to>
                                        <p:strVal val="visible"/>
                                      </p:to>
                                    </p:set>
                                    <p:animEffect transition="in" filter="fade">
                                      <p:cBhvr>
                                        <p:cTn id="28" dur="500"/>
                                        <p:tgtEl>
                                          <p:spTgt spid="225"/>
                                        </p:tgtEl>
                                      </p:cBhvr>
                                    </p:animEffect>
                                  </p:childTnLst>
                                </p:cTn>
                              </p:par>
                              <p:par>
                                <p:cTn id="29" presetID="10" presetClass="entr" presetSubtype="0" fill="hold" nodeType="withEffect">
                                  <p:stCondLst>
                                    <p:cond delay="0"/>
                                  </p:stCondLst>
                                  <p:childTnLst>
                                    <p:set>
                                      <p:cBhvr>
                                        <p:cTn id="30" dur="1" fill="hold">
                                          <p:stCondLst>
                                            <p:cond delay="0"/>
                                          </p:stCondLst>
                                        </p:cTn>
                                        <p:tgtEl>
                                          <p:spTgt spid="226"/>
                                        </p:tgtEl>
                                        <p:attrNameLst>
                                          <p:attrName>style.visibility</p:attrName>
                                        </p:attrNameLst>
                                      </p:cBhvr>
                                      <p:to>
                                        <p:strVal val="visible"/>
                                      </p:to>
                                    </p:set>
                                    <p:animEffect transition="in" filter="fade">
                                      <p:cBhvr>
                                        <p:cTn id="31" dur="500"/>
                                        <p:tgtEl>
                                          <p:spTgt spid="226"/>
                                        </p:tgtEl>
                                      </p:cBhvr>
                                    </p:animEffect>
                                  </p:childTnLst>
                                </p:cTn>
                              </p:par>
                              <p:par>
                                <p:cTn id="32" presetID="10" presetClass="entr" presetSubtype="0" fill="hold" nodeType="withEffect">
                                  <p:stCondLst>
                                    <p:cond delay="0"/>
                                  </p:stCondLst>
                                  <p:childTnLst>
                                    <p:set>
                                      <p:cBhvr>
                                        <p:cTn id="33" dur="1" fill="hold">
                                          <p:stCondLst>
                                            <p:cond delay="0"/>
                                          </p:stCondLst>
                                        </p:cTn>
                                        <p:tgtEl>
                                          <p:spTgt spid="229"/>
                                        </p:tgtEl>
                                        <p:attrNameLst>
                                          <p:attrName>style.visibility</p:attrName>
                                        </p:attrNameLst>
                                      </p:cBhvr>
                                      <p:to>
                                        <p:strVal val="visible"/>
                                      </p:to>
                                    </p:set>
                                    <p:animEffect transition="in" filter="fade">
                                      <p:cBhvr>
                                        <p:cTn id="34" dur="500"/>
                                        <p:tgtEl>
                                          <p:spTgt spid="2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17"/>
          <p:cNvSpPr txBox="1">
            <a:spLocks noGrp="1"/>
          </p:cNvSpPr>
          <p:nvPr>
            <p:ph type="title"/>
          </p:nvPr>
        </p:nvSpPr>
        <p:spPr>
          <a:xfrm>
            <a:off x="1981200" y="274638"/>
            <a:ext cx="8229600" cy="1143000"/>
          </a:xfrm>
          <a:prstGeom prst="rect">
            <a:avLst/>
          </a:prstGeom>
          <a:noFill/>
          <a:ln>
            <a:noFill/>
          </a:ln>
        </p:spPr>
        <p:txBody>
          <a:bodyPr spcFirstLastPara="1" vert="horz" wrap="square" lIns="91425" tIns="45700" rIns="91425" bIns="45700" rtlCol="0" anchor="ctr" anchorCtr="0">
            <a:normAutofit/>
          </a:bodyPr>
          <a:lstStyle/>
          <a:p>
            <a:pPr algn="ctr">
              <a:lnSpc>
                <a:spcPct val="100000"/>
              </a:lnSpc>
              <a:spcBef>
                <a:spcPts val="0"/>
              </a:spcBef>
              <a:buClr>
                <a:schemeClr val="dk2"/>
              </a:buClr>
              <a:buSzPts val="3800"/>
            </a:pPr>
            <a:r>
              <a:rPr lang="en-US" sz="3800" b="1">
                <a:latin typeface="Times New Roman"/>
                <a:ea typeface="Times New Roman"/>
                <a:cs typeface="Times New Roman"/>
                <a:sym typeface="Times New Roman"/>
              </a:rPr>
              <a:t>Composition of Relational Operations</a:t>
            </a:r>
            <a:endParaRPr sz="3800">
              <a:latin typeface="Times New Roman"/>
              <a:ea typeface="Times New Roman"/>
              <a:cs typeface="Times New Roman"/>
              <a:sym typeface="Times New Roman"/>
            </a:endParaRPr>
          </a:p>
        </p:txBody>
      </p:sp>
      <p:sp>
        <p:nvSpPr>
          <p:cNvPr id="235" name="Google Shape;235;p17"/>
          <p:cNvSpPr txBox="1">
            <a:spLocks noGrp="1"/>
          </p:cNvSpPr>
          <p:nvPr>
            <p:ph type="body" idx="1"/>
          </p:nvPr>
        </p:nvSpPr>
        <p:spPr>
          <a:xfrm>
            <a:off x="1981200" y="1600201"/>
            <a:ext cx="8229600" cy="4525963"/>
          </a:xfrm>
          <a:prstGeom prst="rect">
            <a:avLst/>
          </a:prstGeom>
          <a:noFill/>
          <a:ln>
            <a:noFill/>
          </a:ln>
        </p:spPr>
        <p:txBody>
          <a:bodyPr spcFirstLastPara="1" vert="horz" wrap="square" lIns="91425" tIns="45700" rIns="91425" bIns="45700" rtlCol="0" anchor="t" anchorCtr="0">
            <a:normAutofit/>
          </a:bodyPr>
          <a:lstStyle/>
          <a:p>
            <a:pPr marL="342900" indent="-342900" algn="just">
              <a:lnSpc>
                <a:spcPct val="100000"/>
              </a:lnSpc>
              <a:spcBef>
                <a:spcPts val="0"/>
              </a:spcBef>
              <a:buClr>
                <a:schemeClr val="dk1"/>
              </a:buClr>
              <a:buSzPts val="2400"/>
              <a:buFont typeface="Times New Roman"/>
              <a:buChar char="•"/>
            </a:pPr>
            <a:r>
              <a:rPr lang="en-US" sz="2400">
                <a:latin typeface="Times New Roman"/>
                <a:ea typeface="Times New Roman"/>
                <a:cs typeface="Times New Roman"/>
                <a:sym typeface="Times New Roman"/>
              </a:rPr>
              <a:t>The result of a relational operation is itself a relation.</a:t>
            </a:r>
            <a:endParaRPr sz="2400">
              <a:latin typeface="Times New Roman"/>
              <a:ea typeface="Times New Roman"/>
              <a:cs typeface="Times New Roman"/>
              <a:sym typeface="Times New Roman"/>
            </a:endParaRPr>
          </a:p>
          <a:p>
            <a:pPr marL="342900" indent="-190500" algn="just">
              <a:lnSpc>
                <a:spcPct val="100000"/>
              </a:lnSpc>
              <a:spcBef>
                <a:spcPts val="480"/>
              </a:spcBef>
              <a:buClr>
                <a:schemeClr val="dk1"/>
              </a:buClr>
              <a:buSzPts val="2400"/>
              <a:buNone/>
            </a:pPr>
            <a:endParaRPr sz="2400">
              <a:latin typeface="Times New Roman"/>
              <a:ea typeface="Times New Roman"/>
              <a:cs typeface="Times New Roman"/>
              <a:sym typeface="Times New Roman"/>
            </a:endParaRPr>
          </a:p>
          <a:p>
            <a:pPr marL="342900" indent="-342900" algn="just">
              <a:lnSpc>
                <a:spcPct val="100000"/>
              </a:lnSpc>
              <a:spcBef>
                <a:spcPts val="480"/>
              </a:spcBef>
              <a:buClr>
                <a:schemeClr val="dk1"/>
              </a:buClr>
              <a:buSzPts val="2400"/>
              <a:buFont typeface="Times New Roman"/>
              <a:buChar char="•"/>
            </a:pPr>
            <a:r>
              <a:rPr lang="en-US" sz="2400">
                <a:latin typeface="Times New Roman"/>
                <a:ea typeface="Times New Roman"/>
                <a:cs typeface="Times New Roman"/>
                <a:sym typeface="Times New Roman"/>
              </a:rPr>
              <a:t>Since the result of a relational-algebra operation is of the same type (relation) as its inputs, relational-algebra operations can be composed together into a relational-algebra expression.</a:t>
            </a:r>
            <a:endParaRPr sz="2400">
              <a:latin typeface="Times New Roman"/>
              <a:ea typeface="Times New Roman"/>
              <a:cs typeface="Times New Roman"/>
              <a:sym typeface="Times New Roman"/>
            </a:endParaRPr>
          </a:p>
          <a:p>
            <a:pPr marL="342900" indent="-190500" algn="just">
              <a:lnSpc>
                <a:spcPct val="100000"/>
              </a:lnSpc>
              <a:spcBef>
                <a:spcPts val="480"/>
              </a:spcBef>
              <a:buClr>
                <a:schemeClr val="dk1"/>
              </a:buClr>
              <a:buSzPts val="2400"/>
              <a:buNone/>
            </a:pPr>
            <a:endParaRPr sz="2400">
              <a:latin typeface="Times New Roman"/>
              <a:ea typeface="Times New Roman"/>
              <a:cs typeface="Times New Roman"/>
              <a:sym typeface="Times New Roman"/>
            </a:endParaRPr>
          </a:p>
          <a:p>
            <a:pPr marL="342900" indent="-342900" algn="just">
              <a:lnSpc>
                <a:spcPct val="100000"/>
              </a:lnSpc>
              <a:spcBef>
                <a:spcPts val="480"/>
              </a:spcBef>
              <a:buClr>
                <a:schemeClr val="dk1"/>
              </a:buClr>
              <a:buSzPts val="2400"/>
              <a:buFont typeface="Times New Roman"/>
              <a:buChar char="•"/>
            </a:pPr>
            <a:r>
              <a:rPr lang="en-US" sz="2400">
                <a:latin typeface="Times New Roman"/>
                <a:ea typeface="Times New Roman"/>
                <a:cs typeface="Times New Roman"/>
                <a:sym typeface="Times New Roman"/>
              </a:rPr>
              <a:t>For Ex: Find those customers who live in Indore.</a:t>
            </a:r>
            <a:endParaRPr sz="2400">
              <a:latin typeface="Times New Roman"/>
              <a:ea typeface="Times New Roman"/>
              <a:cs typeface="Times New Roman"/>
              <a:sym typeface="Times New Roman"/>
            </a:endParaRPr>
          </a:p>
          <a:p>
            <a:pPr marL="342900" indent="-190500" algn="just">
              <a:lnSpc>
                <a:spcPct val="100000"/>
              </a:lnSpc>
              <a:spcBef>
                <a:spcPts val="480"/>
              </a:spcBef>
              <a:buClr>
                <a:schemeClr val="dk1"/>
              </a:buClr>
              <a:buSzPts val="2400"/>
              <a:buNone/>
            </a:pPr>
            <a:endParaRPr sz="2400">
              <a:latin typeface="Times New Roman"/>
              <a:ea typeface="Times New Roman"/>
              <a:cs typeface="Times New Roman"/>
              <a:sym typeface="Times New Roman"/>
            </a:endParaRPr>
          </a:p>
          <a:p>
            <a:pPr marL="342900" indent="-342900" algn="ctr">
              <a:lnSpc>
                <a:spcPct val="100000"/>
              </a:lnSpc>
              <a:spcBef>
                <a:spcPts val="480"/>
              </a:spcBef>
              <a:buClr>
                <a:schemeClr val="dk1"/>
              </a:buClr>
              <a:buSzPts val="2400"/>
              <a:buNone/>
            </a:pPr>
            <a:r>
              <a:rPr lang="en-US" sz="2400">
                <a:latin typeface="Times New Roman"/>
                <a:ea typeface="Times New Roman"/>
                <a:cs typeface="Times New Roman"/>
                <a:sym typeface="Times New Roman"/>
              </a:rPr>
              <a:t>Π</a:t>
            </a:r>
            <a:r>
              <a:rPr lang="en-US" sz="2400" baseline="-25000">
                <a:latin typeface="Times New Roman"/>
                <a:ea typeface="Times New Roman"/>
                <a:cs typeface="Times New Roman"/>
                <a:sym typeface="Times New Roman"/>
              </a:rPr>
              <a:t>customer_name</a:t>
            </a:r>
            <a:r>
              <a:rPr lang="en-US" sz="2400">
                <a:latin typeface="Times New Roman"/>
                <a:ea typeface="Times New Roman"/>
                <a:cs typeface="Times New Roman"/>
                <a:sym typeface="Times New Roman"/>
              </a:rPr>
              <a:t>(σ</a:t>
            </a:r>
            <a:r>
              <a:rPr lang="en-US" sz="2400" baseline="-25000">
                <a:latin typeface="Times New Roman"/>
                <a:ea typeface="Times New Roman"/>
                <a:cs typeface="Times New Roman"/>
                <a:sym typeface="Times New Roman"/>
              </a:rPr>
              <a:t>customer-city =“Indore”</a:t>
            </a:r>
            <a:r>
              <a:rPr lang="en-US" sz="2400">
                <a:latin typeface="Times New Roman"/>
                <a:ea typeface="Times New Roman"/>
                <a:cs typeface="Times New Roman"/>
                <a:sym typeface="Times New Roman"/>
              </a:rPr>
              <a:t>(customer))</a:t>
            </a:r>
            <a:endParaRPr sz="2400">
              <a:latin typeface="Times New Roman"/>
              <a:ea typeface="Times New Roman"/>
              <a:cs typeface="Times New Roman"/>
              <a:sym typeface="Times New Roman"/>
            </a:endParaRPr>
          </a:p>
          <a:p>
            <a:pPr marL="342900" indent="-139700">
              <a:lnSpc>
                <a:spcPct val="100000"/>
              </a:lnSpc>
              <a:spcBef>
                <a:spcPts val="640"/>
              </a:spcBef>
              <a:buClr>
                <a:schemeClr val="dk1"/>
              </a:buClr>
              <a:buSzPts val="3200"/>
              <a:buNone/>
            </a:pP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18"/>
          <p:cNvSpPr txBox="1">
            <a:spLocks noGrp="1"/>
          </p:cNvSpPr>
          <p:nvPr>
            <p:ph type="title"/>
          </p:nvPr>
        </p:nvSpPr>
        <p:spPr>
          <a:xfrm>
            <a:off x="2209800" y="0"/>
            <a:ext cx="7772400" cy="1143000"/>
          </a:xfrm>
          <a:prstGeom prst="rect">
            <a:avLst/>
          </a:prstGeom>
          <a:noFill/>
          <a:ln>
            <a:noFill/>
          </a:ln>
        </p:spPr>
        <p:txBody>
          <a:bodyPr spcFirstLastPara="1" vert="horz" wrap="square" lIns="91425" tIns="45700" rIns="91425" bIns="45700" rtlCol="0" anchor="ctr" anchorCtr="0">
            <a:noAutofit/>
          </a:bodyPr>
          <a:lstStyle/>
          <a:p>
            <a:pPr algn="ctr">
              <a:lnSpc>
                <a:spcPct val="100000"/>
              </a:lnSpc>
              <a:spcBef>
                <a:spcPts val="0"/>
              </a:spcBef>
              <a:buClr>
                <a:schemeClr val="dk2"/>
              </a:buClr>
              <a:buSzPts val="3600"/>
            </a:pPr>
            <a:r>
              <a:rPr lang="en-US" sz="3600" b="1"/>
              <a:t>Composition of Operations...</a:t>
            </a:r>
            <a:endParaRPr sz="3600" b="1"/>
          </a:p>
        </p:txBody>
      </p:sp>
      <p:sp>
        <p:nvSpPr>
          <p:cNvPr id="241" name="Google Shape;241;p18"/>
          <p:cNvSpPr txBox="1">
            <a:spLocks noGrp="1"/>
          </p:cNvSpPr>
          <p:nvPr>
            <p:ph type="body" idx="1"/>
          </p:nvPr>
        </p:nvSpPr>
        <p:spPr>
          <a:xfrm>
            <a:off x="2514600" y="838200"/>
            <a:ext cx="7772400" cy="4114800"/>
          </a:xfrm>
          <a:prstGeom prst="rect">
            <a:avLst/>
          </a:prstGeom>
          <a:noFill/>
          <a:ln>
            <a:noFill/>
          </a:ln>
        </p:spPr>
        <p:txBody>
          <a:bodyPr spcFirstLastPara="1" vert="horz" wrap="square" lIns="91425" tIns="45700" rIns="91425" bIns="45700" rtlCol="0" anchor="t" anchorCtr="0">
            <a:noAutofit/>
          </a:bodyPr>
          <a:lstStyle/>
          <a:p>
            <a:pPr marL="342900" indent="-342900">
              <a:spcBef>
                <a:spcPts val="0"/>
              </a:spcBef>
              <a:buClr>
                <a:schemeClr val="dk1"/>
              </a:buClr>
              <a:buSzPts val="2400"/>
              <a:buFont typeface="Arial"/>
              <a:buChar char="•"/>
            </a:pPr>
            <a:r>
              <a:rPr lang="en-US" sz="2400"/>
              <a:t>Can build expressions using multiple operations</a:t>
            </a:r>
            <a:endParaRPr sz="2400"/>
          </a:p>
          <a:p>
            <a:pPr marL="342900" indent="-342900">
              <a:spcBef>
                <a:spcPts val="480"/>
              </a:spcBef>
              <a:buClr>
                <a:schemeClr val="dk1"/>
              </a:buClr>
              <a:buSzPts val="2400"/>
              <a:buFont typeface="Arial"/>
              <a:buChar char="•"/>
            </a:pPr>
            <a:r>
              <a:rPr lang="en-US" sz="2400"/>
              <a:t>Example:  σ</a:t>
            </a:r>
            <a:r>
              <a:rPr lang="en-US" sz="2400" baseline="-25000"/>
              <a:t>A=C</a:t>
            </a:r>
            <a:r>
              <a:rPr lang="en-US" sz="2400"/>
              <a:t>(</a:t>
            </a:r>
            <a:r>
              <a:rPr lang="en-US" sz="2400" i="1"/>
              <a:t>r </a:t>
            </a:r>
            <a:r>
              <a:rPr lang="en-US" sz="2400"/>
              <a:t>×</a:t>
            </a:r>
            <a:r>
              <a:rPr lang="en-US" sz="2400" i="1"/>
              <a:t> s</a:t>
            </a:r>
            <a:r>
              <a:rPr lang="en-US" sz="2400"/>
              <a:t>)</a:t>
            </a:r>
            <a:endParaRPr sz="2400"/>
          </a:p>
          <a:p>
            <a:pPr marL="342900" indent="-342900">
              <a:spcBef>
                <a:spcPts val="480"/>
              </a:spcBef>
              <a:buClr>
                <a:schemeClr val="dk1"/>
              </a:buClr>
              <a:buSzPts val="2400"/>
              <a:buFont typeface="Arial"/>
              <a:buChar char="•"/>
            </a:pPr>
            <a:r>
              <a:rPr lang="en-US" sz="2400" i="1"/>
              <a:t>r </a:t>
            </a:r>
            <a:r>
              <a:rPr lang="en-US" sz="2400"/>
              <a:t>×</a:t>
            </a:r>
            <a:r>
              <a:rPr lang="en-US" sz="2400" i="1"/>
              <a:t> s</a:t>
            </a:r>
            <a:endParaRPr sz="2400" i="1"/>
          </a:p>
          <a:p>
            <a:pPr marL="342900" indent="-190500">
              <a:spcBef>
                <a:spcPts val="480"/>
              </a:spcBef>
              <a:buClr>
                <a:schemeClr val="dk1"/>
              </a:buClr>
              <a:buSzPts val="2400"/>
              <a:buNone/>
            </a:pPr>
            <a:endParaRPr sz="2400" i="1"/>
          </a:p>
          <a:p>
            <a:pPr marL="342900" indent="-190500">
              <a:spcBef>
                <a:spcPts val="480"/>
              </a:spcBef>
              <a:buClr>
                <a:schemeClr val="dk1"/>
              </a:buClr>
              <a:buSzPts val="2400"/>
              <a:buNone/>
            </a:pPr>
            <a:endParaRPr sz="2400" i="1"/>
          </a:p>
          <a:p>
            <a:pPr marL="342900" indent="-190500">
              <a:spcBef>
                <a:spcPts val="480"/>
              </a:spcBef>
              <a:buClr>
                <a:schemeClr val="dk1"/>
              </a:buClr>
              <a:buSzPts val="2400"/>
              <a:buNone/>
            </a:pPr>
            <a:endParaRPr sz="2400" i="1"/>
          </a:p>
          <a:p>
            <a:pPr marL="342900" indent="-190500">
              <a:spcBef>
                <a:spcPts val="480"/>
              </a:spcBef>
              <a:buClr>
                <a:schemeClr val="dk1"/>
              </a:buClr>
              <a:buSzPts val="2400"/>
              <a:buNone/>
            </a:pPr>
            <a:endParaRPr sz="2400" i="1"/>
          </a:p>
          <a:p>
            <a:pPr marL="342900" indent="-190500">
              <a:spcBef>
                <a:spcPts val="480"/>
              </a:spcBef>
              <a:buClr>
                <a:schemeClr val="dk1"/>
              </a:buClr>
              <a:buSzPts val="2400"/>
              <a:buNone/>
            </a:pPr>
            <a:endParaRPr sz="2400" i="1"/>
          </a:p>
          <a:p>
            <a:pPr marL="342900" indent="-190500">
              <a:spcBef>
                <a:spcPts val="480"/>
              </a:spcBef>
              <a:buClr>
                <a:schemeClr val="dk1"/>
              </a:buClr>
              <a:buSzPts val="2400"/>
              <a:buNone/>
            </a:pPr>
            <a:endParaRPr sz="2400" i="1"/>
          </a:p>
          <a:p>
            <a:pPr marL="342900" indent="-342900">
              <a:spcBef>
                <a:spcPts val="480"/>
              </a:spcBef>
              <a:buClr>
                <a:schemeClr val="dk1"/>
              </a:buClr>
              <a:buSzPts val="2400"/>
              <a:buFont typeface="Arial"/>
              <a:buChar char="•"/>
            </a:pPr>
            <a:r>
              <a:rPr lang="en-US" sz="2400"/>
              <a:t>σ</a:t>
            </a:r>
            <a:r>
              <a:rPr lang="en-US" sz="2400" baseline="-25000"/>
              <a:t>A=C</a:t>
            </a:r>
            <a:r>
              <a:rPr lang="en-US" sz="2400"/>
              <a:t>(</a:t>
            </a:r>
            <a:r>
              <a:rPr lang="en-US" sz="2400" i="1"/>
              <a:t>r </a:t>
            </a:r>
            <a:r>
              <a:rPr lang="en-US" sz="2400"/>
              <a:t>×</a:t>
            </a:r>
            <a:r>
              <a:rPr lang="en-US" sz="2400" i="1"/>
              <a:t> s</a:t>
            </a:r>
            <a:r>
              <a:rPr lang="en-US" sz="2400"/>
              <a:t>)</a:t>
            </a:r>
            <a:endParaRPr sz="2400"/>
          </a:p>
        </p:txBody>
      </p:sp>
      <p:pic>
        <p:nvPicPr>
          <p:cNvPr id="242" name="Google Shape;242;p18"/>
          <p:cNvPicPr preferRelativeResize="0"/>
          <p:nvPr/>
        </p:nvPicPr>
        <p:blipFill rotWithShape="1">
          <a:blip r:embed="rId3">
            <a:alphaModFix/>
          </a:blip>
          <a:srcRect/>
          <a:stretch/>
        </p:blipFill>
        <p:spPr>
          <a:xfrm>
            <a:off x="6026150" y="3282951"/>
            <a:ext cx="139700" cy="290513"/>
          </a:xfrm>
          <a:prstGeom prst="rect">
            <a:avLst/>
          </a:prstGeom>
          <a:noFill/>
          <a:ln>
            <a:noFill/>
          </a:ln>
        </p:spPr>
      </p:pic>
      <p:sp>
        <p:nvSpPr>
          <p:cNvPr id="243" name="Google Shape;243;p18"/>
          <p:cNvSpPr/>
          <p:nvPr/>
        </p:nvSpPr>
        <p:spPr>
          <a:xfrm>
            <a:off x="4937125" y="1966913"/>
            <a:ext cx="457200" cy="5334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A</a:t>
            </a:r>
            <a:endParaRPr i="1">
              <a:solidFill>
                <a:schemeClr val="dk1"/>
              </a:solidFill>
              <a:latin typeface="Helvetica Neue"/>
              <a:ea typeface="Helvetica Neue"/>
              <a:cs typeface="Helvetica Neue"/>
              <a:sym typeface="Helvetica Neue"/>
            </a:endParaRPr>
          </a:p>
        </p:txBody>
      </p:sp>
      <p:sp>
        <p:nvSpPr>
          <p:cNvPr id="244" name="Google Shape;244;p18"/>
          <p:cNvSpPr/>
          <p:nvPr/>
        </p:nvSpPr>
        <p:spPr>
          <a:xfrm>
            <a:off x="5394325" y="1966913"/>
            <a:ext cx="457200" cy="5334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B</a:t>
            </a:r>
            <a:endParaRPr i="1">
              <a:solidFill>
                <a:schemeClr val="dk1"/>
              </a:solidFill>
              <a:latin typeface="Helvetica Neue"/>
              <a:ea typeface="Helvetica Neue"/>
              <a:cs typeface="Helvetica Neue"/>
              <a:sym typeface="Helvetica Neue"/>
            </a:endParaRPr>
          </a:p>
        </p:txBody>
      </p:sp>
      <p:sp>
        <p:nvSpPr>
          <p:cNvPr id="245" name="Google Shape;245;p18"/>
          <p:cNvSpPr/>
          <p:nvPr/>
        </p:nvSpPr>
        <p:spPr>
          <a:xfrm>
            <a:off x="4937125" y="2576513"/>
            <a:ext cx="457200" cy="21336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α</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α</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α</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α</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β</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β</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β</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β</a:t>
            </a:r>
            <a:endParaRPr i="1">
              <a:solidFill>
                <a:schemeClr val="dk1"/>
              </a:solidFill>
              <a:latin typeface="Helvetica Neue"/>
              <a:ea typeface="Helvetica Neue"/>
              <a:cs typeface="Helvetica Neue"/>
              <a:sym typeface="Helvetica Neue"/>
            </a:endParaRPr>
          </a:p>
        </p:txBody>
      </p:sp>
      <p:sp>
        <p:nvSpPr>
          <p:cNvPr id="246" name="Google Shape;246;p18"/>
          <p:cNvSpPr/>
          <p:nvPr/>
        </p:nvSpPr>
        <p:spPr>
          <a:xfrm>
            <a:off x="5394325" y="2576513"/>
            <a:ext cx="457200" cy="21336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1</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1</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1</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1</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2</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2</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2</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2</a:t>
            </a:r>
            <a:endParaRPr i="1">
              <a:solidFill>
                <a:schemeClr val="dk1"/>
              </a:solidFill>
              <a:latin typeface="Helvetica Neue"/>
              <a:ea typeface="Helvetica Neue"/>
              <a:cs typeface="Helvetica Neue"/>
              <a:sym typeface="Helvetica Neue"/>
            </a:endParaRPr>
          </a:p>
        </p:txBody>
      </p:sp>
      <p:sp>
        <p:nvSpPr>
          <p:cNvPr id="247" name="Google Shape;247;p18"/>
          <p:cNvSpPr/>
          <p:nvPr/>
        </p:nvSpPr>
        <p:spPr>
          <a:xfrm>
            <a:off x="5851525" y="1966913"/>
            <a:ext cx="457200" cy="5334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C</a:t>
            </a:r>
            <a:endParaRPr i="1">
              <a:solidFill>
                <a:schemeClr val="dk1"/>
              </a:solidFill>
              <a:latin typeface="Helvetica Neue"/>
              <a:ea typeface="Helvetica Neue"/>
              <a:cs typeface="Helvetica Neue"/>
              <a:sym typeface="Helvetica Neue"/>
            </a:endParaRPr>
          </a:p>
        </p:txBody>
      </p:sp>
      <p:sp>
        <p:nvSpPr>
          <p:cNvPr id="248" name="Google Shape;248;p18"/>
          <p:cNvSpPr/>
          <p:nvPr/>
        </p:nvSpPr>
        <p:spPr>
          <a:xfrm>
            <a:off x="6308725" y="1966913"/>
            <a:ext cx="457200" cy="5334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D</a:t>
            </a:r>
            <a:endParaRPr i="1">
              <a:solidFill>
                <a:schemeClr val="dk1"/>
              </a:solidFill>
              <a:latin typeface="Helvetica Neue"/>
              <a:ea typeface="Helvetica Neue"/>
              <a:cs typeface="Helvetica Neue"/>
              <a:sym typeface="Helvetica Neue"/>
            </a:endParaRPr>
          </a:p>
        </p:txBody>
      </p:sp>
      <p:sp>
        <p:nvSpPr>
          <p:cNvPr id="249" name="Google Shape;249;p18"/>
          <p:cNvSpPr/>
          <p:nvPr/>
        </p:nvSpPr>
        <p:spPr>
          <a:xfrm>
            <a:off x="5851525" y="2576513"/>
            <a:ext cx="457200" cy="21336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α</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β </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β</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γ </a:t>
            </a:r>
            <a:br>
              <a:rPr lang="en-US" i="1">
                <a:solidFill>
                  <a:schemeClr val="dk1"/>
                </a:solidFill>
                <a:latin typeface="Helvetica Neue"/>
                <a:ea typeface="Helvetica Neue"/>
                <a:cs typeface="Helvetica Neue"/>
                <a:sym typeface="Helvetica Neue"/>
              </a:rPr>
            </a:br>
            <a:r>
              <a:rPr lang="en-US" i="1">
                <a:solidFill>
                  <a:schemeClr val="dk1"/>
                </a:solidFill>
                <a:latin typeface="Helvetica Neue"/>
                <a:ea typeface="Helvetica Neue"/>
                <a:cs typeface="Helvetica Neue"/>
                <a:sym typeface="Helvetica Neue"/>
              </a:rPr>
              <a:t>α</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β</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β</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γ</a:t>
            </a:r>
            <a:endParaRPr i="1">
              <a:solidFill>
                <a:schemeClr val="dk1"/>
              </a:solidFill>
              <a:latin typeface="Helvetica Neue"/>
              <a:ea typeface="Helvetica Neue"/>
              <a:cs typeface="Helvetica Neue"/>
              <a:sym typeface="Helvetica Neue"/>
            </a:endParaRPr>
          </a:p>
        </p:txBody>
      </p:sp>
      <p:sp>
        <p:nvSpPr>
          <p:cNvPr id="250" name="Google Shape;250;p18"/>
          <p:cNvSpPr/>
          <p:nvPr/>
        </p:nvSpPr>
        <p:spPr>
          <a:xfrm>
            <a:off x="6308725" y="2576513"/>
            <a:ext cx="457200" cy="21336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10</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10</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20</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10</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10</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10</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20</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10</a:t>
            </a:r>
            <a:endParaRPr i="1">
              <a:solidFill>
                <a:schemeClr val="dk1"/>
              </a:solidFill>
              <a:latin typeface="Helvetica Neue"/>
              <a:ea typeface="Helvetica Neue"/>
              <a:cs typeface="Helvetica Neue"/>
              <a:sym typeface="Helvetica Neue"/>
            </a:endParaRPr>
          </a:p>
        </p:txBody>
      </p:sp>
      <p:sp>
        <p:nvSpPr>
          <p:cNvPr id="251" name="Google Shape;251;p18"/>
          <p:cNvSpPr/>
          <p:nvPr/>
        </p:nvSpPr>
        <p:spPr>
          <a:xfrm>
            <a:off x="6765925" y="1966913"/>
            <a:ext cx="457200" cy="5334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E</a:t>
            </a:r>
            <a:endParaRPr i="1">
              <a:solidFill>
                <a:schemeClr val="dk1"/>
              </a:solidFill>
              <a:latin typeface="Helvetica Neue"/>
              <a:ea typeface="Helvetica Neue"/>
              <a:cs typeface="Helvetica Neue"/>
              <a:sym typeface="Helvetica Neue"/>
            </a:endParaRPr>
          </a:p>
        </p:txBody>
      </p:sp>
      <p:sp>
        <p:nvSpPr>
          <p:cNvPr id="252" name="Google Shape;252;p18"/>
          <p:cNvSpPr/>
          <p:nvPr/>
        </p:nvSpPr>
        <p:spPr>
          <a:xfrm>
            <a:off x="6765925" y="2576513"/>
            <a:ext cx="457200" cy="21336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a</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a</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b</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b</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a</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a</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b</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b</a:t>
            </a:r>
            <a:endParaRPr i="1">
              <a:solidFill>
                <a:schemeClr val="dk1"/>
              </a:solidFill>
              <a:latin typeface="Helvetica Neue"/>
              <a:ea typeface="Helvetica Neue"/>
              <a:cs typeface="Helvetica Neue"/>
              <a:sym typeface="Helvetica Neue"/>
            </a:endParaRPr>
          </a:p>
        </p:txBody>
      </p:sp>
      <p:sp>
        <p:nvSpPr>
          <p:cNvPr id="253" name="Google Shape;253;p18"/>
          <p:cNvSpPr/>
          <p:nvPr/>
        </p:nvSpPr>
        <p:spPr>
          <a:xfrm>
            <a:off x="4927600" y="5006975"/>
            <a:ext cx="457200" cy="5334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A</a:t>
            </a:r>
            <a:endParaRPr i="1">
              <a:solidFill>
                <a:schemeClr val="dk1"/>
              </a:solidFill>
              <a:latin typeface="Helvetica Neue"/>
              <a:ea typeface="Helvetica Neue"/>
              <a:cs typeface="Helvetica Neue"/>
              <a:sym typeface="Helvetica Neue"/>
            </a:endParaRPr>
          </a:p>
        </p:txBody>
      </p:sp>
      <p:sp>
        <p:nvSpPr>
          <p:cNvPr id="254" name="Google Shape;254;p18"/>
          <p:cNvSpPr/>
          <p:nvPr/>
        </p:nvSpPr>
        <p:spPr>
          <a:xfrm>
            <a:off x="5384800" y="5006975"/>
            <a:ext cx="457200" cy="5334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B</a:t>
            </a:r>
            <a:endParaRPr i="1">
              <a:solidFill>
                <a:schemeClr val="dk1"/>
              </a:solidFill>
              <a:latin typeface="Helvetica Neue"/>
              <a:ea typeface="Helvetica Neue"/>
              <a:cs typeface="Helvetica Neue"/>
              <a:sym typeface="Helvetica Neue"/>
            </a:endParaRPr>
          </a:p>
        </p:txBody>
      </p:sp>
      <p:sp>
        <p:nvSpPr>
          <p:cNvPr id="255" name="Google Shape;255;p18"/>
          <p:cNvSpPr/>
          <p:nvPr/>
        </p:nvSpPr>
        <p:spPr>
          <a:xfrm>
            <a:off x="5842000" y="5006975"/>
            <a:ext cx="457200" cy="5334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C</a:t>
            </a:r>
            <a:endParaRPr i="1">
              <a:solidFill>
                <a:schemeClr val="dk1"/>
              </a:solidFill>
              <a:latin typeface="Helvetica Neue"/>
              <a:ea typeface="Helvetica Neue"/>
              <a:cs typeface="Helvetica Neue"/>
              <a:sym typeface="Helvetica Neue"/>
            </a:endParaRPr>
          </a:p>
        </p:txBody>
      </p:sp>
      <p:sp>
        <p:nvSpPr>
          <p:cNvPr id="256" name="Google Shape;256;p18"/>
          <p:cNvSpPr/>
          <p:nvPr/>
        </p:nvSpPr>
        <p:spPr>
          <a:xfrm>
            <a:off x="6299200" y="5006975"/>
            <a:ext cx="457200" cy="5334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D</a:t>
            </a:r>
            <a:endParaRPr i="1">
              <a:solidFill>
                <a:schemeClr val="dk1"/>
              </a:solidFill>
              <a:latin typeface="Helvetica Neue"/>
              <a:ea typeface="Helvetica Neue"/>
              <a:cs typeface="Helvetica Neue"/>
              <a:sym typeface="Helvetica Neue"/>
            </a:endParaRPr>
          </a:p>
        </p:txBody>
      </p:sp>
      <p:sp>
        <p:nvSpPr>
          <p:cNvPr id="257" name="Google Shape;257;p18"/>
          <p:cNvSpPr/>
          <p:nvPr/>
        </p:nvSpPr>
        <p:spPr>
          <a:xfrm>
            <a:off x="6756400" y="5006975"/>
            <a:ext cx="457200" cy="5334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E</a:t>
            </a:r>
            <a:endParaRPr i="1">
              <a:solidFill>
                <a:schemeClr val="dk1"/>
              </a:solidFill>
              <a:latin typeface="Helvetica Neue"/>
              <a:ea typeface="Helvetica Neue"/>
              <a:cs typeface="Helvetica Neue"/>
              <a:sym typeface="Helvetica Neue"/>
            </a:endParaRPr>
          </a:p>
        </p:txBody>
      </p:sp>
      <p:sp>
        <p:nvSpPr>
          <p:cNvPr id="258" name="Google Shape;258;p18"/>
          <p:cNvSpPr/>
          <p:nvPr/>
        </p:nvSpPr>
        <p:spPr>
          <a:xfrm>
            <a:off x="4927600" y="5589588"/>
            <a:ext cx="482600" cy="90805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lnSpc>
                <a:spcPct val="70000"/>
              </a:lnSpc>
            </a:pPr>
            <a:endParaRPr i="1">
              <a:solidFill>
                <a:schemeClr val="dk1"/>
              </a:solidFill>
              <a:latin typeface="Helvetica Neue"/>
              <a:ea typeface="Helvetica Neue"/>
              <a:cs typeface="Helvetica Neue"/>
              <a:sym typeface="Helvetica Neue"/>
            </a:endParaRPr>
          </a:p>
        </p:txBody>
      </p:sp>
      <p:sp>
        <p:nvSpPr>
          <p:cNvPr id="259" name="Google Shape;259;p18"/>
          <p:cNvSpPr/>
          <p:nvPr/>
        </p:nvSpPr>
        <p:spPr>
          <a:xfrm>
            <a:off x="5384800" y="5589589"/>
            <a:ext cx="457200" cy="917575"/>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endParaRPr i="1">
              <a:solidFill>
                <a:schemeClr val="dk1"/>
              </a:solidFill>
              <a:latin typeface="Helvetica Neue"/>
              <a:ea typeface="Helvetica Neue"/>
              <a:cs typeface="Helvetica Neue"/>
              <a:sym typeface="Helvetica Neue"/>
            </a:endParaRPr>
          </a:p>
        </p:txBody>
      </p:sp>
      <p:sp>
        <p:nvSpPr>
          <p:cNvPr id="260" name="Google Shape;260;p18"/>
          <p:cNvSpPr/>
          <p:nvPr/>
        </p:nvSpPr>
        <p:spPr>
          <a:xfrm>
            <a:off x="5842001" y="5589589"/>
            <a:ext cx="430213" cy="917575"/>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endParaRPr i="1">
              <a:solidFill>
                <a:schemeClr val="dk1"/>
              </a:solidFill>
              <a:latin typeface="Helvetica Neue"/>
              <a:ea typeface="Helvetica Neue"/>
              <a:cs typeface="Helvetica Neue"/>
              <a:sym typeface="Helvetica Neue"/>
            </a:endParaRPr>
          </a:p>
        </p:txBody>
      </p:sp>
      <p:sp>
        <p:nvSpPr>
          <p:cNvPr id="261" name="Google Shape;261;p18"/>
          <p:cNvSpPr/>
          <p:nvPr/>
        </p:nvSpPr>
        <p:spPr>
          <a:xfrm>
            <a:off x="6273801" y="5589589"/>
            <a:ext cx="481013" cy="917575"/>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endParaRPr i="1">
              <a:solidFill>
                <a:schemeClr val="dk1"/>
              </a:solidFill>
              <a:latin typeface="Helvetica Neue"/>
              <a:ea typeface="Helvetica Neue"/>
              <a:cs typeface="Helvetica Neue"/>
              <a:sym typeface="Helvetica Neue"/>
            </a:endParaRPr>
          </a:p>
        </p:txBody>
      </p:sp>
      <p:sp>
        <p:nvSpPr>
          <p:cNvPr id="262" name="Google Shape;262;p18"/>
          <p:cNvSpPr/>
          <p:nvPr/>
        </p:nvSpPr>
        <p:spPr>
          <a:xfrm>
            <a:off x="6742113" y="5589589"/>
            <a:ext cx="457200" cy="942975"/>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endParaRPr i="1">
              <a:solidFill>
                <a:schemeClr val="dk1"/>
              </a:solidFill>
              <a:latin typeface="Helvetica Neue"/>
              <a:ea typeface="Helvetica Neue"/>
              <a:cs typeface="Helvetica Neue"/>
              <a:sym typeface="Helvetica Neue"/>
            </a:endParaRPr>
          </a:p>
        </p:txBody>
      </p:sp>
      <p:sp>
        <p:nvSpPr>
          <p:cNvPr id="263" name="Google Shape;263;p18"/>
          <p:cNvSpPr txBox="1"/>
          <p:nvPr/>
        </p:nvSpPr>
        <p:spPr>
          <a:xfrm>
            <a:off x="5003800" y="5740401"/>
            <a:ext cx="184150" cy="366713"/>
          </a:xfrm>
          <a:prstGeom prst="rect">
            <a:avLst/>
          </a:prstGeom>
          <a:noFill/>
          <a:ln>
            <a:noFill/>
          </a:ln>
        </p:spPr>
        <p:txBody>
          <a:bodyPr spcFirstLastPara="1" wrap="square" lIns="91425" tIns="45700" rIns="91425" bIns="45700" anchor="t" anchorCtr="0">
            <a:spAutoFit/>
          </a:bodyPr>
          <a:lstStyle/>
          <a:p>
            <a:pPr algn="ctr"/>
            <a:endParaRPr>
              <a:solidFill>
                <a:schemeClr val="dk1"/>
              </a:solidFill>
              <a:latin typeface="Helvetica Neue"/>
              <a:ea typeface="Helvetica Neue"/>
              <a:cs typeface="Helvetica Neue"/>
              <a:sym typeface="Helvetica Neue"/>
            </a:endParaRPr>
          </a:p>
        </p:txBody>
      </p:sp>
      <p:sp>
        <p:nvSpPr>
          <p:cNvPr id="264" name="Google Shape;264;p18"/>
          <p:cNvSpPr txBox="1"/>
          <p:nvPr/>
        </p:nvSpPr>
        <p:spPr>
          <a:xfrm>
            <a:off x="4959351" y="5548314"/>
            <a:ext cx="328613" cy="915987"/>
          </a:xfrm>
          <a:prstGeom prst="rect">
            <a:avLst/>
          </a:prstGeom>
          <a:noFill/>
          <a:ln>
            <a:noFill/>
          </a:ln>
        </p:spPr>
        <p:txBody>
          <a:bodyPr spcFirstLastPara="1" wrap="square" lIns="91425" tIns="45700" rIns="91425" bIns="45700" anchor="t" anchorCtr="0">
            <a:spAutoFit/>
          </a:bodyPr>
          <a:lstStyle/>
          <a:p>
            <a:pPr algn="ctr"/>
            <a:r>
              <a:rPr lang="en-US" i="1">
                <a:solidFill>
                  <a:schemeClr val="dk1"/>
                </a:solidFill>
                <a:latin typeface="Helvetica Neue"/>
                <a:ea typeface="Helvetica Neue"/>
                <a:cs typeface="Helvetica Neue"/>
                <a:sym typeface="Helvetica Neue"/>
              </a:rPr>
              <a:t>α</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β</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β</a:t>
            </a:r>
            <a:endParaRPr i="1">
              <a:solidFill>
                <a:schemeClr val="dk1"/>
              </a:solidFill>
              <a:latin typeface="Helvetica Neue"/>
              <a:ea typeface="Helvetica Neue"/>
              <a:cs typeface="Helvetica Neue"/>
              <a:sym typeface="Helvetica Neue"/>
            </a:endParaRPr>
          </a:p>
        </p:txBody>
      </p:sp>
      <p:sp>
        <p:nvSpPr>
          <p:cNvPr id="265" name="Google Shape;265;p18"/>
          <p:cNvSpPr txBox="1"/>
          <p:nvPr/>
        </p:nvSpPr>
        <p:spPr>
          <a:xfrm>
            <a:off x="5443538" y="5597525"/>
            <a:ext cx="311150" cy="915988"/>
          </a:xfrm>
          <a:prstGeom prst="rect">
            <a:avLst/>
          </a:prstGeom>
          <a:noFill/>
          <a:ln>
            <a:noFill/>
          </a:ln>
        </p:spPr>
        <p:txBody>
          <a:bodyPr spcFirstLastPara="1" wrap="square" lIns="91425" tIns="45700" rIns="91425" bIns="45700" anchor="t" anchorCtr="0">
            <a:spAutoFit/>
          </a:bodyPr>
          <a:lstStyle/>
          <a:p>
            <a:pPr algn="ctr"/>
            <a:r>
              <a:rPr lang="en-US" i="1">
                <a:solidFill>
                  <a:schemeClr val="dk1"/>
                </a:solidFill>
                <a:latin typeface="Helvetica Neue"/>
                <a:ea typeface="Helvetica Neue"/>
                <a:cs typeface="Helvetica Neue"/>
                <a:sym typeface="Helvetica Neue"/>
              </a:rPr>
              <a:t>1</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2</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2</a:t>
            </a:r>
            <a:endParaRPr i="1">
              <a:solidFill>
                <a:schemeClr val="dk1"/>
              </a:solidFill>
              <a:latin typeface="Helvetica Neue"/>
              <a:ea typeface="Helvetica Neue"/>
              <a:cs typeface="Helvetica Neue"/>
              <a:sym typeface="Helvetica Neue"/>
            </a:endParaRPr>
          </a:p>
        </p:txBody>
      </p:sp>
      <p:sp>
        <p:nvSpPr>
          <p:cNvPr id="266" name="Google Shape;266;p18"/>
          <p:cNvSpPr txBox="1"/>
          <p:nvPr/>
        </p:nvSpPr>
        <p:spPr>
          <a:xfrm>
            <a:off x="5921376" y="5538789"/>
            <a:ext cx="328613" cy="915987"/>
          </a:xfrm>
          <a:prstGeom prst="rect">
            <a:avLst/>
          </a:prstGeom>
          <a:noFill/>
          <a:ln>
            <a:noFill/>
          </a:ln>
        </p:spPr>
        <p:txBody>
          <a:bodyPr spcFirstLastPara="1" wrap="square" lIns="91425" tIns="45700" rIns="91425" bIns="45700" anchor="t" anchorCtr="0">
            <a:spAutoFit/>
          </a:bodyPr>
          <a:lstStyle/>
          <a:p>
            <a:pPr algn="ctr"/>
            <a:r>
              <a:rPr lang="en-US" i="1">
                <a:solidFill>
                  <a:schemeClr val="dk1"/>
                </a:solidFill>
                <a:latin typeface="Helvetica Neue"/>
                <a:ea typeface="Helvetica Neue"/>
                <a:cs typeface="Helvetica Neue"/>
                <a:sym typeface="Helvetica Neue"/>
              </a:rPr>
              <a:t>α</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β</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β</a:t>
            </a:r>
            <a:endParaRPr i="1">
              <a:solidFill>
                <a:schemeClr val="dk1"/>
              </a:solidFill>
              <a:latin typeface="Helvetica Neue"/>
              <a:ea typeface="Helvetica Neue"/>
              <a:cs typeface="Helvetica Neue"/>
              <a:sym typeface="Helvetica Neue"/>
            </a:endParaRPr>
          </a:p>
        </p:txBody>
      </p:sp>
      <p:sp>
        <p:nvSpPr>
          <p:cNvPr id="267" name="Google Shape;267;p18"/>
          <p:cNvSpPr txBox="1"/>
          <p:nvPr/>
        </p:nvSpPr>
        <p:spPr>
          <a:xfrm>
            <a:off x="6259513" y="5576889"/>
            <a:ext cx="519112" cy="915987"/>
          </a:xfrm>
          <a:prstGeom prst="rect">
            <a:avLst/>
          </a:prstGeom>
          <a:noFill/>
          <a:ln>
            <a:noFill/>
          </a:ln>
        </p:spPr>
        <p:txBody>
          <a:bodyPr spcFirstLastPara="1" wrap="square" lIns="91425" tIns="45700" rIns="91425" bIns="45700" anchor="t" anchorCtr="0">
            <a:spAutoFit/>
          </a:bodyPr>
          <a:lstStyle/>
          <a:p>
            <a:pPr algn="ctr"/>
            <a:r>
              <a:rPr lang="en-US" i="1">
                <a:solidFill>
                  <a:schemeClr val="dk1"/>
                </a:solidFill>
                <a:latin typeface="Helvetica Neue"/>
                <a:ea typeface="Helvetica Neue"/>
                <a:cs typeface="Helvetica Neue"/>
                <a:sym typeface="Helvetica Neue"/>
              </a:rPr>
              <a:t>10</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20</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20</a:t>
            </a:r>
            <a:endParaRPr i="1">
              <a:solidFill>
                <a:schemeClr val="dk1"/>
              </a:solidFill>
              <a:latin typeface="Helvetica Neue"/>
              <a:ea typeface="Helvetica Neue"/>
              <a:cs typeface="Helvetica Neue"/>
              <a:sym typeface="Helvetica Neue"/>
            </a:endParaRPr>
          </a:p>
        </p:txBody>
      </p:sp>
      <p:sp>
        <p:nvSpPr>
          <p:cNvPr id="268" name="Google Shape;268;p18"/>
          <p:cNvSpPr txBox="1"/>
          <p:nvPr/>
        </p:nvSpPr>
        <p:spPr>
          <a:xfrm>
            <a:off x="6810375" y="5578475"/>
            <a:ext cx="311150" cy="915988"/>
          </a:xfrm>
          <a:prstGeom prst="rect">
            <a:avLst/>
          </a:prstGeom>
          <a:noFill/>
          <a:ln>
            <a:noFill/>
          </a:ln>
        </p:spPr>
        <p:txBody>
          <a:bodyPr spcFirstLastPara="1" wrap="square" lIns="91425" tIns="45700" rIns="91425" bIns="45700" anchor="t" anchorCtr="0">
            <a:spAutoFit/>
          </a:bodyPr>
          <a:lstStyle/>
          <a:p>
            <a:pPr algn="ctr"/>
            <a:r>
              <a:rPr lang="en-US" i="1">
                <a:solidFill>
                  <a:schemeClr val="dk1"/>
                </a:solidFill>
                <a:latin typeface="Helvetica Neue"/>
                <a:ea typeface="Helvetica Neue"/>
                <a:cs typeface="Helvetica Neue"/>
                <a:sym typeface="Helvetica Neue"/>
              </a:rPr>
              <a:t>a</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a</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b</a:t>
            </a:r>
            <a:endParaRPr i="1">
              <a:solidFill>
                <a:schemeClr val="dk1"/>
              </a:solidFill>
              <a:latin typeface="Helvetica Neue"/>
              <a:ea typeface="Helvetica Neue"/>
              <a:cs typeface="Helvetica Neue"/>
              <a:sym typeface="Helvetica Neue"/>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3"/>
                                        </p:tgtEl>
                                        <p:attrNameLst>
                                          <p:attrName>style.visibility</p:attrName>
                                        </p:attrNameLst>
                                      </p:cBhvr>
                                      <p:to>
                                        <p:strVal val="visible"/>
                                      </p:to>
                                    </p:set>
                                    <p:animEffect transition="in" filter="fade">
                                      <p:cBhvr>
                                        <p:cTn id="7" dur="500"/>
                                        <p:tgtEl>
                                          <p:spTgt spid="253"/>
                                        </p:tgtEl>
                                      </p:cBhvr>
                                    </p:animEffect>
                                  </p:childTnLst>
                                </p:cTn>
                              </p:par>
                              <p:par>
                                <p:cTn id="8" presetID="10" presetClass="entr" presetSubtype="0" fill="hold" nodeType="withEffect">
                                  <p:stCondLst>
                                    <p:cond delay="0"/>
                                  </p:stCondLst>
                                  <p:childTnLst>
                                    <p:set>
                                      <p:cBhvr>
                                        <p:cTn id="9" dur="1" fill="hold">
                                          <p:stCondLst>
                                            <p:cond delay="0"/>
                                          </p:stCondLst>
                                        </p:cTn>
                                        <p:tgtEl>
                                          <p:spTgt spid="254"/>
                                        </p:tgtEl>
                                        <p:attrNameLst>
                                          <p:attrName>style.visibility</p:attrName>
                                        </p:attrNameLst>
                                      </p:cBhvr>
                                      <p:to>
                                        <p:strVal val="visible"/>
                                      </p:to>
                                    </p:set>
                                    <p:animEffect transition="in" filter="fade">
                                      <p:cBhvr>
                                        <p:cTn id="10" dur="500"/>
                                        <p:tgtEl>
                                          <p:spTgt spid="254"/>
                                        </p:tgtEl>
                                      </p:cBhvr>
                                    </p:animEffect>
                                  </p:childTnLst>
                                </p:cTn>
                              </p:par>
                              <p:par>
                                <p:cTn id="11" presetID="10" presetClass="entr" presetSubtype="0" fill="hold" nodeType="withEffect">
                                  <p:stCondLst>
                                    <p:cond delay="0"/>
                                  </p:stCondLst>
                                  <p:childTnLst>
                                    <p:set>
                                      <p:cBhvr>
                                        <p:cTn id="12" dur="1" fill="hold">
                                          <p:stCondLst>
                                            <p:cond delay="0"/>
                                          </p:stCondLst>
                                        </p:cTn>
                                        <p:tgtEl>
                                          <p:spTgt spid="255"/>
                                        </p:tgtEl>
                                        <p:attrNameLst>
                                          <p:attrName>style.visibility</p:attrName>
                                        </p:attrNameLst>
                                      </p:cBhvr>
                                      <p:to>
                                        <p:strVal val="visible"/>
                                      </p:to>
                                    </p:set>
                                    <p:animEffect transition="in" filter="fade">
                                      <p:cBhvr>
                                        <p:cTn id="13" dur="500"/>
                                        <p:tgtEl>
                                          <p:spTgt spid="255"/>
                                        </p:tgtEl>
                                      </p:cBhvr>
                                    </p:animEffect>
                                  </p:childTnLst>
                                </p:cTn>
                              </p:par>
                              <p:par>
                                <p:cTn id="14" presetID="10" presetClass="entr" presetSubtype="0" fill="hold" nodeType="withEffect">
                                  <p:stCondLst>
                                    <p:cond delay="0"/>
                                  </p:stCondLst>
                                  <p:childTnLst>
                                    <p:set>
                                      <p:cBhvr>
                                        <p:cTn id="15" dur="1" fill="hold">
                                          <p:stCondLst>
                                            <p:cond delay="0"/>
                                          </p:stCondLst>
                                        </p:cTn>
                                        <p:tgtEl>
                                          <p:spTgt spid="256"/>
                                        </p:tgtEl>
                                        <p:attrNameLst>
                                          <p:attrName>style.visibility</p:attrName>
                                        </p:attrNameLst>
                                      </p:cBhvr>
                                      <p:to>
                                        <p:strVal val="visible"/>
                                      </p:to>
                                    </p:set>
                                    <p:animEffect transition="in" filter="fade">
                                      <p:cBhvr>
                                        <p:cTn id="16" dur="500"/>
                                        <p:tgtEl>
                                          <p:spTgt spid="256"/>
                                        </p:tgtEl>
                                      </p:cBhvr>
                                    </p:animEffect>
                                  </p:childTnLst>
                                </p:cTn>
                              </p:par>
                              <p:par>
                                <p:cTn id="17" presetID="10" presetClass="entr" presetSubtype="0" fill="hold" nodeType="withEffect">
                                  <p:stCondLst>
                                    <p:cond delay="0"/>
                                  </p:stCondLst>
                                  <p:childTnLst>
                                    <p:set>
                                      <p:cBhvr>
                                        <p:cTn id="18" dur="1" fill="hold">
                                          <p:stCondLst>
                                            <p:cond delay="0"/>
                                          </p:stCondLst>
                                        </p:cTn>
                                        <p:tgtEl>
                                          <p:spTgt spid="257"/>
                                        </p:tgtEl>
                                        <p:attrNameLst>
                                          <p:attrName>style.visibility</p:attrName>
                                        </p:attrNameLst>
                                      </p:cBhvr>
                                      <p:to>
                                        <p:strVal val="visible"/>
                                      </p:to>
                                    </p:set>
                                    <p:animEffect transition="in" filter="fade">
                                      <p:cBhvr>
                                        <p:cTn id="19" dur="500"/>
                                        <p:tgtEl>
                                          <p:spTgt spid="257"/>
                                        </p:tgtEl>
                                      </p:cBhvr>
                                    </p:animEffect>
                                  </p:childTnLst>
                                </p:cTn>
                              </p:par>
                              <p:par>
                                <p:cTn id="20" presetID="10" presetClass="entr" presetSubtype="0" fill="hold" nodeType="withEffect">
                                  <p:stCondLst>
                                    <p:cond delay="0"/>
                                  </p:stCondLst>
                                  <p:childTnLst>
                                    <p:set>
                                      <p:cBhvr>
                                        <p:cTn id="21" dur="1" fill="hold">
                                          <p:stCondLst>
                                            <p:cond delay="0"/>
                                          </p:stCondLst>
                                        </p:cTn>
                                        <p:tgtEl>
                                          <p:spTgt spid="258"/>
                                        </p:tgtEl>
                                        <p:attrNameLst>
                                          <p:attrName>style.visibility</p:attrName>
                                        </p:attrNameLst>
                                      </p:cBhvr>
                                      <p:to>
                                        <p:strVal val="visible"/>
                                      </p:to>
                                    </p:set>
                                    <p:animEffect transition="in" filter="fade">
                                      <p:cBhvr>
                                        <p:cTn id="22" dur="500"/>
                                        <p:tgtEl>
                                          <p:spTgt spid="258"/>
                                        </p:tgtEl>
                                      </p:cBhvr>
                                    </p:animEffect>
                                  </p:childTnLst>
                                </p:cTn>
                              </p:par>
                              <p:par>
                                <p:cTn id="23" presetID="10" presetClass="entr" presetSubtype="0" fill="hold" nodeType="withEffect">
                                  <p:stCondLst>
                                    <p:cond delay="0"/>
                                  </p:stCondLst>
                                  <p:childTnLst>
                                    <p:set>
                                      <p:cBhvr>
                                        <p:cTn id="24" dur="1" fill="hold">
                                          <p:stCondLst>
                                            <p:cond delay="0"/>
                                          </p:stCondLst>
                                        </p:cTn>
                                        <p:tgtEl>
                                          <p:spTgt spid="259"/>
                                        </p:tgtEl>
                                        <p:attrNameLst>
                                          <p:attrName>style.visibility</p:attrName>
                                        </p:attrNameLst>
                                      </p:cBhvr>
                                      <p:to>
                                        <p:strVal val="visible"/>
                                      </p:to>
                                    </p:set>
                                    <p:animEffect transition="in" filter="fade">
                                      <p:cBhvr>
                                        <p:cTn id="25" dur="500"/>
                                        <p:tgtEl>
                                          <p:spTgt spid="259"/>
                                        </p:tgtEl>
                                      </p:cBhvr>
                                    </p:animEffect>
                                  </p:childTnLst>
                                </p:cTn>
                              </p:par>
                              <p:par>
                                <p:cTn id="26" presetID="10" presetClass="entr" presetSubtype="0" fill="hold" nodeType="withEffect">
                                  <p:stCondLst>
                                    <p:cond delay="0"/>
                                  </p:stCondLst>
                                  <p:childTnLst>
                                    <p:set>
                                      <p:cBhvr>
                                        <p:cTn id="27" dur="1" fill="hold">
                                          <p:stCondLst>
                                            <p:cond delay="0"/>
                                          </p:stCondLst>
                                        </p:cTn>
                                        <p:tgtEl>
                                          <p:spTgt spid="260"/>
                                        </p:tgtEl>
                                        <p:attrNameLst>
                                          <p:attrName>style.visibility</p:attrName>
                                        </p:attrNameLst>
                                      </p:cBhvr>
                                      <p:to>
                                        <p:strVal val="visible"/>
                                      </p:to>
                                    </p:set>
                                    <p:animEffect transition="in" filter="fade">
                                      <p:cBhvr>
                                        <p:cTn id="28" dur="500"/>
                                        <p:tgtEl>
                                          <p:spTgt spid="260"/>
                                        </p:tgtEl>
                                      </p:cBhvr>
                                    </p:animEffect>
                                  </p:childTnLst>
                                </p:cTn>
                              </p:par>
                              <p:par>
                                <p:cTn id="29" presetID="10" presetClass="entr" presetSubtype="0" fill="hold" nodeType="withEffect">
                                  <p:stCondLst>
                                    <p:cond delay="0"/>
                                  </p:stCondLst>
                                  <p:childTnLst>
                                    <p:set>
                                      <p:cBhvr>
                                        <p:cTn id="30" dur="1" fill="hold">
                                          <p:stCondLst>
                                            <p:cond delay="0"/>
                                          </p:stCondLst>
                                        </p:cTn>
                                        <p:tgtEl>
                                          <p:spTgt spid="261"/>
                                        </p:tgtEl>
                                        <p:attrNameLst>
                                          <p:attrName>style.visibility</p:attrName>
                                        </p:attrNameLst>
                                      </p:cBhvr>
                                      <p:to>
                                        <p:strVal val="visible"/>
                                      </p:to>
                                    </p:set>
                                    <p:animEffect transition="in" filter="fade">
                                      <p:cBhvr>
                                        <p:cTn id="31" dur="500"/>
                                        <p:tgtEl>
                                          <p:spTgt spid="261"/>
                                        </p:tgtEl>
                                      </p:cBhvr>
                                    </p:animEffect>
                                  </p:childTnLst>
                                </p:cTn>
                              </p:par>
                              <p:par>
                                <p:cTn id="32" presetID="10" presetClass="entr" presetSubtype="0" fill="hold" nodeType="withEffect">
                                  <p:stCondLst>
                                    <p:cond delay="0"/>
                                  </p:stCondLst>
                                  <p:childTnLst>
                                    <p:set>
                                      <p:cBhvr>
                                        <p:cTn id="33" dur="1" fill="hold">
                                          <p:stCondLst>
                                            <p:cond delay="0"/>
                                          </p:stCondLst>
                                        </p:cTn>
                                        <p:tgtEl>
                                          <p:spTgt spid="262"/>
                                        </p:tgtEl>
                                        <p:attrNameLst>
                                          <p:attrName>style.visibility</p:attrName>
                                        </p:attrNameLst>
                                      </p:cBhvr>
                                      <p:to>
                                        <p:strVal val="visible"/>
                                      </p:to>
                                    </p:set>
                                    <p:animEffect transition="in" filter="fade">
                                      <p:cBhvr>
                                        <p:cTn id="34" dur="500"/>
                                        <p:tgtEl>
                                          <p:spTgt spid="262"/>
                                        </p:tgtEl>
                                      </p:cBhvr>
                                    </p:animEffect>
                                  </p:childTnLst>
                                </p:cTn>
                              </p:par>
                              <p:par>
                                <p:cTn id="35" presetID="10" presetClass="entr" presetSubtype="0" fill="hold" nodeType="withEffect">
                                  <p:stCondLst>
                                    <p:cond delay="0"/>
                                  </p:stCondLst>
                                  <p:childTnLst>
                                    <p:set>
                                      <p:cBhvr>
                                        <p:cTn id="36" dur="1" fill="hold">
                                          <p:stCondLst>
                                            <p:cond delay="0"/>
                                          </p:stCondLst>
                                        </p:cTn>
                                        <p:tgtEl>
                                          <p:spTgt spid="263"/>
                                        </p:tgtEl>
                                        <p:attrNameLst>
                                          <p:attrName>style.visibility</p:attrName>
                                        </p:attrNameLst>
                                      </p:cBhvr>
                                      <p:to>
                                        <p:strVal val="visible"/>
                                      </p:to>
                                    </p:set>
                                    <p:animEffect transition="in" filter="fade">
                                      <p:cBhvr>
                                        <p:cTn id="37" dur="500"/>
                                        <p:tgtEl>
                                          <p:spTgt spid="263"/>
                                        </p:tgtEl>
                                      </p:cBhvr>
                                    </p:animEffect>
                                  </p:childTnLst>
                                </p:cTn>
                              </p:par>
                              <p:par>
                                <p:cTn id="38" presetID="10" presetClass="entr" presetSubtype="0" fill="hold" nodeType="withEffect">
                                  <p:stCondLst>
                                    <p:cond delay="0"/>
                                  </p:stCondLst>
                                  <p:childTnLst>
                                    <p:set>
                                      <p:cBhvr>
                                        <p:cTn id="39" dur="1" fill="hold">
                                          <p:stCondLst>
                                            <p:cond delay="0"/>
                                          </p:stCondLst>
                                        </p:cTn>
                                        <p:tgtEl>
                                          <p:spTgt spid="264"/>
                                        </p:tgtEl>
                                        <p:attrNameLst>
                                          <p:attrName>style.visibility</p:attrName>
                                        </p:attrNameLst>
                                      </p:cBhvr>
                                      <p:to>
                                        <p:strVal val="visible"/>
                                      </p:to>
                                    </p:set>
                                    <p:animEffect transition="in" filter="fade">
                                      <p:cBhvr>
                                        <p:cTn id="40" dur="500"/>
                                        <p:tgtEl>
                                          <p:spTgt spid="264"/>
                                        </p:tgtEl>
                                      </p:cBhvr>
                                    </p:animEffect>
                                  </p:childTnLst>
                                </p:cTn>
                              </p:par>
                              <p:par>
                                <p:cTn id="41" presetID="10" presetClass="entr" presetSubtype="0" fill="hold" nodeType="withEffect">
                                  <p:stCondLst>
                                    <p:cond delay="0"/>
                                  </p:stCondLst>
                                  <p:childTnLst>
                                    <p:set>
                                      <p:cBhvr>
                                        <p:cTn id="42" dur="1" fill="hold">
                                          <p:stCondLst>
                                            <p:cond delay="0"/>
                                          </p:stCondLst>
                                        </p:cTn>
                                        <p:tgtEl>
                                          <p:spTgt spid="265"/>
                                        </p:tgtEl>
                                        <p:attrNameLst>
                                          <p:attrName>style.visibility</p:attrName>
                                        </p:attrNameLst>
                                      </p:cBhvr>
                                      <p:to>
                                        <p:strVal val="visible"/>
                                      </p:to>
                                    </p:set>
                                    <p:animEffect transition="in" filter="fade">
                                      <p:cBhvr>
                                        <p:cTn id="43" dur="500"/>
                                        <p:tgtEl>
                                          <p:spTgt spid="265"/>
                                        </p:tgtEl>
                                      </p:cBhvr>
                                    </p:animEffect>
                                  </p:childTnLst>
                                </p:cTn>
                              </p:par>
                              <p:par>
                                <p:cTn id="44" presetID="10" presetClass="entr" presetSubtype="0" fill="hold" nodeType="withEffect">
                                  <p:stCondLst>
                                    <p:cond delay="0"/>
                                  </p:stCondLst>
                                  <p:childTnLst>
                                    <p:set>
                                      <p:cBhvr>
                                        <p:cTn id="45" dur="1" fill="hold">
                                          <p:stCondLst>
                                            <p:cond delay="0"/>
                                          </p:stCondLst>
                                        </p:cTn>
                                        <p:tgtEl>
                                          <p:spTgt spid="266"/>
                                        </p:tgtEl>
                                        <p:attrNameLst>
                                          <p:attrName>style.visibility</p:attrName>
                                        </p:attrNameLst>
                                      </p:cBhvr>
                                      <p:to>
                                        <p:strVal val="visible"/>
                                      </p:to>
                                    </p:set>
                                    <p:animEffect transition="in" filter="fade">
                                      <p:cBhvr>
                                        <p:cTn id="46" dur="500"/>
                                        <p:tgtEl>
                                          <p:spTgt spid="266"/>
                                        </p:tgtEl>
                                      </p:cBhvr>
                                    </p:animEffect>
                                  </p:childTnLst>
                                </p:cTn>
                              </p:par>
                              <p:par>
                                <p:cTn id="47" presetID="10" presetClass="entr" presetSubtype="0" fill="hold" nodeType="withEffect">
                                  <p:stCondLst>
                                    <p:cond delay="0"/>
                                  </p:stCondLst>
                                  <p:childTnLst>
                                    <p:set>
                                      <p:cBhvr>
                                        <p:cTn id="48" dur="1" fill="hold">
                                          <p:stCondLst>
                                            <p:cond delay="0"/>
                                          </p:stCondLst>
                                        </p:cTn>
                                        <p:tgtEl>
                                          <p:spTgt spid="267"/>
                                        </p:tgtEl>
                                        <p:attrNameLst>
                                          <p:attrName>style.visibility</p:attrName>
                                        </p:attrNameLst>
                                      </p:cBhvr>
                                      <p:to>
                                        <p:strVal val="visible"/>
                                      </p:to>
                                    </p:set>
                                    <p:animEffect transition="in" filter="fade">
                                      <p:cBhvr>
                                        <p:cTn id="49" dur="500"/>
                                        <p:tgtEl>
                                          <p:spTgt spid="267"/>
                                        </p:tgtEl>
                                      </p:cBhvr>
                                    </p:animEffect>
                                  </p:childTnLst>
                                </p:cTn>
                              </p:par>
                              <p:par>
                                <p:cTn id="50" presetID="10" presetClass="entr" presetSubtype="0" fill="hold" nodeType="withEffect">
                                  <p:stCondLst>
                                    <p:cond delay="0"/>
                                  </p:stCondLst>
                                  <p:childTnLst>
                                    <p:set>
                                      <p:cBhvr>
                                        <p:cTn id="51" dur="1" fill="hold">
                                          <p:stCondLst>
                                            <p:cond delay="0"/>
                                          </p:stCondLst>
                                        </p:cTn>
                                        <p:tgtEl>
                                          <p:spTgt spid="268"/>
                                        </p:tgtEl>
                                        <p:attrNameLst>
                                          <p:attrName>style.visibility</p:attrName>
                                        </p:attrNameLst>
                                      </p:cBhvr>
                                      <p:to>
                                        <p:strVal val="visible"/>
                                      </p:to>
                                    </p:set>
                                    <p:animEffect transition="in" filter="fade">
                                      <p:cBhvr>
                                        <p:cTn id="52" dur="500"/>
                                        <p:tgtEl>
                                          <p:spTgt spid="2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19"/>
          <p:cNvSpPr txBox="1">
            <a:spLocks noGrp="1"/>
          </p:cNvSpPr>
          <p:nvPr>
            <p:ph type="title"/>
          </p:nvPr>
        </p:nvSpPr>
        <p:spPr>
          <a:xfrm>
            <a:off x="2133600" y="381001"/>
            <a:ext cx="8229600" cy="473075"/>
          </a:xfrm>
          <a:prstGeom prst="rect">
            <a:avLst/>
          </a:prstGeom>
          <a:noFill/>
          <a:ln>
            <a:noFill/>
          </a:ln>
        </p:spPr>
        <p:txBody>
          <a:bodyPr spcFirstLastPara="1" vert="horz" wrap="square" lIns="91425" tIns="45700" rIns="91425" bIns="45700" rtlCol="0" anchor="ctr" anchorCtr="0">
            <a:normAutofit fontScale="90000"/>
          </a:bodyPr>
          <a:lstStyle/>
          <a:p>
            <a:pPr algn="ctr">
              <a:lnSpc>
                <a:spcPct val="100000"/>
              </a:lnSpc>
              <a:spcBef>
                <a:spcPts val="0"/>
              </a:spcBef>
              <a:buClr>
                <a:schemeClr val="dk2"/>
              </a:buClr>
              <a:buSzPct val="100000"/>
            </a:pPr>
            <a:r>
              <a:rPr lang="en-US" b="1">
                <a:latin typeface="Times New Roman"/>
                <a:ea typeface="Times New Roman"/>
                <a:cs typeface="Times New Roman"/>
                <a:sym typeface="Times New Roman"/>
              </a:rPr>
              <a:t>3. Union Operation</a:t>
            </a:r>
            <a:endParaRPr>
              <a:latin typeface="Times New Roman"/>
              <a:ea typeface="Times New Roman"/>
              <a:cs typeface="Times New Roman"/>
              <a:sym typeface="Times New Roman"/>
            </a:endParaRPr>
          </a:p>
        </p:txBody>
      </p:sp>
      <p:sp>
        <p:nvSpPr>
          <p:cNvPr id="274" name="Google Shape;274;p19"/>
          <p:cNvSpPr txBox="1">
            <a:spLocks noGrp="1"/>
          </p:cNvSpPr>
          <p:nvPr>
            <p:ph type="body" idx="1"/>
          </p:nvPr>
        </p:nvSpPr>
        <p:spPr>
          <a:xfrm>
            <a:off x="1752601" y="1295401"/>
            <a:ext cx="8916035" cy="5528945"/>
          </a:xfrm>
          <a:prstGeom prst="rect">
            <a:avLst/>
          </a:prstGeom>
          <a:noFill/>
          <a:ln>
            <a:noFill/>
          </a:ln>
        </p:spPr>
        <p:txBody>
          <a:bodyPr spcFirstLastPara="1" vert="horz" wrap="square" lIns="91425" tIns="45700" rIns="91425" bIns="45700" rtlCol="0" anchor="t" anchorCtr="0">
            <a:noAutofit/>
          </a:bodyPr>
          <a:lstStyle/>
          <a:p>
            <a:pPr marL="342900" indent="-342900" algn="just">
              <a:lnSpc>
                <a:spcPct val="100000"/>
              </a:lnSpc>
              <a:spcBef>
                <a:spcPts val="0"/>
              </a:spcBef>
              <a:buClr>
                <a:schemeClr val="dk1"/>
              </a:buClr>
              <a:buSzPts val="2800"/>
              <a:buFont typeface="Times New Roman"/>
              <a:buChar char="•"/>
            </a:pPr>
            <a:r>
              <a:rPr lang="en-US">
                <a:latin typeface="Times New Roman"/>
                <a:ea typeface="Times New Roman"/>
                <a:cs typeface="Times New Roman"/>
                <a:sym typeface="Times New Roman"/>
              </a:rPr>
              <a:t>Find the names of all bank customers </a:t>
            </a:r>
            <a:r>
              <a:rPr lang="en-US" b="1">
                <a:latin typeface="Times New Roman"/>
                <a:ea typeface="Times New Roman"/>
                <a:cs typeface="Times New Roman"/>
                <a:sym typeface="Times New Roman"/>
              </a:rPr>
              <a:t>who have either an account or a loan or both .</a:t>
            </a:r>
            <a:endParaRPr b="1">
              <a:latin typeface="Times New Roman"/>
              <a:ea typeface="Times New Roman"/>
              <a:cs typeface="Times New Roman"/>
              <a:sym typeface="Times New Roman"/>
            </a:endParaRPr>
          </a:p>
          <a:p>
            <a:pPr marL="342900" indent="-342900" algn="just">
              <a:lnSpc>
                <a:spcPct val="100000"/>
              </a:lnSpc>
              <a:spcBef>
                <a:spcPts val="560"/>
              </a:spcBef>
              <a:buClr>
                <a:schemeClr val="dk1"/>
              </a:buClr>
              <a:buSzPts val="2800"/>
              <a:buFont typeface="Times New Roman"/>
              <a:buChar char="•"/>
            </a:pPr>
            <a:r>
              <a:rPr lang="en-US">
                <a:latin typeface="Times New Roman"/>
                <a:ea typeface="Times New Roman"/>
                <a:cs typeface="Times New Roman"/>
                <a:sym typeface="Times New Roman"/>
              </a:rPr>
              <a:t>To answer the query, we need the union of two sets; that is, we need all customer names that appear in either or both of the two relations. </a:t>
            </a:r>
            <a:endParaRPr>
              <a:latin typeface="Times New Roman"/>
              <a:ea typeface="Times New Roman"/>
              <a:cs typeface="Times New Roman"/>
              <a:sym typeface="Times New Roman"/>
            </a:endParaRPr>
          </a:p>
          <a:p>
            <a:pPr marL="342900" indent="-342900" algn="just">
              <a:lnSpc>
                <a:spcPct val="100000"/>
              </a:lnSpc>
              <a:spcBef>
                <a:spcPts val="560"/>
              </a:spcBef>
              <a:buClr>
                <a:schemeClr val="dk1"/>
              </a:buClr>
              <a:buSzPts val="2800"/>
              <a:buFont typeface="Times New Roman"/>
              <a:buChar char="•"/>
            </a:pPr>
            <a:r>
              <a:rPr lang="en-US">
                <a:latin typeface="Times New Roman"/>
                <a:ea typeface="Times New Roman"/>
                <a:cs typeface="Times New Roman"/>
                <a:sym typeface="Times New Roman"/>
              </a:rPr>
              <a:t>We find these data by the binary operation union, denoted, as in set theory, by ∪. </a:t>
            </a:r>
            <a:endParaRPr>
              <a:latin typeface="Times New Roman"/>
              <a:ea typeface="Times New Roman"/>
              <a:cs typeface="Times New Roman"/>
              <a:sym typeface="Times New Roman"/>
            </a:endParaRPr>
          </a:p>
          <a:p>
            <a:pPr marL="342900" indent="-190500" algn="just">
              <a:lnSpc>
                <a:spcPct val="100000"/>
              </a:lnSpc>
              <a:spcBef>
                <a:spcPts val="480"/>
              </a:spcBef>
              <a:buClr>
                <a:schemeClr val="dk1"/>
              </a:buClr>
              <a:buSzPts val="2400"/>
              <a:buNone/>
            </a:pPr>
            <a:endParaRPr sz="2400">
              <a:latin typeface="Times New Roman"/>
              <a:ea typeface="Times New Roman"/>
              <a:cs typeface="Times New Roman"/>
              <a:sym typeface="Times New Roman"/>
            </a:endParaRPr>
          </a:p>
          <a:p>
            <a:pPr marL="342900" indent="-342900">
              <a:lnSpc>
                <a:spcPct val="100000"/>
              </a:lnSpc>
              <a:spcBef>
                <a:spcPts val="640"/>
              </a:spcBef>
              <a:buClr>
                <a:schemeClr val="dk1"/>
              </a:buClr>
              <a:buSzPts val="3200"/>
              <a:buFont typeface="Arial"/>
              <a:buChar char="•"/>
            </a:pPr>
            <a:r>
              <a:rPr lang="en-US" b="1"/>
              <a:t>Notation:  </a:t>
            </a:r>
            <a:r>
              <a:rPr lang="en-US" b="1" i="1"/>
              <a:t>r</a:t>
            </a:r>
            <a:r>
              <a:rPr lang="en-US" b="1"/>
              <a:t> ∪ </a:t>
            </a:r>
            <a:r>
              <a:rPr lang="en-US" b="1" i="1"/>
              <a:t>s</a:t>
            </a:r>
            <a:endParaRPr b="1" i="1"/>
          </a:p>
          <a:p>
            <a:pPr marL="342900" indent="-342900">
              <a:lnSpc>
                <a:spcPct val="100000"/>
              </a:lnSpc>
              <a:spcBef>
                <a:spcPts val="640"/>
              </a:spcBef>
              <a:buClr>
                <a:schemeClr val="dk1"/>
              </a:buClr>
              <a:buSzPts val="3200"/>
              <a:buFont typeface="Arial"/>
              <a:buChar char="•"/>
            </a:pPr>
            <a:r>
              <a:rPr lang="en-US"/>
              <a:t>Defined as: </a:t>
            </a:r>
            <a:endParaRPr/>
          </a:p>
          <a:p>
            <a:pPr marL="342900" indent="-342900">
              <a:lnSpc>
                <a:spcPct val="100000"/>
              </a:lnSpc>
              <a:spcBef>
                <a:spcPts val="640"/>
              </a:spcBef>
              <a:buClr>
                <a:schemeClr val="dk1"/>
              </a:buClr>
              <a:buSzPts val="3200"/>
              <a:buNone/>
            </a:pPr>
            <a:r>
              <a:rPr lang="en-US"/>
              <a:t>		</a:t>
            </a:r>
            <a:r>
              <a:rPr lang="en-US" i="1"/>
              <a:t>r</a:t>
            </a:r>
            <a:r>
              <a:rPr lang="en-US"/>
              <a:t>  ∪ </a:t>
            </a:r>
            <a:r>
              <a:rPr lang="en-US" i="1"/>
              <a:t>s</a:t>
            </a:r>
            <a:r>
              <a:rPr lang="en-US"/>
              <a:t> = {</a:t>
            </a:r>
            <a:r>
              <a:rPr lang="en-US" i="1"/>
              <a:t>t</a:t>
            </a:r>
            <a:r>
              <a:rPr lang="en-US"/>
              <a:t> | </a:t>
            </a:r>
            <a:r>
              <a:rPr lang="en-US" i="1"/>
              <a:t>t</a:t>
            </a:r>
            <a:r>
              <a:rPr lang="en-US"/>
              <a:t> ∈ </a:t>
            </a:r>
            <a:r>
              <a:rPr lang="en-US" i="1"/>
              <a:t>r</a:t>
            </a:r>
            <a:r>
              <a:rPr lang="en-US"/>
              <a:t> or</a:t>
            </a:r>
            <a:r>
              <a:rPr lang="en-US" i="1"/>
              <a:t> t</a:t>
            </a:r>
            <a:r>
              <a:rPr lang="en-US"/>
              <a:t> ∈ </a:t>
            </a:r>
            <a:r>
              <a:rPr lang="en-US" i="1"/>
              <a:t>s</a:t>
            </a:r>
            <a:r>
              <a:rPr lang="en-US"/>
              <a:t>}</a:t>
            </a:r>
            <a:endParaRPr/>
          </a:p>
          <a:p>
            <a:pPr marL="342900" indent="-342900">
              <a:lnSpc>
                <a:spcPct val="100000"/>
              </a:lnSpc>
              <a:spcBef>
                <a:spcPts val="480"/>
              </a:spcBef>
              <a:buClr>
                <a:schemeClr val="dk1"/>
              </a:buClr>
              <a:buSzPts val="2400"/>
              <a:buNone/>
            </a:pPr>
            <a:endParaRPr sz="2400"/>
          </a:p>
          <a:p>
            <a:pPr marL="342900" indent="-190500" algn="just">
              <a:lnSpc>
                <a:spcPct val="100000"/>
              </a:lnSpc>
              <a:spcBef>
                <a:spcPts val="480"/>
              </a:spcBef>
              <a:buClr>
                <a:schemeClr val="dk1"/>
              </a:buClr>
              <a:buSzPts val="2400"/>
              <a:buNone/>
            </a:pPr>
            <a:endParaRPr sz="2400">
              <a:latin typeface="Times New Roman"/>
              <a:ea typeface="Times New Roman"/>
              <a:cs typeface="Times New Roman"/>
              <a:sym typeface="Times New Roman"/>
            </a:endParaRPr>
          </a:p>
          <a:p>
            <a:pPr marL="342900" indent="-190500">
              <a:lnSpc>
                <a:spcPct val="100000"/>
              </a:lnSpc>
              <a:spcBef>
                <a:spcPts val="480"/>
              </a:spcBef>
              <a:buClr>
                <a:schemeClr val="dk1"/>
              </a:buClr>
              <a:buSzPts val="2400"/>
              <a:buNone/>
            </a:pPr>
            <a:endParaRPr sz="2400">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sp>
        <p:nvSpPr>
          <p:cNvPr id="279" name="Google Shape;279;p20"/>
          <p:cNvSpPr txBox="1">
            <a:spLocks noGrp="1"/>
          </p:cNvSpPr>
          <p:nvPr>
            <p:ph type="body" idx="1"/>
          </p:nvPr>
        </p:nvSpPr>
        <p:spPr>
          <a:xfrm>
            <a:off x="1905000" y="1165861"/>
            <a:ext cx="8229600" cy="5537835"/>
          </a:xfrm>
          <a:prstGeom prst="rect">
            <a:avLst/>
          </a:prstGeom>
          <a:noFill/>
          <a:ln>
            <a:noFill/>
          </a:ln>
        </p:spPr>
        <p:txBody>
          <a:bodyPr spcFirstLastPara="1" vert="horz" wrap="square" lIns="91425" tIns="45700" rIns="91425" bIns="45700" rtlCol="0" anchor="t" anchorCtr="0">
            <a:noAutofit/>
          </a:bodyPr>
          <a:lstStyle/>
          <a:p>
            <a:pPr marL="342900" indent="-342900">
              <a:lnSpc>
                <a:spcPct val="100000"/>
              </a:lnSpc>
              <a:spcBef>
                <a:spcPts val="0"/>
              </a:spcBef>
              <a:buClr>
                <a:schemeClr val="dk1"/>
              </a:buClr>
              <a:buSzPts val="2800"/>
              <a:buFont typeface="Times New Roman"/>
              <a:buChar char="•"/>
            </a:pPr>
            <a:r>
              <a:rPr lang="en-US">
                <a:latin typeface="Times New Roman"/>
                <a:ea typeface="Times New Roman"/>
                <a:cs typeface="Times New Roman"/>
                <a:sym typeface="Times New Roman"/>
              </a:rPr>
              <a:t>Consider relational schemas:</a:t>
            </a:r>
            <a:endParaRPr>
              <a:latin typeface="Times New Roman"/>
              <a:ea typeface="Times New Roman"/>
              <a:cs typeface="Times New Roman"/>
              <a:sym typeface="Times New Roman"/>
            </a:endParaRPr>
          </a:p>
          <a:p>
            <a:pPr marL="342900" indent="-342900">
              <a:lnSpc>
                <a:spcPct val="100000"/>
              </a:lnSpc>
              <a:spcBef>
                <a:spcPts val="560"/>
              </a:spcBef>
              <a:buClr>
                <a:schemeClr val="dk1"/>
              </a:buClr>
              <a:buSzPts val="2800"/>
              <a:buNone/>
            </a:pPr>
            <a:r>
              <a:rPr lang="en-US">
                <a:latin typeface="Times New Roman"/>
                <a:ea typeface="Times New Roman"/>
                <a:cs typeface="Times New Roman"/>
                <a:sym typeface="Times New Roman"/>
              </a:rPr>
              <a:t>    </a:t>
            </a:r>
            <a:r>
              <a:rPr lang="en-US" i="1">
                <a:latin typeface="Times New Roman"/>
                <a:ea typeface="Times New Roman"/>
                <a:cs typeface="Times New Roman"/>
                <a:sym typeface="Times New Roman"/>
              </a:rPr>
              <a:t>Depositor(customer_name, account_number)</a:t>
            </a:r>
            <a:endParaRPr i="1">
              <a:latin typeface="Times New Roman"/>
              <a:ea typeface="Times New Roman"/>
              <a:cs typeface="Times New Roman"/>
              <a:sym typeface="Times New Roman"/>
            </a:endParaRPr>
          </a:p>
          <a:p>
            <a:pPr marL="342900" indent="-342900">
              <a:lnSpc>
                <a:spcPct val="100000"/>
              </a:lnSpc>
              <a:spcBef>
                <a:spcPts val="560"/>
              </a:spcBef>
              <a:buClr>
                <a:schemeClr val="dk1"/>
              </a:buClr>
              <a:buSzPts val="2800"/>
              <a:buNone/>
            </a:pPr>
            <a:r>
              <a:rPr lang="en-US" i="1">
                <a:latin typeface="Times New Roman"/>
                <a:ea typeface="Times New Roman"/>
                <a:cs typeface="Times New Roman"/>
                <a:sym typeface="Times New Roman"/>
              </a:rPr>
              <a:t>    Borrower(customer_name, loan_number)</a:t>
            </a:r>
            <a:endParaRPr i="1">
              <a:latin typeface="Times New Roman"/>
              <a:ea typeface="Times New Roman"/>
              <a:cs typeface="Times New Roman"/>
              <a:sym typeface="Times New Roman"/>
            </a:endParaRPr>
          </a:p>
          <a:p>
            <a:pPr marL="342900" indent="-342900">
              <a:lnSpc>
                <a:spcPct val="100000"/>
              </a:lnSpc>
              <a:spcBef>
                <a:spcPts val="560"/>
              </a:spcBef>
              <a:buClr>
                <a:schemeClr val="dk1"/>
              </a:buClr>
              <a:buSzPts val="2800"/>
              <a:buFont typeface="Times New Roman"/>
              <a:buChar char="•"/>
            </a:pPr>
            <a:r>
              <a:rPr lang="en-US">
                <a:latin typeface="Times New Roman"/>
                <a:ea typeface="Times New Roman"/>
                <a:cs typeface="Times New Roman"/>
                <a:sym typeface="Times New Roman"/>
              </a:rPr>
              <a:t>For </a:t>
            </a:r>
            <a:r>
              <a:rPr lang="en-US" i="1">
                <a:latin typeface="Times New Roman"/>
                <a:ea typeface="Times New Roman"/>
                <a:cs typeface="Times New Roman"/>
                <a:sym typeface="Times New Roman"/>
              </a:rPr>
              <a:t>r</a:t>
            </a:r>
            <a:r>
              <a:rPr lang="en-US">
                <a:latin typeface="Times New Roman"/>
                <a:ea typeface="Times New Roman"/>
                <a:cs typeface="Times New Roman"/>
                <a:sym typeface="Times New Roman"/>
              </a:rPr>
              <a:t> ∪ </a:t>
            </a:r>
            <a:r>
              <a:rPr lang="en-US" i="1">
                <a:latin typeface="Times New Roman"/>
                <a:ea typeface="Times New Roman"/>
                <a:cs typeface="Times New Roman"/>
                <a:sym typeface="Times New Roman"/>
              </a:rPr>
              <a:t>s</a:t>
            </a:r>
            <a:r>
              <a:rPr lang="en-US">
                <a:latin typeface="Times New Roman"/>
                <a:ea typeface="Times New Roman"/>
                <a:cs typeface="Times New Roman"/>
                <a:sym typeface="Times New Roman"/>
              </a:rPr>
              <a:t> to be valid.</a:t>
            </a:r>
            <a:endParaRPr>
              <a:latin typeface="Times New Roman"/>
              <a:ea typeface="Times New Roman"/>
              <a:cs typeface="Times New Roman"/>
              <a:sym typeface="Times New Roman"/>
            </a:endParaRPr>
          </a:p>
          <a:p>
            <a:pPr marL="342900" indent="-342900">
              <a:lnSpc>
                <a:spcPct val="100000"/>
              </a:lnSpc>
              <a:spcBef>
                <a:spcPts val="560"/>
              </a:spcBef>
              <a:buClr>
                <a:schemeClr val="dk1"/>
              </a:buClr>
              <a:buSzPts val="2800"/>
              <a:buNone/>
            </a:pPr>
            <a:r>
              <a:rPr lang="en-US" i="1">
                <a:latin typeface="Times New Roman"/>
                <a:ea typeface="Times New Roman"/>
                <a:cs typeface="Times New Roman"/>
                <a:sym typeface="Times New Roman"/>
              </a:rPr>
              <a:t>	</a:t>
            </a:r>
            <a:r>
              <a:rPr lang="en-US">
                <a:latin typeface="Times New Roman"/>
                <a:ea typeface="Times New Roman"/>
                <a:cs typeface="Times New Roman"/>
                <a:sym typeface="Times New Roman"/>
              </a:rPr>
              <a:t>1.  </a:t>
            </a:r>
            <a:r>
              <a:rPr lang="en-US" i="1">
                <a:latin typeface="Times New Roman"/>
                <a:ea typeface="Times New Roman"/>
                <a:cs typeface="Times New Roman"/>
                <a:sym typeface="Times New Roman"/>
              </a:rPr>
              <a:t>r,</a:t>
            </a:r>
            <a:r>
              <a:rPr lang="en-US">
                <a:latin typeface="Times New Roman"/>
                <a:ea typeface="Times New Roman"/>
                <a:cs typeface="Times New Roman"/>
                <a:sym typeface="Times New Roman"/>
              </a:rPr>
              <a:t> </a:t>
            </a:r>
            <a:r>
              <a:rPr lang="en-US" i="1">
                <a:latin typeface="Times New Roman"/>
                <a:ea typeface="Times New Roman"/>
                <a:cs typeface="Times New Roman"/>
                <a:sym typeface="Times New Roman"/>
              </a:rPr>
              <a:t>s</a:t>
            </a:r>
            <a:r>
              <a:rPr lang="en-US">
                <a:latin typeface="Times New Roman"/>
                <a:ea typeface="Times New Roman"/>
                <a:cs typeface="Times New Roman"/>
                <a:sym typeface="Times New Roman"/>
              </a:rPr>
              <a:t> must have the same number of attributes</a:t>
            </a:r>
            <a:endParaRPr>
              <a:latin typeface="Times New Roman"/>
              <a:ea typeface="Times New Roman"/>
              <a:cs typeface="Times New Roman"/>
              <a:sym typeface="Times New Roman"/>
            </a:endParaRPr>
          </a:p>
          <a:p>
            <a:pPr marL="342900" indent="-342900">
              <a:lnSpc>
                <a:spcPct val="100000"/>
              </a:lnSpc>
              <a:spcBef>
                <a:spcPts val="560"/>
              </a:spcBef>
              <a:buClr>
                <a:schemeClr val="dk1"/>
              </a:buClr>
              <a:buSzPts val="2800"/>
              <a:buNone/>
            </a:pPr>
            <a:r>
              <a:rPr lang="en-US">
                <a:latin typeface="Times New Roman"/>
                <a:ea typeface="Times New Roman"/>
                <a:cs typeface="Times New Roman"/>
                <a:sym typeface="Times New Roman"/>
              </a:rPr>
              <a:t>	2.  The attribute domains must be </a:t>
            </a:r>
            <a:r>
              <a:rPr lang="en-US" i="1">
                <a:solidFill>
                  <a:schemeClr val="dk2"/>
                </a:solidFill>
                <a:latin typeface="Times New Roman"/>
                <a:ea typeface="Times New Roman"/>
                <a:cs typeface="Times New Roman"/>
                <a:sym typeface="Times New Roman"/>
              </a:rPr>
              <a:t>compatible</a:t>
            </a:r>
            <a:r>
              <a:rPr lang="en-US">
                <a:latin typeface="Times New Roman"/>
                <a:ea typeface="Times New Roman"/>
                <a:cs typeface="Times New Roman"/>
                <a:sym typeface="Times New Roman"/>
              </a:rPr>
              <a:t> (e.g., 2nd column of </a:t>
            </a:r>
            <a:r>
              <a:rPr lang="en-US" i="1">
                <a:latin typeface="Times New Roman"/>
                <a:ea typeface="Times New Roman"/>
                <a:cs typeface="Times New Roman"/>
                <a:sym typeface="Times New Roman"/>
              </a:rPr>
              <a:t>r</a:t>
            </a:r>
            <a:r>
              <a:rPr lang="en-US">
                <a:latin typeface="Times New Roman"/>
                <a:ea typeface="Times New Roman"/>
                <a:cs typeface="Times New Roman"/>
                <a:sym typeface="Times New Roman"/>
              </a:rPr>
              <a:t> deals with the same type of values as does the 2nd column of </a:t>
            </a:r>
            <a:r>
              <a:rPr lang="en-US" i="1">
                <a:latin typeface="Times New Roman"/>
                <a:ea typeface="Times New Roman"/>
                <a:cs typeface="Times New Roman"/>
                <a:sym typeface="Times New Roman"/>
              </a:rPr>
              <a:t>s</a:t>
            </a:r>
            <a:r>
              <a:rPr lang="en-US">
                <a:latin typeface="Times New Roman"/>
                <a:ea typeface="Times New Roman"/>
                <a:cs typeface="Times New Roman"/>
                <a:sym typeface="Times New Roman"/>
              </a:rPr>
              <a:t>)</a:t>
            </a:r>
            <a:endParaRPr>
              <a:latin typeface="Times New Roman"/>
              <a:ea typeface="Times New Roman"/>
              <a:cs typeface="Times New Roman"/>
              <a:sym typeface="Times New Roman"/>
            </a:endParaRPr>
          </a:p>
          <a:p>
            <a:pPr marL="342900" indent="-342900" algn="just">
              <a:lnSpc>
                <a:spcPct val="100000"/>
              </a:lnSpc>
              <a:spcBef>
                <a:spcPts val="560"/>
              </a:spcBef>
              <a:buClr>
                <a:schemeClr val="dk1"/>
              </a:buClr>
              <a:buSzPts val="2800"/>
              <a:buFont typeface="Times New Roman"/>
              <a:buChar char="•"/>
            </a:pPr>
            <a:r>
              <a:rPr lang="en-US">
                <a:latin typeface="Times New Roman"/>
                <a:ea typeface="Times New Roman"/>
                <a:cs typeface="Times New Roman"/>
                <a:sym typeface="Times New Roman"/>
              </a:rPr>
              <a:t>So the expression needed is</a:t>
            </a:r>
            <a:endParaRPr>
              <a:latin typeface="Times New Roman"/>
              <a:ea typeface="Times New Roman"/>
              <a:cs typeface="Times New Roman"/>
              <a:sym typeface="Times New Roman"/>
            </a:endParaRPr>
          </a:p>
          <a:p>
            <a:pPr marL="342900" indent="-342900" algn="ctr">
              <a:lnSpc>
                <a:spcPct val="100000"/>
              </a:lnSpc>
              <a:spcBef>
                <a:spcPts val="560"/>
              </a:spcBef>
              <a:buClr>
                <a:schemeClr val="dk1"/>
              </a:buClr>
              <a:buSzPts val="2800"/>
              <a:buNone/>
            </a:pPr>
            <a:r>
              <a:rPr lang="en-US">
                <a:latin typeface="Times New Roman"/>
                <a:ea typeface="Times New Roman"/>
                <a:cs typeface="Times New Roman"/>
                <a:sym typeface="Times New Roman"/>
              </a:rPr>
              <a:t>Π</a:t>
            </a:r>
            <a:r>
              <a:rPr lang="en-US" baseline="-25000">
                <a:latin typeface="Times New Roman"/>
                <a:ea typeface="Times New Roman"/>
                <a:cs typeface="Times New Roman"/>
                <a:sym typeface="Times New Roman"/>
              </a:rPr>
              <a:t>customer_name</a:t>
            </a:r>
            <a:r>
              <a:rPr lang="en-US">
                <a:latin typeface="Times New Roman"/>
                <a:ea typeface="Times New Roman"/>
                <a:cs typeface="Times New Roman"/>
                <a:sym typeface="Times New Roman"/>
              </a:rPr>
              <a:t>(borrower) ∪ Π</a:t>
            </a:r>
            <a:r>
              <a:rPr lang="en-US" baseline="-25000">
                <a:latin typeface="Times New Roman"/>
                <a:ea typeface="Times New Roman"/>
                <a:cs typeface="Times New Roman"/>
                <a:sym typeface="Times New Roman"/>
              </a:rPr>
              <a:t>customer_name</a:t>
            </a:r>
            <a:r>
              <a:rPr lang="en-US">
                <a:latin typeface="Times New Roman"/>
                <a:ea typeface="Times New Roman"/>
                <a:cs typeface="Times New Roman"/>
                <a:sym typeface="Times New Roman"/>
              </a:rPr>
              <a:t>(depositor)</a:t>
            </a:r>
            <a:endParaRPr>
              <a:latin typeface="Times New Roman"/>
              <a:ea typeface="Times New Roman"/>
              <a:cs typeface="Times New Roman"/>
              <a:sym typeface="Times New Roman"/>
            </a:endParaRPr>
          </a:p>
          <a:p>
            <a:pPr marL="342900" indent="-165100">
              <a:lnSpc>
                <a:spcPct val="100000"/>
              </a:lnSpc>
              <a:spcBef>
                <a:spcPts val="560"/>
              </a:spcBef>
              <a:buClr>
                <a:schemeClr val="dk1"/>
              </a:buClr>
              <a:buSzPts val="2800"/>
              <a:buNone/>
            </a:pPr>
            <a:endParaRPr>
              <a:latin typeface="Times New Roman"/>
              <a:ea typeface="Times New Roman"/>
              <a:cs typeface="Times New Roman"/>
              <a:sym typeface="Times New Roman"/>
            </a:endParaRPr>
          </a:p>
        </p:txBody>
      </p:sp>
      <p:sp>
        <p:nvSpPr>
          <p:cNvPr id="280" name="Google Shape;280;p20"/>
          <p:cNvSpPr/>
          <p:nvPr/>
        </p:nvSpPr>
        <p:spPr>
          <a:xfrm>
            <a:off x="1981200" y="287021"/>
            <a:ext cx="8229600" cy="649605"/>
          </a:xfrm>
          <a:prstGeom prst="rect">
            <a:avLst/>
          </a:prstGeom>
          <a:noFill/>
          <a:ln>
            <a:noFill/>
          </a:ln>
        </p:spPr>
        <p:txBody>
          <a:bodyPr spcFirstLastPara="1" wrap="square" lIns="91425" tIns="45700" rIns="91425" bIns="45700" anchor="ctr" anchorCtr="0">
            <a:noAutofit/>
          </a:bodyPr>
          <a:lstStyle/>
          <a:p>
            <a:pPr algn="ctr">
              <a:buClr>
                <a:schemeClr val="dk2"/>
              </a:buClr>
              <a:buSzPts val="4400"/>
            </a:pPr>
            <a:r>
              <a:rPr lang="en-US" sz="4400" b="1">
                <a:solidFill>
                  <a:schemeClr val="dk2"/>
                </a:solidFill>
                <a:latin typeface="Times New Roman"/>
                <a:ea typeface="Times New Roman"/>
                <a:cs typeface="Times New Roman"/>
                <a:sym typeface="Times New Roman"/>
              </a:rPr>
              <a:t>Union Operation......</a:t>
            </a:r>
            <a:endParaRPr sz="4400" b="1">
              <a:solidFill>
                <a:schemeClr val="dk2"/>
              </a:solidFill>
              <a:latin typeface="Times New Roman"/>
              <a:ea typeface="Times New Roman"/>
              <a:cs typeface="Times New Roman"/>
              <a:sym typeface="Times New Roman"/>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21"/>
          <p:cNvSpPr txBox="1">
            <a:spLocks noGrp="1"/>
          </p:cNvSpPr>
          <p:nvPr>
            <p:ph type="title"/>
          </p:nvPr>
        </p:nvSpPr>
        <p:spPr>
          <a:xfrm>
            <a:off x="2209800" y="0"/>
            <a:ext cx="7772400" cy="1143000"/>
          </a:xfrm>
          <a:prstGeom prst="rect">
            <a:avLst/>
          </a:prstGeom>
          <a:noFill/>
          <a:ln>
            <a:noFill/>
          </a:ln>
        </p:spPr>
        <p:txBody>
          <a:bodyPr spcFirstLastPara="1" vert="horz" wrap="square" lIns="91425" tIns="45700" rIns="91425" bIns="45700" rtlCol="0" anchor="ctr" anchorCtr="0">
            <a:noAutofit/>
          </a:bodyPr>
          <a:lstStyle/>
          <a:p>
            <a:pPr algn="ctr">
              <a:lnSpc>
                <a:spcPct val="100000"/>
              </a:lnSpc>
              <a:spcBef>
                <a:spcPts val="0"/>
              </a:spcBef>
              <a:buClr>
                <a:schemeClr val="dk2"/>
              </a:buClr>
              <a:buSzPts val="2800"/>
            </a:pPr>
            <a:r>
              <a:rPr lang="en-US" sz="2800"/>
              <a:t>Union Operation – Example</a:t>
            </a:r>
            <a:endParaRPr sz="2800"/>
          </a:p>
        </p:txBody>
      </p:sp>
      <p:sp>
        <p:nvSpPr>
          <p:cNvPr id="286" name="Google Shape;286;p21"/>
          <p:cNvSpPr txBox="1">
            <a:spLocks noGrp="1"/>
          </p:cNvSpPr>
          <p:nvPr>
            <p:ph type="body" idx="1"/>
          </p:nvPr>
        </p:nvSpPr>
        <p:spPr>
          <a:xfrm>
            <a:off x="2209800" y="2133600"/>
            <a:ext cx="6961188" cy="280988"/>
          </a:xfrm>
          <a:prstGeom prst="rect">
            <a:avLst/>
          </a:prstGeom>
          <a:noFill/>
          <a:ln>
            <a:noFill/>
          </a:ln>
        </p:spPr>
        <p:txBody>
          <a:bodyPr spcFirstLastPara="1" vert="horz" wrap="square" lIns="91425" tIns="45700" rIns="91425" bIns="45700" rtlCol="0" anchor="t" anchorCtr="0">
            <a:noAutofit/>
          </a:bodyPr>
          <a:lstStyle/>
          <a:p>
            <a:pPr marL="342900" indent="-342900">
              <a:spcBef>
                <a:spcPts val="0"/>
              </a:spcBef>
              <a:buClr>
                <a:schemeClr val="dk1"/>
              </a:buClr>
              <a:buSzPts val="2800"/>
              <a:buFont typeface="Arial"/>
              <a:buChar char="•"/>
            </a:pPr>
            <a:r>
              <a:rPr lang="en-US"/>
              <a:t>Relations </a:t>
            </a:r>
            <a:r>
              <a:rPr lang="en-US" i="1"/>
              <a:t>r, s:</a:t>
            </a:r>
            <a:endParaRPr/>
          </a:p>
        </p:txBody>
      </p:sp>
      <p:sp>
        <p:nvSpPr>
          <p:cNvPr id="287" name="Google Shape;287;p21"/>
          <p:cNvSpPr/>
          <p:nvPr/>
        </p:nvSpPr>
        <p:spPr>
          <a:xfrm>
            <a:off x="4114800" y="4953001"/>
            <a:ext cx="7029450" cy="333375"/>
          </a:xfrm>
          <a:prstGeom prst="rect">
            <a:avLst/>
          </a:prstGeom>
          <a:noFill/>
          <a:ln>
            <a:noFill/>
          </a:ln>
        </p:spPr>
        <p:txBody>
          <a:bodyPr spcFirstLastPara="1" wrap="square" lIns="91425" tIns="45700" rIns="91425" bIns="45700" anchor="t" anchorCtr="0">
            <a:noAutofit/>
          </a:bodyPr>
          <a:lstStyle/>
          <a:p>
            <a:pPr marL="342900" indent="-342900"/>
            <a:r>
              <a:rPr lang="en-US" sz="2000">
                <a:solidFill>
                  <a:schemeClr val="dk1"/>
                </a:solidFill>
                <a:latin typeface="Times New Roman"/>
                <a:ea typeface="Times New Roman"/>
                <a:cs typeface="Times New Roman"/>
                <a:sym typeface="Times New Roman"/>
              </a:rPr>
              <a:t>     </a:t>
            </a:r>
            <a:r>
              <a:rPr lang="en-US" sz="2400">
                <a:solidFill>
                  <a:schemeClr val="dk1"/>
                </a:solidFill>
                <a:latin typeface="Times New Roman"/>
                <a:ea typeface="Times New Roman"/>
                <a:cs typeface="Times New Roman"/>
                <a:sym typeface="Times New Roman"/>
              </a:rPr>
              <a:t>r ∪ s:</a:t>
            </a:r>
            <a:endParaRPr sz="2400">
              <a:solidFill>
                <a:schemeClr val="dk1"/>
              </a:solidFill>
              <a:latin typeface="Times New Roman"/>
              <a:ea typeface="Times New Roman"/>
              <a:cs typeface="Times New Roman"/>
              <a:sym typeface="Times New Roman"/>
            </a:endParaRPr>
          </a:p>
        </p:txBody>
      </p:sp>
      <p:sp>
        <p:nvSpPr>
          <p:cNvPr id="288" name="Google Shape;288;p21"/>
          <p:cNvSpPr/>
          <p:nvPr/>
        </p:nvSpPr>
        <p:spPr>
          <a:xfrm>
            <a:off x="4724400" y="1371600"/>
            <a:ext cx="457200" cy="4572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A</a:t>
            </a:r>
            <a:endParaRPr i="1">
              <a:solidFill>
                <a:schemeClr val="dk1"/>
              </a:solidFill>
              <a:latin typeface="Helvetica Neue"/>
              <a:ea typeface="Helvetica Neue"/>
              <a:cs typeface="Helvetica Neue"/>
              <a:sym typeface="Helvetica Neue"/>
            </a:endParaRPr>
          </a:p>
        </p:txBody>
      </p:sp>
      <p:sp>
        <p:nvSpPr>
          <p:cNvPr id="289" name="Google Shape;289;p21"/>
          <p:cNvSpPr/>
          <p:nvPr/>
        </p:nvSpPr>
        <p:spPr>
          <a:xfrm>
            <a:off x="5181600" y="1371600"/>
            <a:ext cx="457200" cy="4572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B</a:t>
            </a:r>
            <a:endParaRPr i="1">
              <a:solidFill>
                <a:schemeClr val="dk1"/>
              </a:solidFill>
              <a:latin typeface="Helvetica Neue"/>
              <a:ea typeface="Helvetica Neue"/>
              <a:cs typeface="Helvetica Neue"/>
              <a:sym typeface="Helvetica Neue"/>
            </a:endParaRPr>
          </a:p>
        </p:txBody>
      </p:sp>
      <p:sp>
        <p:nvSpPr>
          <p:cNvPr id="290" name="Google Shape;290;p21"/>
          <p:cNvSpPr/>
          <p:nvPr/>
        </p:nvSpPr>
        <p:spPr>
          <a:xfrm>
            <a:off x="4724400" y="1905000"/>
            <a:ext cx="457200" cy="12954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lnSpc>
                <a:spcPct val="150000"/>
              </a:lnSpc>
            </a:pPr>
            <a:r>
              <a:rPr lang="en-US" i="1">
                <a:solidFill>
                  <a:schemeClr val="dk1"/>
                </a:solidFill>
                <a:latin typeface="Helvetica Neue"/>
                <a:ea typeface="Helvetica Neue"/>
                <a:cs typeface="Helvetica Neue"/>
                <a:sym typeface="Helvetica Neue"/>
              </a:rPr>
              <a:t>α</a:t>
            </a:r>
            <a:endParaRPr i="1">
              <a:solidFill>
                <a:schemeClr val="dk1"/>
              </a:solidFill>
              <a:latin typeface="Helvetica Neue"/>
              <a:ea typeface="Helvetica Neue"/>
              <a:cs typeface="Helvetica Neue"/>
              <a:sym typeface="Helvetica Neue"/>
            </a:endParaRPr>
          </a:p>
          <a:p>
            <a:pPr algn="ctr">
              <a:lnSpc>
                <a:spcPct val="150000"/>
              </a:lnSpc>
            </a:pPr>
            <a:r>
              <a:rPr lang="en-US" i="1">
                <a:solidFill>
                  <a:schemeClr val="dk1"/>
                </a:solidFill>
                <a:latin typeface="Helvetica Neue"/>
                <a:ea typeface="Helvetica Neue"/>
                <a:cs typeface="Helvetica Neue"/>
                <a:sym typeface="Helvetica Neue"/>
              </a:rPr>
              <a:t>α</a:t>
            </a:r>
            <a:endParaRPr i="1">
              <a:solidFill>
                <a:schemeClr val="dk1"/>
              </a:solidFill>
              <a:latin typeface="Helvetica Neue"/>
              <a:ea typeface="Helvetica Neue"/>
              <a:cs typeface="Helvetica Neue"/>
              <a:sym typeface="Helvetica Neue"/>
            </a:endParaRPr>
          </a:p>
          <a:p>
            <a:pPr algn="ctr">
              <a:lnSpc>
                <a:spcPct val="150000"/>
              </a:lnSpc>
            </a:pPr>
            <a:r>
              <a:rPr lang="en-US" i="1">
                <a:solidFill>
                  <a:schemeClr val="dk1"/>
                </a:solidFill>
                <a:latin typeface="Helvetica Neue"/>
                <a:ea typeface="Helvetica Neue"/>
                <a:cs typeface="Helvetica Neue"/>
                <a:sym typeface="Helvetica Neue"/>
              </a:rPr>
              <a:t>β</a:t>
            </a:r>
            <a:endParaRPr i="1">
              <a:solidFill>
                <a:schemeClr val="dk1"/>
              </a:solidFill>
              <a:latin typeface="Helvetica Neue"/>
              <a:ea typeface="Helvetica Neue"/>
              <a:cs typeface="Helvetica Neue"/>
              <a:sym typeface="Helvetica Neue"/>
            </a:endParaRPr>
          </a:p>
        </p:txBody>
      </p:sp>
      <p:sp>
        <p:nvSpPr>
          <p:cNvPr id="291" name="Google Shape;291;p21"/>
          <p:cNvSpPr/>
          <p:nvPr/>
        </p:nvSpPr>
        <p:spPr>
          <a:xfrm>
            <a:off x="5181600" y="1905000"/>
            <a:ext cx="457200" cy="12954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lnSpc>
                <a:spcPct val="150000"/>
              </a:lnSpc>
            </a:pPr>
            <a:r>
              <a:rPr lang="en-US" i="1">
                <a:solidFill>
                  <a:schemeClr val="dk1"/>
                </a:solidFill>
                <a:latin typeface="Helvetica Neue"/>
                <a:ea typeface="Helvetica Neue"/>
                <a:cs typeface="Helvetica Neue"/>
                <a:sym typeface="Helvetica Neue"/>
              </a:rPr>
              <a:t>1</a:t>
            </a:r>
            <a:endParaRPr i="1">
              <a:solidFill>
                <a:schemeClr val="dk1"/>
              </a:solidFill>
              <a:latin typeface="Helvetica Neue"/>
              <a:ea typeface="Helvetica Neue"/>
              <a:cs typeface="Helvetica Neue"/>
              <a:sym typeface="Helvetica Neue"/>
            </a:endParaRPr>
          </a:p>
          <a:p>
            <a:pPr algn="ctr">
              <a:lnSpc>
                <a:spcPct val="150000"/>
              </a:lnSpc>
            </a:pPr>
            <a:r>
              <a:rPr lang="en-US" i="1">
                <a:solidFill>
                  <a:schemeClr val="dk1"/>
                </a:solidFill>
                <a:latin typeface="Helvetica Neue"/>
                <a:ea typeface="Helvetica Neue"/>
                <a:cs typeface="Helvetica Neue"/>
                <a:sym typeface="Helvetica Neue"/>
              </a:rPr>
              <a:t>2</a:t>
            </a:r>
            <a:endParaRPr i="1">
              <a:solidFill>
                <a:schemeClr val="dk1"/>
              </a:solidFill>
              <a:latin typeface="Helvetica Neue"/>
              <a:ea typeface="Helvetica Neue"/>
              <a:cs typeface="Helvetica Neue"/>
              <a:sym typeface="Helvetica Neue"/>
            </a:endParaRPr>
          </a:p>
          <a:p>
            <a:pPr algn="ctr">
              <a:lnSpc>
                <a:spcPct val="150000"/>
              </a:lnSpc>
            </a:pPr>
            <a:r>
              <a:rPr lang="en-US" i="1">
                <a:solidFill>
                  <a:schemeClr val="dk1"/>
                </a:solidFill>
                <a:latin typeface="Helvetica Neue"/>
                <a:ea typeface="Helvetica Neue"/>
                <a:cs typeface="Helvetica Neue"/>
                <a:sym typeface="Helvetica Neue"/>
              </a:rPr>
              <a:t>1</a:t>
            </a:r>
            <a:endParaRPr i="1">
              <a:solidFill>
                <a:schemeClr val="dk1"/>
              </a:solidFill>
              <a:latin typeface="Helvetica Neue"/>
              <a:ea typeface="Helvetica Neue"/>
              <a:cs typeface="Helvetica Neue"/>
              <a:sym typeface="Helvetica Neue"/>
            </a:endParaRPr>
          </a:p>
        </p:txBody>
      </p:sp>
      <p:sp>
        <p:nvSpPr>
          <p:cNvPr id="292" name="Google Shape;292;p21"/>
          <p:cNvSpPr/>
          <p:nvPr/>
        </p:nvSpPr>
        <p:spPr>
          <a:xfrm>
            <a:off x="6858000" y="1371600"/>
            <a:ext cx="457200" cy="4572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A</a:t>
            </a:r>
            <a:endParaRPr i="1">
              <a:solidFill>
                <a:schemeClr val="dk1"/>
              </a:solidFill>
              <a:latin typeface="Helvetica Neue"/>
              <a:ea typeface="Helvetica Neue"/>
              <a:cs typeface="Helvetica Neue"/>
              <a:sym typeface="Helvetica Neue"/>
            </a:endParaRPr>
          </a:p>
        </p:txBody>
      </p:sp>
      <p:sp>
        <p:nvSpPr>
          <p:cNvPr id="293" name="Google Shape;293;p21"/>
          <p:cNvSpPr/>
          <p:nvPr/>
        </p:nvSpPr>
        <p:spPr>
          <a:xfrm>
            <a:off x="7315200" y="1371600"/>
            <a:ext cx="457200" cy="4572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B</a:t>
            </a:r>
            <a:endParaRPr i="1">
              <a:solidFill>
                <a:schemeClr val="dk1"/>
              </a:solidFill>
              <a:latin typeface="Helvetica Neue"/>
              <a:ea typeface="Helvetica Neue"/>
              <a:cs typeface="Helvetica Neue"/>
              <a:sym typeface="Helvetica Neue"/>
            </a:endParaRPr>
          </a:p>
        </p:txBody>
      </p:sp>
      <p:sp>
        <p:nvSpPr>
          <p:cNvPr id="294" name="Google Shape;294;p21"/>
          <p:cNvSpPr/>
          <p:nvPr/>
        </p:nvSpPr>
        <p:spPr>
          <a:xfrm>
            <a:off x="6858000" y="1905000"/>
            <a:ext cx="457200" cy="9144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lnSpc>
                <a:spcPct val="150000"/>
              </a:lnSpc>
            </a:pPr>
            <a:r>
              <a:rPr lang="en-US" i="1">
                <a:solidFill>
                  <a:schemeClr val="dk1"/>
                </a:solidFill>
                <a:latin typeface="Helvetica Neue"/>
                <a:ea typeface="Helvetica Neue"/>
                <a:cs typeface="Helvetica Neue"/>
                <a:sym typeface="Helvetica Neue"/>
              </a:rPr>
              <a:t>α</a:t>
            </a:r>
            <a:endParaRPr i="1">
              <a:solidFill>
                <a:schemeClr val="dk1"/>
              </a:solidFill>
              <a:latin typeface="Helvetica Neue"/>
              <a:ea typeface="Helvetica Neue"/>
              <a:cs typeface="Helvetica Neue"/>
              <a:sym typeface="Helvetica Neue"/>
            </a:endParaRPr>
          </a:p>
          <a:p>
            <a:pPr algn="ctr">
              <a:lnSpc>
                <a:spcPct val="150000"/>
              </a:lnSpc>
            </a:pPr>
            <a:r>
              <a:rPr lang="en-US" i="1">
                <a:solidFill>
                  <a:schemeClr val="dk1"/>
                </a:solidFill>
                <a:latin typeface="Helvetica Neue"/>
                <a:ea typeface="Helvetica Neue"/>
                <a:cs typeface="Helvetica Neue"/>
                <a:sym typeface="Helvetica Neue"/>
              </a:rPr>
              <a:t>β</a:t>
            </a:r>
            <a:endParaRPr i="1">
              <a:solidFill>
                <a:schemeClr val="dk1"/>
              </a:solidFill>
              <a:latin typeface="Helvetica Neue"/>
              <a:ea typeface="Helvetica Neue"/>
              <a:cs typeface="Helvetica Neue"/>
              <a:sym typeface="Helvetica Neue"/>
            </a:endParaRPr>
          </a:p>
        </p:txBody>
      </p:sp>
      <p:sp>
        <p:nvSpPr>
          <p:cNvPr id="295" name="Google Shape;295;p21"/>
          <p:cNvSpPr/>
          <p:nvPr/>
        </p:nvSpPr>
        <p:spPr>
          <a:xfrm>
            <a:off x="7315200" y="1905000"/>
            <a:ext cx="457200" cy="9144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lnSpc>
                <a:spcPct val="150000"/>
              </a:lnSpc>
            </a:pPr>
            <a:r>
              <a:rPr lang="en-US" i="1">
                <a:solidFill>
                  <a:schemeClr val="dk1"/>
                </a:solidFill>
                <a:latin typeface="Helvetica Neue"/>
                <a:ea typeface="Helvetica Neue"/>
                <a:cs typeface="Helvetica Neue"/>
                <a:sym typeface="Helvetica Neue"/>
              </a:rPr>
              <a:t>2</a:t>
            </a:r>
            <a:endParaRPr i="1">
              <a:solidFill>
                <a:schemeClr val="dk1"/>
              </a:solidFill>
              <a:latin typeface="Helvetica Neue"/>
              <a:ea typeface="Helvetica Neue"/>
              <a:cs typeface="Helvetica Neue"/>
              <a:sym typeface="Helvetica Neue"/>
            </a:endParaRPr>
          </a:p>
          <a:p>
            <a:pPr algn="ctr">
              <a:lnSpc>
                <a:spcPct val="150000"/>
              </a:lnSpc>
            </a:pPr>
            <a:r>
              <a:rPr lang="en-US" i="1">
                <a:solidFill>
                  <a:schemeClr val="dk1"/>
                </a:solidFill>
                <a:latin typeface="Helvetica Neue"/>
                <a:ea typeface="Helvetica Neue"/>
                <a:cs typeface="Helvetica Neue"/>
                <a:sym typeface="Helvetica Neue"/>
              </a:rPr>
              <a:t>3</a:t>
            </a:r>
            <a:endParaRPr i="1">
              <a:solidFill>
                <a:schemeClr val="dk1"/>
              </a:solidFill>
              <a:latin typeface="Helvetica Neue"/>
              <a:ea typeface="Helvetica Neue"/>
              <a:cs typeface="Helvetica Neue"/>
              <a:sym typeface="Helvetica Neue"/>
            </a:endParaRPr>
          </a:p>
        </p:txBody>
      </p:sp>
      <p:sp>
        <p:nvSpPr>
          <p:cNvPr id="296" name="Google Shape;296;p21"/>
          <p:cNvSpPr txBox="1"/>
          <p:nvPr/>
        </p:nvSpPr>
        <p:spPr>
          <a:xfrm>
            <a:off x="5038725" y="3155950"/>
            <a:ext cx="285750" cy="457200"/>
          </a:xfrm>
          <a:prstGeom prst="rect">
            <a:avLst/>
          </a:prstGeom>
          <a:noFill/>
          <a:ln>
            <a:noFill/>
          </a:ln>
        </p:spPr>
        <p:txBody>
          <a:bodyPr spcFirstLastPara="1" wrap="square" lIns="91425" tIns="45700" rIns="91425" bIns="45700" anchor="ctr" anchorCtr="0">
            <a:spAutoFit/>
          </a:bodyPr>
          <a:lstStyle/>
          <a:p>
            <a:pPr algn="ctr"/>
            <a:r>
              <a:rPr lang="en-US" sz="2400" i="1">
                <a:solidFill>
                  <a:schemeClr val="dk1"/>
                </a:solidFill>
                <a:latin typeface="Helvetica Neue"/>
                <a:ea typeface="Helvetica Neue"/>
                <a:cs typeface="Helvetica Neue"/>
                <a:sym typeface="Helvetica Neue"/>
              </a:rPr>
              <a:t>r</a:t>
            </a:r>
            <a:endParaRPr sz="2400" i="1">
              <a:solidFill>
                <a:schemeClr val="dk1"/>
              </a:solidFill>
              <a:latin typeface="Helvetica Neue"/>
              <a:ea typeface="Helvetica Neue"/>
              <a:cs typeface="Helvetica Neue"/>
              <a:sym typeface="Helvetica Neue"/>
            </a:endParaRPr>
          </a:p>
        </p:txBody>
      </p:sp>
      <p:sp>
        <p:nvSpPr>
          <p:cNvPr id="297" name="Google Shape;297;p21"/>
          <p:cNvSpPr txBox="1"/>
          <p:nvPr/>
        </p:nvSpPr>
        <p:spPr>
          <a:xfrm>
            <a:off x="7124700" y="2851150"/>
            <a:ext cx="336550" cy="457200"/>
          </a:xfrm>
          <a:prstGeom prst="rect">
            <a:avLst/>
          </a:prstGeom>
          <a:noFill/>
          <a:ln>
            <a:noFill/>
          </a:ln>
        </p:spPr>
        <p:txBody>
          <a:bodyPr spcFirstLastPara="1" wrap="square" lIns="91425" tIns="45700" rIns="91425" bIns="45700" anchor="ctr" anchorCtr="0">
            <a:spAutoFit/>
          </a:bodyPr>
          <a:lstStyle/>
          <a:p>
            <a:pPr algn="ctr"/>
            <a:r>
              <a:rPr lang="en-US" sz="2400" i="1">
                <a:solidFill>
                  <a:schemeClr val="dk1"/>
                </a:solidFill>
                <a:latin typeface="Helvetica Neue"/>
                <a:ea typeface="Helvetica Neue"/>
                <a:cs typeface="Helvetica Neue"/>
                <a:sym typeface="Helvetica Neue"/>
              </a:rPr>
              <a:t>s</a:t>
            </a:r>
            <a:endParaRPr sz="2400" i="1">
              <a:solidFill>
                <a:schemeClr val="dk1"/>
              </a:solidFill>
              <a:latin typeface="Helvetica Neue"/>
              <a:ea typeface="Helvetica Neue"/>
              <a:cs typeface="Helvetica Neue"/>
              <a:sym typeface="Helvetica Neue"/>
            </a:endParaRPr>
          </a:p>
        </p:txBody>
      </p:sp>
      <p:sp>
        <p:nvSpPr>
          <p:cNvPr id="298" name="Google Shape;298;p21"/>
          <p:cNvSpPr/>
          <p:nvPr/>
        </p:nvSpPr>
        <p:spPr>
          <a:xfrm>
            <a:off x="5791200" y="4114800"/>
            <a:ext cx="457200" cy="4572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A</a:t>
            </a:r>
            <a:endParaRPr i="1">
              <a:solidFill>
                <a:schemeClr val="dk1"/>
              </a:solidFill>
              <a:latin typeface="Helvetica Neue"/>
              <a:ea typeface="Helvetica Neue"/>
              <a:cs typeface="Helvetica Neue"/>
              <a:sym typeface="Helvetica Neue"/>
            </a:endParaRPr>
          </a:p>
        </p:txBody>
      </p:sp>
      <p:sp>
        <p:nvSpPr>
          <p:cNvPr id="299" name="Google Shape;299;p21"/>
          <p:cNvSpPr/>
          <p:nvPr/>
        </p:nvSpPr>
        <p:spPr>
          <a:xfrm>
            <a:off x="6248400" y="4114800"/>
            <a:ext cx="457200" cy="4572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B</a:t>
            </a:r>
            <a:endParaRPr i="1">
              <a:solidFill>
                <a:schemeClr val="dk1"/>
              </a:solidFill>
              <a:latin typeface="Helvetica Neue"/>
              <a:ea typeface="Helvetica Neue"/>
              <a:cs typeface="Helvetica Neue"/>
              <a:sym typeface="Helvetica Neue"/>
            </a:endParaRPr>
          </a:p>
        </p:txBody>
      </p:sp>
      <p:sp>
        <p:nvSpPr>
          <p:cNvPr id="300" name="Google Shape;300;p21"/>
          <p:cNvSpPr/>
          <p:nvPr/>
        </p:nvSpPr>
        <p:spPr>
          <a:xfrm>
            <a:off x="5791200" y="4648200"/>
            <a:ext cx="457200" cy="16764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lnSpc>
                <a:spcPct val="150000"/>
              </a:lnSpc>
            </a:pPr>
            <a:r>
              <a:rPr lang="en-US" i="1">
                <a:solidFill>
                  <a:schemeClr val="dk1"/>
                </a:solidFill>
                <a:latin typeface="Helvetica Neue"/>
                <a:ea typeface="Helvetica Neue"/>
                <a:cs typeface="Helvetica Neue"/>
                <a:sym typeface="Helvetica Neue"/>
              </a:rPr>
              <a:t>α</a:t>
            </a:r>
            <a:endParaRPr i="1">
              <a:solidFill>
                <a:schemeClr val="dk1"/>
              </a:solidFill>
              <a:latin typeface="Helvetica Neue"/>
              <a:ea typeface="Helvetica Neue"/>
              <a:cs typeface="Helvetica Neue"/>
              <a:sym typeface="Helvetica Neue"/>
            </a:endParaRPr>
          </a:p>
          <a:p>
            <a:pPr algn="ctr">
              <a:lnSpc>
                <a:spcPct val="150000"/>
              </a:lnSpc>
            </a:pPr>
            <a:r>
              <a:rPr lang="en-US" i="1">
                <a:solidFill>
                  <a:schemeClr val="dk1"/>
                </a:solidFill>
                <a:latin typeface="Helvetica Neue"/>
                <a:ea typeface="Helvetica Neue"/>
                <a:cs typeface="Helvetica Neue"/>
                <a:sym typeface="Helvetica Neue"/>
              </a:rPr>
              <a:t>α</a:t>
            </a:r>
            <a:endParaRPr i="1">
              <a:solidFill>
                <a:schemeClr val="dk1"/>
              </a:solidFill>
              <a:latin typeface="Helvetica Neue"/>
              <a:ea typeface="Helvetica Neue"/>
              <a:cs typeface="Helvetica Neue"/>
              <a:sym typeface="Helvetica Neue"/>
            </a:endParaRPr>
          </a:p>
          <a:p>
            <a:pPr algn="ctr">
              <a:lnSpc>
                <a:spcPct val="150000"/>
              </a:lnSpc>
            </a:pPr>
            <a:r>
              <a:rPr lang="en-US" i="1">
                <a:solidFill>
                  <a:schemeClr val="dk1"/>
                </a:solidFill>
                <a:latin typeface="Helvetica Neue"/>
                <a:ea typeface="Helvetica Neue"/>
                <a:cs typeface="Helvetica Neue"/>
                <a:sym typeface="Helvetica Neue"/>
              </a:rPr>
              <a:t>β</a:t>
            </a:r>
            <a:endParaRPr i="1">
              <a:solidFill>
                <a:schemeClr val="dk1"/>
              </a:solidFill>
              <a:latin typeface="Helvetica Neue"/>
              <a:ea typeface="Helvetica Neue"/>
              <a:cs typeface="Helvetica Neue"/>
              <a:sym typeface="Helvetica Neue"/>
            </a:endParaRPr>
          </a:p>
          <a:p>
            <a:pPr algn="ctr">
              <a:lnSpc>
                <a:spcPct val="150000"/>
              </a:lnSpc>
            </a:pPr>
            <a:r>
              <a:rPr lang="en-US" i="1">
                <a:solidFill>
                  <a:schemeClr val="dk1"/>
                </a:solidFill>
                <a:latin typeface="Helvetica Neue"/>
                <a:ea typeface="Helvetica Neue"/>
                <a:cs typeface="Helvetica Neue"/>
                <a:sym typeface="Helvetica Neue"/>
              </a:rPr>
              <a:t>β</a:t>
            </a:r>
            <a:endParaRPr i="1">
              <a:solidFill>
                <a:schemeClr val="dk1"/>
              </a:solidFill>
              <a:latin typeface="Helvetica Neue"/>
              <a:ea typeface="Helvetica Neue"/>
              <a:cs typeface="Helvetica Neue"/>
              <a:sym typeface="Helvetica Neue"/>
            </a:endParaRPr>
          </a:p>
        </p:txBody>
      </p:sp>
      <p:sp>
        <p:nvSpPr>
          <p:cNvPr id="301" name="Google Shape;301;p21"/>
          <p:cNvSpPr/>
          <p:nvPr/>
        </p:nvSpPr>
        <p:spPr>
          <a:xfrm>
            <a:off x="6248400" y="4648200"/>
            <a:ext cx="457200" cy="16764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lnSpc>
                <a:spcPct val="150000"/>
              </a:lnSpc>
            </a:pPr>
            <a:r>
              <a:rPr lang="en-US" i="1">
                <a:solidFill>
                  <a:schemeClr val="dk1"/>
                </a:solidFill>
                <a:latin typeface="Helvetica Neue"/>
                <a:ea typeface="Helvetica Neue"/>
                <a:cs typeface="Helvetica Neue"/>
                <a:sym typeface="Helvetica Neue"/>
              </a:rPr>
              <a:t>1</a:t>
            </a:r>
            <a:endParaRPr i="1">
              <a:solidFill>
                <a:schemeClr val="dk1"/>
              </a:solidFill>
              <a:latin typeface="Helvetica Neue"/>
              <a:ea typeface="Helvetica Neue"/>
              <a:cs typeface="Helvetica Neue"/>
              <a:sym typeface="Helvetica Neue"/>
            </a:endParaRPr>
          </a:p>
          <a:p>
            <a:pPr algn="ctr">
              <a:lnSpc>
                <a:spcPct val="150000"/>
              </a:lnSpc>
            </a:pPr>
            <a:r>
              <a:rPr lang="en-US" i="1">
                <a:solidFill>
                  <a:schemeClr val="dk1"/>
                </a:solidFill>
                <a:latin typeface="Helvetica Neue"/>
                <a:ea typeface="Helvetica Neue"/>
                <a:cs typeface="Helvetica Neue"/>
                <a:sym typeface="Helvetica Neue"/>
              </a:rPr>
              <a:t>2</a:t>
            </a:r>
            <a:endParaRPr i="1">
              <a:solidFill>
                <a:schemeClr val="dk1"/>
              </a:solidFill>
              <a:latin typeface="Helvetica Neue"/>
              <a:ea typeface="Helvetica Neue"/>
              <a:cs typeface="Helvetica Neue"/>
              <a:sym typeface="Helvetica Neue"/>
            </a:endParaRPr>
          </a:p>
          <a:p>
            <a:pPr algn="ctr">
              <a:lnSpc>
                <a:spcPct val="150000"/>
              </a:lnSpc>
            </a:pPr>
            <a:r>
              <a:rPr lang="en-US" i="1">
                <a:solidFill>
                  <a:schemeClr val="dk1"/>
                </a:solidFill>
                <a:latin typeface="Helvetica Neue"/>
                <a:ea typeface="Helvetica Neue"/>
                <a:cs typeface="Helvetica Neue"/>
                <a:sym typeface="Helvetica Neue"/>
              </a:rPr>
              <a:t>1</a:t>
            </a:r>
            <a:endParaRPr i="1">
              <a:solidFill>
                <a:schemeClr val="dk1"/>
              </a:solidFill>
              <a:latin typeface="Helvetica Neue"/>
              <a:ea typeface="Helvetica Neue"/>
              <a:cs typeface="Helvetica Neue"/>
              <a:sym typeface="Helvetica Neue"/>
            </a:endParaRPr>
          </a:p>
          <a:p>
            <a:pPr algn="ctr">
              <a:lnSpc>
                <a:spcPct val="150000"/>
              </a:lnSpc>
            </a:pPr>
            <a:r>
              <a:rPr lang="en-US" i="1">
                <a:solidFill>
                  <a:schemeClr val="dk1"/>
                </a:solidFill>
                <a:latin typeface="Helvetica Neue"/>
                <a:ea typeface="Helvetica Neue"/>
                <a:cs typeface="Helvetica Neue"/>
                <a:sym typeface="Helvetica Neue"/>
              </a:rPr>
              <a:t>3</a:t>
            </a:r>
            <a:endParaRPr i="1">
              <a:solidFill>
                <a:schemeClr val="dk1"/>
              </a:solidFill>
              <a:latin typeface="Helvetica Neue"/>
              <a:ea typeface="Helvetica Neue"/>
              <a:cs typeface="Helvetica Neue"/>
              <a:sym typeface="Helvetica Neue"/>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8"/>
                                        </p:tgtEl>
                                        <p:attrNameLst>
                                          <p:attrName>style.visibility</p:attrName>
                                        </p:attrNameLst>
                                      </p:cBhvr>
                                      <p:to>
                                        <p:strVal val="visible"/>
                                      </p:to>
                                    </p:set>
                                    <p:animEffect transition="in" filter="fade">
                                      <p:cBhvr>
                                        <p:cTn id="7" dur="500"/>
                                        <p:tgtEl>
                                          <p:spTgt spid="298"/>
                                        </p:tgtEl>
                                      </p:cBhvr>
                                    </p:animEffect>
                                  </p:childTnLst>
                                </p:cTn>
                              </p:par>
                              <p:par>
                                <p:cTn id="8" presetID="10" presetClass="entr" presetSubtype="0" fill="hold" nodeType="withEffect">
                                  <p:stCondLst>
                                    <p:cond delay="0"/>
                                  </p:stCondLst>
                                  <p:childTnLst>
                                    <p:set>
                                      <p:cBhvr>
                                        <p:cTn id="9" dur="1" fill="hold">
                                          <p:stCondLst>
                                            <p:cond delay="0"/>
                                          </p:stCondLst>
                                        </p:cTn>
                                        <p:tgtEl>
                                          <p:spTgt spid="299"/>
                                        </p:tgtEl>
                                        <p:attrNameLst>
                                          <p:attrName>style.visibility</p:attrName>
                                        </p:attrNameLst>
                                      </p:cBhvr>
                                      <p:to>
                                        <p:strVal val="visible"/>
                                      </p:to>
                                    </p:set>
                                    <p:animEffect transition="in" filter="fade">
                                      <p:cBhvr>
                                        <p:cTn id="10" dur="500"/>
                                        <p:tgtEl>
                                          <p:spTgt spid="299"/>
                                        </p:tgtEl>
                                      </p:cBhvr>
                                    </p:animEffect>
                                  </p:childTnLst>
                                </p:cTn>
                              </p:par>
                              <p:par>
                                <p:cTn id="11" presetID="10" presetClass="entr" presetSubtype="0" fill="hold" nodeType="withEffect">
                                  <p:stCondLst>
                                    <p:cond delay="0"/>
                                  </p:stCondLst>
                                  <p:childTnLst>
                                    <p:set>
                                      <p:cBhvr>
                                        <p:cTn id="12" dur="1" fill="hold">
                                          <p:stCondLst>
                                            <p:cond delay="0"/>
                                          </p:stCondLst>
                                        </p:cTn>
                                        <p:tgtEl>
                                          <p:spTgt spid="300"/>
                                        </p:tgtEl>
                                        <p:attrNameLst>
                                          <p:attrName>style.visibility</p:attrName>
                                        </p:attrNameLst>
                                      </p:cBhvr>
                                      <p:to>
                                        <p:strVal val="visible"/>
                                      </p:to>
                                    </p:set>
                                    <p:animEffect transition="in" filter="fade">
                                      <p:cBhvr>
                                        <p:cTn id="13" dur="500"/>
                                        <p:tgtEl>
                                          <p:spTgt spid="300"/>
                                        </p:tgtEl>
                                      </p:cBhvr>
                                    </p:animEffect>
                                  </p:childTnLst>
                                </p:cTn>
                              </p:par>
                              <p:par>
                                <p:cTn id="14" presetID="10" presetClass="entr" presetSubtype="0" fill="hold" nodeType="withEffect">
                                  <p:stCondLst>
                                    <p:cond delay="0"/>
                                  </p:stCondLst>
                                  <p:childTnLst>
                                    <p:set>
                                      <p:cBhvr>
                                        <p:cTn id="15" dur="1" fill="hold">
                                          <p:stCondLst>
                                            <p:cond delay="0"/>
                                          </p:stCondLst>
                                        </p:cTn>
                                        <p:tgtEl>
                                          <p:spTgt spid="301"/>
                                        </p:tgtEl>
                                        <p:attrNameLst>
                                          <p:attrName>style.visibility</p:attrName>
                                        </p:attrNameLst>
                                      </p:cBhvr>
                                      <p:to>
                                        <p:strVal val="visible"/>
                                      </p:to>
                                    </p:set>
                                    <p:animEffect transition="in" filter="fade">
                                      <p:cBhvr>
                                        <p:cTn id="16" dur="500"/>
                                        <p:tgtEl>
                                          <p:spTgt spid="3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22"/>
          <p:cNvSpPr txBox="1">
            <a:spLocks noGrp="1"/>
          </p:cNvSpPr>
          <p:nvPr>
            <p:ph type="title"/>
          </p:nvPr>
        </p:nvSpPr>
        <p:spPr>
          <a:xfrm>
            <a:off x="1981200" y="274955"/>
            <a:ext cx="8229600" cy="511810"/>
          </a:xfrm>
          <a:prstGeom prst="rect">
            <a:avLst/>
          </a:prstGeom>
          <a:noFill/>
          <a:ln>
            <a:noFill/>
          </a:ln>
        </p:spPr>
        <p:txBody>
          <a:bodyPr spcFirstLastPara="1" vert="horz" wrap="square" lIns="91425" tIns="45700" rIns="91425" bIns="45700" rtlCol="0" anchor="ctr" anchorCtr="0">
            <a:noAutofit/>
          </a:bodyPr>
          <a:lstStyle/>
          <a:p>
            <a:pPr algn="ctr">
              <a:lnSpc>
                <a:spcPct val="100000"/>
              </a:lnSpc>
              <a:spcBef>
                <a:spcPts val="0"/>
              </a:spcBef>
              <a:buClr>
                <a:schemeClr val="dk2"/>
              </a:buClr>
              <a:buSzPts val="4400"/>
            </a:pPr>
            <a:r>
              <a:rPr lang="en-US" b="1">
                <a:latin typeface="Times New Roman"/>
                <a:ea typeface="Times New Roman"/>
                <a:cs typeface="Times New Roman"/>
                <a:sym typeface="Times New Roman"/>
              </a:rPr>
              <a:t>Union Operation......</a:t>
            </a:r>
            <a:endParaRPr b="1">
              <a:latin typeface="Times New Roman"/>
              <a:ea typeface="Times New Roman"/>
              <a:cs typeface="Times New Roman"/>
              <a:sym typeface="Times New Roman"/>
            </a:endParaRPr>
          </a:p>
        </p:txBody>
      </p:sp>
      <p:sp>
        <p:nvSpPr>
          <p:cNvPr id="307" name="Google Shape;307;p22"/>
          <p:cNvSpPr txBox="1">
            <a:spLocks noGrp="1"/>
          </p:cNvSpPr>
          <p:nvPr>
            <p:ph type="body" idx="1"/>
          </p:nvPr>
        </p:nvSpPr>
        <p:spPr>
          <a:xfrm>
            <a:off x="1981200" y="1600201"/>
            <a:ext cx="8229600" cy="4525963"/>
          </a:xfrm>
          <a:prstGeom prst="rect">
            <a:avLst/>
          </a:prstGeom>
          <a:noFill/>
          <a:ln>
            <a:noFill/>
          </a:ln>
        </p:spPr>
        <p:txBody>
          <a:bodyPr spcFirstLastPara="1" vert="horz" wrap="square" lIns="91425" tIns="45700" rIns="91425" bIns="45700" rtlCol="0" anchor="t" anchorCtr="0">
            <a:normAutofit/>
          </a:bodyPr>
          <a:lstStyle/>
          <a:p>
            <a:pPr marL="342900" indent="-342900" algn="just">
              <a:lnSpc>
                <a:spcPct val="100000"/>
              </a:lnSpc>
              <a:spcBef>
                <a:spcPts val="0"/>
              </a:spcBef>
              <a:buClr>
                <a:schemeClr val="dk1"/>
              </a:buClr>
              <a:buSzPts val="2400"/>
              <a:buFont typeface="Times New Roman"/>
              <a:buChar char="•"/>
            </a:pPr>
            <a:r>
              <a:rPr lang="en-US" sz="2400">
                <a:latin typeface="Times New Roman"/>
                <a:ea typeface="Times New Roman"/>
                <a:cs typeface="Times New Roman"/>
                <a:sym typeface="Times New Roman"/>
              </a:rPr>
              <a:t>For a union operation r ∪ s to be valid, we require that two conditions hold:</a:t>
            </a:r>
            <a:endParaRPr sz="2400">
              <a:latin typeface="Times New Roman"/>
              <a:ea typeface="Times New Roman"/>
              <a:cs typeface="Times New Roman"/>
              <a:sym typeface="Times New Roman"/>
            </a:endParaRPr>
          </a:p>
          <a:p>
            <a:pPr marL="342900" indent="-190500" algn="just">
              <a:lnSpc>
                <a:spcPct val="100000"/>
              </a:lnSpc>
              <a:spcBef>
                <a:spcPts val="480"/>
              </a:spcBef>
              <a:buClr>
                <a:schemeClr val="dk1"/>
              </a:buClr>
              <a:buSzPts val="2400"/>
              <a:buNone/>
            </a:pPr>
            <a:endParaRPr sz="2400">
              <a:latin typeface="Times New Roman"/>
              <a:ea typeface="Times New Roman"/>
              <a:cs typeface="Times New Roman"/>
              <a:sym typeface="Times New Roman"/>
            </a:endParaRPr>
          </a:p>
          <a:p>
            <a:pPr marL="457200" indent="-457200" algn="just">
              <a:lnSpc>
                <a:spcPct val="100000"/>
              </a:lnSpc>
              <a:spcBef>
                <a:spcPts val="480"/>
              </a:spcBef>
              <a:buClr>
                <a:schemeClr val="dk1"/>
              </a:buClr>
              <a:buSzPts val="2400"/>
              <a:buFont typeface="Times New Roman"/>
              <a:buAutoNum type="arabicPeriod"/>
            </a:pPr>
            <a:r>
              <a:rPr lang="en-US" sz="2400">
                <a:latin typeface="Times New Roman"/>
                <a:ea typeface="Times New Roman"/>
                <a:cs typeface="Times New Roman"/>
                <a:sym typeface="Times New Roman"/>
              </a:rPr>
              <a:t>The relations r and s must be of the same arity. That is, they must have the same number of attributes.</a:t>
            </a:r>
            <a:endParaRPr sz="2400">
              <a:latin typeface="Times New Roman"/>
              <a:ea typeface="Times New Roman"/>
              <a:cs typeface="Times New Roman"/>
              <a:sym typeface="Times New Roman"/>
            </a:endParaRPr>
          </a:p>
          <a:p>
            <a:pPr marL="457200" indent="-304800" algn="just">
              <a:lnSpc>
                <a:spcPct val="100000"/>
              </a:lnSpc>
              <a:spcBef>
                <a:spcPts val="480"/>
              </a:spcBef>
              <a:buClr>
                <a:schemeClr val="dk1"/>
              </a:buClr>
              <a:buSzPts val="2400"/>
              <a:buNone/>
            </a:pPr>
            <a:endParaRPr sz="2400">
              <a:latin typeface="Times New Roman"/>
              <a:ea typeface="Times New Roman"/>
              <a:cs typeface="Times New Roman"/>
              <a:sym typeface="Times New Roman"/>
            </a:endParaRPr>
          </a:p>
          <a:p>
            <a:pPr marL="342900" indent="-342900" algn="just">
              <a:lnSpc>
                <a:spcPct val="100000"/>
              </a:lnSpc>
              <a:spcBef>
                <a:spcPts val="480"/>
              </a:spcBef>
              <a:buClr>
                <a:schemeClr val="dk1"/>
              </a:buClr>
              <a:buSzPts val="2400"/>
              <a:buNone/>
            </a:pPr>
            <a:r>
              <a:rPr lang="en-US" sz="2400">
                <a:latin typeface="Times New Roman"/>
                <a:ea typeface="Times New Roman"/>
                <a:cs typeface="Times New Roman"/>
                <a:sym typeface="Times New Roman"/>
              </a:rPr>
              <a:t>2. The domains of the i</a:t>
            </a:r>
            <a:r>
              <a:rPr lang="en-US" sz="2400" baseline="30000">
                <a:latin typeface="Times New Roman"/>
                <a:ea typeface="Times New Roman"/>
                <a:cs typeface="Times New Roman"/>
                <a:sym typeface="Times New Roman"/>
              </a:rPr>
              <a:t>th</a:t>
            </a:r>
            <a:r>
              <a:rPr lang="en-US" sz="2400">
                <a:latin typeface="Times New Roman"/>
                <a:ea typeface="Times New Roman"/>
                <a:cs typeface="Times New Roman"/>
                <a:sym typeface="Times New Roman"/>
              </a:rPr>
              <a:t> attribute of r and the i</a:t>
            </a:r>
            <a:r>
              <a:rPr lang="en-US" sz="2400" baseline="30000">
                <a:latin typeface="Times New Roman"/>
                <a:ea typeface="Times New Roman"/>
                <a:cs typeface="Times New Roman"/>
                <a:sym typeface="Times New Roman"/>
              </a:rPr>
              <a:t>th</a:t>
            </a:r>
            <a:r>
              <a:rPr lang="en-US" sz="2400">
                <a:latin typeface="Times New Roman"/>
                <a:ea typeface="Times New Roman"/>
                <a:cs typeface="Times New Roman"/>
                <a:sym typeface="Times New Roman"/>
              </a:rPr>
              <a:t> attribute of s must be the same, for all i.</a:t>
            </a:r>
            <a:endParaRPr sz="2400">
              <a:latin typeface="Times New Roman"/>
              <a:ea typeface="Times New Roman"/>
              <a:cs typeface="Times New Roman"/>
              <a:sym typeface="Times New Roman"/>
            </a:endParaRPr>
          </a:p>
          <a:p>
            <a:pPr marL="342900" indent="-342900" algn="just">
              <a:lnSpc>
                <a:spcPct val="100000"/>
              </a:lnSpc>
              <a:spcBef>
                <a:spcPts val="480"/>
              </a:spcBef>
              <a:buClr>
                <a:schemeClr val="dk1"/>
              </a:buClr>
              <a:buSzPts val="2400"/>
              <a:buNone/>
            </a:pPr>
            <a:endParaRPr sz="2400">
              <a:latin typeface="Times New Roman"/>
              <a:ea typeface="Times New Roman"/>
              <a:cs typeface="Times New Roman"/>
              <a:sym typeface="Times New Roman"/>
            </a:endParaRPr>
          </a:p>
          <a:p>
            <a:pPr marL="342900" indent="-342900" algn="just">
              <a:lnSpc>
                <a:spcPct val="100000"/>
              </a:lnSpc>
              <a:spcBef>
                <a:spcPts val="480"/>
              </a:spcBef>
              <a:buClr>
                <a:schemeClr val="dk1"/>
              </a:buClr>
              <a:buSzPts val="2400"/>
              <a:buFont typeface="Times New Roman"/>
              <a:buChar char="•"/>
            </a:pPr>
            <a:r>
              <a:rPr lang="en-US" sz="2400">
                <a:latin typeface="Times New Roman"/>
                <a:ea typeface="Times New Roman"/>
                <a:cs typeface="Times New Roman"/>
                <a:sym typeface="Times New Roman"/>
              </a:rPr>
              <a:t>Note that r and s can be, in general, temporary relations that are the result of relational algebra expressions.</a:t>
            </a:r>
            <a:endParaRPr sz="2400">
              <a:latin typeface="Times New Roman"/>
              <a:ea typeface="Times New Roman"/>
              <a:cs typeface="Times New Roman"/>
              <a:sym typeface="Times New Roman"/>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sp>
        <p:nvSpPr>
          <p:cNvPr id="312" name="Google Shape;312;p23"/>
          <p:cNvSpPr txBox="1">
            <a:spLocks noGrp="1"/>
          </p:cNvSpPr>
          <p:nvPr>
            <p:ph type="title"/>
          </p:nvPr>
        </p:nvSpPr>
        <p:spPr>
          <a:xfrm>
            <a:off x="1981200" y="274955"/>
            <a:ext cx="8229600" cy="635000"/>
          </a:xfrm>
          <a:prstGeom prst="rect">
            <a:avLst/>
          </a:prstGeom>
          <a:noFill/>
          <a:ln>
            <a:noFill/>
          </a:ln>
        </p:spPr>
        <p:txBody>
          <a:bodyPr spcFirstLastPara="1" vert="horz" wrap="square" lIns="91425" tIns="45700" rIns="91425" bIns="45700" rtlCol="0" anchor="ctr" anchorCtr="0">
            <a:noAutofit/>
          </a:bodyPr>
          <a:lstStyle/>
          <a:p>
            <a:pPr algn="ctr">
              <a:lnSpc>
                <a:spcPct val="100000"/>
              </a:lnSpc>
              <a:spcBef>
                <a:spcPts val="0"/>
              </a:spcBef>
              <a:buClr>
                <a:schemeClr val="dk2"/>
              </a:buClr>
              <a:buSzPts val="4400"/>
            </a:pPr>
            <a:r>
              <a:rPr lang="en-US" b="1">
                <a:latin typeface="Times New Roman"/>
                <a:ea typeface="Times New Roman"/>
                <a:cs typeface="Times New Roman"/>
                <a:sym typeface="Times New Roman"/>
              </a:rPr>
              <a:t>4. Set Difference Operation</a:t>
            </a:r>
            <a:endParaRPr>
              <a:latin typeface="Times New Roman"/>
              <a:ea typeface="Times New Roman"/>
              <a:cs typeface="Times New Roman"/>
              <a:sym typeface="Times New Roman"/>
            </a:endParaRPr>
          </a:p>
        </p:txBody>
      </p:sp>
      <p:sp>
        <p:nvSpPr>
          <p:cNvPr id="313" name="Google Shape;313;p23"/>
          <p:cNvSpPr txBox="1">
            <a:spLocks noGrp="1"/>
          </p:cNvSpPr>
          <p:nvPr>
            <p:ph type="body" idx="1"/>
          </p:nvPr>
        </p:nvSpPr>
        <p:spPr>
          <a:xfrm>
            <a:off x="1828801" y="838200"/>
            <a:ext cx="8672195" cy="5883910"/>
          </a:xfrm>
          <a:prstGeom prst="rect">
            <a:avLst/>
          </a:prstGeom>
          <a:noFill/>
          <a:ln>
            <a:noFill/>
          </a:ln>
        </p:spPr>
        <p:txBody>
          <a:bodyPr spcFirstLastPara="1" vert="horz" wrap="square" lIns="91425" tIns="45700" rIns="91425" bIns="45700" rtlCol="0" anchor="t" anchorCtr="0">
            <a:normAutofit fontScale="97500" lnSpcReduction="10000"/>
          </a:bodyPr>
          <a:lstStyle/>
          <a:p>
            <a:pPr marL="342900" indent="-342900" algn="just">
              <a:lnSpc>
                <a:spcPct val="100000"/>
              </a:lnSpc>
              <a:spcBef>
                <a:spcPts val="0"/>
              </a:spcBef>
              <a:buClr>
                <a:schemeClr val="dk1"/>
              </a:buClr>
              <a:buSzPct val="100000"/>
              <a:buFont typeface="Times New Roman"/>
              <a:buChar char="•"/>
            </a:pPr>
            <a:r>
              <a:rPr lang="en-US" sz="2400">
                <a:latin typeface="Times New Roman"/>
                <a:ea typeface="Times New Roman"/>
                <a:cs typeface="Times New Roman"/>
                <a:sym typeface="Times New Roman"/>
              </a:rPr>
              <a:t>The set-difference operation, denoted by − , allows us to</a:t>
            </a:r>
            <a:r>
              <a:rPr lang="en-US" sz="2400" b="1">
                <a:latin typeface="Times New Roman"/>
                <a:ea typeface="Times New Roman"/>
                <a:cs typeface="Times New Roman"/>
                <a:sym typeface="Times New Roman"/>
              </a:rPr>
              <a:t> find tuples that are in one relation but are not in another</a:t>
            </a:r>
            <a:r>
              <a:rPr lang="en-US" sz="2400">
                <a:latin typeface="Times New Roman"/>
                <a:ea typeface="Times New Roman"/>
                <a:cs typeface="Times New Roman"/>
                <a:sym typeface="Times New Roman"/>
              </a:rPr>
              <a:t>. </a:t>
            </a:r>
            <a:endParaRPr sz="2400">
              <a:latin typeface="Times New Roman"/>
              <a:ea typeface="Times New Roman"/>
              <a:cs typeface="Times New Roman"/>
              <a:sym typeface="Times New Roman"/>
            </a:endParaRPr>
          </a:p>
          <a:p>
            <a:pPr marL="342900" indent="-342900">
              <a:lnSpc>
                <a:spcPct val="100000"/>
              </a:lnSpc>
              <a:spcBef>
                <a:spcPts val="432"/>
              </a:spcBef>
              <a:buClr>
                <a:schemeClr val="dk1"/>
              </a:buClr>
              <a:buSzPct val="100000"/>
              <a:buFont typeface="Arial"/>
              <a:buChar char="•"/>
            </a:pPr>
            <a:r>
              <a:rPr lang="en-US" sz="2400" b="1"/>
              <a:t>Notation </a:t>
            </a:r>
            <a:r>
              <a:rPr lang="en-US" sz="2400" b="1" i="1"/>
              <a:t>r – s</a:t>
            </a:r>
            <a:endParaRPr sz="2400" b="1"/>
          </a:p>
          <a:p>
            <a:pPr marL="342900" indent="-342900">
              <a:lnSpc>
                <a:spcPct val="100000"/>
              </a:lnSpc>
              <a:spcBef>
                <a:spcPts val="432"/>
              </a:spcBef>
              <a:buClr>
                <a:schemeClr val="dk1"/>
              </a:buClr>
              <a:buSzPct val="100000"/>
              <a:buFont typeface="Arial"/>
              <a:buChar char="•"/>
            </a:pPr>
            <a:r>
              <a:rPr lang="en-US" sz="2400" b="1"/>
              <a:t>Defined as:</a:t>
            </a:r>
            <a:endParaRPr sz="2400" b="1"/>
          </a:p>
          <a:p>
            <a:pPr marL="342900" indent="-342900">
              <a:lnSpc>
                <a:spcPct val="100000"/>
              </a:lnSpc>
              <a:spcBef>
                <a:spcPts val="432"/>
              </a:spcBef>
              <a:buClr>
                <a:schemeClr val="dk1"/>
              </a:buClr>
              <a:buSzPct val="100000"/>
              <a:buNone/>
            </a:pPr>
            <a:r>
              <a:rPr lang="en-US" sz="2400" b="1"/>
              <a:t>		 </a:t>
            </a:r>
            <a:r>
              <a:rPr lang="en-US" sz="2400" b="1" i="1"/>
              <a:t>r – s</a:t>
            </a:r>
            <a:r>
              <a:rPr lang="en-US" sz="2400" b="1"/>
              <a:t>  = {</a:t>
            </a:r>
            <a:r>
              <a:rPr lang="en-US" sz="2400" b="1" i="1"/>
              <a:t>t</a:t>
            </a:r>
            <a:r>
              <a:rPr lang="en-US" sz="2400" b="1"/>
              <a:t> | </a:t>
            </a:r>
            <a:r>
              <a:rPr lang="en-US" sz="2400" b="1" i="1"/>
              <a:t>t</a:t>
            </a:r>
            <a:r>
              <a:rPr lang="en-US" sz="2400" b="1"/>
              <a:t> ∈ </a:t>
            </a:r>
            <a:r>
              <a:rPr lang="en-US" sz="2400" b="1" i="1"/>
              <a:t>r</a:t>
            </a:r>
            <a:r>
              <a:rPr lang="en-US" sz="2400" b="1"/>
              <a:t> and t ∉ </a:t>
            </a:r>
            <a:r>
              <a:rPr lang="en-US" sz="2400" b="1" i="1"/>
              <a:t>s</a:t>
            </a:r>
            <a:r>
              <a:rPr lang="en-US" sz="2400" b="1"/>
              <a:t>}	</a:t>
            </a:r>
            <a:endParaRPr sz="2400"/>
          </a:p>
          <a:p>
            <a:pPr marL="342900" indent="-342900">
              <a:lnSpc>
                <a:spcPct val="100000"/>
              </a:lnSpc>
              <a:spcBef>
                <a:spcPts val="432"/>
              </a:spcBef>
              <a:buClr>
                <a:schemeClr val="dk1"/>
              </a:buClr>
              <a:buSzPct val="100000"/>
              <a:buFont typeface="Arial"/>
              <a:buChar char="•"/>
            </a:pPr>
            <a:r>
              <a:rPr lang="en-US" sz="2400"/>
              <a:t>Set differences must be taken between </a:t>
            </a:r>
            <a:r>
              <a:rPr lang="en-US" sz="2400" i="1"/>
              <a:t>compatible</a:t>
            </a:r>
            <a:r>
              <a:rPr lang="en-US" sz="2400"/>
              <a:t> relations.</a:t>
            </a:r>
            <a:endParaRPr sz="2400"/>
          </a:p>
          <a:p>
            <a:pPr marL="742950" lvl="1" indent="-285750">
              <a:lnSpc>
                <a:spcPct val="100000"/>
              </a:lnSpc>
              <a:spcBef>
                <a:spcPts val="432"/>
              </a:spcBef>
              <a:buClr>
                <a:schemeClr val="dk1"/>
              </a:buClr>
              <a:buSzPct val="100000"/>
              <a:buFont typeface="Arial"/>
              <a:buChar char="–"/>
            </a:pPr>
            <a:r>
              <a:rPr lang="en-US" i="1"/>
              <a:t>r</a:t>
            </a:r>
            <a:r>
              <a:rPr lang="en-US"/>
              <a:t> and </a:t>
            </a:r>
            <a:r>
              <a:rPr lang="en-US" i="1"/>
              <a:t>s</a:t>
            </a:r>
            <a:r>
              <a:rPr lang="en-US"/>
              <a:t> must have the same number of attributes</a:t>
            </a:r>
            <a:endParaRPr/>
          </a:p>
          <a:p>
            <a:pPr marL="742950" lvl="1" indent="-285750">
              <a:lnSpc>
                <a:spcPct val="100000"/>
              </a:lnSpc>
              <a:spcBef>
                <a:spcPts val="432"/>
              </a:spcBef>
              <a:buClr>
                <a:schemeClr val="dk1"/>
              </a:buClr>
              <a:buSzPct val="100000"/>
              <a:buFont typeface="Arial"/>
              <a:buChar char="–"/>
            </a:pPr>
            <a:r>
              <a:rPr lang="en-US"/>
              <a:t>attribute domains of </a:t>
            </a:r>
            <a:r>
              <a:rPr lang="en-US" i="1"/>
              <a:t>r </a:t>
            </a:r>
            <a:r>
              <a:rPr lang="en-US"/>
              <a:t>and </a:t>
            </a:r>
            <a:r>
              <a:rPr lang="en-US" i="1"/>
              <a:t>s </a:t>
            </a:r>
            <a:r>
              <a:rPr lang="en-US"/>
              <a:t>must be compatible</a:t>
            </a:r>
            <a:endParaRPr/>
          </a:p>
          <a:p>
            <a:pPr marL="342900" indent="-205740" algn="just">
              <a:lnSpc>
                <a:spcPct val="100000"/>
              </a:lnSpc>
              <a:spcBef>
                <a:spcPts val="432"/>
              </a:spcBef>
              <a:buClr>
                <a:schemeClr val="dk1"/>
              </a:buClr>
              <a:buSzPct val="100000"/>
              <a:buNone/>
            </a:pPr>
            <a:endParaRPr sz="2400">
              <a:latin typeface="Times New Roman"/>
              <a:ea typeface="Times New Roman"/>
              <a:cs typeface="Times New Roman"/>
              <a:sym typeface="Times New Roman"/>
            </a:endParaRPr>
          </a:p>
          <a:p>
            <a:pPr marL="342900" indent="-342900" algn="just">
              <a:lnSpc>
                <a:spcPct val="100000"/>
              </a:lnSpc>
              <a:spcBef>
                <a:spcPts val="432"/>
              </a:spcBef>
              <a:buClr>
                <a:schemeClr val="dk1"/>
              </a:buClr>
              <a:buSzPct val="100000"/>
              <a:buFont typeface="Times New Roman"/>
              <a:buChar char="•"/>
            </a:pPr>
            <a:r>
              <a:rPr lang="en-US" sz="2400">
                <a:latin typeface="Times New Roman"/>
                <a:ea typeface="Times New Roman"/>
                <a:cs typeface="Times New Roman"/>
                <a:sym typeface="Times New Roman"/>
              </a:rPr>
              <a:t>The expression r − s produces a relation containing those tuples in r but not in s.</a:t>
            </a:r>
            <a:endParaRPr sz="2400">
              <a:latin typeface="Times New Roman"/>
              <a:ea typeface="Times New Roman"/>
              <a:cs typeface="Times New Roman"/>
              <a:sym typeface="Times New Roman"/>
            </a:endParaRPr>
          </a:p>
          <a:p>
            <a:pPr marL="342900" indent="-342900" algn="just">
              <a:lnSpc>
                <a:spcPct val="100000"/>
              </a:lnSpc>
              <a:spcBef>
                <a:spcPts val="432"/>
              </a:spcBef>
              <a:buClr>
                <a:schemeClr val="dk1"/>
              </a:buClr>
              <a:buSzPct val="100000"/>
              <a:buFont typeface="Times New Roman"/>
              <a:buChar char="•"/>
            </a:pPr>
            <a:r>
              <a:rPr lang="en-US" sz="2400">
                <a:latin typeface="Times New Roman"/>
                <a:ea typeface="Times New Roman"/>
                <a:cs typeface="Times New Roman"/>
                <a:sym typeface="Times New Roman"/>
              </a:rPr>
              <a:t>We can find all customers of the bank who have an account but not a loan.</a:t>
            </a:r>
            <a:endParaRPr sz="2400">
              <a:latin typeface="Times New Roman"/>
              <a:ea typeface="Times New Roman"/>
              <a:cs typeface="Times New Roman"/>
              <a:sym typeface="Times New Roman"/>
            </a:endParaRPr>
          </a:p>
          <a:p>
            <a:pPr marL="342900" indent="-342900" algn="just">
              <a:lnSpc>
                <a:spcPct val="100000"/>
              </a:lnSpc>
              <a:spcBef>
                <a:spcPts val="432"/>
              </a:spcBef>
              <a:buClr>
                <a:schemeClr val="dk1"/>
              </a:buClr>
              <a:buSzPct val="100000"/>
              <a:buNone/>
            </a:pPr>
            <a:endParaRPr sz="2400">
              <a:latin typeface="Times New Roman"/>
              <a:ea typeface="Times New Roman"/>
              <a:cs typeface="Times New Roman"/>
              <a:sym typeface="Times New Roman"/>
            </a:endParaRPr>
          </a:p>
          <a:p>
            <a:pPr marL="342900" indent="-342900" algn="ctr">
              <a:lnSpc>
                <a:spcPct val="100000"/>
              </a:lnSpc>
              <a:spcBef>
                <a:spcPts val="432"/>
              </a:spcBef>
              <a:buClr>
                <a:schemeClr val="dk1"/>
              </a:buClr>
              <a:buSzPct val="100000"/>
              <a:buNone/>
            </a:pPr>
            <a:r>
              <a:rPr lang="en-US" sz="2400">
                <a:latin typeface="Times New Roman"/>
                <a:ea typeface="Times New Roman"/>
                <a:cs typeface="Times New Roman"/>
                <a:sym typeface="Times New Roman"/>
              </a:rPr>
              <a:t>Π</a:t>
            </a:r>
            <a:r>
              <a:rPr lang="en-US" sz="2400" baseline="-25000">
                <a:latin typeface="Times New Roman"/>
                <a:ea typeface="Times New Roman"/>
                <a:cs typeface="Times New Roman"/>
                <a:sym typeface="Times New Roman"/>
              </a:rPr>
              <a:t>customer-name</a:t>
            </a:r>
            <a:r>
              <a:rPr lang="en-US" sz="2400">
                <a:latin typeface="Times New Roman"/>
                <a:ea typeface="Times New Roman"/>
                <a:cs typeface="Times New Roman"/>
                <a:sym typeface="Times New Roman"/>
              </a:rPr>
              <a:t>(depositor) − Π</a:t>
            </a:r>
            <a:r>
              <a:rPr lang="en-US" sz="2400" baseline="-25000">
                <a:latin typeface="Times New Roman"/>
                <a:ea typeface="Times New Roman"/>
                <a:cs typeface="Times New Roman"/>
                <a:sym typeface="Times New Roman"/>
              </a:rPr>
              <a:t>customer-name</a:t>
            </a:r>
            <a:r>
              <a:rPr lang="en-US" sz="2400">
                <a:latin typeface="Times New Roman"/>
                <a:ea typeface="Times New Roman"/>
                <a:cs typeface="Times New Roman"/>
                <a:sym typeface="Times New Roman"/>
              </a:rPr>
              <a:t>(borrower )</a:t>
            </a:r>
            <a:endParaRPr sz="2400">
              <a:latin typeface="Times New Roman"/>
              <a:ea typeface="Times New Roman"/>
              <a:cs typeface="Times New Roman"/>
              <a:sym typeface="Times New Roman"/>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sp>
        <p:nvSpPr>
          <p:cNvPr id="318" name="Google Shape;318;p24"/>
          <p:cNvSpPr txBox="1">
            <a:spLocks noGrp="1"/>
          </p:cNvSpPr>
          <p:nvPr>
            <p:ph type="title"/>
          </p:nvPr>
        </p:nvSpPr>
        <p:spPr>
          <a:xfrm>
            <a:off x="2209801" y="267336"/>
            <a:ext cx="8235315" cy="875665"/>
          </a:xfrm>
          <a:prstGeom prst="rect">
            <a:avLst/>
          </a:prstGeom>
          <a:noFill/>
          <a:ln>
            <a:noFill/>
          </a:ln>
        </p:spPr>
        <p:txBody>
          <a:bodyPr spcFirstLastPara="1" vert="horz" wrap="square" lIns="91425" tIns="45700" rIns="91425" bIns="45700" rtlCol="0" anchor="ctr" anchorCtr="0">
            <a:noAutofit/>
          </a:bodyPr>
          <a:lstStyle/>
          <a:p>
            <a:pPr algn="ctr">
              <a:lnSpc>
                <a:spcPct val="100000"/>
              </a:lnSpc>
              <a:spcBef>
                <a:spcPts val="0"/>
              </a:spcBef>
              <a:buClr>
                <a:schemeClr val="dk2"/>
              </a:buClr>
              <a:buSzPts val="3600"/>
            </a:pPr>
            <a:r>
              <a:rPr lang="en-US" sz="3600" b="1"/>
              <a:t>Set Difference Operation – Example</a:t>
            </a:r>
            <a:endParaRPr sz="3600" b="1"/>
          </a:p>
        </p:txBody>
      </p:sp>
      <p:sp>
        <p:nvSpPr>
          <p:cNvPr id="319" name="Google Shape;319;p24"/>
          <p:cNvSpPr txBox="1">
            <a:spLocks noGrp="1"/>
          </p:cNvSpPr>
          <p:nvPr>
            <p:ph type="body" idx="1"/>
          </p:nvPr>
        </p:nvSpPr>
        <p:spPr>
          <a:xfrm>
            <a:off x="1981200" y="2209800"/>
            <a:ext cx="6961188" cy="280988"/>
          </a:xfrm>
          <a:prstGeom prst="rect">
            <a:avLst/>
          </a:prstGeom>
          <a:noFill/>
          <a:ln>
            <a:noFill/>
          </a:ln>
        </p:spPr>
        <p:txBody>
          <a:bodyPr spcFirstLastPara="1" vert="horz" wrap="square" lIns="91425" tIns="45700" rIns="91425" bIns="45700" rtlCol="0" anchor="t" anchorCtr="0">
            <a:noAutofit/>
          </a:bodyPr>
          <a:lstStyle/>
          <a:p>
            <a:pPr marL="342900" indent="-342900">
              <a:spcBef>
                <a:spcPts val="0"/>
              </a:spcBef>
              <a:buClr>
                <a:schemeClr val="dk1"/>
              </a:buClr>
              <a:buSzPts val="2800"/>
              <a:buFont typeface="Arial"/>
              <a:buChar char="•"/>
            </a:pPr>
            <a:r>
              <a:rPr lang="en-US"/>
              <a:t>Relations </a:t>
            </a:r>
            <a:r>
              <a:rPr lang="en-US" i="1"/>
              <a:t>r, s:</a:t>
            </a:r>
            <a:endParaRPr/>
          </a:p>
        </p:txBody>
      </p:sp>
      <p:sp>
        <p:nvSpPr>
          <p:cNvPr id="320" name="Google Shape;320;p24"/>
          <p:cNvSpPr/>
          <p:nvPr/>
        </p:nvSpPr>
        <p:spPr>
          <a:xfrm>
            <a:off x="3048000" y="4800601"/>
            <a:ext cx="7029450" cy="333375"/>
          </a:xfrm>
          <a:prstGeom prst="rect">
            <a:avLst/>
          </a:prstGeom>
          <a:noFill/>
          <a:ln>
            <a:noFill/>
          </a:ln>
        </p:spPr>
        <p:txBody>
          <a:bodyPr spcFirstLastPara="1" wrap="square" lIns="91425" tIns="45700" rIns="91425" bIns="45700" anchor="t" anchorCtr="0">
            <a:noAutofit/>
          </a:bodyPr>
          <a:lstStyle/>
          <a:p>
            <a:pPr marL="342900" indent="-342900"/>
            <a:r>
              <a:rPr lang="en-US" sz="2400" i="1">
                <a:solidFill>
                  <a:schemeClr val="dk1"/>
                </a:solidFill>
                <a:latin typeface="Helvetica Neue"/>
                <a:ea typeface="Helvetica Neue"/>
                <a:cs typeface="Helvetica Neue"/>
                <a:sym typeface="Helvetica Neue"/>
              </a:rPr>
              <a:t>r – s</a:t>
            </a:r>
            <a:r>
              <a:rPr lang="en-US" sz="2400">
                <a:solidFill>
                  <a:schemeClr val="dk1"/>
                </a:solidFill>
                <a:latin typeface="Times New Roman"/>
                <a:ea typeface="Times New Roman"/>
                <a:cs typeface="Times New Roman"/>
                <a:sym typeface="Times New Roman"/>
              </a:rPr>
              <a:t>:</a:t>
            </a:r>
            <a:endParaRPr sz="2400">
              <a:solidFill>
                <a:schemeClr val="dk1"/>
              </a:solidFill>
              <a:latin typeface="Times New Roman"/>
              <a:ea typeface="Times New Roman"/>
              <a:cs typeface="Times New Roman"/>
              <a:sym typeface="Times New Roman"/>
            </a:endParaRPr>
          </a:p>
        </p:txBody>
      </p:sp>
      <p:sp>
        <p:nvSpPr>
          <p:cNvPr id="321" name="Google Shape;321;p24"/>
          <p:cNvSpPr/>
          <p:nvPr/>
        </p:nvSpPr>
        <p:spPr>
          <a:xfrm>
            <a:off x="4724400" y="1371600"/>
            <a:ext cx="457200" cy="4572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A</a:t>
            </a:r>
            <a:endParaRPr i="1">
              <a:solidFill>
                <a:schemeClr val="dk1"/>
              </a:solidFill>
              <a:latin typeface="Helvetica Neue"/>
              <a:ea typeface="Helvetica Neue"/>
              <a:cs typeface="Helvetica Neue"/>
              <a:sym typeface="Helvetica Neue"/>
            </a:endParaRPr>
          </a:p>
        </p:txBody>
      </p:sp>
      <p:sp>
        <p:nvSpPr>
          <p:cNvPr id="322" name="Google Shape;322;p24"/>
          <p:cNvSpPr/>
          <p:nvPr/>
        </p:nvSpPr>
        <p:spPr>
          <a:xfrm>
            <a:off x="5181600" y="1371600"/>
            <a:ext cx="457200" cy="4572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B</a:t>
            </a:r>
            <a:endParaRPr i="1">
              <a:solidFill>
                <a:schemeClr val="dk1"/>
              </a:solidFill>
              <a:latin typeface="Helvetica Neue"/>
              <a:ea typeface="Helvetica Neue"/>
              <a:cs typeface="Helvetica Neue"/>
              <a:sym typeface="Helvetica Neue"/>
            </a:endParaRPr>
          </a:p>
        </p:txBody>
      </p:sp>
      <p:sp>
        <p:nvSpPr>
          <p:cNvPr id="323" name="Google Shape;323;p24"/>
          <p:cNvSpPr/>
          <p:nvPr/>
        </p:nvSpPr>
        <p:spPr>
          <a:xfrm>
            <a:off x="4724400" y="1905000"/>
            <a:ext cx="457200" cy="12954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lnSpc>
                <a:spcPct val="150000"/>
              </a:lnSpc>
            </a:pPr>
            <a:r>
              <a:rPr lang="en-US" i="1">
                <a:solidFill>
                  <a:schemeClr val="dk1"/>
                </a:solidFill>
                <a:latin typeface="Helvetica Neue"/>
                <a:ea typeface="Helvetica Neue"/>
                <a:cs typeface="Helvetica Neue"/>
                <a:sym typeface="Helvetica Neue"/>
              </a:rPr>
              <a:t>α</a:t>
            </a:r>
            <a:endParaRPr i="1">
              <a:solidFill>
                <a:schemeClr val="dk1"/>
              </a:solidFill>
              <a:latin typeface="Helvetica Neue"/>
              <a:ea typeface="Helvetica Neue"/>
              <a:cs typeface="Helvetica Neue"/>
              <a:sym typeface="Helvetica Neue"/>
            </a:endParaRPr>
          </a:p>
          <a:p>
            <a:pPr algn="ctr">
              <a:lnSpc>
                <a:spcPct val="150000"/>
              </a:lnSpc>
            </a:pPr>
            <a:r>
              <a:rPr lang="en-US" i="1">
                <a:solidFill>
                  <a:schemeClr val="dk1"/>
                </a:solidFill>
                <a:latin typeface="Helvetica Neue"/>
                <a:ea typeface="Helvetica Neue"/>
                <a:cs typeface="Helvetica Neue"/>
                <a:sym typeface="Helvetica Neue"/>
              </a:rPr>
              <a:t>α</a:t>
            </a:r>
            <a:endParaRPr i="1">
              <a:solidFill>
                <a:schemeClr val="dk1"/>
              </a:solidFill>
              <a:latin typeface="Helvetica Neue"/>
              <a:ea typeface="Helvetica Neue"/>
              <a:cs typeface="Helvetica Neue"/>
              <a:sym typeface="Helvetica Neue"/>
            </a:endParaRPr>
          </a:p>
          <a:p>
            <a:pPr algn="ctr">
              <a:lnSpc>
                <a:spcPct val="150000"/>
              </a:lnSpc>
            </a:pPr>
            <a:r>
              <a:rPr lang="en-US" i="1">
                <a:solidFill>
                  <a:schemeClr val="dk1"/>
                </a:solidFill>
                <a:latin typeface="Helvetica Neue"/>
                <a:ea typeface="Helvetica Neue"/>
                <a:cs typeface="Helvetica Neue"/>
                <a:sym typeface="Helvetica Neue"/>
              </a:rPr>
              <a:t>β</a:t>
            </a:r>
            <a:endParaRPr i="1">
              <a:solidFill>
                <a:schemeClr val="dk1"/>
              </a:solidFill>
              <a:latin typeface="Helvetica Neue"/>
              <a:ea typeface="Helvetica Neue"/>
              <a:cs typeface="Helvetica Neue"/>
              <a:sym typeface="Helvetica Neue"/>
            </a:endParaRPr>
          </a:p>
        </p:txBody>
      </p:sp>
      <p:sp>
        <p:nvSpPr>
          <p:cNvPr id="324" name="Google Shape;324;p24"/>
          <p:cNvSpPr/>
          <p:nvPr/>
        </p:nvSpPr>
        <p:spPr>
          <a:xfrm>
            <a:off x="5181600" y="1905000"/>
            <a:ext cx="457200" cy="12954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lnSpc>
                <a:spcPct val="150000"/>
              </a:lnSpc>
            </a:pPr>
            <a:r>
              <a:rPr lang="en-US" i="1">
                <a:solidFill>
                  <a:schemeClr val="dk1"/>
                </a:solidFill>
                <a:latin typeface="Helvetica Neue"/>
                <a:ea typeface="Helvetica Neue"/>
                <a:cs typeface="Helvetica Neue"/>
                <a:sym typeface="Helvetica Neue"/>
              </a:rPr>
              <a:t>1</a:t>
            </a:r>
            <a:endParaRPr i="1">
              <a:solidFill>
                <a:schemeClr val="dk1"/>
              </a:solidFill>
              <a:latin typeface="Helvetica Neue"/>
              <a:ea typeface="Helvetica Neue"/>
              <a:cs typeface="Helvetica Neue"/>
              <a:sym typeface="Helvetica Neue"/>
            </a:endParaRPr>
          </a:p>
          <a:p>
            <a:pPr algn="ctr">
              <a:lnSpc>
                <a:spcPct val="150000"/>
              </a:lnSpc>
            </a:pPr>
            <a:r>
              <a:rPr lang="en-US" i="1">
                <a:solidFill>
                  <a:schemeClr val="dk1"/>
                </a:solidFill>
                <a:latin typeface="Helvetica Neue"/>
                <a:ea typeface="Helvetica Neue"/>
                <a:cs typeface="Helvetica Neue"/>
                <a:sym typeface="Helvetica Neue"/>
              </a:rPr>
              <a:t>2</a:t>
            </a:r>
            <a:endParaRPr i="1">
              <a:solidFill>
                <a:schemeClr val="dk1"/>
              </a:solidFill>
              <a:latin typeface="Helvetica Neue"/>
              <a:ea typeface="Helvetica Neue"/>
              <a:cs typeface="Helvetica Neue"/>
              <a:sym typeface="Helvetica Neue"/>
            </a:endParaRPr>
          </a:p>
          <a:p>
            <a:pPr algn="ctr">
              <a:lnSpc>
                <a:spcPct val="150000"/>
              </a:lnSpc>
            </a:pPr>
            <a:r>
              <a:rPr lang="en-US" i="1">
                <a:solidFill>
                  <a:schemeClr val="dk1"/>
                </a:solidFill>
                <a:latin typeface="Helvetica Neue"/>
                <a:ea typeface="Helvetica Neue"/>
                <a:cs typeface="Helvetica Neue"/>
                <a:sym typeface="Helvetica Neue"/>
              </a:rPr>
              <a:t>1</a:t>
            </a:r>
            <a:endParaRPr i="1">
              <a:solidFill>
                <a:schemeClr val="dk1"/>
              </a:solidFill>
              <a:latin typeface="Helvetica Neue"/>
              <a:ea typeface="Helvetica Neue"/>
              <a:cs typeface="Helvetica Neue"/>
              <a:sym typeface="Helvetica Neue"/>
            </a:endParaRPr>
          </a:p>
        </p:txBody>
      </p:sp>
      <p:sp>
        <p:nvSpPr>
          <p:cNvPr id="325" name="Google Shape;325;p24"/>
          <p:cNvSpPr/>
          <p:nvPr/>
        </p:nvSpPr>
        <p:spPr>
          <a:xfrm>
            <a:off x="6858000" y="1371600"/>
            <a:ext cx="457200" cy="4572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A</a:t>
            </a:r>
            <a:endParaRPr i="1">
              <a:solidFill>
                <a:schemeClr val="dk1"/>
              </a:solidFill>
              <a:latin typeface="Helvetica Neue"/>
              <a:ea typeface="Helvetica Neue"/>
              <a:cs typeface="Helvetica Neue"/>
              <a:sym typeface="Helvetica Neue"/>
            </a:endParaRPr>
          </a:p>
        </p:txBody>
      </p:sp>
      <p:sp>
        <p:nvSpPr>
          <p:cNvPr id="326" name="Google Shape;326;p24"/>
          <p:cNvSpPr/>
          <p:nvPr/>
        </p:nvSpPr>
        <p:spPr>
          <a:xfrm>
            <a:off x="7315200" y="1371600"/>
            <a:ext cx="457200" cy="4572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B</a:t>
            </a:r>
            <a:endParaRPr i="1">
              <a:solidFill>
                <a:schemeClr val="dk1"/>
              </a:solidFill>
              <a:latin typeface="Helvetica Neue"/>
              <a:ea typeface="Helvetica Neue"/>
              <a:cs typeface="Helvetica Neue"/>
              <a:sym typeface="Helvetica Neue"/>
            </a:endParaRPr>
          </a:p>
        </p:txBody>
      </p:sp>
      <p:sp>
        <p:nvSpPr>
          <p:cNvPr id="327" name="Google Shape;327;p24"/>
          <p:cNvSpPr/>
          <p:nvPr/>
        </p:nvSpPr>
        <p:spPr>
          <a:xfrm>
            <a:off x="6858000" y="1905000"/>
            <a:ext cx="457200" cy="9144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lnSpc>
                <a:spcPct val="150000"/>
              </a:lnSpc>
            </a:pPr>
            <a:r>
              <a:rPr lang="en-US" i="1">
                <a:solidFill>
                  <a:schemeClr val="dk1"/>
                </a:solidFill>
                <a:latin typeface="Helvetica Neue"/>
                <a:ea typeface="Helvetica Neue"/>
                <a:cs typeface="Helvetica Neue"/>
                <a:sym typeface="Helvetica Neue"/>
              </a:rPr>
              <a:t>α</a:t>
            </a:r>
            <a:endParaRPr i="1">
              <a:solidFill>
                <a:schemeClr val="dk1"/>
              </a:solidFill>
              <a:latin typeface="Helvetica Neue"/>
              <a:ea typeface="Helvetica Neue"/>
              <a:cs typeface="Helvetica Neue"/>
              <a:sym typeface="Helvetica Neue"/>
            </a:endParaRPr>
          </a:p>
          <a:p>
            <a:pPr algn="ctr">
              <a:lnSpc>
                <a:spcPct val="150000"/>
              </a:lnSpc>
            </a:pPr>
            <a:r>
              <a:rPr lang="en-US" i="1">
                <a:solidFill>
                  <a:schemeClr val="dk1"/>
                </a:solidFill>
                <a:latin typeface="Helvetica Neue"/>
                <a:ea typeface="Helvetica Neue"/>
                <a:cs typeface="Helvetica Neue"/>
                <a:sym typeface="Helvetica Neue"/>
              </a:rPr>
              <a:t>β</a:t>
            </a:r>
            <a:endParaRPr i="1">
              <a:solidFill>
                <a:schemeClr val="dk1"/>
              </a:solidFill>
              <a:latin typeface="Helvetica Neue"/>
              <a:ea typeface="Helvetica Neue"/>
              <a:cs typeface="Helvetica Neue"/>
              <a:sym typeface="Helvetica Neue"/>
            </a:endParaRPr>
          </a:p>
        </p:txBody>
      </p:sp>
      <p:sp>
        <p:nvSpPr>
          <p:cNvPr id="328" name="Google Shape;328;p24"/>
          <p:cNvSpPr/>
          <p:nvPr/>
        </p:nvSpPr>
        <p:spPr>
          <a:xfrm>
            <a:off x="7315200" y="1905000"/>
            <a:ext cx="457200" cy="9144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lnSpc>
                <a:spcPct val="150000"/>
              </a:lnSpc>
            </a:pPr>
            <a:r>
              <a:rPr lang="en-US" i="1">
                <a:solidFill>
                  <a:schemeClr val="dk1"/>
                </a:solidFill>
                <a:latin typeface="Helvetica Neue"/>
                <a:ea typeface="Helvetica Neue"/>
                <a:cs typeface="Helvetica Neue"/>
                <a:sym typeface="Helvetica Neue"/>
              </a:rPr>
              <a:t>2</a:t>
            </a:r>
            <a:endParaRPr i="1">
              <a:solidFill>
                <a:schemeClr val="dk1"/>
              </a:solidFill>
              <a:latin typeface="Helvetica Neue"/>
              <a:ea typeface="Helvetica Neue"/>
              <a:cs typeface="Helvetica Neue"/>
              <a:sym typeface="Helvetica Neue"/>
            </a:endParaRPr>
          </a:p>
          <a:p>
            <a:pPr algn="ctr">
              <a:lnSpc>
                <a:spcPct val="150000"/>
              </a:lnSpc>
            </a:pPr>
            <a:r>
              <a:rPr lang="en-US" i="1">
                <a:solidFill>
                  <a:schemeClr val="dk1"/>
                </a:solidFill>
                <a:latin typeface="Helvetica Neue"/>
                <a:ea typeface="Helvetica Neue"/>
                <a:cs typeface="Helvetica Neue"/>
                <a:sym typeface="Helvetica Neue"/>
              </a:rPr>
              <a:t>3</a:t>
            </a:r>
            <a:endParaRPr i="1">
              <a:solidFill>
                <a:schemeClr val="dk1"/>
              </a:solidFill>
              <a:latin typeface="Helvetica Neue"/>
              <a:ea typeface="Helvetica Neue"/>
              <a:cs typeface="Helvetica Neue"/>
              <a:sym typeface="Helvetica Neue"/>
            </a:endParaRPr>
          </a:p>
        </p:txBody>
      </p:sp>
      <p:sp>
        <p:nvSpPr>
          <p:cNvPr id="329" name="Google Shape;329;p24"/>
          <p:cNvSpPr txBox="1"/>
          <p:nvPr/>
        </p:nvSpPr>
        <p:spPr>
          <a:xfrm>
            <a:off x="7124700" y="2851150"/>
            <a:ext cx="336550" cy="457200"/>
          </a:xfrm>
          <a:prstGeom prst="rect">
            <a:avLst/>
          </a:prstGeom>
          <a:noFill/>
          <a:ln>
            <a:noFill/>
          </a:ln>
        </p:spPr>
        <p:txBody>
          <a:bodyPr spcFirstLastPara="1" wrap="square" lIns="91425" tIns="45700" rIns="91425" bIns="45700" anchor="ctr" anchorCtr="0">
            <a:spAutoFit/>
          </a:bodyPr>
          <a:lstStyle/>
          <a:p>
            <a:pPr algn="ctr"/>
            <a:r>
              <a:rPr lang="en-US" sz="2400" i="1">
                <a:solidFill>
                  <a:schemeClr val="dk1"/>
                </a:solidFill>
                <a:latin typeface="Helvetica Neue"/>
                <a:ea typeface="Helvetica Neue"/>
                <a:cs typeface="Helvetica Neue"/>
                <a:sym typeface="Helvetica Neue"/>
              </a:rPr>
              <a:t>s</a:t>
            </a:r>
            <a:endParaRPr sz="2400" i="1">
              <a:solidFill>
                <a:schemeClr val="dk1"/>
              </a:solidFill>
              <a:latin typeface="Helvetica Neue"/>
              <a:ea typeface="Helvetica Neue"/>
              <a:cs typeface="Helvetica Neue"/>
              <a:sym typeface="Helvetica Neue"/>
            </a:endParaRPr>
          </a:p>
        </p:txBody>
      </p:sp>
      <p:sp>
        <p:nvSpPr>
          <p:cNvPr id="330" name="Google Shape;330;p24"/>
          <p:cNvSpPr/>
          <p:nvPr/>
        </p:nvSpPr>
        <p:spPr>
          <a:xfrm>
            <a:off x="5791200" y="4114800"/>
            <a:ext cx="457200" cy="4572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A</a:t>
            </a:r>
            <a:endParaRPr i="1">
              <a:solidFill>
                <a:schemeClr val="dk1"/>
              </a:solidFill>
              <a:latin typeface="Helvetica Neue"/>
              <a:ea typeface="Helvetica Neue"/>
              <a:cs typeface="Helvetica Neue"/>
              <a:sym typeface="Helvetica Neue"/>
            </a:endParaRPr>
          </a:p>
        </p:txBody>
      </p:sp>
      <p:sp>
        <p:nvSpPr>
          <p:cNvPr id="331" name="Google Shape;331;p24"/>
          <p:cNvSpPr/>
          <p:nvPr/>
        </p:nvSpPr>
        <p:spPr>
          <a:xfrm>
            <a:off x="6248400" y="4114800"/>
            <a:ext cx="457200" cy="4572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B</a:t>
            </a:r>
            <a:endParaRPr i="1">
              <a:solidFill>
                <a:schemeClr val="dk1"/>
              </a:solidFill>
              <a:latin typeface="Helvetica Neue"/>
              <a:ea typeface="Helvetica Neue"/>
              <a:cs typeface="Helvetica Neue"/>
              <a:sym typeface="Helvetica Neue"/>
            </a:endParaRPr>
          </a:p>
        </p:txBody>
      </p:sp>
      <p:sp>
        <p:nvSpPr>
          <p:cNvPr id="332" name="Google Shape;332;p24"/>
          <p:cNvSpPr/>
          <p:nvPr/>
        </p:nvSpPr>
        <p:spPr>
          <a:xfrm>
            <a:off x="5791200" y="4648200"/>
            <a:ext cx="457200" cy="9144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lnSpc>
                <a:spcPct val="150000"/>
              </a:lnSpc>
            </a:pPr>
            <a:r>
              <a:rPr lang="en-US" i="1">
                <a:solidFill>
                  <a:schemeClr val="dk1"/>
                </a:solidFill>
                <a:latin typeface="Helvetica Neue"/>
                <a:ea typeface="Helvetica Neue"/>
                <a:cs typeface="Helvetica Neue"/>
                <a:sym typeface="Helvetica Neue"/>
              </a:rPr>
              <a:t>α</a:t>
            </a:r>
            <a:endParaRPr i="1">
              <a:solidFill>
                <a:schemeClr val="dk1"/>
              </a:solidFill>
              <a:latin typeface="Helvetica Neue"/>
              <a:ea typeface="Helvetica Neue"/>
              <a:cs typeface="Helvetica Neue"/>
              <a:sym typeface="Helvetica Neue"/>
            </a:endParaRPr>
          </a:p>
          <a:p>
            <a:pPr algn="ctr">
              <a:lnSpc>
                <a:spcPct val="150000"/>
              </a:lnSpc>
            </a:pPr>
            <a:r>
              <a:rPr lang="en-US" i="1">
                <a:solidFill>
                  <a:schemeClr val="dk1"/>
                </a:solidFill>
                <a:latin typeface="Helvetica Neue"/>
                <a:ea typeface="Helvetica Neue"/>
                <a:cs typeface="Helvetica Neue"/>
                <a:sym typeface="Helvetica Neue"/>
              </a:rPr>
              <a:t>β</a:t>
            </a:r>
            <a:endParaRPr i="1">
              <a:solidFill>
                <a:schemeClr val="dk1"/>
              </a:solidFill>
              <a:latin typeface="Helvetica Neue"/>
              <a:ea typeface="Helvetica Neue"/>
              <a:cs typeface="Helvetica Neue"/>
              <a:sym typeface="Helvetica Neue"/>
            </a:endParaRPr>
          </a:p>
        </p:txBody>
      </p:sp>
      <p:sp>
        <p:nvSpPr>
          <p:cNvPr id="333" name="Google Shape;333;p24"/>
          <p:cNvSpPr/>
          <p:nvPr/>
        </p:nvSpPr>
        <p:spPr>
          <a:xfrm>
            <a:off x="6248400" y="4648200"/>
            <a:ext cx="457200" cy="9144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lnSpc>
                <a:spcPct val="150000"/>
              </a:lnSpc>
            </a:pPr>
            <a:r>
              <a:rPr lang="en-US" i="1">
                <a:solidFill>
                  <a:schemeClr val="dk1"/>
                </a:solidFill>
                <a:latin typeface="Helvetica Neue"/>
                <a:ea typeface="Helvetica Neue"/>
                <a:cs typeface="Helvetica Neue"/>
                <a:sym typeface="Helvetica Neue"/>
              </a:rPr>
              <a:t>1</a:t>
            </a:r>
            <a:endParaRPr i="1">
              <a:solidFill>
                <a:schemeClr val="dk1"/>
              </a:solidFill>
              <a:latin typeface="Helvetica Neue"/>
              <a:ea typeface="Helvetica Neue"/>
              <a:cs typeface="Helvetica Neue"/>
              <a:sym typeface="Helvetica Neue"/>
            </a:endParaRPr>
          </a:p>
          <a:p>
            <a:pPr algn="ctr">
              <a:lnSpc>
                <a:spcPct val="150000"/>
              </a:lnSpc>
            </a:pPr>
            <a:r>
              <a:rPr lang="en-US" i="1">
                <a:solidFill>
                  <a:schemeClr val="dk1"/>
                </a:solidFill>
                <a:latin typeface="Helvetica Neue"/>
                <a:ea typeface="Helvetica Neue"/>
                <a:cs typeface="Helvetica Neue"/>
                <a:sym typeface="Helvetica Neue"/>
              </a:rPr>
              <a:t>1</a:t>
            </a:r>
            <a:endParaRPr i="1">
              <a:solidFill>
                <a:schemeClr val="dk1"/>
              </a:solidFill>
              <a:latin typeface="Helvetica Neue"/>
              <a:ea typeface="Helvetica Neue"/>
              <a:cs typeface="Helvetica Neue"/>
              <a:sym typeface="Helvetica Neue"/>
            </a:endParaRPr>
          </a:p>
        </p:txBody>
      </p:sp>
      <p:sp>
        <p:nvSpPr>
          <p:cNvPr id="334" name="Google Shape;334;p24"/>
          <p:cNvSpPr txBox="1"/>
          <p:nvPr/>
        </p:nvSpPr>
        <p:spPr>
          <a:xfrm>
            <a:off x="5089525" y="3089275"/>
            <a:ext cx="285750" cy="457200"/>
          </a:xfrm>
          <a:prstGeom prst="rect">
            <a:avLst/>
          </a:prstGeom>
          <a:noFill/>
          <a:ln>
            <a:noFill/>
          </a:ln>
        </p:spPr>
        <p:txBody>
          <a:bodyPr spcFirstLastPara="1" wrap="square" lIns="91425" tIns="45700" rIns="91425" bIns="45700" anchor="t" anchorCtr="0">
            <a:spAutoFit/>
          </a:bodyPr>
          <a:lstStyle/>
          <a:p>
            <a:r>
              <a:rPr lang="en-US" sz="2400">
                <a:solidFill>
                  <a:schemeClr val="dk1"/>
                </a:solidFill>
                <a:latin typeface="Times New Roman"/>
                <a:ea typeface="Times New Roman"/>
                <a:cs typeface="Times New Roman"/>
                <a:sym typeface="Times New Roman"/>
              </a:rPr>
              <a:t>r</a:t>
            </a:r>
            <a:endParaRPr sz="2400">
              <a:solidFill>
                <a:schemeClr val="dk1"/>
              </a:solidFill>
              <a:latin typeface="Times New Roman"/>
              <a:ea typeface="Times New Roman"/>
              <a:cs typeface="Times New Roman"/>
              <a:sym typeface="Times New Roma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30"/>
                                        </p:tgtEl>
                                        <p:attrNameLst>
                                          <p:attrName>style.visibility</p:attrName>
                                        </p:attrNameLst>
                                      </p:cBhvr>
                                      <p:to>
                                        <p:strVal val="visible"/>
                                      </p:to>
                                    </p:set>
                                    <p:animEffect transition="in" filter="fade">
                                      <p:cBhvr>
                                        <p:cTn id="7" dur="500"/>
                                        <p:tgtEl>
                                          <p:spTgt spid="330"/>
                                        </p:tgtEl>
                                      </p:cBhvr>
                                    </p:animEffect>
                                  </p:childTnLst>
                                </p:cTn>
                              </p:par>
                              <p:par>
                                <p:cTn id="8" presetID="10" presetClass="entr" presetSubtype="0" fill="hold" nodeType="withEffect">
                                  <p:stCondLst>
                                    <p:cond delay="0"/>
                                  </p:stCondLst>
                                  <p:childTnLst>
                                    <p:set>
                                      <p:cBhvr>
                                        <p:cTn id="9" dur="1" fill="hold">
                                          <p:stCondLst>
                                            <p:cond delay="0"/>
                                          </p:stCondLst>
                                        </p:cTn>
                                        <p:tgtEl>
                                          <p:spTgt spid="331"/>
                                        </p:tgtEl>
                                        <p:attrNameLst>
                                          <p:attrName>style.visibility</p:attrName>
                                        </p:attrNameLst>
                                      </p:cBhvr>
                                      <p:to>
                                        <p:strVal val="visible"/>
                                      </p:to>
                                    </p:set>
                                    <p:animEffect transition="in" filter="fade">
                                      <p:cBhvr>
                                        <p:cTn id="10" dur="500"/>
                                        <p:tgtEl>
                                          <p:spTgt spid="331"/>
                                        </p:tgtEl>
                                      </p:cBhvr>
                                    </p:animEffect>
                                  </p:childTnLst>
                                </p:cTn>
                              </p:par>
                              <p:par>
                                <p:cTn id="11" presetID="10" presetClass="entr" presetSubtype="0" fill="hold" nodeType="withEffect">
                                  <p:stCondLst>
                                    <p:cond delay="0"/>
                                  </p:stCondLst>
                                  <p:childTnLst>
                                    <p:set>
                                      <p:cBhvr>
                                        <p:cTn id="12" dur="1" fill="hold">
                                          <p:stCondLst>
                                            <p:cond delay="0"/>
                                          </p:stCondLst>
                                        </p:cTn>
                                        <p:tgtEl>
                                          <p:spTgt spid="332"/>
                                        </p:tgtEl>
                                        <p:attrNameLst>
                                          <p:attrName>style.visibility</p:attrName>
                                        </p:attrNameLst>
                                      </p:cBhvr>
                                      <p:to>
                                        <p:strVal val="visible"/>
                                      </p:to>
                                    </p:set>
                                    <p:animEffect transition="in" filter="fade">
                                      <p:cBhvr>
                                        <p:cTn id="13" dur="500"/>
                                        <p:tgtEl>
                                          <p:spTgt spid="332"/>
                                        </p:tgtEl>
                                      </p:cBhvr>
                                    </p:animEffect>
                                  </p:childTnLst>
                                </p:cTn>
                              </p:par>
                              <p:par>
                                <p:cTn id="14" presetID="10" presetClass="entr" presetSubtype="0" fill="hold" nodeType="withEffect">
                                  <p:stCondLst>
                                    <p:cond delay="0"/>
                                  </p:stCondLst>
                                  <p:childTnLst>
                                    <p:set>
                                      <p:cBhvr>
                                        <p:cTn id="15" dur="1" fill="hold">
                                          <p:stCondLst>
                                            <p:cond delay="0"/>
                                          </p:stCondLst>
                                        </p:cTn>
                                        <p:tgtEl>
                                          <p:spTgt spid="333"/>
                                        </p:tgtEl>
                                        <p:attrNameLst>
                                          <p:attrName>style.visibility</p:attrName>
                                        </p:attrNameLst>
                                      </p:cBhvr>
                                      <p:to>
                                        <p:strVal val="visible"/>
                                      </p:to>
                                    </p:set>
                                    <p:animEffect transition="in" filter="fade">
                                      <p:cBhvr>
                                        <p:cTn id="16" dur="500"/>
                                        <p:tgtEl>
                                          <p:spTgt spid="3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p25"/>
          <p:cNvSpPr txBox="1">
            <a:spLocks noGrp="1"/>
          </p:cNvSpPr>
          <p:nvPr>
            <p:ph type="title"/>
          </p:nvPr>
        </p:nvSpPr>
        <p:spPr>
          <a:xfrm>
            <a:off x="1981200" y="274956"/>
            <a:ext cx="8229600" cy="653415"/>
          </a:xfrm>
          <a:prstGeom prst="rect">
            <a:avLst/>
          </a:prstGeom>
          <a:noFill/>
          <a:ln>
            <a:noFill/>
          </a:ln>
        </p:spPr>
        <p:txBody>
          <a:bodyPr spcFirstLastPara="1" vert="horz" wrap="square" lIns="91425" tIns="45700" rIns="91425" bIns="45700" rtlCol="0" anchor="ctr" anchorCtr="0">
            <a:noAutofit/>
          </a:bodyPr>
          <a:lstStyle/>
          <a:p>
            <a:pPr algn="ctr">
              <a:lnSpc>
                <a:spcPct val="100000"/>
              </a:lnSpc>
              <a:spcBef>
                <a:spcPts val="0"/>
              </a:spcBef>
              <a:buClr>
                <a:schemeClr val="dk2"/>
              </a:buClr>
              <a:buSzPts val="4400"/>
            </a:pPr>
            <a:r>
              <a:rPr lang="en-US" b="1">
                <a:latin typeface="Times New Roman"/>
                <a:ea typeface="Times New Roman"/>
                <a:cs typeface="Times New Roman"/>
                <a:sym typeface="Times New Roman"/>
              </a:rPr>
              <a:t>Set Difference Operation...</a:t>
            </a:r>
            <a:endParaRPr b="1">
              <a:latin typeface="Times New Roman"/>
              <a:ea typeface="Times New Roman"/>
              <a:cs typeface="Times New Roman"/>
              <a:sym typeface="Times New Roman"/>
            </a:endParaRPr>
          </a:p>
        </p:txBody>
      </p:sp>
      <p:sp>
        <p:nvSpPr>
          <p:cNvPr id="340" name="Google Shape;340;p25"/>
          <p:cNvSpPr txBox="1">
            <a:spLocks noGrp="1"/>
          </p:cNvSpPr>
          <p:nvPr>
            <p:ph type="body" idx="1"/>
          </p:nvPr>
        </p:nvSpPr>
        <p:spPr>
          <a:xfrm>
            <a:off x="1981200" y="1600201"/>
            <a:ext cx="8229600" cy="4525963"/>
          </a:xfrm>
          <a:prstGeom prst="rect">
            <a:avLst/>
          </a:prstGeom>
          <a:noFill/>
          <a:ln>
            <a:noFill/>
          </a:ln>
        </p:spPr>
        <p:txBody>
          <a:bodyPr spcFirstLastPara="1" vert="horz" wrap="square" lIns="91425" tIns="45700" rIns="91425" bIns="45700" rtlCol="0" anchor="t" anchorCtr="0">
            <a:normAutofit/>
          </a:bodyPr>
          <a:lstStyle/>
          <a:p>
            <a:pPr marL="342900" indent="-342900" algn="just">
              <a:lnSpc>
                <a:spcPct val="100000"/>
              </a:lnSpc>
              <a:spcBef>
                <a:spcPts val="0"/>
              </a:spcBef>
              <a:buClr>
                <a:schemeClr val="dk1"/>
              </a:buClr>
              <a:buSzPts val="2400"/>
              <a:buFont typeface="Times New Roman"/>
              <a:buChar char="•"/>
            </a:pPr>
            <a:r>
              <a:rPr lang="en-US" sz="2400">
                <a:latin typeface="Times New Roman"/>
                <a:ea typeface="Times New Roman"/>
                <a:cs typeface="Times New Roman"/>
                <a:sym typeface="Times New Roman"/>
              </a:rPr>
              <a:t>As with the union operation, we must ensure that set differences are taken between compatible relations. Therefore, for a set difference operation r − s to be valid, If,</a:t>
            </a:r>
            <a:endParaRPr sz="2400">
              <a:latin typeface="Times New Roman"/>
              <a:ea typeface="Times New Roman"/>
              <a:cs typeface="Times New Roman"/>
              <a:sym typeface="Times New Roman"/>
            </a:endParaRPr>
          </a:p>
          <a:p>
            <a:pPr marL="342900" indent="-190500" algn="just">
              <a:lnSpc>
                <a:spcPct val="100000"/>
              </a:lnSpc>
              <a:spcBef>
                <a:spcPts val="480"/>
              </a:spcBef>
              <a:buClr>
                <a:schemeClr val="dk1"/>
              </a:buClr>
              <a:buSzPts val="2400"/>
              <a:buNone/>
            </a:pPr>
            <a:endParaRPr sz="2400">
              <a:latin typeface="Times New Roman"/>
              <a:ea typeface="Times New Roman"/>
              <a:cs typeface="Times New Roman"/>
              <a:sym typeface="Times New Roman"/>
            </a:endParaRPr>
          </a:p>
          <a:p>
            <a:pPr marL="342900" indent="-342900" algn="just">
              <a:lnSpc>
                <a:spcPct val="100000"/>
              </a:lnSpc>
              <a:spcBef>
                <a:spcPts val="480"/>
              </a:spcBef>
              <a:buClr>
                <a:schemeClr val="dk1"/>
              </a:buClr>
              <a:buSzPts val="2400"/>
              <a:buFont typeface="Times New Roman"/>
              <a:buChar char="•"/>
            </a:pPr>
            <a:r>
              <a:rPr lang="en-US" sz="2400">
                <a:latin typeface="Times New Roman"/>
                <a:ea typeface="Times New Roman"/>
                <a:cs typeface="Times New Roman"/>
                <a:sym typeface="Times New Roman"/>
              </a:rPr>
              <a:t>The relations r and s be of the same arity, and </a:t>
            </a:r>
            <a:endParaRPr sz="2400">
              <a:latin typeface="Times New Roman"/>
              <a:ea typeface="Times New Roman"/>
              <a:cs typeface="Times New Roman"/>
              <a:sym typeface="Times New Roman"/>
            </a:endParaRPr>
          </a:p>
          <a:p>
            <a:pPr marL="342900" indent="-190500" algn="just">
              <a:lnSpc>
                <a:spcPct val="100000"/>
              </a:lnSpc>
              <a:spcBef>
                <a:spcPts val="480"/>
              </a:spcBef>
              <a:buClr>
                <a:schemeClr val="dk1"/>
              </a:buClr>
              <a:buSzPts val="2400"/>
              <a:buNone/>
            </a:pPr>
            <a:endParaRPr sz="2400">
              <a:latin typeface="Times New Roman"/>
              <a:ea typeface="Times New Roman"/>
              <a:cs typeface="Times New Roman"/>
              <a:sym typeface="Times New Roman"/>
            </a:endParaRPr>
          </a:p>
          <a:p>
            <a:pPr marL="342900" indent="-342900" algn="just">
              <a:lnSpc>
                <a:spcPct val="100000"/>
              </a:lnSpc>
              <a:spcBef>
                <a:spcPts val="480"/>
              </a:spcBef>
              <a:buClr>
                <a:schemeClr val="dk1"/>
              </a:buClr>
              <a:buSzPts val="2400"/>
              <a:buFont typeface="Times New Roman"/>
              <a:buChar char="•"/>
            </a:pPr>
            <a:r>
              <a:rPr lang="en-US" sz="2400">
                <a:latin typeface="Times New Roman"/>
                <a:ea typeface="Times New Roman"/>
                <a:cs typeface="Times New Roman"/>
                <a:sym typeface="Times New Roman"/>
              </a:rPr>
              <a:t>The domains of the i</a:t>
            </a:r>
            <a:r>
              <a:rPr lang="en-US" sz="2400" baseline="30000">
                <a:latin typeface="Times New Roman"/>
                <a:ea typeface="Times New Roman"/>
                <a:cs typeface="Times New Roman"/>
                <a:sym typeface="Times New Roman"/>
              </a:rPr>
              <a:t>th</a:t>
            </a:r>
            <a:r>
              <a:rPr lang="en-US" sz="2400">
                <a:latin typeface="Times New Roman"/>
                <a:ea typeface="Times New Roman"/>
                <a:cs typeface="Times New Roman"/>
                <a:sym typeface="Times New Roman"/>
              </a:rPr>
              <a:t> attribute of r and the i</a:t>
            </a:r>
            <a:r>
              <a:rPr lang="en-US" sz="2400" baseline="30000">
                <a:latin typeface="Times New Roman"/>
                <a:ea typeface="Times New Roman"/>
                <a:cs typeface="Times New Roman"/>
                <a:sym typeface="Times New Roman"/>
              </a:rPr>
              <a:t>th</a:t>
            </a:r>
            <a:r>
              <a:rPr lang="en-US" sz="2400">
                <a:latin typeface="Times New Roman"/>
                <a:ea typeface="Times New Roman"/>
                <a:cs typeface="Times New Roman"/>
                <a:sym typeface="Times New Roman"/>
              </a:rPr>
              <a:t> attribute of s be the same.</a:t>
            </a:r>
            <a:endParaRPr sz="2400">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345" name="Google Shape;345;p26"/>
          <p:cNvSpPr txBox="1">
            <a:spLocks noGrp="1"/>
          </p:cNvSpPr>
          <p:nvPr>
            <p:ph type="title"/>
          </p:nvPr>
        </p:nvSpPr>
        <p:spPr>
          <a:xfrm>
            <a:off x="1981200" y="152401"/>
            <a:ext cx="8229600" cy="606425"/>
          </a:xfrm>
          <a:prstGeom prst="rect">
            <a:avLst/>
          </a:prstGeom>
          <a:noFill/>
          <a:ln>
            <a:noFill/>
          </a:ln>
        </p:spPr>
        <p:txBody>
          <a:bodyPr spcFirstLastPara="1" vert="horz" wrap="square" lIns="91425" tIns="45700" rIns="91425" bIns="45700" rtlCol="0" anchor="ctr" anchorCtr="0">
            <a:noAutofit/>
          </a:bodyPr>
          <a:lstStyle/>
          <a:p>
            <a:pPr algn="ctr">
              <a:lnSpc>
                <a:spcPct val="100000"/>
              </a:lnSpc>
              <a:spcBef>
                <a:spcPts val="0"/>
              </a:spcBef>
              <a:buClr>
                <a:schemeClr val="dk2"/>
              </a:buClr>
              <a:buSzPts val="4400"/>
            </a:pPr>
            <a:r>
              <a:rPr lang="en-US" b="1">
                <a:latin typeface="Times New Roman"/>
                <a:ea typeface="Times New Roman"/>
                <a:cs typeface="Times New Roman"/>
                <a:sym typeface="Times New Roman"/>
              </a:rPr>
              <a:t>5. Cartesian-Product Operation</a:t>
            </a:r>
            <a:endParaRPr>
              <a:latin typeface="Times New Roman"/>
              <a:ea typeface="Times New Roman"/>
              <a:cs typeface="Times New Roman"/>
              <a:sym typeface="Times New Roman"/>
            </a:endParaRPr>
          </a:p>
        </p:txBody>
      </p:sp>
      <p:sp>
        <p:nvSpPr>
          <p:cNvPr id="346" name="Google Shape;346;p26"/>
          <p:cNvSpPr txBox="1">
            <a:spLocks noGrp="1"/>
          </p:cNvSpPr>
          <p:nvPr>
            <p:ph type="body" idx="1"/>
          </p:nvPr>
        </p:nvSpPr>
        <p:spPr>
          <a:xfrm>
            <a:off x="1600201" y="685801"/>
            <a:ext cx="8877935" cy="6047105"/>
          </a:xfrm>
          <a:prstGeom prst="rect">
            <a:avLst/>
          </a:prstGeom>
          <a:noFill/>
          <a:ln>
            <a:noFill/>
          </a:ln>
        </p:spPr>
        <p:txBody>
          <a:bodyPr spcFirstLastPara="1" vert="horz" wrap="square" lIns="91425" tIns="45700" rIns="91425" bIns="45700" rtlCol="0" anchor="t" anchorCtr="0">
            <a:noAutofit/>
          </a:bodyPr>
          <a:lstStyle/>
          <a:p>
            <a:pPr marL="342900" indent="-342900" algn="just">
              <a:lnSpc>
                <a:spcPct val="100000"/>
              </a:lnSpc>
              <a:spcBef>
                <a:spcPts val="0"/>
              </a:spcBef>
              <a:buClr>
                <a:schemeClr val="dk1"/>
              </a:buClr>
              <a:buSzPts val="2400"/>
              <a:buFont typeface="Times New Roman"/>
              <a:buChar char="•"/>
            </a:pPr>
            <a:r>
              <a:rPr lang="en-US" sz="2400">
                <a:latin typeface="Times New Roman"/>
                <a:ea typeface="Times New Roman"/>
                <a:cs typeface="Times New Roman"/>
                <a:sym typeface="Times New Roman"/>
              </a:rPr>
              <a:t>The Cartesian-product operation, denoted by a cross (×), allows us to combine information from any two relations. </a:t>
            </a:r>
            <a:endParaRPr sz="2400">
              <a:latin typeface="Times New Roman"/>
              <a:ea typeface="Times New Roman"/>
              <a:cs typeface="Times New Roman"/>
              <a:sym typeface="Times New Roman"/>
            </a:endParaRPr>
          </a:p>
          <a:p>
            <a:pPr marL="342900" indent="-342900">
              <a:lnSpc>
                <a:spcPct val="100000"/>
              </a:lnSpc>
              <a:spcBef>
                <a:spcPts val="480"/>
              </a:spcBef>
              <a:buClr>
                <a:schemeClr val="dk1"/>
              </a:buClr>
              <a:buSzPts val="2400"/>
              <a:buFont typeface="Times New Roman"/>
              <a:buChar char="•"/>
            </a:pPr>
            <a:r>
              <a:rPr lang="en-US" sz="2400" b="1">
                <a:latin typeface="Times New Roman"/>
                <a:ea typeface="Times New Roman"/>
                <a:cs typeface="Times New Roman"/>
                <a:sym typeface="Times New Roman"/>
              </a:rPr>
              <a:t>Notation</a:t>
            </a:r>
            <a:r>
              <a:rPr lang="en-US" sz="2400" b="1" i="1">
                <a:latin typeface="Times New Roman"/>
                <a:ea typeface="Times New Roman"/>
                <a:cs typeface="Times New Roman"/>
                <a:sym typeface="Times New Roman"/>
              </a:rPr>
              <a:t> r </a:t>
            </a:r>
            <a:r>
              <a:rPr lang="en-US" sz="2400" b="1">
                <a:latin typeface="Times New Roman"/>
                <a:ea typeface="Times New Roman"/>
                <a:cs typeface="Times New Roman"/>
                <a:sym typeface="Times New Roman"/>
              </a:rPr>
              <a:t>x</a:t>
            </a:r>
            <a:r>
              <a:rPr lang="en-US" sz="2400" b="1" i="1">
                <a:latin typeface="Times New Roman"/>
                <a:ea typeface="Times New Roman"/>
                <a:cs typeface="Times New Roman"/>
                <a:sym typeface="Times New Roman"/>
              </a:rPr>
              <a:t> s</a:t>
            </a:r>
            <a:endParaRPr sz="2400" b="1">
              <a:latin typeface="Times New Roman"/>
              <a:ea typeface="Times New Roman"/>
              <a:cs typeface="Times New Roman"/>
              <a:sym typeface="Times New Roman"/>
            </a:endParaRPr>
          </a:p>
          <a:p>
            <a:pPr marL="342900" indent="-342900">
              <a:lnSpc>
                <a:spcPct val="100000"/>
              </a:lnSpc>
              <a:spcBef>
                <a:spcPts val="480"/>
              </a:spcBef>
              <a:buClr>
                <a:schemeClr val="dk1"/>
              </a:buClr>
              <a:buSzPts val="2400"/>
              <a:buFont typeface="Times New Roman"/>
              <a:buChar char="•"/>
            </a:pPr>
            <a:r>
              <a:rPr lang="en-US" sz="2400" b="1">
                <a:latin typeface="Times New Roman"/>
                <a:ea typeface="Times New Roman"/>
                <a:cs typeface="Times New Roman"/>
                <a:sym typeface="Times New Roman"/>
              </a:rPr>
              <a:t>Defined as:</a:t>
            </a:r>
            <a:endParaRPr sz="2400" b="1">
              <a:latin typeface="Times New Roman"/>
              <a:ea typeface="Times New Roman"/>
              <a:cs typeface="Times New Roman"/>
              <a:sym typeface="Times New Roman"/>
            </a:endParaRPr>
          </a:p>
          <a:p>
            <a:pPr marL="342900" indent="-342900">
              <a:lnSpc>
                <a:spcPct val="100000"/>
              </a:lnSpc>
              <a:spcBef>
                <a:spcPts val="480"/>
              </a:spcBef>
              <a:buClr>
                <a:schemeClr val="dk1"/>
              </a:buClr>
              <a:buSzPts val="2400"/>
              <a:buNone/>
            </a:pPr>
            <a:r>
              <a:rPr lang="en-US" sz="2400" b="1">
                <a:latin typeface="Times New Roman"/>
                <a:ea typeface="Times New Roman"/>
                <a:cs typeface="Times New Roman"/>
                <a:sym typeface="Times New Roman"/>
              </a:rPr>
              <a:t>		</a:t>
            </a:r>
            <a:r>
              <a:rPr lang="en-US" sz="2400" b="1" i="1">
                <a:latin typeface="Times New Roman"/>
                <a:ea typeface="Times New Roman"/>
                <a:cs typeface="Times New Roman"/>
                <a:sym typeface="Times New Roman"/>
              </a:rPr>
              <a:t>r</a:t>
            </a:r>
            <a:r>
              <a:rPr lang="en-US" sz="2400" b="1">
                <a:latin typeface="Times New Roman"/>
                <a:ea typeface="Times New Roman"/>
                <a:cs typeface="Times New Roman"/>
                <a:sym typeface="Times New Roman"/>
              </a:rPr>
              <a:t> x </a:t>
            </a:r>
            <a:r>
              <a:rPr lang="en-US" sz="2400" b="1" i="1">
                <a:latin typeface="Times New Roman"/>
                <a:ea typeface="Times New Roman"/>
                <a:cs typeface="Times New Roman"/>
                <a:sym typeface="Times New Roman"/>
              </a:rPr>
              <a:t>s</a:t>
            </a:r>
            <a:r>
              <a:rPr lang="en-US" sz="2400" b="1">
                <a:latin typeface="Times New Roman"/>
                <a:ea typeface="Times New Roman"/>
                <a:cs typeface="Times New Roman"/>
                <a:sym typeface="Times New Roman"/>
              </a:rPr>
              <a:t> = {</a:t>
            </a:r>
            <a:r>
              <a:rPr lang="en-US" sz="2400" b="1" i="1">
                <a:latin typeface="Times New Roman"/>
                <a:ea typeface="Times New Roman"/>
                <a:cs typeface="Times New Roman"/>
                <a:sym typeface="Times New Roman"/>
              </a:rPr>
              <a:t>t q </a:t>
            </a:r>
            <a:r>
              <a:rPr lang="en-US" sz="2400" b="1">
                <a:latin typeface="Times New Roman"/>
                <a:ea typeface="Times New Roman"/>
                <a:cs typeface="Times New Roman"/>
                <a:sym typeface="Times New Roman"/>
              </a:rPr>
              <a:t>|</a:t>
            </a:r>
            <a:r>
              <a:rPr lang="en-US" sz="2400" b="1" i="1">
                <a:latin typeface="Times New Roman"/>
                <a:ea typeface="Times New Roman"/>
                <a:cs typeface="Times New Roman"/>
                <a:sym typeface="Times New Roman"/>
              </a:rPr>
              <a:t> t </a:t>
            </a:r>
            <a:r>
              <a:rPr lang="en-US" sz="2400" b="1">
                <a:latin typeface="Times New Roman"/>
                <a:ea typeface="Times New Roman"/>
                <a:cs typeface="Times New Roman"/>
                <a:sym typeface="Times New Roman"/>
              </a:rPr>
              <a:t>∈</a:t>
            </a:r>
            <a:r>
              <a:rPr lang="en-US" sz="2400" b="1" i="1">
                <a:latin typeface="Times New Roman"/>
                <a:ea typeface="Times New Roman"/>
                <a:cs typeface="Times New Roman"/>
                <a:sym typeface="Times New Roman"/>
              </a:rPr>
              <a:t> r </a:t>
            </a:r>
            <a:r>
              <a:rPr lang="en-US" sz="2400" b="1">
                <a:latin typeface="Times New Roman"/>
                <a:ea typeface="Times New Roman"/>
                <a:cs typeface="Times New Roman"/>
                <a:sym typeface="Times New Roman"/>
              </a:rPr>
              <a:t>and </a:t>
            </a:r>
            <a:r>
              <a:rPr lang="en-US" sz="2400" b="1" i="1">
                <a:latin typeface="Times New Roman"/>
                <a:ea typeface="Times New Roman"/>
                <a:cs typeface="Times New Roman"/>
                <a:sym typeface="Times New Roman"/>
              </a:rPr>
              <a:t>q </a:t>
            </a:r>
            <a:r>
              <a:rPr lang="en-US" sz="2400" b="1">
                <a:latin typeface="Times New Roman"/>
                <a:ea typeface="Times New Roman"/>
                <a:cs typeface="Times New Roman"/>
                <a:sym typeface="Times New Roman"/>
              </a:rPr>
              <a:t>∈ </a:t>
            </a:r>
            <a:r>
              <a:rPr lang="en-US" sz="2400" b="1" i="1">
                <a:latin typeface="Times New Roman"/>
                <a:ea typeface="Times New Roman"/>
                <a:cs typeface="Times New Roman"/>
                <a:sym typeface="Times New Roman"/>
              </a:rPr>
              <a:t>s</a:t>
            </a:r>
            <a:r>
              <a:rPr lang="en-US" sz="2400" b="1">
                <a:latin typeface="Times New Roman"/>
                <a:ea typeface="Times New Roman"/>
                <a:cs typeface="Times New Roman"/>
                <a:sym typeface="Times New Roman"/>
              </a:rPr>
              <a:t>}</a:t>
            </a:r>
            <a:endParaRPr sz="2400" b="1">
              <a:latin typeface="Times New Roman"/>
              <a:ea typeface="Times New Roman"/>
              <a:cs typeface="Times New Roman"/>
              <a:sym typeface="Times New Roman"/>
            </a:endParaRPr>
          </a:p>
          <a:p>
            <a:pPr marL="342900" indent="-342900">
              <a:lnSpc>
                <a:spcPct val="100000"/>
              </a:lnSpc>
              <a:spcBef>
                <a:spcPts val="480"/>
              </a:spcBef>
              <a:buClr>
                <a:schemeClr val="dk1"/>
              </a:buClr>
              <a:buSzPts val="2400"/>
              <a:buFont typeface="Times New Roman"/>
              <a:buChar char="•"/>
            </a:pPr>
            <a:r>
              <a:rPr lang="en-US" sz="2400">
                <a:latin typeface="Times New Roman"/>
                <a:ea typeface="Times New Roman"/>
                <a:cs typeface="Times New Roman"/>
                <a:sym typeface="Times New Roman"/>
              </a:rPr>
              <a:t>Assume that attributes of r(R) and s(S) are disjoint.  (That is, </a:t>
            </a:r>
            <a:r>
              <a:rPr lang="en-US" sz="2400" i="1">
                <a:latin typeface="Times New Roman"/>
                <a:ea typeface="Times New Roman"/>
                <a:cs typeface="Times New Roman"/>
                <a:sym typeface="Times New Roman"/>
              </a:rPr>
              <a:t>R</a:t>
            </a:r>
            <a:r>
              <a:rPr lang="en-US" sz="2400">
                <a:latin typeface="Times New Roman"/>
                <a:ea typeface="Times New Roman"/>
                <a:cs typeface="Times New Roman"/>
                <a:sym typeface="Times New Roman"/>
              </a:rPr>
              <a:t> ∩</a:t>
            </a:r>
            <a:r>
              <a:rPr lang="en-US" sz="2400" i="1">
                <a:latin typeface="Times New Roman"/>
                <a:ea typeface="Times New Roman"/>
                <a:cs typeface="Times New Roman"/>
                <a:sym typeface="Times New Roman"/>
              </a:rPr>
              <a:t> S</a:t>
            </a:r>
            <a:r>
              <a:rPr lang="en-US" sz="2400">
                <a:latin typeface="Times New Roman"/>
                <a:ea typeface="Times New Roman"/>
                <a:cs typeface="Times New Roman"/>
                <a:sym typeface="Times New Roman"/>
              </a:rPr>
              <a:t> = </a:t>
            </a:r>
            <a:r>
              <a:rPr lang="en-US" sz="2400" i="1">
                <a:latin typeface="Times New Roman"/>
                <a:ea typeface="Times New Roman"/>
                <a:cs typeface="Times New Roman"/>
                <a:sym typeface="Times New Roman"/>
              </a:rPr>
              <a:t>∅ </a:t>
            </a:r>
            <a:r>
              <a:rPr lang="en-US" sz="2400">
                <a:latin typeface="Times New Roman"/>
                <a:ea typeface="Times New Roman"/>
                <a:cs typeface="Times New Roman"/>
                <a:sym typeface="Times New Roman"/>
              </a:rPr>
              <a:t>).</a:t>
            </a:r>
            <a:endParaRPr sz="2400">
              <a:latin typeface="Times New Roman"/>
              <a:ea typeface="Times New Roman"/>
              <a:cs typeface="Times New Roman"/>
              <a:sym typeface="Times New Roman"/>
            </a:endParaRPr>
          </a:p>
          <a:p>
            <a:pPr marL="342900" indent="-342900">
              <a:lnSpc>
                <a:spcPct val="100000"/>
              </a:lnSpc>
              <a:spcBef>
                <a:spcPts val="480"/>
              </a:spcBef>
              <a:buClr>
                <a:schemeClr val="dk1"/>
              </a:buClr>
              <a:buSzPts val="2400"/>
              <a:buFont typeface="Times New Roman"/>
              <a:buChar char="•"/>
            </a:pPr>
            <a:r>
              <a:rPr lang="en-US" sz="2400">
                <a:latin typeface="Times New Roman"/>
                <a:ea typeface="Times New Roman"/>
                <a:cs typeface="Times New Roman"/>
                <a:sym typeface="Times New Roman"/>
              </a:rPr>
              <a:t>If attributes of </a:t>
            </a:r>
            <a:r>
              <a:rPr lang="en-US" sz="2400" i="1">
                <a:latin typeface="Times New Roman"/>
                <a:ea typeface="Times New Roman"/>
                <a:cs typeface="Times New Roman"/>
                <a:sym typeface="Times New Roman"/>
              </a:rPr>
              <a:t>r(R)</a:t>
            </a:r>
            <a:r>
              <a:rPr lang="en-US" sz="2400">
                <a:latin typeface="Times New Roman"/>
                <a:ea typeface="Times New Roman"/>
                <a:cs typeface="Times New Roman"/>
                <a:sym typeface="Times New Roman"/>
              </a:rPr>
              <a:t> and </a:t>
            </a:r>
            <a:r>
              <a:rPr lang="en-US" sz="2400" i="1">
                <a:latin typeface="Times New Roman"/>
                <a:ea typeface="Times New Roman"/>
                <a:cs typeface="Times New Roman"/>
                <a:sym typeface="Times New Roman"/>
              </a:rPr>
              <a:t>s(S</a:t>
            </a:r>
            <a:r>
              <a:rPr lang="en-US" sz="2400">
                <a:latin typeface="Times New Roman"/>
                <a:ea typeface="Times New Roman"/>
                <a:cs typeface="Times New Roman"/>
                <a:sym typeface="Times New Roman"/>
              </a:rPr>
              <a:t>) are not disjoint, then renaming must be used.</a:t>
            </a:r>
            <a:endParaRPr sz="2400">
              <a:latin typeface="Times New Roman"/>
              <a:ea typeface="Times New Roman"/>
              <a:cs typeface="Times New Roman"/>
              <a:sym typeface="Times New Roman"/>
            </a:endParaRPr>
          </a:p>
          <a:p>
            <a:pPr marL="342900" indent="-342900" algn="just">
              <a:lnSpc>
                <a:spcPct val="100000"/>
              </a:lnSpc>
              <a:spcBef>
                <a:spcPts val="480"/>
              </a:spcBef>
              <a:buClr>
                <a:schemeClr val="dk1"/>
              </a:buClr>
              <a:buSzPts val="2400"/>
              <a:buFont typeface="Times New Roman"/>
              <a:buChar char="•"/>
            </a:pPr>
            <a:r>
              <a:rPr lang="en-US" sz="2400">
                <a:latin typeface="Times New Roman"/>
                <a:ea typeface="Times New Roman"/>
                <a:cs typeface="Times New Roman"/>
                <a:sym typeface="Times New Roman"/>
              </a:rPr>
              <a:t>We write the Cartesian product of relations r1 and r2 as ...r1 × r2</a:t>
            </a:r>
            <a:endParaRPr sz="2400">
              <a:latin typeface="Times New Roman"/>
              <a:ea typeface="Times New Roman"/>
              <a:cs typeface="Times New Roman"/>
              <a:sym typeface="Times New Roman"/>
            </a:endParaRPr>
          </a:p>
          <a:p>
            <a:pPr marL="342900" indent="-342900" algn="just">
              <a:lnSpc>
                <a:spcPct val="100000"/>
              </a:lnSpc>
              <a:spcBef>
                <a:spcPts val="480"/>
              </a:spcBef>
              <a:buClr>
                <a:schemeClr val="dk1"/>
              </a:buClr>
              <a:buSzPts val="2400"/>
              <a:buFont typeface="Times New Roman"/>
              <a:buChar char="•"/>
            </a:pPr>
            <a:r>
              <a:rPr lang="en-US" sz="2400">
                <a:latin typeface="Times New Roman"/>
                <a:ea typeface="Times New Roman"/>
                <a:cs typeface="Times New Roman"/>
                <a:sym typeface="Times New Roman"/>
              </a:rPr>
              <a:t>However, since the same attribute name may appear in both r1 and r2, we need to devise a naming schema to distinguish between these attributes. </a:t>
            </a:r>
            <a:endParaRPr sz="2400">
              <a:latin typeface="Times New Roman"/>
              <a:ea typeface="Times New Roman"/>
              <a:cs typeface="Times New Roman"/>
              <a:sym typeface="Times New Roman"/>
            </a:endParaRPr>
          </a:p>
          <a:p>
            <a:pPr marL="342900" indent="-342900" algn="just">
              <a:lnSpc>
                <a:spcPct val="100000"/>
              </a:lnSpc>
              <a:spcBef>
                <a:spcPts val="480"/>
              </a:spcBef>
              <a:buClr>
                <a:schemeClr val="dk1"/>
              </a:buClr>
              <a:buSzPts val="2400"/>
              <a:buFont typeface="Times New Roman"/>
              <a:buChar char="•"/>
            </a:pPr>
            <a:r>
              <a:rPr lang="en-US" sz="2400">
                <a:latin typeface="Times New Roman"/>
                <a:ea typeface="Times New Roman"/>
                <a:cs typeface="Times New Roman"/>
                <a:sym typeface="Times New Roman"/>
              </a:rPr>
              <a:t>We do so here by attaching to an attribute the name of the relation from which the attribute originally came.</a:t>
            </a:r>
            <a:endParaRPr sz="2400">
              <a:latin typeface="Times New Roman"/>
              <a:ea typeface="Times New Roman"/>
              <a:cs typeface="Times New Roman"/>
              <a:sym typeface="Times New Roman"/>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p27"/>
          <p:cNvSpPr txBox="1">
            <a:spLocks noGrp="1"/>
          </p:cNvSpPr>
          <p:nvPr>
            <p:ph type="title"/>
          </p:nvPr>
        </p:nvSpPr>
        <p:spPr>
          <a:xfrm>
            <a:off x="1981200" y="274638"/>
            <a:ext cx="8229600" cy="1143000"/>
          </a:xfrm>
          <a:prstGeom prst="rect">
            <a:avLst/>
          </a:prstGeom>
          <a:noFill/>
          <a:ln>
            <a:noFill/>
          </a:ln>
        </p:spPr>
        <p:txBody>
          <a:bodyPr spcFirstLastPara="1" vert="horz" wrap="square" lIns="91425" tIns="45700" rIns="91425" bIns="45700" rtlCol="0" anchor="ctr" anchorCtr="0">
            <a:noAutofit/>
          </a:bodyPr>
          <a:lstStyle/>
          <a:p>
            <a:pPr algn="ctr">
              <a:lnSpc>
                <a:spcPct val="100000"/>
              </a:lnSpc>
              <a:spcBef>
                <a:spcPts val="0"/>
              </a:spcBef>
              <a:buClr>
                <a:schemeClr val="dk2"/>
              </a:buClr>
              <a:buSzPts val="4400"/>
            </a:pPr>
            <a:r>
              <a:rPr lang="en-US" b="1">
                <a:latin typeface="Times New Roman"/>
                <a:ea typeface="Times New Roman"/>
                <a:cs typeface="Times New Roman"/>
                <a:sym typeface="Times New Roman"/>
              </a:rPr>
              <a:t>Cartesian-Product Operation....</a:t>
            </a:r>
            <a:endParaRPr b="1">
              <a:latin typeface="Times New Roman"/>
              <a:ea typeface="Times New Roman"/>
              <a:cs typeface="Times New Roman"/>
              <a:sym typeface="Times New Roman"/>
            </a:endParaRPr>
          </a:p>
        </p:txBody>
      </p:sp>
      <p:sp>
        <p:nvSpPr>
          <p:cNvPr id="352" name="Google Shape;352;p27"/>
          <p:cNvSpPr txBox="1">
            <a:spLocks noGrp="1"/>
          </p:cNvSpPr>
          <p:nvPr>
            <p:ph type="body" idx="1"/>
          </p:nvPr>
        </p:nvSpPr>
        <p:spPr>
          <a:xfrm>
            <a:off x="1981200" y="1600201"/>
            <a:ext cx="8229600" cy="4525963"/>
          </a:xfrm>
          <a:prstGeom prst="rect">
            <a:avLst/>
          </a:prstGeom>
          <a:noFill/>
          <a:ln>
            <a:noFill/>
          </a:ln>
        </p:spPr>
        <p:txBody>
          <a:bodyPr spcFirstLastPara="1" vert="horz" wrap="square" lIns="91425" tIns="45700" rIns="91425" bIns="45700" rtlCol="0" anchor="t" anchorCtr="0">
            <a:noAutofit/>
          </a:bodyPr>
          <a:lstStyle/>
          <a:p>
            <a:pPr marL="342900" indent="-342900" algn="just">
              <a:lnSpc>
                <a:spcPct val="100000"/>
              </a:lnSpc>
              <a:spcBef>
                <a:spcPts val="0"/>
              </a:spcBef>
              <a:buClr>
                <a:schemeClr val="dk1"/>
              </a:buClr>
              <a:buSzPts val="2400"/>
              <a:buFont typeface="Times New Roman"/>
              <a:buChar char="•"/>
            </a:pPr>
            <a:r>
              <a:rPr lang="en-US" sz="2400">
                <a:latin typeface="Times New Roman"/>
                <a:ea typeface="Times New Roman"/>
                <a:cs typeface="Times New Roman"/>
                <a:sym typeface="Times New Roman"/>
              </a:rPr>
              <a:t>For example, the relation schema for r = borrower × loan is (borrower.customer_name,borrower.loan_number, loan.loan_number, loan.branch_name, loan.amount)</a:t>
            </a:r>
            <a:endParaRPr sz="2400">
              <a:latin typeface="Times New Roman"/>
              <a:ea typeface="Times New Roman"/>
              <a:cs typeface="Times New Roman"/>
              <a:sym typeface="Times New Roman"/>
            </a:endParaRPr>
          </a:p>
          <a:p>
            <a:pPr marL="342900" indent="-342900" algn="just">
              <a:lnSpc>
                <a:spcPct val="100000"/>
              </a:lnSpc>
              <a:spcBef>
                <a:spcPts val="480"/>
              </a:spcBef>
              <a:buClr>
                <a:schemeClr val="dk1"/>
              </a:buClr>
              <a:buSzPts val="2400"/>
              <a:buFont typeface="Times New Roman"/>
              <a:buChar char="•"/>
            </a:pPr>
            <a:r>
              <a:rPr lang="en-US" sz="2400">
                <a:latin typeface="Times New Roman"/>
                <a:ea typeface="Times New Roman"/>
                <a:cs typeface="Times New Roman"/>
                <a:sym typeface="Times New Roman"/>
              </a:rPr>
              <a:t>With this schema, we can distinguish borrower.loan-number from loan.loan-number. </a:t>
            </a:r>
            <a:endParaRPr sz="2400">
              <a:latin typeface="Times New Roman"/>
              <a:ea typeface="Times New Roman"/>
              <a:cs typeface="Times New Roman"/>
              <a:sym typeface="Times New Roman"/>
            </a:endParaRPr>
          </a:p>
          <a:p>
            <a:pPr marL="342900" indent="-342900" algn="just">
              <a:lnSpc>
                <a:spcPct val="100000"/>
              </a:lnSpc>
              <a:spcBef>
                <a:spcPts val="480"/>
              </a:spcBef>
              <a:buClr>
                <a:schemeClr val="dk1"/>
              </a:buClr>
              <a:buSzPts val="2400"/>
              <a:buFont typeface="Times New Roman"/>
              <a:buChar char="•"/>
            </a:pPr>
            <a:r>
              <a:rPr lang="en-US" sz="2400">
                <a:latin typeface="Times New Roman"/>
                <a:ea typeface="Times New Roman"/>
                <a:cs typeface="Times New Roman"/>
                <a:sym typeface="Times New Roman"/>
              </a:rPr>
              <a:t>For those attributes that appear in only one of the two schemas, we shall usually drop the relation-name prefix. This simplification does not lead to any ambiguity. </a:t>
            </a:r>
            <a:endParaRPr sz="2400">
              <a:latin typeface="Times New Roman"/>
              <a:ea typeface="Times New Roman"/>
              <a:cs typeface="Times New Roman"/>
              <a:sym typeface="Times New Roman"/>
            </a:endParaRPr>
          </a:p>
          <a:p>
            <a:pPr marL="342900" indent="-342900" algn="just">
              <a:lnSpc>
                <a:spcPct val="100000"/>
              </a:lnSpc>
              <a:spcBef>
                <a:spcPts val="480"/>
              </a:spcBef>
              <a:buClr>
                <a:schemeClr val="dk1"/>
              </a:buClr>
              <a:buSzPts val="2400"/>
              <a:buFont typeface="Times New Roman"/>
              <a:buChar char="•"/>
            </a:pPr>
            <a:r>
              <a:rPr lang="en-US" sz="2400">
                <a:latin typeface="Times New Roman"/>
                <a:ea typeface="Times New Roman"/>
                <a:cs typeface="Times New Roman"/>
                <a:sym typeface="Times New Roman"/>
              </a:rPr>
              <a:t>We can then write the relation schema for r as (customer_name, borrower.loan_number, loan.loan_number, branch_name, amount)</a:t>
            </a:r>
            <a:endParaRPr sz="2400">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57" name="Google Shape;357;p28"/>
          <p:cNvSpPr txBox="1">
            <a:spLocks noGrp="1"/>
          </p:cNvSpPr>
          <p:nvPr>
            <p:ph type="title"/>
          </p:nvPr>
        </p:nvSpPr>
        <p:spPr>
          <a:xfrm>
            <a:off x="2663825" y="193675"/>
            <a:ext cx="7678738" cy="503238"/>
          </a:xfrm>
          <a:prstGeom prst="rect">
            <a:avLst/>
          </a:prstGeom>
          <a:noFill/>
          <a:ln>
            <a:noFill/>
          </a:ln>
        </p:spPr>
        <p:txBody>
          <a:bodyPr spcFirstLastPara="1" vert="horz" wrap="square" lIns="91425" tIns="45700" rIns="91425" bIns="45700" rtlCol="0" anchor="ctr" anchorCtr="0">
            <a:noAutofit/>
          </a:bodyPr>
          <a:lstStyle/>
          <a:p>
            <a:pPr algn="ctr">
              <a:lnSpc>
                <a:spcPct val="100000"/>
              </a:lnSpc>
              <a:spcBef>
                <a:spcPts val="0"/>
              </a:spcBef>
              <a:buClr>
                <a:schemeClr val="dk2"/>
              </a:buClr>
              <a:buSzPts val="2800"/>
            </a:pPr>
            <a:r>
              <a:rPr lang="en-US" sz="2800"/>
              <a:t>Cartesian-Product Operation-Example</a:t>
            </a:r>
            <a:endParaRPr sz="2800"/>
          </a:p>
        </p:txBody>
      </p:sp>
      <p:sp>
        <p:nvSpPr>
          <p:cNvPr id="358" name="Google Shape;358;p28"/>
          <p:cNvSpPr/>
          <p:nvPr/>
        </p:nvSpPr>
        <p:spPr>
          <a:xfrm>
            <a:off x="2057400" y="1295401"/>
            <a:ext cx="7029450" cy="333375"/>
          </a:xfrm>
          <a:prstGeom prst="rect">
            <a:avLst/>
          </a:prstGeom>
          <a:noFill/>
          <a:ln>
            <a:noFill/>
          </a:ln>
        </p:spPr>
        <p:txBody>
          <a:bodyPr spcFirstLastPara="1" wrap="square" lIns="91425" tIns="45700" rIns="91425" bIns="45700" anchor="t" anchorCtr="0">
            <a:noAutofit/>
          </a:bodyPr>
          <a:lstStyle/>
          <a:p>
            <a:pPr marL="342900" indent="-342900"/>
            <a:r>
              <a:rPr lang="en-US" sz="2400">
                <a:solidFill>
                  <a:schemeClr val="dk1"/>
                </a:solidFill>
                <a:latin typeface="Helvetica Neue"/>
                <a:ea typeface="Helvetica Neue"/>
                <a:cs typeface="Helvetica Neue"/>
                <a:sym typeface="Helvetica Neue"/>
              </a:rPr>
              <a:t>Relations </a:t>
            </a:r>
            <a:r>
              <a:rPr lang="en-US" sz="2400" i="1">
                <a:solidFill>
                  <a:schemeClr val="dk1"/>
                </a:solidFill>
                <a:latin typeface="Helvetica Neue"/>
                <a:ea typeface="Helvetica Neue"/>
                <a:cs typeface="Helvetica Neue"/>
                <a:sym typeface="Helvetica Neue"/>
              </a:rPr>
              <a:t>r, s</a:t>
            </a:r>
            <a:r>
              <a:rPr lang="en-US" sz="2400">
                <a:solidFill>
                  <a:schemeClr val="dk1"/>
                </a:solidFill>
                <a:latin typeface="Helvetica Neue"/>
                <a:ea typeface="Helvetica Neue"/>
                <a:cs typeface="Helvetica Neue"/>
                <a:sym typeface="Helvetica Neue"/>
              </a:rPr>
              <a:t>:</a:t>
            </a:r>
            <a:endParaRPr sz="2400">
              <a:solidFill>
                <a:schemeClr val="dk1"/>
              </a:solidFill>
              <a:latin typeface="Helvetica Neue"/>
              <a:ea typeface="Helvetica Neue"/>
              <a:cs typeface="Helvetica Neue"/>
              <a:sym typeface="Helvetica Neue"/>
            </a:endParaRPr>
          </a:p>
        </p:txBody>
      </p:sp>
      <p:sp>
        <p:nvSpPr>
          <p:cNvPr id="359" name="Google Shape;359;p28"/>
          <p:cNvSpPr/>
          <p:nvPr/>
        </p:nvSpPr>
        <p:spPr>
          <a:xfrm>
            <a:off x="2133600" y="3200401"/>
            <a:ext cx="7029450" cy="333375"/>
          </a:xfrm>
          <a:prstGeom prst="rect">
            <a:avLst/>
          </a:prstGeom>
          <a:noFill/>
          <a:ln>
            <a:noFill/>
          </a:ln>
        </p:spPr>
        <p:txBody>
          <a:bodyPr spcFirstLastPara="1" wrap="square" lIns="91425" tIns="45700" rIns="91425" bIns="45700" anchor="t" anchorCtr="0">
            <a:noAutofit/>
          </a:bodyPr>
          <a:lstStyle/>
          <a:p>
            <a:pPr marL="342900" indent="-342900"/>
            <a:r>
              <a:rPr lang="en-US" sz="2400" i="1">
                <a:solidFill>
                  <a:schemeClr val="dk1"/>
                </a:solidFill>
                <a:latin typeface="Helvetica Neue"/>
                <a:ea typeface="Helvetica Neue"/>
                <a:cs typeface="Helvetica Neue"/>
                <a:sym typeface="Helvetica Neue"/>
              </a:rPr>
              <a:t>r</a:t>
            </a:r>
            <a:r>
              <a:rPr lang="en-US" sz="2400">
                <a:solidFill>
                  <a:schemeClr val="dk1"/>
                </a:solidFill>
                <a:latin typeface="Helvetica Neue"/>
                <a:ea typeface="Helvetica Neue"/>
                <a:cs typeface="Helvetica Neue"/>
                <a:sym typeface="Helvetica Neue"/>
              </a:rPr>
              <a:t> x </a:t>
            </a:r>
            <a:r>
              <a:rPr lang="en-US" sz="2400" i="1">
                <a:solidFill>
                  <a:schemeClr val="dk1"/>
                </a:solidFill>
                <a:latin typeface="Helvetica Neue"/>
                <a:ea typeface="Helvetica Neue"/>
                <a:cs typeface="Helvetica Neue"/>
                <a:sym typeface="Helvetica Neue"/>
              </a:rPr>
              <a:t>s</a:t>
            </a:r>
            <a:r>
              <a:rPr lang="en-US" sz="2400">
                <a:solidFill>
                  <a:schemeClr val="dk1"/>
                </a:solidFill>
                <a:latin typeface="Helvetica Neue"/>
                <a:ea typeface="Helvetica Neue"/>
                <a:cs typeface="Helvetica Neue"/>
                <a:sym typeface="Helvetica Neue"/>
              </a:rPr>
              <a:t>:</a:t>
            </a:r>
            <a:endParaRPr sz="2400">
              <a:solidFill>
                <a:schemeClr val="dk1"/>
              </a:solidFill>
              <a:latin typeface="Helvetica Neue"/>
              <a:ea typeface="Helvetica Neue"/>
              <a:cs typeface="Helvetica Neue"/>
              <a:sym typeface="Helvetica Neue"/>
            </a:endParaRPr>
          </a:p>
        </p:txBody>
      </p:sp>
      <p:sp>
        <p:nvSpPr>
          <p:cNvPr id="360" name="Google Shape;360;p28"/>
          <p:cNvSpPr/>
          <p:nvPr/>
        </p:nvSpPr>
        <p:spPr>
          <a:xfrm>
            <a:off x="4419600" y="1219200"/>
            <a:ext cx="457200" cy="4572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A</a:t>
            </a:r>
            <a:endParaRPr i="1">
              <a:solidFill>
                <a:schemeClr val="dk1"/>
              </a:solidFill>
              <a:latin typeface="Helvetica Neue"/>
              <a:ea typeface="Helvetica Neue"/>
              <a:cs typeface="Helvetica Neue"/>
              <a:sym typeface="Helvetica Neue"/>
            </a:endParaRPr>
          </a:p>
        </p:txBody>
      </p:sp>
      <p:sp>
        <p:nvSpPr>
          <p:cNvPr id="361" name="Google Shape;361;p28"/>
          <p:cNvSpPr/>
          <p:nvPr/>
        </p:nvSpPr>
        <p:spPr>
          <a:xfrm>
            <a:off x="4876800" y="1219200"/>
            <a:ext cx="457200" cy="4572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B</a:t>
            </a:r>
            <a:endParaRPr i="1">
              <a:solidFill>
                <a:schemeClr val="dk1"/>
              </a:solidFill>
              <a:latin typeface="Helvetica Neue"/>
              <a:ea typeface="Helvetica Neue"/>
              <a:cs typeface="Helvetica Neue"/>
              <a:sym typeface="Helvetica Neue"/>
            </a:endParaRPr>
          </a:p>
        </p:txBody>
      </p:sp>
      <p:sp>
        <p:nvSpPr>
          <p:cNvPr id="362" name="Google Shape;362;p28"/>
          <p:cNvSpPr/>
          <p:nvPr/>
        </p:nvSpPr>
        <p:spPr>
          <a:xfrm>
            <a:off x="4419600" y="1752600"/>
            <a:ext cx="457200" cy="7620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lnSpc>
                <a:spcPct val="150000"/>
              </a:lnSpc>
            </a:pPr>
            <a:r>
              <a:rPr lang="en-US" i="1">
                <a:solidFill>
                  <a:schemeClr val="dk1"/>
                </a:solidFill>
                <a:latin typeface="Helvetica Neue"/>
                <a:ea typeface="Helvetica Neue"/>
                <a:cs typeface="Helvetica Neue"/>
                <a:sym typeface="Helvetica Neue"/>
              </a:rPr>
              <a:t>α</a:t>
            </a:r>
            <a:endParaRPr i="1">
              <a:solidFill>
                <a:schemeClr val="dk1"/>
              </a:solidFill>
              <a:latin typeface="Helvetica Neue"/>
              <a:ea typeface="Helvetica Neue"/>
              <a:cs typeface="Helvetica Neue"/>
              <a:sym typeface="Helvetica Neue"/>
            </a:endParaRPr>
          </a:p>
          <a:p>
            <a:pPr algn="ctr">
              <a:lnSpc>
                <a:spcPct val="150000"/>
              </a:lnSpc>
            </a:pPr>
            <a:r>
              <a:rPr lang="en-US" i="1">
                <a:solidFill>
                  <a:schemeClr val="dk1"/>
                </a:solidFill>
                <a:latin typeface="Helvetica Neue"/>
                <a:ea typeface="Helvetica Neue"/>
                <a:cs typeface="Helvetica Neue"/>
                <a:sym typeface="Helvetica Neue"/>
              </a:rPr>
              <a:t>β</a:t>
            </a:r>
            <a:endParaRPr i="1">
              <a:solidFill>
                <a:schemeClr val="dk1"/>
              </a:solidFill>
              <a:latin typeface="Helvetica Neue"/>
              <a:ea typeface="Helvetica Neue"/>
              <a:cs typeface="Helvetica Neue"/>
              <a:sym typeface="Helvetica Neue"/>
            </a:endParaRPr>
          </a:p>
        </p:txBody>
      </p:sp>
      <p:sp>
        <p:nvSpPr>
          <p:cNvPr id="363" name="Google Shape;363;p28"/>
          <p:cNvSpPr/>
          <p:nvPr/>
        </p:nvSpPr>
        <p:spPr>
          <a:xfrm>
            <a:off x="4876800" y="1752600"/>
            <a:ext cx="457200" cy="7620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lnSpc>
                <a:spcPct val="150000"/>
              </a:lnSpc>
            </a:pPr>
            <a:r>
              <a:rPr lang="en-US" i="1">
                <a:solidFill>
                  <a:schemeClr val="dk1"/>
                </a:solidFill>
                <a:latin typeface="Helvetica Neue"/>
                <a:ea typeface="Helvetica Neue"/>
                <a:cs typeface="Helvetica Neue"/>
                <a:sym typeface="Helvetica Neue"/>
              </a:rPr>
              <a:t>1</a:t>
            </a:r>
            <a:endParaRPr i="1">
              <a:solidFill>
                <a:schemeClr val="dk1"/>
              </a:solidFill>
              <a:latin typeface="Helvetica Neue"/>
              <a:ea typeface="Helvetica Neue"/>
              <a:cs typeface="Helvetica Neue"/>
              <a:sym typeface="Helvetica Neue"/>
            </a:endParaRPr>
          </a:p>
          <a:p>
            <a:pPr algn="ctr">
              <a:lnSpc>
                <a:spcPct val="150000"/>
              </a:lnSpc>
            </a:pPr>
            <a:r>
              <a:rPr lang="en-US" i="1">
                <a:solidFill>
                  <a:schemeClr val="dk1"/>
                </a:solidFill>
                <a:latin typeface="Helvetica Neue"/>
                <a:ea typeface="Helvetica Neue"/>
                <a:cs typeface="Helvetica Neue"/>
                <a:sym typeface="Helvetica Neue"/>
              </a:rPr>
              <a:t>2</a:t>
            </a:r>
            <a:endParaRPr i="1">
              <a:solidFill>
                <a:schemeClr val="dk1"/>
              </a:solidFill>
              <a:latin typeface="Helvetica Neue"/>
              <a:ea typeface="Helvetica Neue"/>
              <a:cs typeface="Helvetica Neue"/>
              <a:sym typeface="Helvetica Neue"/>
            </a:endParaRPr>
          </a:p>
        </p:txBody>
      </p:sp>
      <p:sp>
        <p:nvSpPr>
          <p:cNvPr id="364" name="Google Shape;364;p28"/>
          <p:cNvSpPr/>
          <p:nvPr/>
        </p:nvSpPr>
        <p:spPr>
          <a:xfrm>
            <a:off x="4343400" y="3505200"/>
            <a:ext cx="457200" cy="5334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A</a:t>
            </a:r>
            <a:endParaRPr i="1">
              <a:solidFill>
                <a:schemeClr val="dk1"/>
              </a:solidFill>
              <a:latin typeface="Helvetica Neue"/>
              <a:ea typeface="Helvetica Neue"/>
              <a:cs typeface="Helvetica Neue"/>
              <a:sym typeface="Helvetica Neue"/>
            </a:endParaRPr>
          </a:p>
        </p:txBody>
      </p:sp>
      <p:sp>
        <p:nvSpPr>
          <p:cNvPr id="365" name="Google Shape;365;p28"/>
          <p:cNvSpPr/>
          <p:nvPr/>
        </p:nvSpPr>
        <p:spPr>
          <a:xfrm>
            <a:off x="4800600" y="3505200"/>
            <a:ext cx="457200" cy="5334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B</a:t>
            </a:r>
            <a:endParaRPr i="1">
              <a:solidFill>
                <a:schemeClr val="dk1"/>
              </a:solidFill>
              <a:latin typeface="Helvetica Neue"/>
              <a:ea typeface="Helvetica Neue"/>
              <a:cs typeface="Helvetica Neue"/>
              <a:sym typeface="Helvetica Neue"/>
            </a:endParaRPr>
          </a:p>
        </p:txBody>
      </p:sp>
      <p:sp>
        <p:nvSpPr>
          <p:cNvPr id="366" name="Google Shape;366;p28"/>
          <p:cNvSpPr/>
          <p:nvPr/>
        </p:nvSpPr>
        <p:spPr>
          <a:xfrm>
            <a:off x="4343400" y="4114800"/>
            <a:ext cx="457200" cy="21336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α</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α</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α</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α</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β</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β</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β</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β</a:t>
            </a:r>
            <a:endParaRPr i="1">
              <a:solidFill>
                <a:schemeClr val="dk1"/>
              </a:solidFill>
              <a:latin typeface="Helvetica Neue"/>
              <a:ea typeface="Helvetica Neue"/>
              <a:cs typeface="Helvetica Neue"/>
              <a:sym typeface="Helvetica Neue"/>
            </a:endParaRPr>
          </a:p>
        </p:txBody>
      </p:sp>
      <p:sp>
        <p:nvSpPr>
          <p:cNvPr id="367" name="Google Shape;367;p28"/>
          <p:cNvSpPr/>
          <p:nvPr/>
        </p:nvSpPr>
        <p:spPr>
          <a:xfrm>
            <a:off x="4800600" y="4114800"/>
            <a:ext cx="457200" cy="21336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1</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1</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1</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1</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2</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2</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2</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2</a:t>
            </a:r>
            <a:endParaRPr i="1">
              <a:solidFill>
                <a:schemeClr val="dk1"/>
              </a:solidFill>
              <a:latin typeface="Helvetica Neue"/>
              <a:ea typeface="Helvetica Neue"/>
              <a:cs typeface="Helvetica Neue"/>
              <a:sym typeface="Helvetica Neue"/>
            </a:endParaRPr>
          </a:p>
        </p:txBody>
      </p:sp>
      <p:sp>
        <p:nvSpPr>
          <p:cNvPr id="368" name="Google Shape;368;p28"/>
          <p:cNvSpPr/>
          <p:nvPr/>
        </p:nvSpPr>
        <p:spPr>
          <a:xfrm>
            <a:off x="5257800" y="3505200"/>
            <a:ext cx="457200" cy="5334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C</a:t>
            </a:r>
            <a:endParaRPr i="1">
              <a:solidFill>
                <a:schemeClr val="dk1"/>
              </a:solidFill>
              <a:latin typeface="Helvetica Neue"/>
              <a:ea typeface="Helvetica Neue"/>
              <a:cs typeface="Helvetica Neue"/>
              <a:sym typeface="Helvetica Neue"/>
            </a:endParaRPr>
          </a:p>
        </p:txBody>
      </p:sp>
      <p:sp>
        <p:nvSpPr>
          <p:cNvPr id="369" name="Google Shape;369;p28"/>
          <p:cNvSpPr/>
          <p:nvPr/>
        </p:nvSpPr>
        <p:spPr>
          <a:xfrm>
            <a:off x="5715000" y="3505200"/>
            <a:ext cx="457200" cy="5334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D</a:t>
            </a:r>
            <a:endParaRPr i="1">
              <a:solidFill>
                <a:schemeClr val="dk1"/>
              </a:solidFill>
              <a:latin typeface="Helvetica Neue"/>
              <a:ea typeface="Helvetica Neue"/>
              <a:cs typeface="Helvetica Neue"/>
              <a:sym typeface="Helvetica Neue"/>
            </a:endParaRPr>
          </a:p>
        </p:txBody>
      </p:sp>
      <p:sp>
        <p:nvSpPr>
          <p:cNvPr id="370" name="Google Shape;370;p28"/>
          <p:cNvSpPr/>
          <p:nvPr/>
        </p:nvSpPr>
        <p:spPr>
          <a:xfrm>
            <a:off x="5257800" y="4114800"/>
            <a:ext cx="457200" cy="21336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α</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β </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β</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γ</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α</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β</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β</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γ</a:t>
            </a:r>
            <a:endParaRPr i="1">
              <a:solidFill>
                <a:schemeClr val="dk1"/>
              </a:solidFill>
              <a:latin typeface="Helvetica Neue"/>
              <a:ea typeface="Helvetica Neue"/>
              <a:cs typeface="Helvetica Neue"/>
              <a:sym typeface="Helvetica Neue"/>
            </a:endParaRPr>
          </a:p>
        </p:txBody>
      </p:sp>
      <p:sp>
        <p:nvSpPr>
          <p:cNvPr id="371" name="Google Shape;371;p28"/>
          <p:cNvSpPr/>
          <p:nvPr/>
        </p:nvSpPr>
        <p:spPr>
          <a:xfrm>
            <a:off x="5715000" y="4114800"/>
            <a:ext cx="457200" cy="21336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10</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10</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20</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10</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10</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10</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20</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10</a:t>
            </a:r>
            <a:endParaRPr i="1">
              <a:solidFill>
                <a:schemeClr val="dk1"/>
              </a:solidFill>
              <a:latin typeface="Helvetica Neue"/>
              <a:ea typeface="Helvetica Neue"/>
              <a:cs typeface="Helvetica Neue"/>
              <a:sym typeface="Helvetica Neue"/>
            </a:endParaRPr>
          </a:p>
        </p:txBody>
      </p:sp>
      <p:sp>
        <p:nvSpPr>
          <p:cNvPr id="372" name="Google Shape;372;p28"/>
          <p:cNvSpPr/>
          <p:nvPr/>
        </p:nvSpPr>
        <p:spPr>
          <a:xfrm>
            <a:off x="6172200" y="3505200"/>
            <a:ext cx="457200" cy="5334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E</a:t>
            </a:r>
            <a:endParaRPr i="1">
              <a:solidFill>
                <a:schemeClr val="dk1"/>
              </a:solidFill>
              <a:latin typeface="Helvetica Neue"/>
              <a:ea typeface="Helvetica Neue"/>
              <a:cs typeface="Helvetica Neue"/>
              <a:sym typeface="Helvetica Neue"/>
            </a:endParaRPr>
          </a:p>
        </p:txBody>
      </p:sp>
      <p:sp>
        <p:nvSpPr>
          <p:cNvPr id="373" name="Google Shape;373;p28"/>
          <p:cNvSpPr/>
          <p:nvPr/>
        </p:nvSpPr>
        <p:spPr>
          <a:xfrm>
            <a:off x="6172200" y="4114800"/>
            <a:ext cx="457200" cy="21336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a</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a</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b</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b</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a</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a</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b</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b</a:t>
            </a:r>
            <a:endParaRPr i="1">
              <a:solidFill>
                <a:schemeClr val="dk1"/>
              </a:solidFill>
              <a:latin typeface="Helvetica Neue"/>
              <a:ea typeface="Helvetica Neue"/>
              <a:cs typeface="Helvetica Neue"/>
              <a:sym typeface="Helvetica Neue"/>
            </a:endParaRPr>
          </a:p>
        </p:txBody>
      </p:sp>
      <p:sp>
        <p:nvSpPr>
          <p:cNvPr id="374" name="Google Shape;374;p28"/>
          <p:cNvSpPr/>
          <p:nvPr/>
        </p:nvSpPr>
        <p:spPr>
          <a:xfrm>
            <a:off x="6172200" y="1219200"/>
            <a:ext cx="457200" cy="4572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C</a:t>
            </a:r>
            <a:endParaRPr i="1">
              <a:solidFill>
                <a:schemeClr val="dk1"/>
              </a:solidFill>
              <a:latin typeface="Helvetica Neue"/>
              <a:ea typeface="Helvetica Neue"/>
              <a:cs typeface="Helvetica Neue"/>
              <a:sym typeface="Helvetica Neue"/>
            </a:endParaRPr>
          </a:p>
        </p:txBody>
      </p:sp>
      <p:sp>
        <p:nvSpPr>
          <p:cNvPr id="375" name="Google Shape;375;p28"/>
          <p:cNvSpPr/>
          <p:nvPr/>
        </p:nvSpPr>
        <p:spPr>
          <a:xfrm>
            <a:off x="6629400" y="1219200"/>
            <a:ext cx="457200" cy="4572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D</a:t>
            </a:r>
            <a:endParaRPr i="1">
              <a:solidFill>
                <a:schemeClr val="dk1"/>
              </a:solidFill>
              <a:latin typeface="Helvetica Neue"/>
              <a:ea typeface="Helvetica Neue"/>
              <a:cs typeface="Helvetica Neue"/>
              <a:sym typeface="Helvetica Neue"/>
            </a:endParaRPr>
          </a:p>
        </p:txBody>
      </p:sp>
      <p:sp>
        <p:nvSpPr>
          <p:cNvPr id="376" name="Google Shape;376;p28"/>
          <p:cNvSpPr/>
          <p:nvPr/>
        </p:nvSpPr>
        <p:spPr>
          <a:xfrm>
            <a:off x="6172200" y="1752600"/>
            <a:ext cx="457200" cy="12192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α</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β</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β</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γ</a:t>
            </a:r>
            <a:endParaRPr i="1">
              <a:solidFill>
                <a:schemeClr val="dk1"/>
              </a:solidFill>
              <a:latin typeface="Helvetica Neue"/>
              <a:ea typeface="Helvetica Neue"/>
              <a:cs typeface="Helvetica Neue"/>
              <a:sym typeface="Helvetica Neue"/>
            </a:endParaRPr>
          </a:p>
        </p:txBody>
      </p:sp>
      <p:sp>
        <p:nvSpPr>
          <p:cNvPr id="377" name="Google Shape;377;p28"/>
          <p:cNvSpPr/>
          <p:nvPr/>
        </p:nvSpPr>
        <p:spPr>
          <a:xfrm>
            <a:off x="6629400" y="1752600"/>
            <a:ext cx="457200" cy="12192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10</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10</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20</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10</a:t>
            </a:r>
            <a:endParaRPr i="1">
              <a:solidFill>
                <a:schemeClr val="dk1"/>
              </a:solidFill>
              <a:latin typeface="Helvetica Neue"/>
              <a:ea typeface="Helvetica Neue"/>
              <a:cs typeface="Helvetica Neue"/>
              <a:sym typeface="Helvetica Neue"/>
            </a:endParaRPr>
          </a:p>
        </p:txBody>
      </p:sp>
      <p:sp>
        <p:nvSpPr>
          <p:cNvPr id="378" name="Google Shape;378;p28"/>
          <p:cNvSpPr/>
          <p:nvPr/>
        </p:nvSpPr>
        <p:spPr>
          <a:xfrm>
            <a:off x="7086600" y="1219200"/>
            <a:ext cx="457200" cy="4572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E</a:t>
            </a:r>
            <a:endParaRPr i="1">
              <a:solidFill>
                <a:schemeClr val="dk1"/>
              </a:solidFill>
              <a:latin typeface="Helvetica Neue"/>
              <a:ea typeface="Helvetica Neue"/>
              <a:cs typeface="Helvetica Neue"/>
              <a:sym typeface="Helvetica Neue"/>
            </a:endParaRPr>
          </a:p>
        </p:txBody>
      </p:sp>
      <p:sp>
        <p:nvSpPr>
          <p:cNvPr id="379" name="Google Shape;379;p28"/>
          <p:cNvSpPr/>
          <p:nvPr/>
        </p:nvSpPr>
        <p:spPr>
          <a:xfrm>
            <a:off x="7086600" y="1752600"/>
            <a:ext cx="457200" cy="12192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a</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a</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b</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b</a:t>
            </a:r>
            <a:endParaRPr i="1">
              <a:solidFill>
                <a:schemeClr val="dk1"/>
              </a:solidFill>
              <a:latin typeface="Helvetica Neue"/>
              <a:ea typeface="Helvetica Neue"/>
              <a:cs typeface="Helvetica Neue"/>
              <a:sym typeface="Helvetica Neue"/>
            </a:endParaRPr>
          </a:p>
        </p:txBody>
      </p:sp>
      <p:pic>
        <p:nvPicPr>
          <p:cNvPr id="380" name="Google Shape;380;p28"/>
          <p:cNvPicPr preferRelativeResize="0"/>
          <p:nvPr/>
        </p:nvPicPr>
        <p:blipFill rotWithShape="1">
          <a:blip r:embed="rId3">
            <a:alphaModFix/>
          </a:blip>
          <a:srcRect/>
          <a:stretch/>
        </p:blipFill>
        <p:spPr>
          <a:xfrm>
            <a:off x="6026150" y="3359150"/>
            <a:ext cx="139700" cy="319088"/>
          </a:xfrm>
          <a:prstGeom prst="rect">
            <a:avLst/>
          </a:prstGeom>
          <a:noFill/>
          <a:ln>
            <a:noFill/>
          </a:ln>
        </p:spPr>
      </p:pic>
      <p:sp>
        <p:nvSpPr>
          <p:cNvPr id="381" name="Google Shape;381;p28"/>
          <p:cNvSpPr txBox="1"/>
          <p:nvPr/>
        </p:nvSpPr>
        <p:spPr>
          <a:xfrm>
            <a:off x="4724400" y="2667000"/>
            <a:ext cx="285750" cy="457200"/>
          </a:xfrm>
          <a:prstGeom prst="rect">
            <a:avLst/>
          </a:prstGeom>
          <a:noFill/>
          <a:ln>
            <a:noFill/>
          </a:ln>
        </p:spPr>
        <p:txBody>
          <a:bodyPr spcFirstLastPara="1" wrap="square" lIns="91425" tIns="45700" rIns="91425" bIns="45700" anchor="ctr" anchorCtr="0">
            <a:spAutoFit/>
          </a:bodyPr>
          <a:lstStyle/>
          <a:p>
            <a:pPr algn="ctr"/>
            <a:r>
              <a:rPr lang="en-US" sz="2400" i="1">
                <a:solidFill>
                  <a:schemeClr val="dk1"/>
                </a:solidFill>
                <a:latin typeface="Helvetica Neue"/>
                <a:ea typeface="Helvetica Neue"/>
                <a:cs typeface="Helvetica Neue"/>
                <a:sym typeface="Helvetica Neue"/>
              </a:rPr>
              <a:t>r</a:t>
            </a:r>
            <a:endParaRPr sz="2400" i="1">
              <a:solidFill>
                <a:schemeClr val="dk1"/>
              </a:solidFill>
              <a:latin typeface="Helvetica Neue"/>
              <a:ea typeface="Helvetica Neue"/>
              <a:cs typeface="Helvetica Neue"/>
              <a:sym typeface="Helvetica Neue"/>
            </a:endParaRPr>
          </a:p>
        </p:txBody>
      </p:sp>
      <p:sp>
        <p:nvSpPr>
          <p:cNvPr id="382" name="Google Shape;382;p28"/>
          <p:cNvSpPr txBox="1"/>
          <p:nvPr/>
        </p:nvSpPr>
        <p:spPr>
          <a:xfrm>
            <a:off x="6743700" y="2927350"/>
            <a:ext cx="336550" cy="457200"/>
          </a:xfrm>
          <a:prstGeom prst="rect">
            <a:avLst/>
          </a:prstGeom>
          <a:noFill/>
          <a:ln>
            <a:noFill/>
          </a:ln>
        </p:spPr>
        <p:txBody>
          <a:bodyPr spcFirstLastPara="1" wrap="square" lIns="91425" tIns="45700" rIns="91425" bIns="45700" anchor="ctr" anchorCtr="0">
            <a:spAutoFit/>
          </a:bodyPr>
          <a:lstStyle/>
          <a:p>
            <a:pPr algn="ctr"/>
            <a:r>
              <a:rPr lang="en-US" sz="2400" i="1">
                <a:solidFill>
                  <a:schemeClr val="dk1"/>
                </a:solidFill>
                <a:latin typeface="Helvetica Neue"/>
                <a:ea typeface="Helvetica Neue"/>
                <a:cs typeface="Helvetica Neue"/>
                <a:sym typeface="Helvetica Neue"/>
              </a:rPr>
              <a:t>s</a:t>
            </a:r>
            <a:endParaRPr sz="2400" i="1">
              <a:solidFill>
                <a:schemeClr val="dk1"/>
              </a:solidFill>
              <a:latin typeface="Helvetica Neue"/>
              <a:ea typeface="Helvetica Neue"/>
              <a:cs typeface="Helvetica Neue"/>
              <a:sym typeface="Helvetica Neue"/>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64"/>
                                        </p:tgtEl>
                                        <p:attrNameLst>
                                          <p:attrName>style.visibility</p:attrName>
                                        </p:attrNameLst>
                                      </p:cBhvr>
                                      <p:to>
                                        <p:strVal val="visible"/>
                                      </p:to>
                                    </p:set>
                                    <p:anim calcmode="lin" valueType="num">
                                      <p:cBhvr additive="base">
                                        <p:cTn id="7" dur="500"/>
                                        <p:tgtEl>
                                          <p:spTgt spid="364"/>
                                        </p:tgtEl>
                                        <p:attrNameLst>
                                          <p:attrName>ppt_y</p:attrName>
                                        </p:attrNameLst>
                                      </p:cBhvr>
                                      <p:tavLst>
                                        <p:tav tm="0">
                                          <p:val>
                                            <p:strVal val="#ppt_y+1"/>
                                          </p:val>
                                        </p:tav>
                                        <p:tav tm="100000">
                                          <p:val>
                                            <p:strVal val="#ppt_y"/>
                                          </p:val>
                                        </p:tav>
                                      </p:tavLst>
                                    </p:anim>
                                  </p:childTnLst>
                                </p:cTn>
                              </p:par>
                              <p:par>
                                <p:cTn id="8" presetID="2" presetClass="entr" presetSubtype="4" fill="hold" nodeType="withEffect">
                                  <p:stCondLst>
                                    <p:cond delay="0"/>
                                  </p:stCondLst>
                                  <p:childTnLst>
                                    <p:set>
                                      <p:cBhvr>
                                        <p:cTn id="9" dur="1" fill="hold">
                                          <p:stCondLst>
                                            <p:cond delay="0"/>
                                          </p:stCondLst>
                                        </p:cTn>
                                        <p:tgtEl>
                                          <p:spTgt spid="365"/>
                                        </p:tgtEl>
                                        <p:attrNameLst>
                                          <p:attrName>style.visibility</p:attrName>
                                        </p:attrNameLst>
                                      </p:cBhvr>
                                      <p:to>
                                        <p:strVal val="visible"/>
                                      </p:to>
                                    </p:set>
                                    <p:anim calcmode="lin" valueType="num">
                                      <p:cBhvr additive="base">
                                        <p:cTn id="10" dur="500"/>
                                        <p:tgtEl>
                                          <p:spTgt spid="365"/>
                                        </p:tgtEl>
                                        <p:attrNameLst>
                                          <p:attrName>ppt_y</p:attrName>
                                        </p:attrNameLst>
                                      </p:cBhvr>
                                      <p:tavLst>
                                        <p:tav tm="0">
                                          <p:val>
                                            <p:strVal val="#ppt_y+1"/>
                                          </p:val>
                                        </p:tav>
                                        <p:tav tm="100000">
                                          <p:val>
                                            <p:strVal val="#ppt_y"/>
                                          </p:val>
                                        </p:tav>
                                      </p:tavLst>
                                    </p:anim>
                                  </p:childTnLst>
                                </p:cTn>
                              </p:par>
                              <p:par>
                                <p:cTn id="11" presetID="2" presetClass="entr" presetSubtype="4" fill="hold" nodeType="withEffect">
                                  <p:stCondLst>
                                    <p:cond delay="0"/>
                                  </p:stCondLst>
                                  <p:childTnLst>
                                    <p:set>
                                      <p:cBhvr>
                                        <p:cTn id="12" dur="1" fill="hold">
                                          <p:stCondLst>
                                            <p:cond delay="0"/>
                                          </p:stCondLst>
                                        </p:cTn>
                                        <p:tgtEl>
                                          <p:spTgt spid="366"/>
                                        </p:tgtEl>
                                        <p:attrNameLst>
                                          <p:attrName>style.visibility</p:attrName>
                                        </p:attrNameLst>
                                      </p:cBhvr>
                                      <p:to>
                                        <p:strVal val="visible"/>
                                      </p:to>
                                    </p:set>
                                    <p:anim calcmode="lin" valueType="num">
                                      <p:cBhvr additive="base">
                                        <p:cTn id="13" dur="500"/>
                                        <p:tgtEl>
                                          <p:spTgt spid="366"/>
                                        </p:tgtEl>
                                        <p:attrNameLst>
                                          <p:attrName>ppt_y</p:attrName>
                                        </p:attrNameLst>
                                      </p:cBhvr>
                                      <p:tavLst>
                                        <p:tav tm="0">
                                          <p:val>
                                            <p:strVal val="#ppt_y+1"/>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367"/>
                                        </p:tgtEl>
                                        <p:attrNameLst>
                                          <p:attrName>style.visibility</p:attrName>
                                        </p:attrNameLst>
                                      </p:cBhvr>
                                      <p:to>
                                        <p:strVal val="visible"/>
                                      </p:to>
                                    </p:set>
                                    <p:anim calcmode="lin" valueType="num">
                                      <p:cBhvr additive="base">
                                        <p:cTn id="16" dur="500"/>
                                        <p:tgtEl>
                                          <p:spTgt spid="367"/>
                                        </p:tgtEl>
                                        <p:attrNameLst>
                                          <p:attrName>ppt_y</p:attrName>
                                        </p:attrNameLst>
                                      </p:cBhvr>
                                      <p:tavLst>
                                        <p:tav tm="0">
                                          <p:val>
                                            <p:strVal val="#ppt_y+1"/>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68"/>
                                        </p:tgtEl>
                                        <p:attrNameLst>
                                          <p:attrName>style.visibility</p:attrName>
                                        </p:attrNameLst>
                                      </p:cBhvr>
                                      <p:to>
                                        <p:strVal val="visible"/>
                                      </p:to>
                                    </p:set>
                                    <p:anim calcmode="lin" valueType="num">
                                      <p:cBhvr additive="base">
                                        <p:cTn id="19" dur="500"/>
                                        <p:tgtEl>
                                          <p:spTgt spid="368"/>
                                        </p:tgtEl>
                                        <p:attrNameLst>
                                          <p:attrName>ppt_y</p:attrName>
                                        </p:attrNameLst>
                                      </p:cBhvr>
                                      <p:tavLst>
                                        <p:tav tm="0">
                                          <p:val>
                                            <p:strVal val="#ppt_y+1"/>
                                          </p:val>
                                        </p:tav>
                                        <p:tav tm="100000">
                                          <p:val>
                                            <p:strVal val="#ppt_y"/>
                                          </p:val>
                                        </p:tav>
                                      </p:tavLst>
                                    </p:anim>
                                  </p:childTnLst>
                                </p:cTn>
                              </p:par>
                              <p:par>
                                <p:cTn id="20" presetID="2" presetClass="entr" presetSubtype="4" fill="hold" nodeType="withEffect">
                                  <p:stCondLst>
                                    <p:cond delay="0"/>
                                  </p:stCondLst>
                                  <p:childTnLst>
                                    <p:set>
                                      <p:cBhvr>
                                        <p:cTn id="21" dur="1" fill="hold">
                                          <p:stCondLst>
                                            <p:cond delay="0"/>
                                          </p:stCondLst>
                                        </p:cTn>
                                        <p:tgtEl>
                                          <p:spTgt spid="369"/>
                                        </p:tgtEl>
                                        <p:attrNameLst>
                                          <p:attrName>style.visibility</p:attrName>
                                        </p:attrNameLst>
                                      </p:cBhvr>
                                      <p:to>
                                        <p:strVal val="visible"/>
                                      </p:to>
                                    </p:set>
                                    <p:anim calcmode="lin" valueType="num">
                                      <p:cBhvr additive="base">
                                        <p:cTn id="22" dur="500"/>
                                        <p:tgtEl>
                                          <p:spTgt spid="369"/>
                                        </p:tgtEl>
                                        <p:attrNameLst>
                                          <p:attrName>ppt_y</p:attrName>
                                        </p:attrNameLst>
                                      </p:cBhvr>
                                      <p:tavLst>
                                        <p:tav tm="0">
                                          <p:val>
                                            <p:strVal val="#ppt_y+1"/>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70"/>
                                        </p:tgtEl>
                                        <p:attrNameLst>
                                          <p:attrName>style.visibility</p:attrName>
                                        </p:attrNameLst>
                                      </p:cBhvr>
                                      <p:to>
                                        <p:strVal val="visible"/>
                                      </p:to>
                                    </p:set>
                                    <p:anim calcmode="lin" valueType="num">
                                      <p:cBhvr additive="base">
                                        <p:cTn id="25" dur="500"/>
                                        <p:tgtEl>
                                          <p:spTgt spid="370"/>
                                        </p:tgtEl>
                                        <p:attrNameLst>
                                          <p:attrName>ppt_y</p:attrName>
                                        </p:attrNameLst>
                                      </p:cBhvr>
                                      <p:tavLst>
                                        <p:tav tm="0">
                                          <p:val>
                                            <p:strVal val="#ppt_y+1"/>
                                          </p:val>
                                        </p:tav>
                                        <p:tav tm="100000">
                                          <p:val>
                                            <p:strVal val="#ppt_y"/>
                                          </p:val>
                                        </p:tav>
                                      </p:tavLst>
                                    </p:anim>
                                  </p:childTnLst>
                                </p:cTn>
                              </p:par>
                              <p:par>
                                <p:cTn id="26" presetID="2" presetClass="entr" presetSubtype="4" fill="hold" nodeType="withEffect">
                                  <p:stCondLst>
                                    <p:cond delay="0"/>
                                  </p:stCondLst>
                                  <p:childTnLst>
                                    <p:set>
                                      <p:cBhvr>
                                        <p:cTn id="27" dur="1" fill="hold">
                                          <p:stCondLst>
                                            <p:cond delay="0"/>
                                          </p:stCondLst>
                                        </p:cTn>
                                        <p:tgtEl>
                                          <p:spTgt spid="371"/>
                                        </p:tgtEl>
                                        <p:attrNameLst>
                                          <p:attrName>style.visibility</p:attrName>
                                        </p:attrNameLst>
                                      </p:cBhvr>
                                      <p:to>
                                        <p:strVal val="visible"/>
                                      </p:to>
                                    </p:set>
                                    <p:anim calcmode="lin" valueType="num">
                                      <p:cBhvr additive="base">
                                        <p:cTn id="28" dur="500"/>
                                        <p:tgtEl>
                                          <p:spTgt spid="371"/>
                                        </p:tgtEl>
                                        <p:attrNameLst>
                                          <p:attrName>ppt_y</p:attrName>
                                        </p:attrNameLst>
                                      </p:cBhvr>
                                      <p:tavLst>
                                        <p:tav tm="0">
                                          <p:val>
                                            <p:strVal val="#ppt_y+1"/>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72"/>
                                        </p:tgtEl>
                                        <p:attrNameLst>
                                          <p:attrName>style.visibility</p:attrName>
                                        </p:attrNameLst>
                                      </p:cBhvr>
                                      <p:to>
                                        <p:strVal val="visible"/>
                                      </p:to>
                                    </p:set>
                                    <p:anim calcmode="lin" valueType="num">
                                      <p:cBhvr additive="base">
                                        <p:cTn id="31" dur="500"/>
                                        <p:tgtEl>
                                          <p:spTgt spid="372"/>
                                        </p:tgtEl>
                                        <p:attrNameLst>
                                          <p:attrName>ppt_y</p:attrName>
                                        </p:attrNameLst>
                                      </p:cBhvr>
                                      <p:tavLst>
                                        <p:tav tm="0">
                                          <p:val>
                                            <p:strVal val="#ppt_y+1"/>
                                          </p:val>
                                        </p:tav>
                                        <p:tav tm="100000">
                                          <p:val>
                                            <p:strVal val="#ppt_y"/>
                                          </p:val>
                                        </p:tav>
                                      </p:tavLst>
                                    </p:anim>
                                  </p:childTnLst>
                                </p:cTn>
                              </p:par>
                              <p:par>
                                <p:cTn id="32" presetID="2" presetClass="entr" presetSubtype="4" fill="hold" nodeType="withEffect">
                                  <p:stCondLst>
                                    <p:cond delay="0"/>
                                  </p:stCondLst>
                                  <p:childTnLst>
                                    <p:set>
                                      <p:cBhvr>
                                        <p:cTn id="33" dur="1" fill="hold">
                                          <p:stCondLst>
                                            <p:cond delay="0"/>
                                          </p:stCondLst>
                                        </p:cTn>
                                        <p:tgtEl>
                                          <p:spTgt spid="373"/>
                                        </p:tgtEl>
                                        <p:attrNameLst>
                                          <p:attrName>style.visibility</p:attrName>
                                        </p:attrNameLst>
                                      </p:cBhvr>
                                      <p:to>
                                        <p:strVal val="visible"/>
                                      </p:to>
                                    </p:set>
                                    <p:anim calcmode="lin" valueType="num">
                                      <p:cBhvr additive="base">
                                        <p:cTn id="34" dur="500"/>
                                        <p:tgtEl>
                                          <p:spTgt spid="37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86"/>
        <p:cNvGrpSpPr/>
        <p:nvPr/>
      </p:nvGrpSpPr>
      <p:grpSpPr>
        <a:xfrm>
          <a:off x="0" y="0"/>
          <a:ext cx="0" cy="0"/>
          <a:chOff x="0" y="0"/>
          <a:chExt cx="0" cy="0"/>
        </a:xfrm>
      </p:grpSpPr>
      <p:sp>
        <p:nvSpPr>
          <p:cNvPr id="387" name="Google Shape;387;p29"/>
          <p:cNvSpPr txBox="1">
            <a:spLocks noGrp="1"/>
          </p:cNvSpPr>
          <p:nvPr>
            <p:ph type="title"/>
          </p:nvPr>
        </p:nvSpPr>
        <p:spPr>
          <a:xfrm>
            <a:off x="1981200" y="274638"/>
            <a:ext cx="8229600" cy="1143000"/>
          </a:xfrm>
          <a:prstGeom prst="rect">
            <a:avLst/>
          </a:prstGeom>
          <a:noFill/>
          <a:ln>
            <a:noFill/>
          </a:ln>
        </p:spPr>
        <p:txBody>
          <a:bodyPr spcFirstLastPara="1" vert="horz" wrap="square" lIns="91425" tIns="45700" rIns="91425" bIns="45700" rtlCol="0" anchor="ctr" anchorCtr="0">
            <a:noAutofit/>
          </a:bodyPr>
          <a:lstStyle/>
          <a:p>
            <a:pPr algn="ctr">
              <a:lnSpc>
                <a:spcPct val="100000"/>
              </a:lnSpc>
              <a:spcBef>
                <a:spcPts val="0"/>
              </a:spcBef>
              <a:buClr>
                <a:schemeClr val="dk2"/>
              </a:buClr>
              <a:buSzPts val="4400"/>
            </a:pPr>
            <a:r>
              <a:rPr lang="en-US" b="1">
                <a:latin typeface="Times New Roman"/>
                <a:ea typeface="Times New Roman"/>
                <a:cs typeface="Times New Roman"/>
                <a:sym typeface="Times New Roman"/>
              </a:rPr>
              <a:t>Cartesian-Product Operation Example 2....</a:t>
            </a:r>
            <a:endParaRPr b="1">
              <a:latin typeface="Times New Roman"/>
              <a:ea typeface="Times New Roman"/>
              <a:cs typeface="Times New Roman"/>
              <a:sym typeface="Times New Roman"/>
            </a:endParaRPr>
          </a:p>
        </p:txBody>
      </p:sp>
      <p:sp>
        <p:nvSpPr>
          <p:cNvPr id="388" name="Google Shape;388;p29"/>
          <p:cNvSpPr txBox="1">
            <a:spLocks noGrp="1"/>
          </p:cNvSpPr>
          <p:nvPr>
            <p:ph type="body" idx="1"/>
          </p:nvPr>
        </p:nvSpPr>
        <p:spPr>
          <a:xfrm>
            <a:off x="1981200" y="1600201"/>
            <a:ext cx="8229600" cy="4525963"/>
          </a:xfrm>
          <a:prstGeom prst="rect">
            <a:avLst/>
          </a:prstGeom>
          <a:noFill/>
          <a:ln>
            <a:noFill/>
          </a:ln>
        </p:spPr>
        <p:txBody>
          <a:bodyPr spcFirstLastPara="1" vert="horz" wrap="square" lIns="91425" tIns="45700" rIns="91425" bIns="45700" rtlCol="0" anchor="t" anchorCtr="0">
            <a:noAutofit/>
          </a:bodyPr>
          <a:lstStyle/>
          <a:p>
            <a:pPr marL="342900" indent="-342900" algn="just">
              <a:lnSpc>
                <a:spcPct val="100000"/>
              </a:lnSpc>
              <a:spcBef>
                <a:spcPts val="0"/>
              </a:spcBef>
              <a:buClr>
                <a:schemeClr val="dk1"/>
              </a:buClr>
              <a:buSzPts val="2400"/>
              <a:buFont typeface="Times New Roman"/>
              <a:buChar char="•"/>
            </a:pPr>
            <a:r>
              <a:rPr lang="en-US" sz="2400">
                <a:latin typeface="Times New Roman"/>
                <a:ea typeface="Times New Roman"/>
                <a:cs typeface="Times New Roman"/>
                <a:sym typeface="Times New Roman"/>
              </a:rPr>
              <a:t>Find the names of all customers who have a loan at the Perryridge branch. We write,</a:t>
            </a:r>
            <a:endParaRPr sz="2400">
              <a:latin typeface="Times New Roman"/>
              <a:ea typeface="Times New Roman"/>
              <a:cs typeface="Times New Roman"/>
              <a:sym typeface="Times New Roman"/>
            </a:endParaRPr>
          </a:p>
          <a:p>
            <a:pPr marL="342900" indent="-342900" algn="ctr">
              <a:lnSpc>
                <a:spcPct val="100000"/>
              </a:lnSpc>
              <a:spcBef>
                <a:spcPts val="480"/>
              </a:spcBef>
              <a:buClr>
                <a:schemeClr val="dk1"/>
              </a:buClr>
              <a:buSzPts val="2400"/>
              <a:buNone/>
            </a:pPr>
            <a:r>
              <a:rPr lang="en-US" sz="2400">
                <a:latin typeface="Times New Roman"/>
                <a:ea typeface="Times New Roman"/>
                <a:cs typeface="Times New Roman"/>
                <a:sym typeface="Times New Roman"/>
              </a:rPr>
              <a:t>σ</a:t>
            </a:r>
            <a:r>
              <a:rPr lang="en-US" sz="2400" baseline="-25000">
                <a:latin typeface="Times New Roman"/>
                <a:ea typeface="Times New Roman"/>
                <a:cs typeface="Times New Roman"/>
                <a:sym typeface="Times New Roman"/>
              </a:rPr>
              <a:t>branch_name =“Perryridge”</a:t>
            </a:r>
            <a:r>
              <a:rPr lang="en-US" sz="2400">
                <a:latin typeface="Times New Roman"/>
                <a:ea typeface="Times New Roman"/>
                <a:cs typeface="Times New Roman"/>
                <a:sym typeface="Times New Roman"/>
              </a:rPr>
              <a:t>(borrower × loan)</a:t>
            </a:r>
            <a:endParaRPr sz="2400">
              <a:latin typeface="Times New Roman"/>
              <a:ea typeface="Times New Roman"/>
              <a:cs typeface="Times New Roman"/>
              <a:sym typeface="Times New Roman"/>
            </a:endParaRPr>
          </a:p>
        </p:txBody>
      </p:sp>
      <p:pic>
        <p:nvPicPr>
          <p:cNvPr id="389" name="Google Shape;389;p29"/>
          <p:cNvPicPr preferRelativeResize="0"/>
          <p:nvPr/>
        </p:nvPicPr>
        <p:blipFill rotWithShape="1">
          <a:blip r:embed="rId3">
            <a:alphaModFix/>
          </a:blip>
          <a:srcRect/>
          <a:stretch/>
        </p:blipFill>
        <p:spPr>
          <a:xfrm>
            <a:off x="2590801" y="3124201"/>
            <a:ext cx="2790825" cy="1743075"/>
          </a:xfrm>
          <a:prstGeom prst="rect">
            <a:avLst/>
          </a:prstGeom>
          <a:noFill/>
          <a:ln>
            <a:noFill/>
          </a:ln>
        </p:spPr>
      </p:pic>
      <p:pic>
        <p:nvPicPr>
          <p:cNvPr id="390" name="Google Shape;390;p29"/>
          <p:cNvPicPr preferRelativeResize="0"/>
          <p:nvPr/>
        </p:nvPicPr>
        <p:blipFill rotWithShape="1">
          <a:blip r:embed="rId4">
            <a:alphaModFix/>
          </a:blip>
          <a:srcRect/>
          <a:stretch/>
        </p:blipFill>
        <p:spPr>
          <a:xfrm>
            <a:off x="3276601" y="4953000"/>
            <a:ext cx="1285875" cy="228600"/>
          </a:xfrm>
          <a:prstGeom prst="rect">
            <a:avLst/>
          </a:prstGeom>
          <a:noFill/>
          <a:ln>
            <a:noFill/>
          </a:ln>
        </p:spPr>
      </p:pic>
      <p:pic>
        <p:nvPicPr>
          <p:cNvPr id="391" name="Google Shape;391;p29"/>
          <p:cNvPicPr preferRelativeResize="0"/>
          <p:nvPr/>
        </p:nvPicPr>
        <p:blipFill rotWithShape="1">
          <a:blip r:embed="rId5">
            <a:alphaModFix/>
          </a:blip>
          <a:srcRect/>
          <a:stretch/>
        </p:blipFill>
        <p:spPr>
          <a:xfrm>
            <a:off x="6705600" y="3048000"/>
            <a:ext cx="2286000" cy="1943100"/>
          </a:xfrm>
          <a:prstGeom prst="rect">
            <a:avLst/>
          </a:prstGeom>
          <a:noFill/>
          <a:ln>
            <a:noFill/>
          </a:ln>
        </p:spPr>
      </p:pic>
      <p:pic>
        <p:nvPicPr>
          <p:cNvPr id="392" name="Google Shape;392;p29"/>
          <p:cNvPicPr preferRelativeResize="0"/>
          <p:nvPr/>
        </p:nvPicPr>
        <p:blipFill rotWithShape="1">
          <a:blip r:embed="rId6">
            <a:alphaModFix/>
          </a:blip>
          <a:srcRect/>
          <a:stretch/>
        </p:blipFill>
        <p:spPr>
          <a:xfrm>
            <a:off x="7086601" y="5105400"/>
            <a:ext cx="1514475" cy="20955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396"/>
        <p:cNvGrpSpPr/>
        <p:nvPr/>
      </p:nvGrpSpPr>
      <p:grpSpPr>
        <a:xfrm>
          <a:off x="0" y="0"/>
          <a:ext cx="0" cy="0"/>
          <a:chOff x="0" y="0"/>
          <a:chExt cx="0" cy="0"/>
        </a:xfrm>
      </p:grpSpPr>
      <p:sp>
        <p:nvSpPr>
          <p:cNvPr id="397" name="Google Shape;397;p30"/>
          <p:cNvSpPr txBox="1">
            <a:spLocks noGrp="1"/>
          </p:cNvSpPr>
          <p:nvPr>
            <p:ph type="title"/>
          </p:nvPr>
        </p:nvSpPr>
        <p:spPr>
          <a:xfrm>
            <a:off x="1981200" y="152400"/>
            <a:ext cx="8229600" cy="609600"/>
          </a:xfrm>
          <a:prstGeom prst="rect">
            <a:avLst/>
          </a:prstGeom>
          <a:noFill/>
          <a:ln>
            <a:noFill/>
          </a:ln>
        </p:spPr>
        <p:txBody>
          <a:bodyPr spcFirstLastPara="1" vert="horz" wrap="square" lIns="91425" tIns="45700" rIns="91425" bIns="45700" rtlCol="0" anchor="ctr" anchorCtr="0">
            <a:normAutofit fontScale="90000"/>
          </a:bodyPr>
          <a:lstStyle/>
          <a:p>
            <a:pPr algn="ctr">
              <a:lnSpc>
                <a:spcPct val="100000"/>
              </a:lnSpc>
              <a:spcBef>
                <a:spcPts val="0"/>
              </a:spcBef>
              <a:buClr>
                <a:schemeClr val="dk2"/>
              </a:buClr>
              <a:buSzPct val="100000"/>
            </a:pPr>
            <a:r>
              <a:rPr lang="en-US" b="1">
                <a:latin typeface="Times New Roman"/>
                <a:ea typeface="Times New Roman"/>
                <a:cs typeface="Times New Roman"/>
                <a:sym typeface="Times New Roman"/>
              </a:rPr>
              <a:t>Result of borrower × loan</a:t>
            </a:r>
            <a:endParaRPr b="1"/>
          </a:p>
        </p:txBody>
      </p:sp>
      <p:pic>
        <p:nvPicPr>
          <p:cNvPr id="398" name="Google Shape;398;p30"/>
          <p:cNvPicPr preferRelativeResize="0">
            <a:picLocks noGrp="1"/>
          </p:cNvPicPr>
          <p:nvPr>
            <p:ph type="body" idx="1"/>
          </p:nvPr>
        </p:nvPicPr>
        <p:blipFill rotWithShape="1">
          <a:blip r:embed="rId3">
            <a:alphaModFix/>
          </a:blip>
          <a:srcRect/>
          <a:stretch/>
        </p:blipFill>
        <p:spPr>
          <a:xfrm>
            <a:off x="3581400" y="685800"/>
            <a:ext cx="4876800" cy="590167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p31"/>
          <p:cNvSpPr txBox="1">
            <a:spLocks noGrp="1"/>
          </p:cNvSpPr>
          <p:nvPr>
            <p:ph type="body" idx="1"/>
          </p:nvPr>
        </p:nvSpPr>
        <p:spPr>
          <a:xfrm>
            <a:off x="1905000" y="1219200"/>
            <a:ext cx="8229600" cy="5557520"/>
          </a:xfrm>
          <a:prstGeom prst="rect">
            <a:avLst/>
          </a:prstGeom>
          <a:noFill/>
          <a:ln>
            <a:noFill/>
          </a:ln>
        </p:spPr>
        <p:txBody>
          <a:bodyPr spcFirstLastPara="1" vert="horz" wrap="square" lIns="91425" tIns="45700" rIns="91425" bIns="45700" rtlCol="0" anchor="t" anchorCtr="0">
            <a:noAutofit/>
          </a:bodyPr>
          <a:lstStyle/>
          <a:p>
            <a:pPr marL="342900" indent="-342900" algn="just">
              <a:lnSpc>
                <a:spcPct val="100000"/>
              </a:lnSpc>
              <a:spcBef>
                <a:spcPts val="0"/>
              </a:spcBef>
              <a:buClr>
                <a:schemeClr val="dk1"/>
              </a:buClr>
              <a:buSzPts val="2400"/>
              <a:buFont typeface="Times New Roman"/>
              <a:buChar char="•"/>
            </a:pPr>
            <a:r>
              <a:rPr lang="en-US" sz="2400">
                <a:latin typeface="Times New Roman"/>
                <a:ea typeface="Times New Roman"/>
                <a:cs typeface="Times New Roman"/>
                <a:sym typeface="Times New Roman"/>
              </a:rPr>
              <a:t>The customer-name column may contain customers who do not have a loan at the Perryridge branch. (Because the Cartesian product takes all possible pairings of each tuple from borrower with each tuple of loan.)</a:t>
            </a:r>
            <a:endParaRPr sz="2400">
              <a:latin typeface="Times New Roman"/>
              <a:ea typeface="Times New Roman"/>
              <a:cs typeface="Times New Roman"/>
              <a:sym typeface="Times New Roman"/>
            </a:endParaRPr>
          </a:p>
          <a:p>
            <a:pPr marL="342900" indent="-190500" algn="just">
              <a:lnSpc>
                <a:spcPct val="100000"/>
              </a:lnSpc>
              <a:spcBef>
                <a:spcPts val="480"/>
              </a:spcBef>
              <a:buClr>
                <a:schemeClr val="dk1"/>
              </a:buClr>
              <a:buSzPts val="2400"/>
              <a:buNone/>
            </a:pPr>
            <a:endParaRPr sz="2400">
              <a:latin typeface="Times New Roman"/>
              <a:ea typeface="Times New Roman"/>
              <a:cs typeface="Times New Roman"/>
              <a:sym typeface="Times New Roman"/>
            </a:endParaRPr>
          </a:p>
          <a:p>
            <a:pPr marL="342900" indent="-342900" algn="just">
              <a:lnSpc>
                <a:spcPct val="100000"/>
              </a:lnSpc>
              <a:spcBef>
                <a:spcPts val="480"/>
              </a:spcBef>
              <a:buClr>
                <a:schemeClr val="dk1"/>
              </a:buClr>
              <a:buSzPts val="2400"/>
              <a:buFont typeface="Times New Roman"/>
              <a:buChar char="•"/>
            </a:pPr>
            <a:r>
              <a:rPr lang="en-US" sz="2400">
                <a:latin typeface="Times New Roman"/>
                <a:ea typeface="Times New Roman"/>
                <a:cs typeface="Times New Roman"/>
                <a:sym typeface="Times New Roman"/>
              </a:rPr>
              <a:t>Since the Cartesian-product operation associates every tuple of loan with every tuple of borrower, we know that, if a customer has a loan in the Perryridge branch, then there is some tuple in borrower×loan that contains his name, and borrower.loan_number= loan.loan_number. So, if we write</a:t>
            </a:r>
            <a:endParaRPr sz="2400">
              <a:latin typeface="Times New Roman"/>
              <a:ea typeface="Times New Roman"/>
              <a:cs typeface="Times New Roman"/>
              <a:sym typeface="Times New Roman"/>
            </a:endParaRPr>
          </a:p>
          <a:p>
            <a:pPr marL="342900" indent="-342900" algn="ctr">
              <a:lnSpc>
                <a:spcPct val="100000"/>
              </a:lnSpc>
              <a:spcBef>
                <a:spcPts val="440"/>
              </a:spcBef>
              <a:buClr>
                <a:schemeClr val="dk1"/>
              </a:buClr>
              <a:buSzPts val="2200"/>
              <a:buNone/>
            </a:pPr>
            <a:r>
              <a:rPr lang="en-US" sz="2200">
                <a:latin typeface="Times New Roman"/>
                <a:ea typeface="Times New Roman"/>
                <a:cs typeface="Times New Roman"/>
                <a:sym typeface="Times New Roman"/>
              </a:rPr>
              <a:t>σ</a:t>
            </a:r>
            <a:r>
              <a:rPr lang="en-US" sz="2200" baseline="-25000">
                <a:latin typeface="Times New Roman"/>
                <a:ea typeface="Times New Roman"/>
                <a:cs typeface="Times New Roman"/>
                <a:sym typeface="Times New Roman"/>
              </a:rPr>
              <a:t>borrower.loan_number=loan.loan_number</a:t>
            </a:r>
            <a:r>
              <a:rPr lang="en-US" sz="2200">
                <a:latin typeface="Times New Roman"/>
                <a:ea typeface="Times New Roman"/>
                <a:cs typeface="Times New Roman"/>
                <a:sym typeface="Times New Roman"/>
              </a:rPr>
              <a:t>(σ</a:t>
            </a:r>
            <a:r>
              <a:rPr lang="en-US" sz="2200" baseline="-25000">
                <a:latin typeface="Times New Roman"/>
                <a:ea typeface="Times New Roman"/>
                <a:cs typeface="Times New Roman"/>
                <a:sym typeface="Times New Roman"/>
              </a:rPr>
              <a:t>branch_name=“Perryridge”</a:t>
            </a:r>
            <a:r>
              <a:rPr lang="en-US" sz="2200">
                <a:latin typeface="Times New Roman"/>
                <a:ea typeface="Times New Roman"/>
                <a:cs typeface="Times New Roman"/>
                <a:sym typeface="Times New Roman"/>
              </a:rPr>
              <a:t>(borrower×loan))</a:t>
            </a:r>
            <a:endParaRPr sz="2200">
              <a:latin typeface="Times New Roman"/>
              <a:ea typeface="Times New Roman"/>
              <a:cs typeface="Times New Roman"/>
              <a:sym typeface="Times New Roman"/>
            </a:endParaRPr>
          </a:p>
          <a:p>
            <a:pPr marL="342900" indent="-342900" algn="ctr">
              <a:lnSpc>
                <a:spcPct val="100000"/>
              </a:lnSpc>
              <a:spcBef>
                <a:spcPts val="440"/>
              </a:spcBef>
              <a:buClr>
                <a:schemeClr val="dk1"/>
              </a:buClr>
              <a:buSzPts val="2200"/>
              <a:buNone/>
            </a:pPr>
            <a:endParaRPr sz="2200">
              <a:latin typeface="Times New Roman"/>
              <a:ea typeface="Times New Roman"/>
              <a:cs typeface="Times New Roman"/>
              <a:sym typeface="Times New Roman"/>
            </a:endParaRPr>
          </a:p>
          <a:p>
            <a:pPr marL="342900" indent="-342900" algn="just">
              <a:lnSpc>
                <a:spcPct val="100000"/>
              </a:lnSpc>
              <a:spcBef>
                <a:spcPts val="480"/>
              </a:spcBef>
              <a:buClr>
                <a:schemeClr val="dk1"/>
              </a:buClr>
              <a:buSzPts val="2400"/>
              <a:buFont typeface="Times New Roman"/>
              <a:buChar char="•"/>
            </a:pPr>
            <a:r>
              <a:rPr lang="en-US" sz="2400">
                <a:latin typeface="Times New Roman"/>
                <a:ea typeface="Times New Roman"/>
                <a:cs typeface="Times New Roman"/>
                <a:sym typeface="Times New Roman"/>
              </a:rPr>
              <a:t>we get only those tuples of borrower × loan that pertain to customers who have a loan at the Perryridge branch.</a:t>
            </a:r>
            <a:endParaRPr sz="2200">
              <a:latin typeface="Times New Roman"/>
              <a:ea typeface="Times New Roman"/>
              <a:cs typeface="Times New Roman"/>
              <a:sym typeface="Times New Roman"/>
            </a:endParaRPr>
          </a:p>
        </p:txBody>
      </p:sp>
      <p:sp>
        <p:nvSpPr>
          <p:cNvPr id="404" name="Google Shape;404;p31"/>
          <p:cNvSpPr txBox="1"/>
          <p:nvPr/>
        </p:nvSpPr>
        <p:spPr>
          <a:xfrm>
            <a:off x="1923416" y="152400"/>
            <a:ext cx="8211185" cy="1019810"/>
          </a:xfrm>
          <a:prstGeom prst="rect">
            <a:avLst/>
          </a:prstGeom>
          <a:noFill/>
          <a:ln>
            <a:noFill/>
          </a:ln>
        </p:spPr>
        <p:txBody>
          <a:bodyPr spcFirstLastPara="1" wrap="square" lIns="91425" tIns="45700" rIns="91425" bIns="45700" anchor="t" anchorCtr="0">
            <a:noAutofit/>
          </a:bodyPr>
          <a:lstStyle/>
          <a:p>
            <a:r>
              <a:rPr lang="en-US" sz="3200" b="1">
                <a:solidFill>
                  <a:schemeClr val="dk1"/>
                </a:solidFill>
                <a:latin typeface="Times New Roman"/>
                <a:ea typeface="Times New Roman"/>
                <a:cs typeface="Times New Roman"/>
                <a:sym typeface="Times New Roman"/>
              </a:rPr>
              <a:t>Result of borrower × loan Explainantion</a:t>
            </a:r>
            <a:endParaRPr sz="3200" b="1">
              <a:solidFill>
                <a:schemeClr val="dk1"/>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408"/>
        <p:cNvGrpSpPr/>
        <p:nvPr/>
      </p:nvGrpSpPr>
      <p:grpSpPr>
        <a:xfrm>
          <a:off x="0" y="0"/>
          <a:ext cx="0" cy="0"/>
          <a:chOff x="0" y="0"/>
          <a:chExt cx="0" cy="0"/>
        </a:xfrm>
      </p:grpSpPr>
      <p:sp>
        <p:nvSpPr>
          <p:cNvPr id="409" name="Google Shape;409;p32"/>
          <p:cNvSpPr txBox="1">
            <a:spLocks noGrp="1"/>
          </p:cNvSpPr>
          <p:nvPr>
            <p:ph type="body" idx="1"/>
          </p:nvPr>
        </p:nvSpPr>
        <p:spPr>
          <a:xfrm>
            <a:off x="1981200" y="1600201"/>
            <a:ext cx="8229600" cy="4525963"/>
          </a:xfrm>
          <a:prstGeom prst="rect">
            <a:avLst/>
          </a:prstGeom>
          <a:noFill/>
          <a:ln>
            <a:noFill/>
          </a:ln>
        </p:spPr>
        <p:txBody>
          <a:bodyPr spcFirstLastPara="1" vert="horz" wrap="square" lIns="91425" tIns="45700" rIns="91425" bIns="45700" rtlCol="0" anchor="t" anchorCtr="0">
            <a:normAutofit/>
          </a:bodyPr>
          <a:lstStyle/>
          <a:p>
            <a:pPr marL="342900" indent="-342900" algn="just">
              <a:lnSpc>
                <a:spcPct val="100000"/>
              </a:lnSpc>
              <a:spcBef>
                <a:spcPts val="0"/>
              </a:spcBef>
              <a:buClr>
                <a:schemeClr val="dk1"/>
              </a:buClr>
              <a:buSzPts val="2400"/>
              <a:buFont typeface="Times New Roman"/>
              <a:buChar char="•"/>
            </a:pPr>
            <a:r>
              <a:rPr lang="en-US" sz="2400">
                <a:latin typeface="Times New Roman"/>
                <a:ea typeface="Times New Roman"/>
                <a:cs typeface="Times New Roman"/>
                <a:sym typeface="Times New Roman"/>
              </a:rPr>
              <a:t>Finally, since we want only customer-name, we do a projection:</a:t>
            </a:r>
            <a:endParaRPr sz="2400">
              <a:latin typeface="Times New Roman"/>
              <a:ea typeface="Times New Roman"/>
              <a:cs typeface="Times New Roman"/>
              <a:sym typeface="Times New Roman"/>
            </a:endParaRPr>
          </a:p>
          <a:p>
            <a:pPr marL="342900" indent="-342900" algn="ctr">
              <a:lnSpc>
                <a:spcPct val="100000"/>
              </a:lnSpc>
              <a:spcBef>
                <a:spcPts val="480"/>
              </a:spcBef>
              <a:buClr>
                <a:schemeClr val="dk1"/>
              </a:buClr>
              <a:buSzPts val="2400"/>
              <a:buNone/>
            </a:pPr>
            <a:r>
              <a:rPr lang="en-US" sz="2400">
                <a:latin typeface="Times New Roman"/>
                <a:ea typeface="Times New Roman"/>
                <a:cs typeface="Times New Roman"/>
                <a:sym typeface="Times New Roman"/>
              </a:rPr>
              <a:t>Π</a:t>
            </a:r>
            <a:r>
              <a:rPr lang="en-US" sz="2400" baseline="-25000">
                <a:latin typeface="Times New Roman"/>
                <a:ea typeface="Times New Roman"/>
                <a:cs typeface="Times New Roman"/>
                <a:sym typeface="Times New Roman"/>
              </a:rPr>
              <a:t>customer_name</a:t>
            </a:r>
            <a:r>
              <a:rPr lang="en-US" sz="2400">
                <a:latin typeface="Times New Roman"/>
                <a:ea typeface="Times New Roman"/>
                <a:cs typeface="Times New Roman"/>
                <a:sym typeface="Times New Roman"/>
              </a:rPr>
              <a:t> (σ</a:t>
            </a:r>
            <a:r>
              <a:rPr lang="en-US" sz="2400" baseline="-25000">
                <a:latin typeface="Times New Roman"/>
                <a:ea typeface="Times New Roman"/>
                <a:cs typeface="Times New Roman"/>
                <a:sym typeface="Times New Roman"/>
              </a:rPr>
              <a:t>borrower.loan_number =loan.loan_number</a:t>
            </a:r>
            <a:endParaRPr sz="2400" baseline="-25000">
              <a:latin typeface="Times New Roman"/>
              <a:ea typeface="Times New Roman"/>
              <a:cs typeface="Times New Roman"/>
              <a:sym typeface="Times New Roman"/>
            </a:endParaRPr>
          </a:p>
          <a:p>
            <a:pPr marL="342900" indent="-342900" algn="ctr">
              <a:lnSpc>
                <a:spcPct val="100000"/>
              </a:lnSpc>
              <a:spcBef>
                <a:spcPts val="480"/>
              </a:spcBef>
              <a:buClr>
                <a:schemeClr val="dk1"/>
              </a:buClr>
              <a:buSzPts val="2400"/>
              <a:buNone/>
            </a:pPr>
            <a:r>
              <a:rPr lang="en-US" sz="2400">
                <a:latin typeface="Times New Roman"/>
                <a:ea typeface="Times New Roman"/>
                <a:cs typeface="Times New Roman"/>
                <a:sym typeface="Times New Roman"/>
              </a:rPr>
              <a:t>(σ</a:t>
            </a:r>
            <a:r>
              <a:rPr lang="en-US" sz="2400" baseline="-25000">
                <a:latin typeface="Times New Roman"/>
                <a:ea typeface="Times New Roman"/>
                <a:cs typeface="Times New Roman"/>
                <a:sym typeface="Times New Roman"/>
              </a:rPr>
              <a:t>branch_name =“Perryridge”</a:t>
            </a:r>
            <a:r>
              <a:rPr lang="en-US" sz="2400">
                <a:latin typeface="Times New Roman"/>
                <a:ea typeface="Times New Roman"/>
                <a:cs typeface="Times New Roman"/>
                <a:sym typeface="Times New Roman"/>
              </a:rPr>
              <a:t>(borrower × loan)))</a:t>
            </a:r>
            <a:endParaRPr sz="2400">
              <a:latin typeface="Times New Roman"/>
              <a:ea typeface="Times New Roman"/>
              <a:cs typeface="Times New Roman"/>
              <a:sym typeface="Times New Roman"/>
            </a:endParaRPr>
          </a:p>
          <a:p>
            <a:pPr marL="342900" indent="-342900" algn="ctr">
              <a:lnSpc>
                <a:spcPct val="100000"/>
              </a:lnSpc>
              <a:spcBef>
                <a:spcPts val="480"/>
              </a:spcBef>
              <a:buClr>
                <a:schemeClr val="dk1"/>
              </a:buClr>
              <a:buSzPts val="2400"/>
              <a:buNone/>
            </a:pPr>
            <a:endParaRPr sz="2400">
              <a:latin typeface="Times New Roman"/>
              <a:ea typeface="Times New Roman"/>
              <a:cs typeface="Times New Roman"/>
              <a:sym typeface="Times New Roman"/>
            </a:endParaRPr>
          </a:p>
          <a:p>
            <a:pPr marL="342900" indent="-342900" algn="just">
              <a:lnSpc>
                <a:spcPct val="100000"/>
              </a:lnSpc>
              <a:spcBef>
                <a:spcPts val="480"/>
              </a:spcBef>
              <a:buClr>
                <a:schemeClr val="dk1"/>
              </a:buClr>
              <a:buSzPts val="2400"/>
              <a:buFont typeface="Times New Roman"/>
              <a:buChar char="•"/>
            </a:pPr>
            <a:r>
              <a:rPr lang="en-US" sz="2400">
                <a:latin typeface="Times New Roman"/>
                <a:ea typeface="Times New Roman"/>
                <a:cs typeface="Times New Roman"/>
                <a:sym typeface="Times New Roman"/>
              </a:rPr>
              <a:t>The result of this expression, shown in Figure.</a:t>
            </a:r>
            <a:endParaRPr sz="2400">
              <a:latin typeface="Times New Roman"/>
              <a:ea typeface="Times New Roman"/>
              <a:cs typeface="Times New Roman"/>
              <a:sym typeface="Times New Roman"/>
            </a:endParaRPr>
          </a:p>
        </p:txBody>
      </p:sp>
      <p:pic>
        <p:nvPicPr>
          <p:cNvPr id="410" name="Google Shape;410;p32"/>
          <p:cNvPicPr preferRelativeResize="0"/>
          <p:nvPr/>
        </p:nvPicPr>
        <p:blipFill rotWithShape="1">
          <a:blip r:embed="rId3">
            <a:alphaModFix/>
          </a:blip>
          <a:srcRect/>
          <a:stretch/>
        </p:blipFill>
        <p:spPr>
          <a:xfrm>
            <a:off x="5181600" y="4495800"/>
            <a:ext cx="1295400" cy="781050"/>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414"/>
        <p:cNvGrpSpPr/>
        <p:nvPr/>
      </p:nvGrpSpPr>
      <p:grpSpPr>
        <a:xfrm>
          <a:off x="0" y="0"/>
          <a:ext cx="0" cy="0"/>
          <a:chOff x="0" y="0"/>
          <a:chExt cx="0" cy="0"/>
        </a:xfrm>
      </p:grpSpPr>
      <p:sp>
        <p:nvSpPr>
          <p:cNvPr id="415" name="Google Shape;415;p33"/>
          <p:cNvSpPr txBox="1">
            <a:spLocks noGrp="1"/>
          </p:cNvSpPr>
          <p:nvPr>
            <p:ph type="title"/>
          </p:nvPr>
        </p:nvSpPr>
        <p:spPr>
          <a:xfrm>
            <a:off x="1981200" y="381001"/>
            <a:ext cx="8229600" cy="564515"/>
          </a:xfrm>
          <a:prstGeom prst="rect">
            <a:avLst/>
          </a:prstGeom>
          <a:noFill/>
          <a:ln>
            <a:noFill/>
          </a:ln>
        </p:spPr>
        <p:txBody>
          <a:bodyPr spcFirstLastPara="1" vert="horz" wrap="square" lIns="91425" tIns="45700" rIns="91425" bIns="45700" rtlCol="0" anchor="ctr" anchorCtr="0">
            <a:noAutofit/>
          </a:bodyPr>
          <a:lstStyle/>
          <a:p>
            <a:pPr algn="ctr">
              <a:lnSpc>
                <a:spcPct val="100000"/>
              </a:lnSpc>
              <a:spcBef>
                <a:spcPts val="0"/>
              </a:spcBef>
              <a:buClr>
                <a:schemeClr val="dk2"/>
              </a:buClr>
              <a:buSzPts val="3600"/>
            </a:pPr>
            <a:r>
              <a:rPr lang="en-US" sz="3600" b="1">
                <a:latin typeface="Times New Roman"/>
                <a:ea typeface="Times New Roman"/>
                <a:cs typeface="Times New Roman"/>
                <a:sym typeface="Times New Roman"/>
              </a:rPr>
              <a:t>6. Rename Operation</a:t>
            </a:r>
            <a:endParaRPr sz="3600" b="1">
              <a:latin typeface="Times New Roman"/>
              <a:ea typeface="Times New Roman"/>
              <a:cs typeface="Times New Roman"/>
              <a:sym typeface="Times New Roman"/>
            </a:endParaRPr>
          </a:p>
        </p:txBody>
      </p:sp>
      <p:sp>
        <p:nvSpPr>
          <p:cNvPr id="416" name="Google Shape;416;p33"/>
          <p:cNvSpPr txBox="1">
            <a:spLocks noGrp="1"/>
          </p:cNvSpPr>
          <p:nvPr>
            <p:ph type="body" idx="1"/>
          </p:nvPr>
        </p:nvSpPr>
        <p:spPr>
          <a:xfrm>
            <a:off x="1524001" y="762000"/>
            <a:ext cx="8931275" cy="5971540"/>
          </a:xfrm>
          <a:prstGeom prst="rect">
            <a:avLst/>
          </a:prstGeom>
          <a:noFill/>
          <a:ln>
            <a:noFill/>
          </a:ln>
        </p:spPr>
        <p:txBody>
          <a:bodyPr spcFirstLastPara="1" vert="horz" wrap="square" lIns="91425" tIns="45700" rIns="91425" bIns="45700" rtlCol="0" anchor="t" anchorCtr="0">
            <a:noAutofit/>
          </a:bodyPr>
          <a:lstStyle/>
          <a:p>
            <a:pPr marL="342900" indent="-342900" algn="just">
              <a:lnSpc>
                <a:spcPct val="100000"/>
              </a:lnSpc>
              <a:spcBef>
                <a:spcPts val="0"/>
              </a:spcBef>
              <a:buClr>
                <a:schemeClr val="dk1"/>
              </a:buClr>
              <a:buSzPts val="2400"/>
              <a:buFont typeface="Times New Roman"/>
              <a:buChar char="•"/>
            </a:pPr>
            <a:r>
              <a:rPr lang="en-US" sz="2400">
                <a:latin typeface="Times New Roman"/>
                <a:ea typeface="Times New Roman"/>
                <a:cs typeface="Times New Roman"/>
                <a:sym typeface="Times New Roman"/>
              </a:rPr>
              <a:t>The rename operator, denoted by the lowercase Greek letter rho (ρ).</a:t>
            </a:r>
            <a:endParaRPr sz="2400">
              <a:latin typeface="Times New Roman"/>
              <a:ea typeface="Times New Roman"/>
              <a:cs typeface="Times New Roman"/>
              <a:sym typeface="Times New Roman"/>
            </a:endParaRPr>
          </a:p>
          <a:p>
            <a:pPr marL="342900" indent="-342900" algn="just">
              <a:lnSpc>
                <a:spcPct val="100000"/>
              </a:lnSpc>
              <a:spcBef>
                <a:spcPts val="480"/>
              </a:spcBef>
              <a:buClr>
                <a:schemeClr val="dk1"/>
              </a:buClr>
              <a:buSzPts val="2400"/>
              <a:buFont typeface="Times New Roman"/>
              <a:buChar char="•"/>
            </a:pPr>
            <a:r>
              <a:rPr lang="en-US" sz="2400">
                <a:latin typeface="Times New Roman"/>
                <a:ea typeface="Times New Roman"/>
                <a:cs typeface="Times New Roman"/>
                <a:sym typeface="Times New Roman"/>
              </a:rPr>
              <a:t>For example, consider a relational-algebra expression E, the expression 	</a:t>
            </a:r>
            <a:endParaRPr sz="2400">
              <a:latin typeface="Times New Roman"/>
              <a:ea typeface="Times New Roman"/>
              <a:cs typeface="Times New Roman"/>
              <a:sym typeface="Times New Roman"/>
            </a:endParaRPr>
          </a:p>
          <a:p>
            <a:pPr marL="342900" indent="-342900" algn="ctr">
              <a:lnSpc>
                <a:spcPct val="100000"/>
              </a:lnSpc>
              <a:spcBef>
                <a:spcPts val="560"/>
              </a:spcBef>
              <a:buClr>
                <a:schemeClr val="dk1"/>
              </a:buClr>
              <a:buSzPts val="2800"/>
              <a:buNone/>
            </a:pPr>
            <a:r>
              <a:rPr lang="en-US" b="1">
                <a:latin typeface="Times New Roman"/>
                <a:ea typeface="Times New Roman"/>
                <a:cs typeface="Times New Roman"/>
                <a:sym typeface="Times New Roman"/>
              </a:rPr>
              <a:t>ρ</a:t>
            </a:r>
            <a:r>
              <a:rPr lang="en-US" b="1" baseline="-25000">
                <a:latin typeface="Times New Roman"/>
                <a:ea typeface="Times New Roman"/>
                <a:cs typeface="Times New Roman"/>
                <a:sym typeface="Times New Roman"/>
              </a:rPr>
              <a:t>x</a:t>
            </a:r>
            <a:r>
              <a:rPr lang="en-US" b="1">
                <a:latin typeface="Times New Roman"/>
                <a:ea typeface="Times New Roman"/>
                <a:cs typeface="Times New Roman"/>
                <a:sym typeface="Times New Roman"/>
              </a:rPr>
              <a:t>(E)</a:t>
            </a:r>
            <a:endParaRPr b="1">
              <a:latin typeface="Times New Roman"/>
              <a:ea typeface="Times New Roman"/>
              <a:cs typeface="Times New Roman"/>
              <a:sym typeface="Times New Roman"/>
            </a:endParaRPr>
          </a:p>
          <a:p>
            <a:pPr marL="342900" indent="-342900" algn="just">
              <a:lnSpc>
                <a:spcPct val="100000"/>
              </a:lnSpc>
              <a:spcBef>
                <a:spcPts val="480"/>
              </a:spcBef>
              <a:buClr>
                <a:schemeClr val="dk1"/>
              </a:buClr>
              <a:buSzPts val="2400"/>
              <a:buNone/>
            </a:pPr>
            <a:r>
              <a:rPr lang="en-US" sz="2400">
                <a:latin typeface="Times New Roman"/>
                <a:ea typeface="Times New Roman"/>
                <a:cs typeface="Times New Roman"/>
                <a:sym typeface="Times New Roman"/>
              </a:rPr>
              <a:t>       returns the result of expression E under the name x.</a:t>
            </a:r>
            <a:endParaRPr sz="2400">
              <a:latin typeface="Times New Roman"/>
              <a:ea typeface="Times New Roman"/>
              <a:cs typeface="Times New Roman"/>
              <a:sym typeface="Times New Roman"/>
            </a:endParaRPr>
          </a:p>
          <a:p>
            <a:pPr marL="342900" indent="-342900" algn="just">
              <a:lnSpc>
                <a:spcPct val="100000"/>
              </a:lnSpc>
              <a:spcBef>
                <a:spcPts val="480"/>
              </a:spcBef>
              <a:buClr>
                <a:schemeClr val="dk1"/>
              </a:buClr>
              <a:buSzPts val="2400"/>
              <a:buFont typeface="Times New Roman"/>
              <a:buChar char="•"/>
            </a:pPr>
            <a:r>
              <a:rPr lang="en-US" sz="2400">
                <a:latin typeface="Times New Roman"/>
                <a:ea typeface="Times New Roman"/>
                <a:cs typeface="Times New Roman"/>
                <a:sym typeface="Times New Roman"/>
              </a:rPr>
              <a:t>A relation r by itself is considered a relational-algebra expression. Thus, we can also apply the rename operation to a relation r to get the same relation under a new name.</a:t>
            </a:r>
            <a:endParaRPr sz="2400">
              <a:latin typeface="Times New Roman"/>
              <a:ea typeface="Times New Roman"/>
              <a:cs typeface="Times New Roman"/>
              <a:sym typeface="Times New Roman"/>
            </a:endParaRPr>
          </a:p>
          <a:p>
            <a:pPr marL="342900" indent="-342900" algn="just">
              <a:lnSpc>
                <a:spcPct val="100000"/>
              </a:lnSpc>
              <a:spcBef>
                <a:spcPts val="480"/>
              </a:spcBef>
              <a:buClr>
                <a:schemeClr val="dk1"/>
              </a:buClr>
              <a:buSzPts val="2400"/>
              <a:buFont typeface="Times New Roman"/>
              <a:buChar char="•"/>
            </a:pPr>
            <a:r>
              <a:rPr lang="en-US" sz="2400">
                <a:latin typeface="Times New Roman"/>
                <a:ea typeface="Times New Roman"/>
                <a:cs typeface="Times New Roman"/>
                <a:sym typeface="Times New Roman"/>
              </a:rPr>
              <a:t>A second form of the rename operation is as follows. </a:t>
            </a:r>
            <a:endParaRPr sz="2400">
              <a:latin typeface="Times New Roman"/>
              <a:ea typeface="Times New Roman"/>
              <a:cs typeface="Times New Roman"/>
              <a:sym typeface="Times New Roman"/>
            </a:endParaRPr>
          </a:p>
          <a:p>
            <a:pPr marL="342900" indent="-342900" algn="just">
              <a:lnSpc>
                <a:spcPct val="100000"/>
              </a:lnSpc>
              <a:spcBef>
                <a:spcPts val="480"/>
              </a:spcBef>
              <a:buClr>
                <a:schemeClr val="dk1"/>
              </a:buClr>
              <a:buSzPts val="2400"/>
              <a:buFont typeface="Times New Roman"/>
              <a:buChar char="•"/>
            </a:pPr>
            <a:r>
              <a:rPr lang="en-US" sz="2400">
                <a:latin typeface="Times New Roman"/>
                <a:ea typeface="Times New Roman"/>
                <a:cs typeface="Times New Roman"/>
                <a:sym typeface="Times New Roman"/>
              </a:rPr>
              <a:t>Assume that a relational algebra expression E has arity n. Then, the expression ρ</a:t>
            </a:r>
            <a:r>
              <a:rPr lang="en-US" sz="2400" baseline="-25000">
                <a:latin typeface="Times New Roman"/>
                <a:ea typeface="Times New Roman"/>
                <a:cs typeface="Times New Roman"/>
                <a:sym typeface="Times New Roman"/>
              </a:rPr>
              <a:t>x(A1,A2,...,An)</a:t>
            </a:r>
            <a:r>
              <a:rPr lang="en-US" sz="2400">
                <a:latin typeface="Times New Roman"/>
                <a:ea typeface="Times New Roman"/>
                <a:cs typeface="Times New Roman"/>
                <a:sym typeface="Times New Roman"/>
              </a:rPr>
              <a:t>(E)</a:t>
            </a:r>
            <a:endParaRPr sz="2400">
              <a:latin typeface="Times New Roman"/>
              <a:ea typeface="Times New Roman"/>
              <a:cs typeface="Times New Roman"/>
              <a:sym typeface="Times New Roman"/>
            </a:endParaRPr>
          </a:p>
          <a:p>
            <a:pPr marL="342900" indent="-342900" algn="just">
              <a:lnSpc>
                <a:spcPct val="100000"/>
              </a:lnSpc>
              <a:spcBef>
                <a:spcPts val="480"/>
              </a:spcBef>
              <a:buClr>
                <a:schemeClr val="dk1"/>
              </a:buClr>
              <a:buSzPts val="2400"/>
              <a:buFont typeface="Times New Roman"/>
              <a:buChar char="•"/>
            </a:pPr>
            <a:r>
              <a:rPr lang="en-US" sz="2400">
                <a:latin typeface="Times New Roman"/>
                <a:ea typeface="Times New Roman"/>
                <a:cs typeface="Times New Roman"/>
                <a:sym typeface="Times New Roman"/>
              </a:rPr>
              <a:t> returns the result of expression E under the name x, and with the attributes renamed to A1,A2, . . .,An.</a:t>
            </a:r>
            <a:endParaRPr sz="2400">
              <a:latin typeface="Times New Roman"/>
              <a:ea typeface="Times New Roman"/>
              <a:cs typeface="Times New Roman"/>
              <a:sym typeface="Times New Roman"/>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420"/>
        <p:cNvGrpSpPr/>
        <p:nvPr/>
      </p:nvGrpSpPr>
      <p:grpSpPr>
        <a:xfrm>
          <a:off x="0" y="0"/>
          <a:ext cx="0" cy="0"/>
          <a:chOff x="0" y="0"/>
          <a:chExt cx="0" cy="0"/>
        </a:xfrm>
      </p:grpSpPr>
      <p:sp>
        <p:nvSpPr>
          <p:cNvPr id="421" name="Google Shape;421;p34"/>
          <p:cNvSpPr txBox="1">
            <a:spLocks noGrp="1"/>
          </p:cNvSpPr>
          <p:nvPr>
            <p:ph type="title"/>
          </p:nvPr>
        </p:nvSpPr>
        <p:spPr>
          <a:xfrm>
            <a:off x="1981200" y="274638"/>
            <a:ext cx="8229600" cy="487362"/>
          </a:xfrm>
          <a:prstGeom prst="rect">
            <a:avLst/>
          </a:prstGeom>
          <a:noFill/>
          <a:ln>
            <a:noFill/>
          </a:ln>
        </p:spPr>
        <p:txBody>
          <a:bodyPr spcFirstLastPara="1" vert="horz" wrap="square" lIns="91425" tIns="45700" rIns="91425" bIns="45700" rtlCol="0" anchor="ctr" anchorCtr="0">
            <a:normAutofit fontScale="90000"/>
          </a:bodyPr>
          <a:lstStyle/>
          <a:p>
            <a:pPr algn="ctr">
              <a:lnSpc>
                <a:spcPct val="100000"/>
              </a:lnSpc>
              <a:spcBef>
                <a:spcPts val="0"/>
              </a:spcBef>
              <a:buClr>
                <a:schemeClr val="dk2"/>
              </a:buClr>
              <a:buSzPct val="100000"/>
            </a:pPr>
            <a:r>
              <a:rPr lang="en-US">
                <a:latin typeface="Times New Roman"/>
                <a:ea typeface="Times New Roman"/>
                <a:cs typeface="Times New Roman"/>
                <a:sym typeface="Times New Roman"/>
              </a:rPr>
              <a:t>Example</a:t>
            </a:r>
            <a:endParaRPr>
              <a:latin typeface="Times New Roman"/>
              <a:ea typeface="Times New Roman"/>
              <a:cs typeface="Times New Roman"/>
              <a:sym typeface="Times New Roman"/>
            </a:endParaRPr>
          </a:p>
        </p:txBody>
      </p:sp>
      <p:sp>
        <p:nvSpPr>
          <p:cNvPr id="422" name="Google Shape;422;p34"/>
          <p:cNvSpPr txBox="1">
            <a:spLocks noGrp="1"/>
          </p:cNvSpPr>
          <p:nvPr>
            <p:ph type="body" idx="1"/>
          </p:nvPr>
        </p:nvSpPr>
        <p:spPr>
          <a:xfrm>
            <a:off x="1981200" y="990600"/>
            <a:ext cx="8229600" cy="5334000"/>
          </a:xfrm>
          <a:prstGeom prst="rect">
            <a:avLst/>
          </a:prstGeom>
          <a:noFill/>
          <a:ln>
            <a:noFill/>
          </a:ln>
        </p:spPr>
        <p:txBody>
          <a:bodyPr spcFirstLastPara="1" vert="horz" wrap="square" lIns="91425" tIns="45700" rIns="91425" bIns="45700" rtlCol="0" anchor="t" anchorCtr="0">
            <a:noAutofit/>
          </a:bodyPr>
          <a:lstStyle/>
          <a:p>
            <a:pPr marL="342900" indent="-342900" algn="just">
              <a:lnSpc>
                <a:spcPct val="100000"/>
              </a:lnSpc>
              <a:spcBef>
                <a:spcPts val="0"/>
              </a:spcBef>
              <a:buClr>
                <a:schemeClr val="dk1"/>
              </a:buClr>
              <a:buSzPts val="2400"/>
              <a:buFont typeface="Times New Roman"/>
              <a:buChar char="•"/>
            </a:pPr>
            <a:r>
              <a:rPr lang="en-US" sz="2400">
                <a:latin typeface="Times New Roman"/>
                <a:ea typeface="Times New Roman"/>
                <a:cs typeface="Times New Roman"/>
                <a:sym typeface="Times New Roman"/>
              </a:rPr>
              <a:t>Find the names of all customers who live on the same street and in the same city as Smith.</a:t>
            </a:r>
            <a:endParaRPr sz="2400">
              <a:latin typeface="Times New Roman"/>
              <a:ea typeface="Times New Roman"/>
              <a:cs typeface="Times New Roman"/>
              <a:sym typeface="Times New Roman"/>
            </a:endParaRPr>
          </a:p>
          <a:p>
            <a:pPr marL="342900" indent="-342900" algn="ctr">
              <a:lnSpc>
                <a:spcPct val="100000"/>
              </a:lnSpc>
              <a:spcBef>
                <a:spcPts val="480"/>
              </a:spcBef>
              <a:buClr>
                <a:schemeClr val="dk1"/>
              </a:buClr>
              <a:buSzPts val="2400"/>
              <a:buNone/>
            </a:pPr>
            <a:r>
              <a:rPr lang="en-US" sz="2400">
                <a:latin typeface="Times New Roman"/>
                <a:ea typeface="Times New Roman"/>
                <a:cs typeface="Times New Roman"/>
                <a:sym typeface="Times New Roman"/>
              </a:rPr>
              <a:t>Π</a:t>
            </a:r>
            <a:r>
              <a:rPr lang="en-US" sz="2400" baseline="-25000">
                <a:latin typeface="Times New Roman"/>
                <a:ea typeface="Times New Roman"/>
                <a:cs typeface="Times New Roman"/>
                <a:sym typeface="Times New Roman"/>
              </a:rPr>
              <a:t>customer_street, customer_city </a:t>
            </a:r>
            <a:r>
              <a:rPr lang="en-US" sz="2400">
                <a:latin typeface="Times New Roman"/>
                <a:ea typeface="Times New Roman"/>
                <a:cs typeface="Times New Roman"/>
                <a:sym typeface="Times New Roman"/>
              </a:rPr>
              <a:t>(σ</a:t>
            </a:r>
            <a:r>
              <a:rPr lang="en-US" sz="2400" baseline="-25000">
                <a:latin typeface="Times New Roman"/>
                <a:ea typeface="Times New Roman"/>
                <a:cs typeface="Times New Roman"/>
                <a:sym typeface="Times New Roman"/>
              </a:rPr>
              <a:t>customer_name = “Smith”</a:t>
            </a:r>
            <a:r>
              <a:rPr lang="en-US" sz="2400">
                <a:latin typeface="Times New Roman"/>
                <a:ea typeface="Times New Roman"/>
                <a:cs typeface="Times New Roman"/>
                <a:sym typeface="Times New Roman"/>
              </a:rPr>
              <a:t>(customer))</a:t>
            </a:r>
            <a:endParaRPr sz="2400">
              <a:latin typeface="Times New Roman"/>
              <a:ea typeface="Times New Roman"/>
              <a:cs typeface="Times New Roman"/>
              <a:sym typeface="Times New Roman"/>
            </a:endParaRPr>
          </a:p>
          <a:p>
            <a:pPr marL="342900" indent="-342900" algn="ctr">
              <a:lnSpc>
                <a:spcPct val="100000"/>
              </a:lnSpc>
              <a:spcBef>
                <a:spcPts val="480"/>
              </a:spcBef>
              <a:buClr>
                <a:schemeClr val="dk1"/>
              </a:buClr>
              <a:buSzPts val="2400"/>
              <a:buNone/>
            </a:pPr>
            <a:endParaRPr sz="2400">
              <a:latin typeface="Times New Roman"/>
              <a:ea typeface="Times New Roman"/>
              <a:cs typeface="Times New Roman"/>
              <a:sym typeface="Times New Roman"/>
            </a:endParaRPr>
          </a:p>
          <a:p>
            <a:pPr marL="342900" indent="-342900" algn="just">
              <a:lnSpc>
                <a:spcPct val="100000"/>
              </a:lnSpc>
              <a:spcBef>
                <a:spcPts val="480"/>
              </a:spcBef>
              <a:buClr>
                <a:schemeClr val="dk1"/>
              </a:buClr>
              <a:buSzPts val="2400"/>
              <a:buFont typeface="Times New Roman"/>
              <a:buChar char="•"/>
            </a:pPr>
            <a:r>
              <a:rPr lang="en-US" sz="2400">
                <a:latin typeface="Times New Roman"/>
                <a:ea typeface="Times New Roman"/>
                <a:cs typeface="Times New Roman"/>
                <a:sym typeface="Times New Roman"/>
              </a:rPr>
              <a:t>However, in order to find other customers with this street and city, we must reference the customer relation a second time. In the following query, we use the rename operation on the preceding expression to give its result the name smith-addr, and to rename its attributes to street and city, instead of customer-street and customer-city.</a:t>
            </a:r>
            <a:endParaRPr sz="2400">
              <a:latin typeface="Times New Roman"/>
              <a:ea typeface="Times New Roman"/>
              <a:cs typeface="Times New Roman"/>
              <a:sym typeface="Times New Roman"/>
            </a:endParaRPr>
          </a:p>
          <a:p>
            <a:pPr marL="342900" indent="-342900" algn="ctr">
              <a:lnSpc>
                <a:spcPct val="100000"/>
              </a:lnSpc>
              <a:spcBef>
                <a:spcPts val="480"/>
              </a:spcBef>
              <a:buClr>
                <a:schemeClr val="dk1"/>
              </a:buClr>
              <a:buSzPts val="2400"/>
              <a:buNone/>
            </a:pPr>
            <a:r>
              <a:rPr lang="en-US" sz="2400">
                <a:latin typeface="Times New Roman"/>
                <a:ea typeface="Times New Roman"/>
                <a:cs typeface="Times New Roman"/>
                <a:sym typeface="Times New Roman"/>
              </a:rPr>
              <a:t>     Π</a:t>
            </a:r>
            <a:r>
              <a:rPr lang="en-US" sz="2400" baseline="-25000">
                <a:latin typeface="Times New Roman"/>
                <a:ea typeface="Times New Roman"/>
                <a:cs typeface="Times New Roman"/>
                <a:sym typeface="Times New Roman"/>
              </a:rPr>
              <a:t>customer.customer_name</a:t>
            </a:r>
            <a:r>
              <a:rPr lang="en-US" sz="2400">
                <a:latin typeface="Times New Roman"/>
                <a:ea typeface="Times New Roman"/>
                <a:cs typeface="Times New Roman"/>
                <a:sym typeface="Times New Roman"/>
              </a:rPr>
              <a:t>(σ</a:t>
            </a:r>
            <a:r>
              <a:rPr lang="en-US" sz="2400" baseline="-25000">
                <a:latin typeface="Times New Roman"/>
                <a:ea typeface="Times New Roman"/>
                <a:cs typeface="Times New Roman"/>
                <a:sym typeface="Times New Roman"/>
              </a:rPr>
              <a:t>customer.customer_street=smith_addr.street  ∧ customer.customer_city=smith_addr.city</a:t>
            </a:r>
            <a:r>
              <a:rPr lang="en-US" sz="2400">
                <a:latin typeface="Times New Roman"/>
                <a:ea typeface="Times New Roman"/>
                <a:cs typeface="Times New Roman"/>
                <a:sym typeface="Times New Roman"/>
              </a:rPr>
              <a:t>(customer × ρ</a:t>
            </a:r>
            <a:r>
              <a:rPr lang="en-US" sz="2400" baseline="-25000">
                <a:latin typeface="Times New Roman"/>
                <a:ea typeface="Times New Roman"/>
                <a:cs typeface="Times New Roman"/>
                <a:sym typeface="Times New Roman"/>
              </a:rPr>
              <a:t>smith_addr(street,city)</a:t>
            </a:r>
            <a:r>
              <a:rPr lang="en-US" sz="2400">
                <a:latin typeface="Times New Roman"/>
                <a:ea typeface="Times New Roman"/>
                <a:cs typeface="Times New Roman"/>
                <a:sym typeface="Times New Roman"/>
              </a:rPr>
              <a:t> (Π</a:t>
            </a:r>
            <a:r>
              <a:rPr lang="en-US" sz="2400" baseline="-25000">
                <a:latin typeface="Times New Roman"/>
                <a:ea typeface="Times New Roman"/>
                <a:cs typeface="Times New Roman"/>
                <a:sym typeface="Times New Roman"/>
              </a:rPr>
              <a:t>customer_street, customer_city </a:t>
            </a:r>
            <a:r>
              <a:rPr lang="en-US" sz="2400">
                <a:latin typeface="Times New Roman"/>
                <a:ea typeface="Times New Roman"/>
                <a:cs typeface="Times New Roman"/>
                <a:sym typeface="Times New Roman"/>
              </a:rPr>
              <a:t>(σ</a:t>
            </a:r>
            <a:r>
              <a:rPr lang="en-US" sz="2400" baseline="-25000">
                <a:latin typeface="Times New Roman"/>
                <a:ea typeface="Times New Roman"/>
                <a:cs typeface="Times New Roman"/>
                <a:sym typeface="Times New Roman"/>
              </a:rPr>
              <a:t>customer_name = “Smith”</a:t>
            </a:r>
            <a:r>
              <a:rPr lang="en-US" sz="2400">
                <a:latin typeface="Times New Roman"/>
                <a:ea typeface="Times New Roman"/>
                <a:cs typeface="Times New Roman"/>
                <a:sym typeface="Times New Roman"/>
              </a:rPr>
              <a:t>(customer)))))</a:t>
            </a:r>
            <a:endParaRPr sz="2400">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426"/>
        <p:cNvGrpSpPr/>
        <p:nvPr/>
      </p:nvGrpSpPr>
      <p:grpSpPr>
        <a:xfrm>
          <a:off x="0" y="0"/>
          <a:ext cx="0" cy="0"/>
          <a:chOff x="0" y="0"/>
          <a:chExt cx="0" cy="0"/>
        </a:xfrm>
      </p:grpSpPr>
      <p:sp>
        <p:nvSpPr>
          <p:cNvPr id="427" name="Google Shape;427;p35"/>
          <p:cNvSpPr txBox="1">
            <a:spLocks noGrp="1"/>
          </p:cNvSpPr>
          <p:nvPr>
            <p:ph type="title"/>
          </p:nvPr>
        </p:nvSpPr>
        <p:spPr>
          <a:xfrm>
            <a:off x="2209800" y="171450"/>
            <a:ext cx="7772400" cy="971550"/>
          </a:xfrm>
          <a:prstGeom prst="rect">
            <a:avLst/>
          </a:prstGeom>
          <a:noFill/>
          <a:ln>
            <a:noFill/>
          </a:ln>
        </p:spPr>
        <p:txBody>
          <a:bodyPr spcFirstLastPara="1" vert="horz" wrap="square" lIns="91425" tIns="45700" rIns="91425" bIns="45700" rtlCol="0" anchor="ctr" anchorCtr="0">
            <a:noAutofit/>
          </a:bodyPr>
          <a:lstStyle/>
          <a:p>
            <a:pPr algn="ctr">
              <a:lnSpc>
                <a:spcPct val="100000"/>
              </a:lnSpc>
              <a:spcBef>
                <a:spcPts val="0"/>
              </a:spcBef>
              <a:buClr>
                <a:schemeClr val="dk2"/>
              </a:buClr>
              <a:buSzPts val="3200"/>
            </a:pPr>
            <a:r>
              <a:rPr lang="en-US" sz="3200" b="1"/>
              <a:t>Additional Operations</a:t>
            </a:r>
            <a:endParaRPr sz="3200" b="1"/>
          </a:p>
        </p:txBody>
      </p:sp>
      <p:sp>
        <p:nvSpPr>
          <p:cNvPr id="428" name="Google Shape;428;p35"/>
          <p:cNvSpPr txBox="1">
            <a:spLocks noGrp="1"/>
          </p:cNvSpPr>
          <p:nvPr>
            <p:ph type="body" idx="1"/>
          </p:nvPr>
        </p:nvSpPr>
        <p:spPr>
          <a:xfrm>
            <a:off x="2209800" y="1371601"/>
            <a:ext cx="7772400" cy="3907155"/>
          </a:xfrm>
          <a:prstGeom prst="rect">
            <a:avLst/>
          </a:prstGeom>
          <a:noFill/>
          <a:ln>
            <a:noFill/>
          </a:ln>
        </p:spPr>
        <p:txBody>
          <a:bodyPr spcFirstLastPara="1" vert="horz" wrap="square" lIns="91425" tIns="45700" rIns="91425" bIns="45700" rtlCol="0" anchor="t" anchorCtr="0">
            <a:noAutofit/>
          </a:bodyPr>
          <a:lstStyle/>
          <a:p>
            <a:pPr marL="342900" indent="-342900">
              <a:spcBef>
                <a:spcPts val="0"/>
              </a:spcBef>
              <a:buClr>
                <a:schemeClr val="dk1"/>
              </a:buClr>
              <a:buSzPts val="2400"/>
              <a:buNone/>
            </a:pPr>
            <a:r>
              <a:rPr lang="en-US" sz="2400"/>
              <a:t>We define additional operations that do not add any power.</a:t>
            </a:r>
            <a:endParaRPr sz="2400"/>
          </a:p>
          <a:p>
            <a:pPr marL="342900" indent="-342900">
              <a:spcBef>
                <a:spcPts val="480"/>
              </a:spcBef>
              <a:buClr>
                <a:schemeClr val="dk1"/>
              </a:buClr>
              <a:buSzPts val="2400"/>
              <a:buNone/>
            </a:pPr>
            <a:r>
              <a:rPr lang="en-US" sz="2400"/>
              <a:t>to the relational algebra, but that simplify common queries.</a:t>
            </a:r>
            <a:endParaRPr sz="2400"/>
          </a:p>
          <a:p>
            <a:pPr marL="457200" indent="-457200">
              <a:lnSpc>
                <a:spcPct val="160000"/>
              </a:lnSpc>
              <a:spcBef>
                <a:spcPts val="480"/>
              </a:spcBef>
              <a:buClr>
                <a:schemeClr val="dk1"/>
              </a:buClr>
              <a:buSzPts val="2400"/>
              <a:buFont typeface="Arial"/>
              <a:buAutoNum type="arabicPeriod"/>
            </a:pPr>
            <a:r>
              <a:rPr lang="en-US" sz="2400"/>
              <a:t>Set intersection</a:t>
            </a:r>
            <a:endParaRPr sz="2400"/>
          </a:p>
          <a:p>
            <a:pPr marL="457200" indent="-457200">
              <a:spcBef>
                <a:spcPts val="480"/>
              </a:spcBef>
              <a:buClr>
                <a:schemeClr val="dk1"/>
              </a:buClr>
              <a:buSzPts val="2400"/>
              <a:buFont typeface="Arial"/>
              <a:buAutoNum type="arabicPeriod"/>
            </a:pPr>
            <a:r>
              <a:rPr lang="en-US" sz="2400"/>
              <a:t>Natural join</a:t>
            </a:r>
            <a:endParaRPr sz="2400"/>
          </a:p>
          <a:p>
            <a:pPr marL="457200" indent="-457200">
              <a:spcBef>
                <a:spcPts val="480"/>
              </a:spcBef>
              <a:buClr>
                <a:schemeClr val="dk1"/>
              </a:buClr>
              <a:buSzPts val="2400"/>
              <a:buFont typeface="Arial"/>
              <a:buAutoNum type="arabicPeriod"/>
            </a:pPr>
            <a:r>
              <a:rPr lang="en-US" sz="2400"/>
              <a:t>Division</a:t>
            </a:r>
            <a:endParaRPr sz="2400"/>
          </a:p>
          <a:p>
            <a:pPr marL="457200" indent="-457200">
              <a:spcBef>
                <a:spcPts val="480"/>
              </a:spcBef>
              <a:buClr>
                <a:schemeClr val="dk1"/>
              </a:buClr>
              <a:buSzPts val="2400"/>
              <a:buFont typeface="Arial"/>
              <a:buAutoNum type="arabicPeriod"/>
            </a:pPr>
            <a:r>
              <a:rPr lang="en-US" sz="2400"/>
              <a:t>Assignment</a:t>
            </a:r>
            <a:endParaRPr sz="240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sp>
        <p:nvSpPr>
          <p:cNvPr id="433" name="Google Shape;433;p36"/>
          <p:cNvSpPr txBox="1">
            <a:spLocks noGrp="1"/>
          </p:cNvSpPr>
          <p:nvPr>
            <p:ph type="title"/>
          </p:nvPr>
        </p:nvSpPr>
        <p:spPr>
          <a:xfrm>
            <a:off x="1981200" y="274955"/>
            <a:ext cx="8229600" cy="626110"/>
          </a:xfrm>
          <a:prstGeom prst="rect">
            <a:avLst/>
          </a:prstGeom>
          <a:noFill/>
          <a:ln>
            <a:noFill/>
          </a:ln>
        </p:spPr>
        <p:txBody>
          <a:bodyPr spcFirstLastPara="1" vert="horz" wrap="square" lIns="91425" tIns="45700" rIns="91425" bIns="45700" rtlCol="0" anchor="ctr" anchorCtr="0">
            <a:noAutofit/>
          </a:bodyPr>
          <a:lstStyle/>
          <a:p>
            <a:pPr algn="ctr">
              <a:lnSpc>
                <a:spcPct val="100000"/>
              </a:lnSpc>
              <a:spcBef>
                <a:spcPts val="0"/>
              </a:spcBef>
              <a:buClr>
                <a:schemeClr val="dk2"/>
              </a:buClr>
              <a:buSzPts val="4400"/>
            </a:pPr>
            <a:r>
              <a:rPr lang="en-US" b="1">
                <a:latin typeface="Times New Roman"/>
                <a:ea typeface="Times New Roman"/>
                <a:cs typeface="Times New Roman"/>
                <a:sym typeface="Times New Roman"/>
              </a:rPr>
              <a:t>1. Set-Intersection Operation</a:t>
            </a:r>
            <a:endParaRPr>
              <a:latin typeface="Times New Roman"/>
              <a:ea typeface="Times New Roman"/>
              <a:cs typeface="Times New Roman"/>
              <a:sym typeface="Times New Roman"/>
            </a:endParaRPr>
          </a:p>
        </p:txBody>
      </p:sp>
      <p:sp>
        <p:nvSpPr>
          <p:cNvPr id="434" name="Google Shape;434;p36"/>
          <p:cNvSpPr txBox="1">
            <a:spLocks noGrp="1"/>
          </p:cNvSpPr>
          <p:nvPr>
            <p:ph type="body" idx="1"/>
          </p:nvPr>
        </p:nvSpPr>
        <p:spPr>
          <a:xfrm>
            <a:off x="1676401" y="914400"/>
            <a:ext cx="8874125" cy="5854700"/>
          </a:xfrm>
          <a:prstGeom prst="rect">
            <a:avLst/>
          </a:prstGeom>
          <a:noFill/>
          <a:ln>
            <a:noFill/>
          </a:ln>
        </p:spPr>
        <p:txBody>
          <a:bodyPr spcFirstLastPara="1" vert="horz" wrap="square" lIns="91425" tIns="45700" rIns="91425" bIns="45700" rtlCol="0" anchor="t" anchorCtr="0">
            <a:normAutofit fontScale="97500"/>
          </a:bodyPr>
          <a:lstStyle/>
          <a:p>
            <a:pPr marL="342900" indent="-342900">
              <a:lnSpc>
                <a:spcPct val="100000"/>
              </a:lnSpc>
              <a:spcBef>
                <a:spcPts val="0"/>
              </a:spcBef>
              <a:buClr>
                <a:schemeClr val="dk1"/>
              </a:buClr>
              <a:buSzPct val="100000"/>
              <a:buFont typeface="Times New Roman"/>
              <a:buChar char="•"/>
            </a:pPr>
            <a:r>
              <a:rPr lang="en-US" sz="2400">
                <a:latin typeface="Times New Roman"/>
                <a:ea typeface="Times New Roman"/>
                <a:cs typeface="Times New Roman"/>
                <a:sym typeface="Times New Roman"/>
              </a:rPr>
              <a:t>Set intersection operation denoted by symbol (∩). </a:t>
            </a:r>
            <a:endParaRPr sz="2400">
              <a:latin typeface="Times New Roman"/>
              <a:ea typeface="Times New Roman"/>
              <a:cs typeface="Times New Roman"/>
              <a:sym typeface="Times New Roman"/>
            </a:endParaRPr>
          </a:p>
          <a:p>
            <a:pPr marL="342900" indent="-342900">
              <a:lnSpc>
                <a:spcPct val="100000"/>
              </a:lnSpc>
              <a:spcBef>
                <a:spcPts val="432"/>
              </a:spcBef>
              <a:buClr>
                <a:schemeClr val="dk1"/>
              </a:buClr>
              <a:buSzPct val="100000"/>
              <a:buFont typeface="Times New Roman"/>
              <a:buChar char="•"/>
            </a:pPr>
            <a:r>
              <a:rPr lang="en-US" sz="2400">
                <a:latin typeface="Times New Roman"/>
                <a:ea typeface="Times New Roman"/>
                <a:cs typeface="Times New Roman"/>
                <a:sym typeface="Times New Roman"/>
              </a:rPr>
              <a:t>Suppose that we wish to find all customers who have both a loan and an account. </a:t>
            </a:r>
            <a:endParaRPr sz="2400">
              <a:latin typeface="Times New Roman"/>
              <a:ea typeface="Times New Roman"/>
              <a:cs typeface="Times New Roman"/>
              <a:sym typeface="Times New Roman"/>
            </a:endParaRPr>
          </a:p>
          <a:p>
            <a:pPr marL="342900" indent="-342900">
              <a:lnSpc>
                <a:spcPct val="100000"/>
              </a:lnSpc>
              <a:spcBef>
                <a:spcPts val="432"/>
              </a:spcBef>
              <a:buClr>
                <a:schemeClr val="dk1"/>
              </a:buClr>
              <a:buSzPct val="100000"/>
              <a:buFont typeface="Arial"/>
              <a:buChar char="•"/>
            </a:pPr>
            <a:r>
              <a:rPr lang="en-US" sz="2400" b="1"/>
              <a:t>Notation: </a:t>
            </a:r>
            <a:r>
              <a:rPr lang="en-US" sz="2400" b="1" i="1"/>
              <a:t>r</a:t>
            </a:r>
            <a:r>
              <a:rPr lang="en-US" sz="2400" b="1"/>
              <a:t> ∩ </a:t>
            </a:r>
            <a:r>
              <a:rPr lang="en-US" sz="2400" b="1" i="1"/>
              <a:t>s</a:t>
            </a:r>
            <a:endParaRPr sz="2400" b="1"/>
          </a:p>
          <a:p>
            <a:pPr marL="342900" indent="-342900">
              <a:lnSpc>
                <a:spcPct val="100000"/>
              </a:lnSpc>
              <a:spcBef>
                <a:spcPts val="432"/>
              </a:spcBef>
              <a:buClr>
                <a:schemeClr val="dk1"/>
              </a:buClr>
              <a:buSzPct val="100000"/>
              <a:buFont typeface="Arial"/>
              <a:buChar char="•"/>
            </a:pPr>
            <a:r>
              <a:rPr lang="en-US" sz="2400" b="1"/>
              <a:t>Defined as:</a:t>
            </a:r>
            <a:endParaRPr sz="2400" b="1"/>
          </a:p>
          <a:p>
            <a:pPr marL="342900" indent="-342900">
              <a:lnSpc>
                <a:spcPct val="100000"/>
              </a:lnSpc>
              <a:spcBef>
                <a:spcPts val="432"/>
              </a:spcBef>
              <a:buClr>
                <a:schemeClr val="dk1"/>
              </a:buClr>
              <a:buSzPct val="100000"/>
              <a:buFont typeface="Arial"/>
              <a:buChar char="•"/>
            </a:pPr>
            <a:r>
              <a:rPr lang="en-US" sz="2400" b="1" i="1"/>
              <a:t>r</a:t>
            </a:r>
            <a:r>
              <a:rPr lang="en-US" sz="2400" b="1"/>
              <a:t> ∩ </a:t>
            </a:r>
            <a:r>
              <a:rPr lang="en-US" sz="2400" b="1" i="1"/>
              <a:t>s</a:t>
            </a:r>
            <a:r>
              <a:rPr lang="en-US" sz="2400" b="1"/>
              <a:t> ={ </a:t>
            </a:r>
            <a:r>
              <a:rPr lang="en-US" sz="2400" b="1" i="1"/>
              <a:t>t </a:t>
            </a:r>
            <a:r>
              <a:rPr lang="en-US" sz="2400" b="1"/>
              <a:t>| </a:t>
            </a:r>
            <a:r>
              <a:rPr lang="en-US" sz="2400" b="1" i="1"/>
              <a:t>t</a:t>
            </a:r>
            <a:r>
              <a:rPr lang="en-US" sz="2400" b="1"/>
              <a:t> ∈ </a:t>
            </a:r>
            <a:r>
              <a:rPr lang="en-US" sz="2400" b="1" i="1"/>
              <a:t>r</a:t>
            </a:r>
            <a:r>
              <a:rPr lang="en-US" sz="2400" b="1"/>
              <a:t> and </a:t>
            </a:r>
            <a:r>
              <a:rPr lang="en-US" sz="2400" b="1" i="1"/>
              <a:t>t</a:t>
            </a:r>
            <a:r>
              <a:rPr lang="en-US" sz="2400" b="1"/>
              <a:t> ∈ </a:t>
            </a:r>
            <a:r>
              <a:rPr lang="en-US" sz="2400" b="1" i="1"/>
              <a:t>s</a:t>
            </a:r>
            <a:r>
              <a:rPr lang="en-US" sz="2400" b="1"/>
              <a:t> }</a:t>
            </a:r>
            <a:endParaRPr sz="2400" b="1"/>
          </a:p>
          <a:p>
            <a:pPr marL="342900" indent="-342900">
              <a:lnSpc>
                <a:spcPct val="100000"/>
              </a:lnSpc>
              <a:spcBef>
                <a:spcPts val="432"/>
              </a:spcBef>
              <a:buClr>
                <a:schemeClr val="dk1"/>
              </a:buClr>
              <a:buSzPct val="100000"/>
              <a:buFont typeface="Arial"/>
              <a:buChar char="•"/>
            </a:pPr>
            <a:r>
              <a:rPr lang="en-US" sz="2400"/>
              <a:t>Assume: </a:t>
            </a:r>
            <a:endParaRPr sz="2400"/>
          </a:p>
          <a:p>
            <a:pPr marL="742950" lvl="1" indent="-285750">
              <a:lnSpc>
                <a:spcPct val="100000"/>
              </a:lnSpc>
              <a:spcBef>
                <a:spcPts val="432"/>
              </a:spcBef>
              <a:buClr>
                <a:schemeClr val="dk1"/>
              </a:buClr>
              <a:buSzPct val="100000"/>
              <a:buFont typeface="Arial"/>
              <a:buChar char="–"/>
            </a:pPr>
            <a:r>
              <a:rPr lang="en-US" i="1"/>
              <a:t>r</a:t>
            </a:r>
            <a:r>
              <a:rPr lang="en-US"/>
              <a:t>, </a:t>
            </a:r>
            <a:r>
              <a:rPr lang="en-US" i="1"/>
              <a:t>s</a:t>
            </a:r>
            <a:r>
              <a:rPr lang="en-US"/>
              <a:t> have the </a:t>
            </a:r>
            <a:r>
              <a:rPr lang="en-US" i="1"/>
              <a:t>same arity</a:t>
            </a:r>
            <a:r>
              <a:rPr lang="en-US"/>
              <a:t> </a:t>
            </a:r>
            <a:endParaRPr/>
          </a:p>
          <a:p>
            <a:pPr marL="742950" lvl="1" indent="-285750">
              <a:lnSpc>
                <a:spcPct val="100000"/>
              </a:lnSpc>
              <a:spcBef>
                <a:spcPts val="432"/>
              </a:spcBef>
              <a:buClr>
                <a:schemeClr val="dk1"/>
              </a:buClr>
              <a:buSzPct val="100000"/>
              <a:buFont typeface="Arial"/>
              <a:buChar char="–"/>
            </a:pPr>
            <a:r>
              <a:rPr lang="en-US"/>
              <a:t>attributes of r and s are compatible</a:t>
            </a:r>
            <a:endParaRPr/>
          </a:p>
          <a:p>
            <a:pPr marL="342900" indent="-342900">
              <a:lnSpc>
                <a:spcPct val="100000"/>
              </a:lnSpc>
              <a:spcBef>
                <a:spcPts val="432"/>
              </a:spcBef>
              <a:buClr>
                <a:schemeClr val="dk1"/>
              </a:buClr>
              <a:buSzPct val="100000"/>
              <a:buFont typeface="Arial"/>
              <a:buChar char="•"/>
            </a:pPr>
            <a:r>
              <a:rPr lang="en-US" sz="2400"/>
              <a:t>Note: </a:t>
            </a:r>
            <a:r>
              <a:rPr lang="en-US" sz="2400" i="1"/>
              <a:t>r</a:t>
            </a:r>
            <a:r>
              <a:rPr lang="en-US" sz="2400"/>
              <a:t> ∩ </a:t>
            </a:r>
            <a:r>
              <a:rPr lang="en-US" sz="2400" i="1"/>
              <a:t>s</a:t>
            </a:r>
            <a:r>
              <a:rPr lang="en-US" sz="2400"/>
              <a:t> = </a:t>
            </a:r>
            <a:r>
              <a:rPr lang="en-US" sz="2400" i="1"/>
              <a:t>r</a:t>
            </a:r>
            <a:r>
              <a:rPr lang="en-US" sz="2400"/>
              <a:t> - (</a:t>
            </a:r>
            <a:r>
              <a:rPr lang="en-US" sz="2400" i="1"/>
              <a:t>r</a:t>
            </a:r>
            <a:r>
              <a:rPr lang="en-US" sz="2400"/>
              <a:t> - </a:t>
            </a:r>
            <a:r>
              <a:rPr lang="en-US" sz="2400" i="1"/>
              <a:t>s</a:t>
            </a:r>
            <a:r>
              <a:rPr lang="en-US" sz="2400"/>
              <a:t>)</a:t>
            </a:r>
            <a:endParaRPr sz="2400">
              <a:latin typeface="Times New Roman"/>
              <a:ea typeface="Times New Roman"/>
              <a:cs typeface="Times New Roman"/>
              <a:sym typeface="Times New Roman"/>
            </a:endParaRPr>
          </a:p>
          <a:p>
            <a:pPr marL="342900" indent="-205740">
              <a:lnSpc>
                <a:spcPct val="100000"/>
              </a:lnSpc>
              <a:spcBef>
                <a:spcPts val="432"/>
              </a:spcBef>
              <a:buClr>
                <a:schemeClr val="dk1"/>
              </a:buClr>
              <a:buSzPct val="100000"/>
              <a:buNone/>
            </a:pPr>
            <a:endParaRPr sz="2400">
              <a:latin typeface="Times New Roman"/>
              <a:ea typeface="Times New Roman"/>
              <a:cs typeface="Times New Roman"/>
              <a:sym typeface="Times New Roman"/>
            </a:endParaRPr>
          </a:p>
          <a:p>
            <a:pPr marL="342900" indent="-342900">
              <a:lnSpc>
                <a:spcPct val="100000"/>
              </a:lnSpc>
              <a:spcBef>
                <a:spcPts val="432"/>
              </a:spcBef>
              <a:buClr>
                <a:schemeClr val="dk1"/>
              </a:buClr>
              <a:buSzPct val="100000"/>
              <a:buFont typeface="Times New Roman"/>
              <a:buChar char="•"/>
            </a:pPr>
            <a:r>
              <a:rPr lang="en-US" sz="2400">
                <a:latin typeface="Times New Roman"/>
                <a:ea typeface="Times New Roman"/>
                <a:cs typeface="Times New Roman"/>
                <a:sym typeface="Times New Roman"/>
              </a:rPr>
              <a:t>Using set intersection, we can write</a:t>
            </a:r>
            <a:endParaRPr sz="2400">
              <a:latin typeface="Times New Roman"/>
              <a:ea typeface="Times New Roman"/>
              <a:cs typeface="Times New Roman"/>
              <a:sym typeface="Times New Roman"/>
            </a:endParaRPr>
          </a:p>
          <a:p>
            <a:pPr marL="342900" indent="-205740">
              <a:lnSpc>
                <a:spcPct val="100000"/>
              </a:lnSpc>
              <a:spcBef>
                <a:spcPts val="432"/>
              </a:spcBef>
              <a:buClr>
                <a:schemeClr val="dk1"/>
              </a:buClr>
              <a:buSzPct val="100000"/>
              <a:buNone/>
            </a:pPr>
            <a:endParaRPr sz="2400">
              <a:latin typeface="Times New Roman"/>
              <a:ea typeface="Times New Roman"/>
              <a:cs typeface="Times New Roman"/>
              <a:sym typeface="Times New Roman"/>
            </a:endParaRPr>
          </a:p>
          <a:p>
            <a:pPr marL="342900" indent="-342900" algn="ctr">
              <a:lnSpc>
                <a:spcPct val="100000"/>
              </a:lnSpc>
              <a:spcBef>
                <a:spcPts val="432"/>
              </a:spcBef>
              <a:buClr>
                <a:schemeClr val="dk1"/>
              </a:buClr>
              <a:buSzPct val="100000"/>
              <a:buNone/>
            </a:pPr>
            <a:r>
              <a:rPr lang="en-US" sz="2400">
                <a:latin typeface="Times New Roman"/>
                <a:ea typeface="Times New Roman"/>
                <a:cs typeface="Times New Roman"/>
                <a:sym typeface="Times New Roman"/>
              </a:rPr>
              <a:t>Π</a:t>
            </a:r>
            <a:r>
              <a:rPr lang="en-US" sz="2400" baseline="-25000">
                <a:latin typeface="Times New Roman"/>
                <a:ea typeface="Times New Roman"/>
                <a:cs typeface="Times New Roman"/>
                <a:sym typeface="Times New Roman"/>
              </a:rPr>
              <a:t>customer_name</a:t>
            </a:r>
            <a:r>
              <a:rPr lang="en-US" sz="2400">
                <a:latin typeface="Times New Roman"/>
                <a:ea typeface="Times New Roman"/>
                <a:cs typeface="Times New Roman"/>
                <a:sym typeface="Times New Roman"/>
              </a:rPr>
              <a:t> (borrower ) ∩ Π</a:t>
            </a:r>
            <a:r>
              <a:rPr lang="en-US" sz="2400" baseline="-25000">
                <a:latin typeface="Times New Roman"/>
                <a:ea typeface="Times New Roman"/>
                <a:cs typeface="Times New Roman"/>
                <a:sym typeface="Times New Roman"/>
              </a:rPr>
              <a:t>customer_name</a:t>
            </a:r>
            <a:r>
              <a:rPr lang="en-US" sz="2400">
                <a:latin typeface="Times New Roman"/>
                <a:ea typeface="Times New Roman"/>
                <a:cs typeface="Times New Roman"/>
                <a:sym typeface="Times New Roman"/>
              </a:rPr>
              <a:t> (depositor)</a:t>
            </a:r>
            <a:endParaRPr sz="2400">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438"/>
        <p:cNvGrpSpPr/>
        <p:nvPr/>
      </p:nvGrpSpPr>
      <p:grpSpPr>
        <a:xfrm>
          <a:off x="0" y="0"/>
          <a:ext cx="0" cy="0"/>
          <a:chOff x="0" y="0"/>
          <a:chExt cx="0" cy="0"/>
        </a:xfrm>
      </p:grpSpPr>
      <p:sp>
        <p:nvSpPr>
          <p:cNvPr id="439" name="Google Shape;439;p37"/>
          <p:cNvSpPr txBox="1">
            <a:spLocks noGrp="1"/>
          </p:cNvSpPr>
          <p:nvPr>
            <p:ph type="title"/>
          </p:nvPr>
        </p:nvSpPr>
        <p:spPr>
          <a:xfrm>
            <a:off x="2209800" y="0"/>
            <a:ext cx="7772400" cy="1143000"/>
          </a:xfrm>
          <a:prstGeom prst="rect">
            <a:avLst/>
          </a:prstGeom>
          <a:noFill/>
          <a:ln>
            <a:noFill/>
          </a:ln>
        </p:spPr>
        <p:txBody>
          <a:bodyPr spcFirstLastPara="1" vert="horz" wrap="square" lIns="91425" tIns="45700" rIns="91425" bIns="45700" rtlCol="0" anchor="ctr" anchorCtr="0">
            <a:noAutofit/>
          </a:bodyPr>
          <a:lstStyle/>
          <a:p>
            <a:pPr algn="ctr">
              <a:lnSpc>
                <a:spcPct val="100000"/>
              </a:lnSpc>
              <a:spcBef>
                <a:spcPts val="0"/>
              </a:spcBef>
              <a:buClr>
                <a:schemeClr val="dk2"/>
              </a:buClr>
              <a:buSzPts val="3200"/>
            </a:pPr>
            <a:r>
              <a:rPr lang="en-US" sz="3200" b="1"/>
              <a:t>Set-Intersection Operation - Example</a:t>
            </a:r>
            <a:endParaRPr sz="3200" b="1"/>
          </a:p>
        </p:txBody>
      </p:sp>
      <p:sp>
        <p:nvSpPr>
          <p:cNvPr id="440" name="Google Shape;440;p37"/>
          <p:cNvSpPr txBox="1">
            <a:spLocks noGrp="1"/>
          </p:cNvSpPr>
          <p:nvPr>
            <p:ph type="body" idx="1"/>
          </p:nvPr>
        </p:nvSpPr>
        <p:spPr>
          <a:xfrm>
            <a:off x="1981200" y="1600201"/>
            <a:ext cx="8229600" cy="4525963"/>
          </a:xfrm>
          <a:prstGeom prst="rect">
            <a:avLst/>
          </a:prstGeom>
          <a:noFill/>
          <a:ln>
            <a:noFill/>
          </a:ln>
        </p:spPr>
        <p:txBody>
          <a:bodyPr spcFirstLastPara="1" vert="horz" wrap="square" lIns="91425" tIns="45700" rIns="91425" bIns="45700" rtlCol="0" anchor="t" anchorCtr="0">
            <a:noAutofit/>
          </a:bodyPr>
          <a:lstStyle/>
          <a:p>
            <a:pPr marL="342900" indent="-342900">
              <a:lnSpc>
                <a:spcPct val="100000"/>
              </a:lnSpc>
              <a:spcBef>
                <a:spcPts val="0"/>
              </a:spcBef>
              <a:buClr>
                <a:schemeClr val="dk1"/>
              </a:buClr>
              <a:buSzPts val="2400"/>
              <a:buFont typeface="Arial"/>
              <a:buChar char="•"/>
            </a:pPr>
            <a:r>
              <a:rPr lang="en-US" sz="2400"/>
              <a:t>Relation r, s</a:t>
            </a:r>
            <a:r>
              <a:rPr lang="en-US"/>
              <a:t>:</a:t>
            </a:r>
            <a:endParaRPr/>
          </a:p>
          <a:p>
            <a:pPr marL="342900" indent="-139700">
              <a:lnSpc>
                <a:spcPct val="100000"/>
              </a:lnSpc>
              <a:spcBef>
                <a:spcPts val="640"/>
              </a:spcBef>
              <a:buClr>
                <a:schemeClr val="dk1"/>
              </a:buClr>
              <a:buSzPts val="3200"/>
              <a:buNone/>
            </a:pPr>
            <a:endParaRPr/>
          </a:p>
          <a:p>
            <a:pPr marL="342900" indent="-139700">
              <a:lnSpc>
                <a:spcPct val="100000"/>
              </a:lnSpc>
              <a:spcBef>
                <a:spcPts val="640"/>
              </a:spcBef>
              <a:buClr>
                <a:schemeClr val="dk1"/>
              </a:buClr>
              <a:buSzPts val="3200"/>
              <a:buNone/>
            </a:pPr>
            <a:endParaRPr/>
          </a:p>
          <a:p>
            <a:pPr marL="342900" indent="-342900">
              <a:lnSpc>
                <a:spcPct val="100000"/>
              </a:lnSpc>
              <a:spcBef>
                <a:spcPts val="640"/>
              </a:spcBef>
              <a:buClr>
                <a:schemeClr val="dk1"/>
              </a:buClr>
              <a:buSzPts val="3200"/>
              <a:buNone/>
            </a:pPr>
            <a:endParaRPr/>
          </a:p>
          <a:p>
            <a:pPr marL="342900" indent="-342900">
              <a:lnSpc>
                <a:spcPct val="100000"/>
              </a:lnSpc>
              <a:spcBef>
                <a:spcPts val="640"/>
              </a:spcBef>
              <a:buClr>
                <a:schemeClr val="dk1"/>
              </a:buClr>
              <a:buSzPts val="3200"/>
              <a:buFont typeface="Arial"/>
              <a:buChar char="•"/>
            </a:pPr>
            <a:r>
              <a:rPr lang="en-US"/>
              <a:t>r ∩ s</a:t>
            </a:r>
            <a:endParaRPr/>
          </a:p>
        </p:txBody>
      </p:sp>
      <p:sp>
        <p:nvSpPr>
          <p:cNvPr id="441" name="Google Shape;441;p37"/>
          <p:cNvSpPr/>
          <p:nvPr/>
        </p:nvSpPr>
        <p:spPr>
          <a:xfrm>
            <a:off x="4572001" y="1752600"/>
            <a:ext cx="1046163" cy="43815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endParaRPr>
              <a:solidFill>
                <a:schemeClr val="dk1"/>
              </a:solidFill>
              <a:latin typeface="Times New Roman"/>
              <a:ea typeface="Times New Roman"/>
              <a:cs typeface="Times New Roman"/>
              <a:sym typeface="Times New Roman"/>
            </a:endParaRPr>
          </a:p>
        </p:txBody>
      </p:sp>
      <p:sp>
        <p:nvSpPr>
          <p:cNvPr id="442" name="Google Shape;442;p37"/>
          <p:cNvSpPr txBox="1"/>
          <p:nvPr/>
        </p:nvSpPr>
        <p:spPr>
          <a:xfrm>
            <a:off x="4572000" y="1828801"/>
            <a:ext cx="933450" cy="366713"/>
          </a:xfrm>
          <a:prstGeom prst="rect">
            <a:avLst/>
          </a:prstGeom>
          <a:noFill/>
          <a:ln>
            <a:noFill/>
          </a:ln>
        </p:spPr>
        <p:txBody>
          <a:bodyPr spcFirstLastPara="1" wrap="square" lIns="91425" tIns="45700" rIns="91425" bIns="45700" anchor="t" anchorCtr="0">
            <a:spAutoFit/>
          </a:bodyPr>
          <a:lstStyle/>
          <a:p>
            <a:pPr algn="ctr"/>
            <a:r>
              <a:rPr lang="en-US">
                <a:solidFill>
                  <a:schemeClr val="dk1"/>
                </a:solidFill>
                <a:latin typeface="Helvetica Neue"/>
                <a:ea typeface="Helvetica Neue"/>
                <a:cs typeface="Helvetica Neue"/>
                <a:sym typeface="Helvetica Neue"/>
              </a:rPr>
              <a:t>A       B</a:t>
            </a:r>
            <a:endParaRPr>
              <a:solidFill>
                <a:schemeClr val="dk1"/>
              </a:solidFill>
              <a:latin typeface="Helvetica Neue"/>
              <a:ea typeface="Helvetica Neue"/>
              <a:cs typeface="Helvetica Neue"/>
              <a:sym typeface="Helvetica Neue"/>
            </a:endParaRPr>
          </a:p>
        </p:txBody>
      </p:sp>
      <p:cxnSp>
        <p:nvCxnSpPr>
          <p:cNvPr id="443" name="Google Shape;443;p37"/>
          <p:cNvCxnSpPr/>
          <p:nvPr/>
        </p:nvCxnSpPr>
        <p:spPr>
          <a:xfrm>
            <a:off x="5029200" y="1752601"/>
            <a:ext cx="0" cy="422275"/>
          </a:xfrm>
          <a:prstGeom prst="straightConnector1">
            <a:avLst/>
          </a:prstGeom>
          <a:noFill/>
          <a:ln w="9525" cap="flat" cmpd="sng">
            <a:solidFill>
              <a:schemeClr val="dk1"/>
            </a:solidFill>
            <a:prstDash val="solid"/>
            <a:round/>
            <a:headEnd type="none" w="sm" len="sm"/>
            <a:tailEnd type="none" w="sm" len="sm"/>
          </a:ln>
        </p:spPr>
      </p:cxnSp>
      <p:sp>
        <p:nvSpPr>
          <p:cNvPr id="444" name="Google Shape;444;p37"/>
          <p:cNvSpPr/>
          <p:nvPr/>
        </p:nvSpPr>
        <p:spPr>
          <a:xfrm>
            <a:off x="4572001" y="2209801"/>
            <a:ext cx="1046163" cy="968375"/>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endParaRPr>
              <a:solidFill>
                <a:schemeClr val="dk1"/>
              </a:solidFill>
              <a:latin typeface="Times New Roman"/>
              <a:ea typeface="Times New Roman"/>
              <a:cs typeface="Times New Roman"/>
              <a:sym typeface="Times New Roman"/>
            </a:endParaRPr>
          </a:p>
        </p:txBody>
      </p:sp>
      <p:cxnSp>
        <p:nvCxnSpPr>
          <p:cNvPr id="445" name="Google Shape;445;p37"/>
          <p:cNvCxnSpPr/>
          <p:nvPr/>
        </p:nvCxnSpPr>
        <p:spPr>
          <a:xfrm>
            <a:off x="5029200" y="2209800"/>
            <a:ext cx="1588" cy="952500"/>
          </a:xfrm>
          <a:prstGeom prst="straightConnector1">
            <a:avLst/>
          </a:prstGeom>
          <a:noFill/>
          <a:ln w="9525" cap="flat" cmpd="sng">
            <a:solidFill>
              <a:schemeClr val="dk1"/>
            </a:solidFill>
            <a:prstDash val="solid"/>
            <a:round/>
            <a:headEnd type="none" w="sm" len="sm"/>
            <a:tailEnd type="none" w="sm" len="sm"/>
          </a:ln>
        </p:spPr>
      </p:cxnSp>
      <p:sp>
        <p:nvSpPr>
          <p:cNvPr id="446" name="Google Shape;446;p37"/>
          <p:cNvSpPr txBox="1"/>
          <p:nvPr/>
        </p:nvSpPr>
        <p:spPr>
          <a:xfrm>
            <a:off x="4648201" y="2209800"/>
            <a:ext cx="328613" cy="915988"/>
          </a:xfrm>
          <a:prstGeom prst="rect">
            <a:avLst/>
          </a:prstGeom>
          <a:noFill/>
          <a:ln>
            <a:noFill/>
          </a:ln>
        </p:spPr>
        <p:txBody>
          <a:bodyPr spcFirstLastPara="1" wrap="square" lIns="91425" tIns="45700" rIns="91425" bIns="45700" anchor="t" anchorCtr="0">
            <a:spAutoFit/>
          </a:bodyPr>
          <a:lstStyle/>
          <a:p>
            <a:pPr algn="ctr"/>
            <a:r>
              <a:rPr lang="en-US">
                <a:solidFill>
                  <a:schemeClr val="dk1"/>
                </a:solidFill>
                <a:latin typeface="Helvetica Neue"/>
                <a:ea typeface="Helvetica Neue"/>
                <a:cs typeface="Helvetica Neue"/>
                <a:sym typeface="Helvetica Neue"/>
              </a:rPr>
              <a:t>α</a:t>
            </a:r>
            <a:endParaRPr>
              <a:solidFill>
                <a:schemeClr val="dk1"/>
              </a:solidFill>
              <a:latin typeface="Helvetica Neue"/>
              <a:ea typeface="Helvetica Neue"/>
              <a:cs typeface="Helvetica Neue"/>
              <a:sym typeface="Helvetica Neue"/>
            </a:endParaRPr>
          </a:p>
          <a:p>
            <a:pPr algn="ctr"/>
            <a:r>
              <a:rPr lang="en-US">
                <a:solidFill>
                  <a:schemeClr val="dk1"/>
                </a:solidFill>
                <a:latin typeface="Helvetica Neue"/>
                <a:ea typeface="Helvetica Neue"/>
                <a:cs typeface="Helvetica Neue"/>
                <a:sym typeface="Helvetica Neue"/>
              </a:rPr>
              <a:t>α</a:t>
            </a:r>
            <a:endParaRPr>
              <a:solidFill>
                <a:schemeClr val="dk1"/>
              </a:solidFill>
              <a:latin typeface="Helvetica Neue"/>
              <a:ea typeface="Helvetica Neue"/>
              <a:cs typeface="Helvetica Neue"/>
              <a:sym typeface="Helvetica Neue"/>
            </a:endParaRPr>
          </a:p>
          <a:p>
            <a:pPr algn="ctr"/>
            <a:r>
              <a:rPr lang="en-US">
                <a:solidFill>
                  <a:schemeClr val="dk1"/>
                </a:solidFill>
                <a:latin typeface="Helvetica Neue"/>
                <a:ea typeface="Helvetica Neue"/>
                <a:cs typeface="Helvetica Neue"/>
                <a:sym typeface="Helvetica Neue"/>
              </a:rPr>
              <a:t>β</a:t>
            </a:r>
            <a:endParaRPr>
              <a:solidFill>
                <a:schemeClr val="dk1"/>
              </a:solidFill>
              <a:latin typeface="Helvetica Neue"/>
              <a:ea typeface="Helvetica Neue"/>
              <a:cs typeface="Helvetica Neue"/>
              <a:sym typeface="Helvetica Neue"/>
            </a:endParaRPr>
          </a:p>
        </p:txBody>
      </p:sp>
      <p:sp>
        <p:nvSpPr>
          <p:cNvPr id="447" name="Google Shape;447;p37"/>
          <p:cNvSpPr txBox="1"/>
          <p:nvPr/>
        </p:nvSpPr>
        <p:spPr>
          <a:xfrm>
            <a:off x="5105400" y="2209800"/>
            <a:ext cx="311150" cy="915988"/>
          </a:xfrm>
          <a:prstGeom prst="rect">
            <a:avLst/>
          </a:prstGeom>
          <a:noFill/>
          <a:ln>
            <a:noFill/>
          </a:ln>
        </p:spPr>
        <p:txBody>
          <a:bodyPr spcFirstLastPara="1" wrap="square" lIns="91425" tIns="45700" rIns="91425" bIns="45700" anchor="t" anchorCtr="0">
            <a:spAutoFit/>
          </a:bodyPr>
          <a:lstStyle/>
          <a:p>
            <a:pPr algn="ctr"/>
            <a:r>
              <a:rPr lang="en-US">
                <a:solidFill>
                  <a:schemeClr val="dk1"/>
                </a:solidFill>
                <a:latin typeface="Helvetica Neue"/>
                <a:ea typeface="Helvetica Neue"/>
                <a:cs typeface="Helvetica Neue"/>
                <a:sym typeface="Helvetica Neue"/>
              </a:rPr>
              <a:t>1</a:t>
            </a:r>
            <a:endParaRPr>
              <a:solidFill>
                <a:schemeClr val="dk1"/>
              </a:solidFill>
              <a:latin typeface="Helvetica Neue"/>
              <a:ea typeface="Helvetica Neue"/>
              <a:cs typeface="Helvetica Neue"/>
              <a:sym typeface="Helvetica Neue"/>
            </a:endParaRPr>
          </a:p>
          <a:p>
            <a:pPr algn="ctr"/>
            <a:r>
              <a:rPr lang="en-US">
                <a:solidFill>
                  <a:schemeClr val="dk1"/>
                </a:solidFill>
                <a:latin typeface="Helvetica Neue"/>
                <a:ea typeface="Helvetica Neue"/>
                <a:cs typeface="Helvetica Neue"/>
                <a:sym typeface="Helvetica Neue"/>
              </a:rPr>
              <a:t>2</a:t>
            </a:r>
            <a:endParaRPr>
              <a:solidFill>
                <a:schemeClr val="dk1"/>
              </a:solidFill>
              <a:latin typeface="Helvetica Neue"/>
              <a:ea typeface="Helvetica Neue"/>
              <a:cs typeface="Helvetica Neue"/>
              <a:sym typeface="Helvetica Neue"/>
            </a:endParaRPr>
          </a:p>
          <a:p>
            <a:pPr algn="ctr"/>
            <a:r>
              <a:rPr lang="en-US">
                <a:solidFill>
                  <a:schemeClr val="dk1"/>
                </a:solidFill>
                <a:latin typeface="Helvetica Neue"/>
                <a:ea typeface="Helvetica Neue"/>
                <a:cs typeface="Helvetica Neue"/>
                <a:sym typeface="Helvetica Neue"/>
              </a:rPr>
              <a:t>1</a:t>
            </a:r>
            <a:endParaRPr>
              <a:solidFill>
                <a:schemeClr val="dk1"/>
              </a:solidFill>
              <a:latin typeface="Helvetica Neue"/>
              <a:ea typeface="Helvetica Neue"/>
              <a:cs typeface="Helvetica Neue"/>
              <a:sym typeface="Helvetica Neue"/>
            </a:endParaRPr>
          </a:p>
        </p:txBody>
      </p:sp>
      <p:sp>
        <p:nvSpPr>
          <p:cNvPr id="448" name="Google Shape;448;p37"/>
          <p:cNvSpPr/>
          <p:nvPr/>
        </p:nvSpPr>
        <p:spPr>
          <a:xfrm>
            <a:off x="6400801" y="1981200"/>
            <a:ext cx="1046163" cy="43815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endParaRPr>
              <a:solidFill>
                <a:schemeClr val="dk1"/>
              </a:solidFill>
              <a:latin typeface="Times New Roman"/>
              <a:ea typeface="Times New Roman"/>
              <a:cs typeface="Times New Roman"/>
              <a:sym typeface="Times New Roman"/>
            </a:endParaRPr>
          </a:p>
        </p:txBody>
      </p:sp>
      <p:sp>
        <p:nvSpPr>
          <p:cNvPr id="449" name="Google Shape;449;p37"/>
          <p:cNvSpPr txBox="1"/>
          <p:nvPr/>
        </p:nvSpPr>
        <p:spPr>
          <a:xfrm>
            <a:off x="6400800" y="2057401"/>
            <a:ext cx="933450" cy="366713"/>
          </a:xfrm>
          <a:prstGeom prst="rect">
            <a:avLst/>
          </a:prstGeom>
          <a:noFill/>
          <a:ln>
            <a:noFill/>
          </a:ln>
        </p:spPr>
        <p:txBody>
          <a:bodyPr spcFirstLastPara="1" wrap="square" lIns="91425" tIns="45700" rIns="91425" bIns="45700" anchor="t" anchorCtr="0">
            <a:spAutoFit/>
          </a:bodyPr>
          <a:lstStyle/>
          <a:p>
            <a:pPr algn="ctr"/>
            <a:r>
              <a:rPr lang="en-US">
                <a:solidFill>
                  <a:schemeClr val="dk1"/>
                </a:solidFill>
                <a:latin typeface="Helvetica Neue"/>
                <a:ea typeface="Helvetica Neue"/>
                <a:cs typeface="Helvetica Neue"/>
                <a:sym typeface="Helvetica Neue"/>
              </a:rPr>
              <a:t>A       B</a:t>
            </a:r>
            <a:endParaRPr>
              <a:solidFill>
                <a:schemeClr val="dk1"/>
              </a:solidFill>
              <a:latin typeface="Helvetica Neue"/>
              <a:ea typeface="Helvetica Neue"/>
              <a:cs typeface="Helvetica Neue"/>
              <a:sym typeface="Helvetica Neue"/>
            </a:endParaRPr>
          </a:p>
        </p:txBody>
      </p:sp>
      <p:cxnSp>
        <p:nvCxnSpPr>
          <p:cNvPr id="450" name="Google Shape;450;p37"/>
          <p:cNvCxnSpPr/>
          <p:nvPr/>
        </p:nvCxnSpPr>
        <p:spPr>
          <a:xfrm>
            <a:off x="6934200" y="1981201"/>
            <a:ext cx="0" cy="422275"/>
          </a:xfrm>
          <a:prstGeom prst="straightConnector1">
            <a:avLst/>
          </a:prstGeom>
          <a:noFill/>
          <a:ln w="9525" cap="flat" cmpd="sng">
            <a:solidFill>
              <a:schemeClr val="dk1"/>
            </a:solidFill>
            <a:prstDash val="solid"/>
            <a:round/>
            <a:headEnd type="none" w="sm" len="sm"/>
            <a:tailEnd type="none" w="sm" len="sm"/>
          </a:ln>
        </p:spPr>
      </p:cxnSp>
      <p:sp>
        <p:nvSpPr>
          <p:cNvPr id="451" name="Google Shape;451;p37"/>
          <p:cNvSpPr/>
          <p:nvPr/>
        </p:nvSpPr>
        <p:spPr>
          <a:xfrm>
            <a:off x="6400801" y="2438401"/>
            <a:ext cx="1046163" cy="701675"/>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endParaRPr>
              <a:solidFill>
                <a:schemeClr val="dk1"/>
              </a:solidFill>
              <a:latin typeface="Times New Roman"/>
              <a:ea typeface="Times New Roman"/>
              <a:cs typeface="Times New Roman"/>
              <a:sym typeface="Times New Roman"/>
            </a:endParaRPr>
          </a:p>
        </p:txBody>
      </p:sp>
      <p:cxnSp>
        <p:nvCxnSpPr>
          <p:cNvPr id="452" name="Google Shape;452;p37"/>
          <p:cNvCxnSpPr/>
          <p:nvPr/>
        </p:nvCxnSpPr>
        <p:spPr>
          <a:xfrm>
            <a:off x="6934200" y="2438400"/>
            <a:ext cx="1588" cy="685800"/>
          </a:xfrm>
          <a:prstGeom prst="straightConnector1">
            <a:avLst/>
          </a:prstGeom>
          <a:noFill/>
          <a:ln w="9525" cap="flat" cmpd="sng">
            <a:solidFill>
              <a:schemeClr val="dk1"/>
            </a:solidFill>
            <a:prstDash val="solid"/>
            <a:round/>
            <a:headEnd type="none" w="sm" len="sm"/>
            <a:tailEnd type="none" w="sm" len="sm"/>
          </a:ln>
        </p:spPr>
      </p:cxnSp>
      <p:sp>
        <p:nvSpPr>
          <p:cNvPr id="453" name="Google Shape;453;p37"/>
          <p:cNvSpPr txBox="1"/>
          <p:nvPr/>
        </p:nvSpPr>
        <p:spPr>
          <a:xfrm>
            <a:off x="6477001" y="2438400"/>
            <a:ext cx="328613" cy="641350"/>
          </a:xfrm>
          <a:prstGeom prst="rect">
            <a:avLst/>
          </a:prstGeom>
          <a:noFill/>
          <a:ln>
            <a:noFill/>
          </a:ln>
        </p:spPr>
        <p:txBody>
          <a:bodyPr spcFirstLastPara="1" wrap="square" lIns="91425" tIns="45700" rIns="91425" bIns="45700" anchor="t" anchorCtr="0">
            <a:spAutoFit/>
          </a:bodyPr>
          <a:lstStyle/>
          <a:p>
            <a:pPr algn="ctr"/>
            <a:r>
              <a:rPr lang="en-US">
                <a:solidFill>
                  <a:schemeClr val="dk1"/>
                </a:solidFill>
                <a:latin typeface="Helvetica Neue"/>
                <a:ea typeface="Helvetica Neue"/>
                <a:cs typeface="Helvetica Neue"/>
                <a:sym typeface="Helvetica Neue"/>
              </a:rPr>
              <a:t>α</a:t>
            </a:r>
            <a:endParaRPr>
              <a:solidFill>
                <a:schemeClr val="dk1"/>
              </a:solidFill>
              <a:latin typeface="Helvetica Neue"/>
              <a:ea typeface="Helvetica Neue"/>
              <a:cs typeface="Helvetica Neue"/>
              <a:sym typeface="Helvetica Neue"/>
            </a:endParaRPr>
          </a:p>
          <a:p>
            <a:pPr algn="ctr"/>
            <a:r>
              <a:rPr lang="en-US">
                <a:solidFill>
                  <a:schemeClr val="dk1"/>
                </a:solidFill>
                <a:latin typeface="Helvetica Neue"/>
                <a:ea typeface="Helvetica Neue"/>
                <a:cs typeface="Helvetica Neue"/>
                <a:sym typeface="Helvetica Neue"/>
              </a:rPr>
              <a:t>β</a:t>
            </a:r>
            <a:endParaRPr>
              <a:solidFill>
                <a:schemeClr val="dk1"/>
              </a:solidFill>
              <a:latin typeface="Helvetica Neue"/>
              <a:ea typeface="Helvetica Neue"/>
              <a:cs typeface="Helvetica Neue"/>
              <a:sym typeface="Helvetica Neue"/>
            </a:endParaRPr>
          </a:p>
        </p:txBody>
      </p:sp>
      <p:sp>
        <p:nvSpPr>
          <p:cNvPr id="454" name="Google Shape;454;p37"/>
          <p:cNvSpPr txBox="1"/>
          <p:nvPr/>
        </p:nvSpPr>
        <p:spPr>
          <a:xfrm>
            <a:off x="7010400" y="2438400"/>
            <a:ext cx="311150" cy="641350"/>
          </a:xfrm>
          <a:prstGeom prst="rect">
            <a:avLst/>
          </a:prstGeom>
          <a:noFill/>
          <a:ln>
            <a:noFill/>
          </a:ln>
        </p:spPr>
        <p:txBody>
          <a:bodyPr spcFirstLastPara="1" wrap="square" lIns="91425" tIns="45700" rIns="91425" bIns="45700" anchor="t" anchorCtr="0">
            <a:spAutoFit/>
          </a:bodyPr>
          <a:lstStyle/>
          <a:p>
            <a:pPr algn="ctr"/>
            <a:r>
              <a:rPr lang="en-US">
                <a:solidFill>
                  <a:schemeClr val="dk1"/>
                </a:solidFill>
                <a:latin typeface="Helvetica Neue"/>
                <a:ea typeface="Helvetica Neue"/>
                <a:cs typeface="Helvetica Neue"/>
                <a:sym typeface="Helvetica Neue"/>
              </a:rPr>
              <a:t>2</a:t>
            </a:r>
            <a:endParaRPr>
              <a:solidFill>
                <a:schemeClr val="dk1"/>
              </a:solidFill>
              <a:latin typeface="Helvetica Neue"/>
              <a:ea typeface="Helvetica Neue"/>
              <a:cs typeface="Helvetica Neue"/>
              <a:sym typeface="Helvetica Neue"/>
            </a:endParaRPr>
          </a:p>
          <a:p>
            <a:pPr algn="ctr"/>
            <a:r>
              <a:rPr lang="en-US">
                <a:solidFill>
                  <a:schemeClr val="dk1"/>
                </a:solidFill>
                <a:latin typeface="Helvetica Neue"/>
                <a:ea typeface="Helvetica Neue"/>
                <a:cs typeface="Helvetica Neue"/>
                <a:sym typeface="Helvetica Neue"/>
              </a:rPr>
              <a:t>3</a:t>
            </a:r>
            <a:endParaRPr>
              <a:solidFill>
                <a:schemeClr val="dk1"/>
              </a:solidFill>
              <a:latin typeface="Helvetica Neue"/>
              <a:ea typeface="Helvetica Neue"/>
              <a:cs typeface="Helvetica Neue"/>
              <a:sym typeface="Helvetica Neue"/>
            </a:endParaRPr>
          </a:p>
        </p:txBody>
      </p:sp>
      <p:sp>
        <p:nvSpPr>
          <p:cNvPr id="455" name="Google Shape;455;p37"/>
          <p:cNvSpPr txBox="1"/>
          <p:nvPr/>
        </p:nvSpPr>
        <p:spPr>
          <a:xfrm>
            <a:off x="5105400" y="3244851"/>
            <a:ext cx="260350" cy="366713"/>
          </a:xfrm>
          <a:prstGeom prst="rect">
            <a:avLst/>
          </a:prstGeom>
          <a:noFill/>
          <a:ln>
            <a:noFill/>
          </a:ln>
        </p:spPr>
        <p:txBody>
          <a:bodyPr spcFirstLastPara="1" wrap="square" lIns="91425" tIns="45700" rIns="91425" bIns="45700" anchor="t" anchorCtr="0">
            <a:spAutoFit/>
          </a:bodyPr>
          <a:lstStyle/>
          <a:p>
            <a:pPr algn="ctr"/>
            <a:r>
              <a:rPr lang="en-US" i="1">
                <a:solidFill>
                  <a:schemeClr val="dk1"/>
                </a:solidFill>
                <a:latin typeface="Helvetica Neue"/>
                <a:ea typeface="Helvetica Neue"/>
                <a:cs typeface="Helvetica Neue"/>
                <a:sym typeface="Helvetica Neue"/>
              </a:rPr>
              <a:t>r</a:t>
            </a:r>
            <a:endParaRPr>
              <a:solidFill>
                <a:schemeClr val="dk1"/>
              </a:solidFill>
              <a:latin typeface="Helvetica Neue"/>
              <a:ea typeface="Helvetica Neue"/>
              <a:cs typeface="Helvetica Neue"/>
              <a:sym typeface="Helvetica Neue"/>
            </a:endParaRPr>
          </a:p>
        </p:txBody>
      </p:sp>
      <p:sp>
        <p:nvSpPr>
          <p:cNvPr id="456" name="Google Shape;456;p37"/>
          <p:cNvSpPr txBox="1"/>
          <p:nvPr/>
        </p:nvSpPr>
        <p:spPr>
          <a:xfrm>
            <a:off x="6781800" y="3244851"/>
            <a:ext cx="298450" cy="366713"/>
          </a:xfrm>
          <a:prstGeom prst="rect">
            <a:avLst/>
          </a:prstGeom>
          <a:noFill/>
          <a:ln>
            <a:noFill/>
          </a:ln>
        </p:spPr>
        <p:txBody>
          <a:bodyPr spcFirstLastPara="1" wrap="square" lIns="91425" tIns="45700" rIns="91425" bIns="45700" anchor="t" anchorCtr="0">
            <a:spAutoFit/>
          </a:bodyPr>
          <a:lstStyle/>
          <a:p>
            <a:pPr algn="ctr"/>
            <a:r>
              <a:rPr lang="en-US" i="1">
                <a:solidFill>
                  <a:schemeClr val="dk1"/>
                </a:solidFill>
                <a:latin typeface="Helvetica Neue"/>
                <a:ea typeface="Helvetica Neue"/>
                <a:cs typeface="Helvetica Neue"/>
                <a:sym typeface="Helvetica Neue"/>
              </a:rPr>
              <a:t>s</a:t>
            </a:r>
            <a:endParaRPr>
              <a:solidFill>
                <a:schemeClr val="dk1"/>
              </a:solidFill>
              <a:latin typeface="Helvetica Neue"/>
              <a:ea typeface="Helvetica Neue"/>
              <a:cs typeface="Helvetica Neue"/>
              <a:sym typeface="Helvetica Neue"/>
            </a:endParaRPr>
          </a:p>
        </p:txBody>
      </p:sp>
      <p:sp>
        <p:nvSpPr>
          <p:cNvPr id="457" name="Google Shape;457;p37"/>
          <p:cNvSpPr/>
          <p:nvPr/>
        </p:nvSpPr>
        <p:spPr>
          <a:xfrm>
            <a:off x="5334001" y="4572000"/>
            <a:ext cx="1046163" cy="43815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endParaRPr>
              <a:solidFill>
                <a:schemeClr val="dk1"/>
              </a:solidFill>
              <a:latin typeface="Times New Roman"/>
              <a:ea typeface="Times New Roman"/>
              <a:cs typeface="Times New Roman"/>
              <a:sym typeface="Times New Roman"/>
            </a:endParaRPr>
          </a:p>
        </p:txBody>
      </p:sp>
      <p:sp>
        <p:nvSpPr>
          <p:cNvPr id="458" name="Google Shape;458;p37"/>
          <p:cNvSpPr txBox="1"/>
          <p:nvPr/>
        </p:nvSpPr>
        <p:spPr>
          <a:xfrm>
            <a:off x="5410200" y="4648201"/>
            <a:ext cx="933450" cy="366713"/>
          </a:xfrm>
          <a:prstGeom prst="rect">
            <a:avLst/>
          </a:prstGeom>
          <a:noFill/>
          <a:ln>
            <a:noFill/>
          </a:ln>
        </p:spPr>
        <p:txBody>
          <a:bodyPr spcFirstLastPara="1" wrap="square" lIns="91425" tIns="45700" rIns="91425" bIns="45700" anchor="t" anchorCtr="0">
            <a:spAutoFit/>
          </a:bodyPr>
          <a:lstStyle/>
          <a:p>
            <a:pPr algn="ctr"/>
            <a:r>
              <a:rPr lang="en-US">
                <a:solidFill>
                  <a:schemeClr val="dk1"/>
                </a:solidFill>
                <a:latin typeface="Helvetica Neue"/>
                <a:ea typeface="Helvetica Neue"/>
                <a:cs typeface="Helvetica Neue"/>
                <a:sym typeface="Helvetica Neue"/>
              </a:rPr>
              <a:t>A       B</a:t>
            </a:r>
            <a:endParaRPr>
              <a:solidFill>
                <a:schemeClr val="dk1"/>
              </a:solidFill>
              <a:latin typeface="Helvetica Neue"/>
              <a:ea typeface="Helvetica Neue"/>
              <a:cs typeface="Helvetica Neue"/>
              <a:sym typeface="Helvetica Neue"/>
            </a:endParaRPr>
          </a:p>
        </p:txBody>
      </p:sp>
      <p:cxnSp>
        <p:nvCxnSpPr>
          <p:cNvPr id="459" name="Google Shape;459;p37"/>
          <p:cNvCxnSpPr/>
          <p:nvPr/>
        </p:nvCxnSpPr>
        <p:spPr>
          <a:xfrm>
            <a:off x="5867400" y="4572001"/>
            <a:ext cx="0" cy="422275"/>
          </a:xfrm>
          <a:prstGeom prst="straightConnector1">
            <a:avLst/>
          </a:prstGeom>
          <a:noFill/>
          <a:ln w="9525" cap="flat" cmpd="sng">
            <a:solidFill>
              <a:schemeClr val="dk1"/>
            </a:solidFill>
            <a:prstDash val="solid"/>
            <a:round/>
            <a:headEnd type="none" w="sm" len="sm"/>
            <a:tailEnd type="none" w="sm" len="sm"/>
          </a:ln>
        </p:spPr>
      </p:cxnSp>
      <p:sp>
        <p:nvSpPr>
          <p:cNvPr id="460" name="Google Shape;460;p37"/>
          <p:cNvSpPr/>
          <p:nvPr/>
        </p:nvSpPr>
        <p:spPr>
          <a:xfrm>
            <a:off x="5334001" y="5029200"/>
            <a:ext cx="1046163" cy="43815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endParaRPr>
              <a:solidFill>
                <a:schemeClr val="dk1"/>
              </a:solidFill>
              <a:latin typeface="Times New Roman"/>
              <a:ea typeface="Times New Roman"/>
              <a:cs typeface="Times New Roman"/>
              <a:sym typeface="Times New Roman"/>
            </a:endParaRPr>
          </a:p>
        </p:txBody>
      </p:sp>
      <p:sp>
        <p:nvSpPr>
          <p:cNvPr id="461" name="Google Shape;461;p37"/>
          <p:cNvSpPr txBox="1"/>
          <p:nvPr/>
        </p:nvSpPr>
        <p:spPr>
          <a:xfrm>
            <a:off x="5410201" y="5029201"/>
            <a:ext cx="836613" cy="366713"/>
          </a:xfrm>
          <a:prstGeom prst="rect">
            <a:avLst/>
          </a:prstGeom>
          <a:noFill/>
          <a:ln>
            <a:noFill/>
          </a:ln>
        </p:spPr>
        <p:txBody>
          <a:bodyPr spcFirstLastPara="1" wrap="square" lIns="91425" tIns="45700" rIns="91425" bIns="45700" anchor="t" anchorCtr="0">
            <a:spAutoFit/>
          </a:bodyPr>
          <a:lstStyle/>
          <a:p>
            <a:pPr algn="ctr"/>
            <a:r>
              <a:rPr lang="en-US">
                <a:solidFill>
                  <a:schemeClr val="dk1"/>
                </a:solidFill>
                <a:latin typeface="Helvetica Neue"/>
                <a:ea typeface="Helvetica Neue"/>
                <a:cs typeface="Helvetica Neue"/>
                <a:sym typeface="Helvetica Neue"/>
              </a:rPr>
              <a:t>α      2</a:t>
            </a:r>
            <a:endParaRPr>
              <a:solidFill>
                <a:schemeClr val="dk1"/>
              </a:solidFill>
              <a:latin typeface="Helvetica Neue"/>
              <a:ea typeface="Helvetica Neue"/>
              <a:cs typeface="Helvetica Neue"/>
              <a:sym typeface="Helvetica Neue"/>
            </a:endParaRPr>
          </a:p>
        </p:txBody>
      </p:sp>
      <p:cxnSp>
        <p:nvCxnSpPr>
          <p:cNvPr id="462" name="Google Shape;462;p37"/>
          <p:cNvCxnSpPr/>
          <p:nvPr/>
        </p:nvCxnSpPr>
        <p:spPr>
          <a:xfrm>
            <a:off x="5867400" y="5029201"/>
            <a:ext cx="0" cy="422275"/>
          </a:xfrm>
          <a:prstGeom prst="straightConnector1">
            <a:avLst/>
          </a:prstGeom>
          <a:noFill/>
          <a:ln w="9525" cap="flat" cmpd="sng">
            <a:solidFill>
              <a:schemeClr val="dk1"/>
            </a:solidFill>
            <a:prstDash val="solid"/>
            <a:round/>
            <a:headEnd type="none" w="sm" len="sm"/>
            <a:tailEnd type="none" w="sm" len="sm"/>
          </a:ln>
        </p:spPr>
      </p:cxn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466"/>
        <p:cNvGrpSpPr/>
        <p:nvPr/>
      </p:nvGrpSpPr>
      <p:grpSpPr>
        <a:xfrm>
          <a:off x="0" y="0"/>
          <a:ext cx="0" cy="0"/>
          <a:chOff x="0" y="0"/>
          <a:chExt cx="0" cy="0"/>
        </a:xfrm>
      </p:grpSpPr>
      <p:pic>
        <p:nvPicPr>
          <p:cNvPr id="467" name="Google Shape;467;p38"/>
          <p:cNvPicPr preferRelativeResize="0"/>
          <p:nvPr/>
        </p:nvPicPr>
        <p:blipFill rotWithShape="1">
          <a:blip r:embed="rId3">
            <a:alphaModFix/>
          </a:blip>
          <a:srcRect/>
          <a:stretch/>
        </p:blipFill>
        <p:spPr>
          <a:xfrm>
            <a:off x="2310131" y="1429386"/>
            <a:ext cx="7484745" cy="5050155"/>
          </a:xfrm>
          <a:prstGeom prst="rect">
            <a:avLst/>
          </a:prstGeom>
          <a:noFill/>
          <a:ln>
            <a:noFill/>
          </a:ln>
        </p:spPr>
      </p:pic>
      <p:sp>
        <p:nvSpPr>
          <p:cNvPr id="468" name="Google Shape;468;p38"/>
          <p:cNvSpPr txBox="1">
            <a:spLocks noGrp="1"/>
          </p:cNvSpPr>
          <p:nvPr>
            <p:ph type="title"/>
          </p:nvPr>
        </p:nvSpPr>
        <p:spPr>
          <a:xfrm>
            <a:off x="1828800" y="152401"/>
            <a:ext cx="8229600" cy="493395"/>
          </a:xfrm>
          <a:prstGeom prst="rect">
            <a:avLst/>
          </a:prstGeom>
          <a:noFill/>
          <a:ln>
            <a:noFill/>
          </a:ln>
        </p:spPr>
        <p:txBody>
          <a:bodyPr spcFirstLastPara="1" vert="horz" wrap="square" lIns="91425" tIns="45700" rIns="91425" bIns="45700" rtlCol="0" anchor="ctr" anchorCtr="0">
            <a:noAutofit/>
          </a:bodyPr>
          <a:lstStyle/>
          <a:p>
            <a:pPr algn="ctr">
              <a:lnSpc>
                <a:spcPct val="100000"/>
              </a:lnSpc>
              <a:spcBef>
                <a:spcPts val="0"/>
              </a:spcBef>
              <a:buClr>
                <a:schemeClr val="dk2"/>
              </a:buClr>
              <a:buSzPts val="3200"/>
            </a:pPr>
            <a:r>
              <a:rPr lang="en-US" sz="3200" b="1">
                <a:latin typeface="Times New Roman"/>
                <a:ea typeface="Times New Roman"/>
                <a:cs typeface="Times New Roman"/>
                <a:sym typeface="Times New Roman"/>
              </a:rPr>
              <a:t>2. Join Operation</a:t>
            </a:r>
            <a:endParaRPr sz="3200" b="1">
              <a:latin typeface="Times New Roman"/>
              <a:ea typeface="Times New Roman"/>
              <a:cs typeface="Times New Roman"/>
              <a:sym typeface="Times New Roman"/>
            </a:endParaRPr>
          </a:p>
        </p:txBody>
      </p:sp>
      <p:sp>
        <p:nvSpPr>
          <p:cNvPr id="469" name="Google Shape;469;p38"/>
          <p:cNvSpPr txBox="1"/>
          <p:nvPr/>
        </p:nvSpPr>
        <p:spPr>
          <a:xfrm>
            <a:off x="2057401" y="645796"/>
            <a:ext cx="8302625" cy="953135"/>
          </a:xfrm>
          <a:prstGeom prst="rect">
            <a:avLst/>
          </a:prstGeom>
          <a:noFill/>
          <a:ln>
            <a:noFill/>
          </a:ln>
        </p:spPr>
        <p:txBody>
          <a:bodyPr spcFirstLastPara="1" wrap="square" lIns="91425" tIns="45700" rIns="91425" bIns="45700" anchor="t" anchorCtr="0">
            <a:spAutoFit/>
          </a:bodyPr>
          <a:lstStyle/>
          <a:p>
            <a:pPr algn="just"/>
            <a:r>
              <a:rPr lang="en-US" sz="2800">
                <a:solidFill>
                  <a:schemeClr val="dk1"/>
                </a:solidFill>
                <a:latin typeface="Times New Roman"/>
                <a:ea typeface="Times New Roman"/>
                <a:cs typeface="Times New Roman"/>
                <a:sym typeface="Times New Roman"/>
              </a:rPr>
              <a:t>Join operation  allows us to combine certain selections .</a:t>
            </a:r>
            <a:endParaRPr sz="2800">
              <a:solidFill>
                <a:schemeClr val="dk1"/>
              </a:solidFill>
              <a:latin typeface="Times New Roman"/>
              <a:ea typeface="Times New Roman"/>
              <a:cs typeface="Times New Roman"/>
              <a:sym typeface="Times New Roman"/>
            </a:endParaRPr>
          </a:p>
          <a:p>
            <a:pPr algn="just"/>
            <a:r>
              <a:rPr lang="en-US" sz="2800">
                <a:solidFill>
                  <a:schemeClr val="dk1"/>
                </a:solidFill>
                <a:latin typeface="Times New Roman"/>
                <a:ea typeface="Times New Roman"/>
                <a:cs typeface="Times New Roman"/>
                <a:sym typeface="Times New Roman"/>
              </a:rPr>
              <a:t>It is denoted by the “join” symbol  </a:t>
            </a:r>
            <a:endParaRPr sz="2800">
              <a:solidFill>
                <a:schemeClr val="dk1"/>
              </a:solidFill>
              <a:latin typeface="Times New Roman"/>
              <a:ea typeface="Times New Roman"/>
              <a:cs typeface="Times New Roman"/>
              <a:sym typeface="Times New Roman"/>
            </a:endParaRPr>
          </a:p>
        </p:txBody>
      </p:sp>
      <p:pic>
        <p:nvPicPr>
          <p:cNvPr id="470" name="Google Shape;470;p38"/>
          <p:cNvPicPr preferRelativeResize="0"/>
          <p:nvPr/>
        </p:nvPicPr>
        <p:blipFill rotWithShape="1">
          <a:blip r:embed="rId4">
            <a:alphaModFix/>
          </a:blip>
          <a:srcRect/>
          <a:stretch/>
        </p:blipFill>
        <p:spPr>
          <a:xfrm>
            <a:off x="7086600" y="1219201"/>
            <a:ext cx="415290" cy="260985"/>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474"/>
        <p:cNvGrpSpPr/>
        <p:nvPr/>
      </p:nvGrpSpPr>
      <p:grpSpPr>
        <a:xfrm>
          <a:off x="0" y="0"/>
          <a:ext cx="0" cy="0"/>
          <a:chOff x="0" y="0"/>
          <a:chExt cx="0" cy="0"/>
        </a:xfrm>
      </p:grpSpPr>
      <p:sp>
        <p:nvSpPr>
          <p:cNvPr id="475" name="Google Shape;475;p39"/>
          <p:cNvSpPr txBox="1">
            <a:spLocks noGrp="1"/>
          </p:cNvSpPr>
          <p:nvPr>
            <p:ph type="title"/>
          </p:nvPr>
        </p:nvSpPr>
        <p:spPr>
          <a:xfrm>
            <a:off x="1828800" y="152401"/>
            <a:ext cx="8229600" cy="493395"/>
          </a:xfrm>
          <a:prstGeom prst="rect">
            <a:avLst/>
          </a:prstGeom>
          <a:noFill/>
          <a:ln>
            <a:noFill/>
          </a:ln>
        </p:spPr>
        <p:txBody>
          <a:bodyPr spcFirstLastPara="1" vert="horz" wrap="square" lIns="91425" tIns="45700" rIns="91425" bIns="45700" rtlCol="0" anchor="ctr" anchorCtr="0">
            <a:noAutofit/>
          </a:bodyPr>
          <a:lstStyle/>
          <a:p>
            <a:pPr algn="ctr">
              <a:lnSpc>
                <a:spcPct val="100000"/>
              </a:lnSpc>
              <a:spcBef>
                <a:spcPts val="0"/>
              </a:spcBef>
              <a:buClr>
                <a:schemeClr val="dk2"/>
              </a:buClr>
              <a:buSzPts val="3600"/>
            </a:pPr>
            <a:r>
              <a:rPr lang="en-US" sz="3600" b="1">
                <a:latin typeface="Times New Roman"/>
                <a:ea typeface="Times New Roman"/>
                <a:cs typeface="Times New Roman"/>
                <a:sym typeface="Times New Roman"/>
              </a:rPr>
              <a:t>Natural-Join Operation</a:t>
            </a:r>
            <a:endParaRPr sz="3600" b="1">
              <a:latin typeface="Times New Roman"/>
              <a:ea typeface="Times New Roman"/>
              <a:cs typeface="Times New Roman"/>
              <a:sym typeface="Times New Roman"/>
            </a:endParaRPr>
          </a:p>
        </p:txBody>
      </p:sp>
      <p:sp>
        <p:nvSpPr>
          <p:cNvPr id="476" name="Google Shape;476;p39"/>
          <p:cNvSpPr txBox="1">
            <a:spLocks noGrp="1"/>
          </p:cNvSpPr>
          <p:nvPr>
            <p:ph type="body" idx="1"/>
          </p:nvPr>
        </p:nvSpPr>
        <p:spPr>
          <a:xfrm>
            <a:off x="1600200" y="645795"/>
            <a:ext cx="8874760" cy="6212840"/>
          </a:xfrm>
          <a:prstGeom prst="rect">
            <a:avLst/>
          </a:prstGeom>
          <a:noFill/>
          <a:ln>
            <a:noFill/>
          </a:ln>
        </p:spPr>
        <p:txBody>
          <a:bodyPr spcFirstLastPara="1" vert="horz" wrap="square" lIns="91425" tIns="45700" rIns="91425" bIns="45700" rtlCol="0" anchor="t" anchorCtr="0">
            <a:noAutofit/>
          </a:bodyPr>
          <a:lstStyle/>
          <a:p>
            <a:pPr marL="342900" indent="-342900" algn="just">
              <a:lnSpc>
                <a:spcPct val="100000"/>
              </a:lnSpc>
              <a:spcBef>
                <a:spcPts val="0"/>
              </a:spcBef>
              <a:buClr>
                <a:schemeClr val="dk1"/>
              </a:buClr>
              <a:buSzPts val="2800"/>
              <a:buFont typeface="Times New Roman"/>
              <a:buChar char="•"/>
            </a:pPr>
            <a:r>
              <a:rPr lang="en-US">
                <a:latin typeface="Times New Roman"/>
                <a:ea typeface="Times New Roman"/>
                <a:cs typeface="Times New Roman"/>
                <a:sym typeface="Times New Roman"/>
              </a:rPr>
              <a:t>The natural join is a binary operation that allows us to combine certain selections and a Cartesian product into one operation.</a:t>
            </a:r>
            <a:endParaRPr>
              <a:latin typeface="Times New Roman"/>
              <a:ea typeface="Times New Roman"/>
              <a:cs typeface="Times New Roman"/>
              <a:sym typeface="Times New Roman"/>
            </a:endParaRPr>
          </a:p>
          <a:p>
            <a:pPr marL="342900" indent="-342900" algn="just">
              <a:lnSpc>
                <a:spcPct val="100000"/>
              </a:lnSpc>
              <a:spcBef>
                <a:spcPts val="560"/>
              </a:spcBef>
              <a:buClr>
                <a:schemeClr val="dk1"/>
              </a:buClr>
              <a:buSzPts val="2800"/>
              <a:buFont typeface="Times New Roman"/>
              <a:buChar char="•"/>
            </a:pPr>
            <a:r>
              <a:rPr lang="en-US">
                <a:latin typeface="Times New Roman"/>
                <a:ea typeface="Times New Roman"/>
                <a:cs typeface="Times New Roman"/>
                <a:sym typeface="Times New Roman"/>
              </a:rPr>
              <a:t>It is denoted by the “join” symbol </a:t>
            </a:r>
            <a:endParaRPr>
              <a:latin typeface="Times New Roman"/>
              <a:ea typeface="Times New Roman"/>
              <a:cs typeface="Times New Roman"/>
              <a:sym typeface="Times New Roman"/>
            </a:endParaRPr>
          </a:p>
          <a:p>
            <a:pPr marL="342900" indent="-165100">
              <a:lnSpc>
                <a:spcPct val="100000"/>
              </a:lnSpc>
              <a:spcBef>
                <a:spcPts val="560"/>
              </a:spcBef>
              <a:buClr>
                <a:schemeClr val="dk1"/>
              </a:buClr>
              <a:buSzPts val="2800"/>
              <a:buNone/>
            </a:pPr>
            <a:endParaRPr>
              <a:latin typeface="Times New Roman"/>
              <a:ea typeface="Times New Roman"/>
              <a:cs typeface="Times New Roman"/>
              <a:sym typeface="Times New Roman"/>
            </a:endParaRPr>
          </a:p>
          <a:p>
            <a:pPr marL="342900" indent="-342900">
              <a:lnSpc>
                <a:spcPct val="100000"/>
              </a:lnSpc>
              <a:spcBef>
                <a:spcPts val="560"/>
              </a:spcBef>
              <a:buClr>
                <a:schemeClr val="dk1"/>
              </a:buClr>
              <a:buSzPts val="2800"/>
              <a:buFont typeface="Times New Roman"/>
              <a:buChar char="•"/>
            </a:pPr>
            <a:r>
              <a:rPr lang="en-US">
                <a:latin typeface="Times New Roman"/>
                <a:ea typeface="Times New Roman"/>
                <a:cs typeface="Times New Roman"/>
                <a:sym typeface="Times New Roman"/>
              </a:rPr>
              <a:t>Let </a:t>
            </a:r>
            <a:r>
              <a:rPr lang="en-US" i="1">
                <a:latin typeface="Times New Roman"/>
                <a:ea typeface="Times New Roman"/>
                <a:cs typeface="Times New Roman"/>
                <a:sym typeface="Times New Roman"/>
              </a:rPr>
              <a:t>r</a:t>
            </a:r>
            <a:r>
              <a:rPr lang="en-US">
                <a:latin typeface="Times New Roman"/>
                <a:ea typeface="Times New Roman"/>
                <a:cs typeface="Times New Roman"/>
                <a:sym typeface="Times New Roman"/>
              </a:rPr>
              <a:t> and </a:t>
            </a:r>
            <a:r>
              <a:rPr lang="en-US" i="1">
                <a:latin typeface="Times New Roman"/>
                <a:ea typeface="Times New Roman"/>
                <a:cs typeface="Times New Roman"/>
                <a:sym typeface="Times New Roman"/>
              </a:rPr>
              <a:t>s</a:t>
            </a:r>
            <a:r>
              <a:rPr lang="en-US">
                <a:latin typeface="Times New Roman"/>
                <a:ea typeface="Times New Roman"/>
                <a:cs typeface="Times New Roman"/>
                <a:sym typeface="Times New Roman"/>
              </a:rPr>
              <a:t> be relations on schemas </a:t>
            </a:r>
            <a:r>
              <a:rPr lang="en-US" i="1">
                <a:latin typeface="Times New Roman"/>
                <a:ea typeface="Times New Roman"/>
                <a:cs typeface="Times New Roman"/>
                <a:sym typeface="Times New Roman"/>
              </a:rPr>
              <a:t>R</a:t>
            </a:r>
            <a:r>
              <a:rPr lang="en-US">
                <a:latin typeface="Times New Roman"/>
                <a:ea typeface="Times New Roman"/>
                <a:cs typeface="Times New Roman"/>
                <a:sym typeface="Times New Roman"/>
              </a:rPr>
              <a:t> and </a:t>
            </a:r>
            <a:r>
              <a:rPr lang="en-US" i="1">
                <a:latin typeface="Times New Roman"/>
                <a:ea typeface="Times New Roman"/>
                <a:cs typeface="Times New Roman"/>
                <a:sym typeface="Times New Roman"/>
              </a:rPr>
              <a:t>S</a:t>
            </a:r>
            <a:r>
              <a:rPr lang="en-US">
                <a:latin typeface="Times New Roman"/>
                <a:ea typeface="Times New Roman"/>
                <a:cs typeface="Times New Roman"/>
                <a:sym typeface="Times New Roman"/>
              </a:rPr>
              <a:t> respectively. </a:t>
            </a:r>
            <a:br>
              <a:rPr lang="en-US">
                <a:latin typeface="Times New Roman"/>
                <a:ea typeface="Times New Roman"/>
                <a:cs typeface="Times New Roman"/>
                <a:sym typeface="Times New Roman"/>
              </a:rPr>
            </a:br>
            <a:r>
              <a:rPr lang="en-US">
                <a:latin typeface="Times New Roman"/>
                <a:ea typeface="Times New Roman"/>
                <a:cs typeface="Times New Roman"/>
                <a:sym typeface="Times New Roman"/>
              </a:rPr>
              <a:t>Then,  r     s  is a relation on schema </a:t>
            </a:r>
            <a:r>
              <a:rPr lang="en-US" i="1">
                <a:latin typeface="Times New Roman"/>
                <a:ea typeface="Times New Roman"/>
                <a:cs typeface="Times New Roman"/>
                <a:sym typeface="Times New Roman"/>
              </a:rPr>
              <a:t>R </a:t>
            </a:r>
            <a:r>
              <a:rPr lang="en-US">
                <a:latin typeface="Times New Roman"/>
                <a:ea typeface="Times New Roman"/>
                <a:cs typeface="Times New Roman"/>
                <a:sym typeface="Times New Roman"/>
              </a:rPr>
              <a:t>∪ </a:t>
            </a:r>
            <a:r>
              <a:rPr lang="en-US" i="1">
                <a:latin typeface="Times New Roman"/>
                <a:ea typeface="Times New Roman"/>
                <a:cs typeface="Times New Roman"/>
                <a:sym typeface="Times New Roman"/>
              </a:rPr>
              <a:t>S</a:t>
            </a:r>
            <a:r>
              <a:rPr lang="en-US">
                <a:latin typeface="Times New Roman"/>
                <a:ea typeface="Times New Roman"/>
                <a:cs typeface="Times New Roman"/>
                <a:sym typeface="Times New Roman"/>
              </a:rPr>
              <a:t> obtained as follows:</a:t>
            </a:r>
            <a:endParaRPr>
              <a:latin typeface="Times New Roman"/>
              <a:ea typeface="Times New Roman"/>
              <a:cs typeface="Times New Roman"/>
              <a:sym typeface="Times New Roman"/>
            </a:endParaRPr>
          </a:p>
          <a:p>
            <a:pPr marL="742950" lvl="1" indent="-285750">
              <a:lnSpc>
                <a:spcPct val="100000"/>
              </a:lnSpc>
              <a:spcBef>
                <a:spcPts val="560"/>
              </a:spcBef>
              <a:buClr>
                <a:schemeClr val="dk1"/>
              </a:buClr>
              <a:buSzPts val="2800"/>
              <a:buFont typeface="Times New Roman"/>
              <a:buChar char="–"/>
            </a:pPr>
            <a:r>
              <a:rPr lang="en-US">
                <a:latin typeface="Times New Roman"/>
                <a:ea typeface="Times New Roman"/>
                <a:cs typeface="Times New Roman"/>
                <a:sym typeface="Times New Roman"/>
              </a:rPr>
              <a:t>Consider each pair of tuples </a:t>
            </a:r>
            <a:r>
              <a:rPr lang="en-US" i="1">
                <a:latin typeface="Times New Roman"/>
                <a:ea typeface="Times New Roman"/>
                <a:cs typeface="Times New Roman"/>
                <a:sym typeface="Times New Roman"/>
              </a:rPr>
              <a:t>t</a:t>
            </a:r>
            <a:r>
              <a:rPr lang="en-US" i="1" baseline="-25000">
                <a:latin typeface="Times New Roman"/>
                <a:ea typeface="Times New Roman"/>
                <a:cs typeface="Times New Roman"/>
                <a:sym typeface="Times New Roman"/>
              </a:rPr>
              <a:t>r</a:t>
            </a:r>
            <a:r>
              <a:rPr lang="en-US">
                <a:latin typeface="Times New Roman"/>
                <a:ea typeface="Times New Roman"/>
                <a:cs typeface="Times New Roman"/>
                <a:sym typeface="Times New Roman"/>
              </a:rPr>
              <a:t> from </a:t>
            </a:r>
            <a:r>
              <a:rPr lang="en-US" i="1">
                <a:latin typeface="Times New Roman"/>
                <a:ea typeface="Times New Roman"/>
                <a:cs typeface="Times New Roman"/>
                <a:sym typeface="Times New Roman"/>
              </a:rPr>
              <a:t>r</a:t>
            </a:r>
            <a:r>
              <a:rPr lang="en-US">
                <a:latin typeface="Times New Roman"/>
                <a:ea typeface="Times New Roman"/>
                <a:cs typeface="Times New Roman"/>
                <a:sym typeface="Times New Roman"/>
              </a:rPr>
              <a:t> and </a:t>
            </a:r>
            <a:r>
              <a:rPr lang="en-US" i="1">
                <a:latin typeface="Times New Roman"/>
                <a:ea typeface="Times New Roman"/>
                <a:cs typeface="Times New Roman"/>
                <a:sym typeface="Times New Roman"/>
              </a:rPr>
              <a:t>t</a:t>
            </a:r>
            <a:r>
              <a:rPr lang="en-US" i="1" baseline="-25000">
                <a:latin typeface="Times New Roman"/>
                <a:ea typeface="Times New Roman"/>
                <a:cs typeface="Times New Roman"/>
                <a:sym typeface="Times New Roman"/>
              </a:rPr>
              <a:t>s</a:t>
            </a:r>
            <a:r>
              <a:rPr lang="en-US">
                <a:latin typeface="Times New Roman"/>
                <a:ea typeface="Times New Roman"/>
                <a:cs typeface="Times New Roman"/>
                <a:sym typeface="Times New Roman"/>
              </a:rPr>
              <a:t> from </a:t>
            </a:r>
            <a:r>
              <a:rPr lang="en-US" i="1">
                <a:latin typeface="Times New Roman"/>
                <a:ea typeface="Times New Roman"/>
                <a:cs typeface="Times New Roman"/>
                <a:sym typeface="Times New Roman"/>
              </a:rPr>
              <a:t>s</a:t>
            </a:r>
            <a:r>
              <a:rPr lang="en-US">
                <a:latin typeface="Times New Roman"/>
                <a:ea typeface="Times New Roman"/>
                <a:cs typeface="Times New Roman"/>
                <a:sym typeface="Times New Roman"/>
              </a:rPr>
              <a:t>.  </a:t>
            </a:r>
            <a:endParaRPr>
              <a:latin typeface="Times New Roman"/>
              <a:ea typeface="Times New Roman"/>
              <a:cs typeface="Times New Roman"/>
              <a:sym typeface="Times New Roman"/>
            </a:endParaRPr>
          </a:p>
          <a:p>
            <a:pPr marL="742950" lvl="1" indent="-285750">
              <a:lnSpc>
                <a:spcPct val="100000"/>
              </a:lnSpc>
              <a:spcBef>
                <a:spcPts val="560"/>
              </a:spcBef>
              <a:buClr>
                <a:schemeClr val="dk1"/>
              </a:buClr>
              <a:buSzPts val="2800"/>
              <a:buFont typeface="Times New Roman"/>
              <a:buChar char="–"/>
            </a:pPr>
            <a:r>
              <a:rPr lang="en-US">
                <a:latin typeface="Times New Roman"/>
                <a:ea typeface="Times New Roman"/>
                <a:cs typeface="Times New Roman"/>
                <a:sym typeface="Times New Roman"/>
              </a:rPr>
              <a:t>If </a:t>
            </a:r>
            <a:r>
              <a:rPr lang="en-US" i="1">
                <a:latin typeface="Times New Roman"/>
                <a:ea typeface="Times New Roman"/>
                <a:cs typeface="Times New Roman"/>
                <a:sym typeface="Times New Roman"/>
              </a:rPr>
              <a:t>t</a:t>
            </a:r>
            <a:r>
              <a:rPr lang="en-US" i="1" baseline="-25000">
                <a:latin typeface="Times New Roman"/>
                <a:ea typeface="Times New Roman"/>
                <a:cs typeface="Times New Roman"/>
                <a:sym typeface="Times New Roman"/>
              </a:rPr>
              <a:t>r</a:t>
            </a:r>
            <a:r>
              <a:rPr lang="en-US">
                <a:latin typeface="Times New Roman"/>
                <a:ea typeface="Times New Roman"/>
                <a:cs typeface="Times New Roman"/>
                <a:sym typeface="Times New Roman"/>
              </a:rPr>
              <a:t> and </a:t>
            </a:r>
            <a:r>
              <a:rPr lang="en-US" i="1">
                <a:latin typeface="Times New Roman"/>
                <a:ea typeface="Times New Roman"/>
                <a:cs typeface="Times New Roman"/>
                <a:sym typeface="Times New Roman"/>
              </a:rPr>
              <a:t>t</a:t>
            </a:r>
            <a:r>
              <a:rPr lang="en-US" i="1" baseline="-25000">
                <a:latin typeface="Times New Roman"/>
                <a:ea typeface="Times New Roman"/>
                <a:cs typeface="Times New Roman"/>
                <a:sym typeface="Times New Roman"/>
              </a:rPr>
              <a:t>s</a:t>
            </a:r>
            <a:r>
              <a:rPr lang="en-US">
                <a:latin typeface="Times New Roman"/>
                <a:ea typeface="Times New Roman"/>
                <a:cs typeface="Times New Roman"/>
                <a:sym typeface="Times New Roman"/>
              </a:rPr>
              <a:t> have the same value on each of the attributes in </a:t>
            </a:r>
            <a:r>
              <a:rPr lang="en-US" i="1">
                <a:latin typeface="Times New Roman"/>
                <a:ea typeface="Times New Roman"/>
                <a:cs typeface="Times New Roman"/>
                <a:sym typeface="Times New Roman"/>
              </a:rPr>
              <a:t>R</a:t>
            </a:r>
            <a:r>
              <a:rPr lang="en-US">
                <a:latin typeface="Times New Roman"/>
                <a:ea typeface="Times New Roman"/>
                <a:cs typeface="Times New Roman"/>
                <a:sym typeface="Times New Roman"/>
              </a:rPr>
              <a:t> ∩ </a:t>
            </a:r>
            <a:r>
              <a:rPr lang="en-US" i="1">
                <a:latin typeface="Times New Roman"/>
                <a:ea typeface="Times New Roman"/>
                <a:cs typeface="Times New Roman"/>
                <a:sym typeface="Times New Roman"/>
              </a:rPr>
              <a:t>S</a:t>
            </a:r>
            <a:r>
              <a:rPr lang="en-US">
                <a:latin typeface="Times New Roman"/>
                <a:ea typeface="Times New Roman"/>
                <a:cs typeface="Times New Roman"/>
                <a:sym typeface="Times New Roman"/>
              </a:rPr>
              <a:t>, add a tuple </a:t>
            </a:r>
            <a:r>
              <a:rPr lang="en-US" i="1">
                <a:latin typeface="Times New Roman"/>
                <a:ea typeface="Times New Roman"/>
                <a:cs typeface="Times New Roman"/>
                <a:sym typeface="Times New Roman"/>
              </a:rPr>
              <a:t>t</a:t>
            </a:r>
            <a:r>
              <a:rPr lang="en-US">
                <a:latin typeface="Times New Roman"/>
                <a:ea typeface="Times New Roman"/>
                <a:cs typeface="Times New Roman"/>
                <a:sym typeface="Times New Roman"/>
              </a:rPr>
              <a:t>  to the result, where</a:t>
            </a:r>
            <a:endParaRPr>
              <a:latin typeface="Times New Roman"/>
              <a:ea typeface="Times New Roman"/>
              <a:cs typeface="Times New Roman"/>
              <a:sym typeface="Times New Roman"/>
            </a:endParaRPr>
          </a:p>
          <a:p>
            <a:pPr lvl="2">
              <a:lnSpc>
                <a:spcPct val="100000"/>
              </a:lnSpc>
              <a:spcBef>
                <a:spcPts val="560"/>
              </a:spcBef>
              <a:buClr>
                <a:schemeClr val="dk1"/>
              </a:buClr>
              <a:buSzPts val="2800"/>
              <a:buFont typeface="Times New Roman"/>
              <a:buChar char="•"/>
            </a:pPr>
            <a:r>
              <a:rPr lang="en-US" sz="2800" i="1">
                <a:latin typeface="Times New Roman"/>
                <a:ea typeface="Times New Roman"/>
                <a:cs typeface="Times New Roman"/>
                <a:sym typeface="Times New Roman"/>
              </a:rPr>
              <a:t>t</a:t>
            </a:r>
            <a:r>
              <a:rPr lang="en-US" sz="2800">
                <a:latin typeface="Times New Roman"/>
                <a:ea typeface="Times New Roman"/>
                <a:cs typeface="Times New Roman"/>
                <a:sym typeface="Times New Roman"/>
              </a:rPr>
              <a:t> has the same value as </a:t>
            </a:r>
            <a:r>
              <a:rPr lang="en-US" sz="2800" i="1">
                <a:latin typeface="Times New Roman"/>
                <a:ea typeface="Times New Roman"/>
                <a:cs typeface="Times New Roman"/>
                <a:sym typeface="Times New Roman"/>
              </a:rPr>
              <a:t>t</a:t>
            </a:r>
            <a:r>
              <a:rPr lang="en-US" sz="2800" i="1" baseline="-25000">
                <a:latin typeface="Times New Roman"/>
                <a:ea typeface="Times New Roman"/>
                <a:cs typeface="Times New Roman"/>
                <a:sym typeface="Times New Roman"/>
              </a:rPr>
              <a:t>r</a:t>
            </a:r>
            <a:r>
              <a:rPr lang="en-US" sz="2800">
                <a:latin typeface="Times New Roman"/>
                <a:ea typeface="Times New Roman"/>
                <a:cs typeface="Times New Roman"/>
                <a:sym typeface="Times New Roman"/>
              </a:rPr>
              <a:t> on </a:t>
            </a:r>
            <a:r>
              <a:rPr lang="en-US" sz="2800" i="1">
                <a:latin typeface="Times New Roman"/>
                <a:ea typeface="Times New Roman"/>
                <a:cs typeface="Times New Roman"/>
                <a:sym typeface="Times New Roman"/>
              </a:rPr>
              <a:t>r</a:t>
            </a:r>
            <a:endParaRPr sz="2800">
              <a:latin typeface="Times New Roman"/>
              <a:ea typeface="Times New Roman"/>
              <a:cs typeface="Times New Roman"/>
              <a:sym typeface="Times New Roman"/>
            </a:endParaRPr>
          </a:p>
          <a:p>
            <a:pPr lvl="2">
              <a:lnSpc>
                <a:spcPct val="100000"/>
              </a:lnSpc>
              <a:spcBef>
                <a:spcPts val="560"/>
              </a:spcBef>
              <a:buClr>
                <a:schemeClr val="dk1"/>
              </a:buClr>
              <a:buSzPts val="2800"/>
              <a:buFont typeface="Times New Roman"/>
              <a:buChar char="•"/>
            </a:pPr>
            <a:r>
              <a:rPr lang="en-US" sz="2800" i="1">
                <a:latin typeface="Times New Roman"/>
                <a:ea typeface="Times New Roman"/>
                <a:cs typeface="Times New Roman"/>
                <a:sym typeface="Times New Roman"/>
              </a:rPr>
              <a:t>t</a:t>
            </a:r>
            <a:r>
              <a:rPr lang="en-US" sz="2800">
                <a:latin typeface="Times New Roman"/>
                <a:ea typeface="Times New Roman"/>
                <a:cs typeface="Times New Roman"/>
                <a:sym typeface="Times New Roman"/>
              </a:rPr>
              <a:t> has the same value as </a:t>
            </a:r>
            <a:r>
              <a:rPr lang="en-US" sz="2800" i="1">
                <a:latin typeface="Times New Roman"/>
                <a:ea typeface="Times New Roman"/>
                <a:cs typeface="Times New Roman"/>
                <a:sym typeface="Times New Roman"/>
              </a:rPr>
              <a:t>t</a:t>
            </a:r>
            <a:r>
              <a:rPr lang="en-US" sz="2800" i="1" baseline="-25000">
                <a:latin typeface="Times New Roman"/>
                <a:ea typeface="Times New Roman"/>
                <a:cs typeface="Times New Roman"/>
                <a:sym typeface="Times New Roman"/>
              </a:rPr>
              <a:t>s</a:t>
            </a:r>
            <a:r>
              <a:rPr lang="en-US" sz="2800">
                <a:latin typeface="Times New Roman"/>
                <a:ea typeface="Times New Roman"/>
                <a:cs typeface="Times New Roman"/>
                <a:sym typeface="Times New Roman"/>
              </a:rPr>
              <a:t> on </a:t>
            </a:r>
            <a:r>
              <a:rPr lang="en-US" sz="2800" i="1">
                <a:latin typeface="Times New Roman"/>
                <a:ea typeface="Times New Roman"/>
                <a:cs typeface="Times New Roman"/>
                <a:sym typeface="Times New Roman"/>
              </a:rPr>
              <a:t>s</a:t>
            </a:r>
            <a:endParaRPr sz="2800">
              <a:latin typeface="Times New Roman"/>
              <a:ea typeface="Times New Roman"/>
              <a:cs typeface="Times New Roman"/>
              <a:sym typeface="Times New Roman"/>
            </a:endParaRPr>
          </a:p>
          <a:p>
            <a:pPr marL="342900" indent="-165100" algn="just">
              <a:lnSpc>
                <a:spcPct val="100000"/>
              </a:lnSpc>
              <a:spcBef>
                <a:spcPts val="560"/>
              </a:spcBef>
              <a:buClr>
                <a:schemeClr val="dk1"/>
              </a:buClr>
              <a:buSzPts val="2800"/>
              <a:buNone/>
            </a:pPr>
            <a:endParaRPr>
              <a:latin typeface="Times New Roman"/>
              <a:ea typeface="Times New Roman"/>
              <a:cs typeface="Times New Roman"/>
              <a:sym typeface="Times New Roman"/>
            </a:endParaRPr>
          </a:p>
        </p:txBody>
      </p:sp>
      <p:pic>
        <p:nvPicPr>
          <p:cNvPr id="477" name="Google Shape;477;p39"/>
          <p:cNvPicPr preferRelativeResize="0"/>
          <p:nvPr/>
        </p:nvPicPr>
        <p:blipFill rotWithShape="1">
          <a:blip r:embed="rId3">
            <a:alphaModFix/>
          </a:blip>
          <a:srcRect/>
          <a:stretch/>
        </p:blipFill>
        <p:spPr>
          <a:xfrm>
            <a:off x="7010400" y="2133601"/>
            <a:ext cx="415290" cy="260985"/>
          </a:xfrm>
          <a:prstGeom prst="rect">
            <a:avLst/>
          </a:prstGeom>
          <a:noFill/>
          <a:ln>
            <a:noFill/>
          </a:ln>
        </p:spPr>
      </p:pic>
      <p:sp>
        <p:nvSpPr>
          <p:cNvPr id="478" name="Google Shape;478;p39"/>
          <p:cNvSpPr txBox="1"/>
          <p:nvPr/>
        </p:nvSpPr>
        <p:spPr>
          <a:xfrm>
            <a:off x="2209800" y="2667001"/>
            <a:ext cx="3290570" cy="636905"/>
          </a:xfrm>
          <a:prstGeom prst="rect">
            <a:avLst/>
          </a:prstGeom>
          <a:noFill/>
          <a:ln>
            <a:noFill/>
          </a:ln>
        </p:spPr>
        <p:txBody>
          <a:bodyPr spcFirstLastPara="1" wrap="square" lIns="91425" tIns="45700" rIns="91425" bIns="45700" anchor="t" anchorCtr="0">
            <a:noAutofit/>
          </a:bodyPr>
          <a:lstStyle/>
          <a:p>
            <a:pPr indent="-114300">
              <a:buClr>
                <a:schemeClr val="dk2"/>
              </a:buClr>
              <a:buSzPts val="1800"/>
              <a:buFont typeface="Arial"/>
              <a:buChar char="●"/>
            </a:pPr>
            <a:r>
              <a:rPr lang="en-US" sz="2000" b="1">
                <a:solidFill>
                  <a:schemeClr val="dk1"/>
                </a:solidFill>
                <a:latin typeface="Helvetica Neue"/>
                <a:ea typeface="Helvetica Neue"/>
                <a:cs typeface="Helvetica Neue"/>
                <a:sym typeface="Helvetica Neue"/>
              </a:rPr>
              <a:t>    </a:t>
            </a:r>
            <a:r>
              <a:rPr lang="en-US" sz="2800" b="1">
                <a:solidFill>
                  <a:schemeClr val="dk1"/>
                </a:solidFill>
                <a:latin typeface="Helvetica Neue"/>
                <a:ea typeface="Helvetica Neue"/>
                <a:cs typeface="Helvetica Neue"/>
                <a:sym typeface="Helvetica Neue"/>
              </a:rPr>
              <a:t>Notation:  r     s</a:t>
            </a:r>
            <a:endParaRPr sz="2800" b="1" i="1">
              <a:solidFill>
                <a:schemeClr val="dk1"/>
              </a:solidFill>
              <a:latin typeface="Helvetica Neue"/>
              <a:ea typeface="Helvetica Neue"/>
              <a:cs typeface="Helvetica Neue"/>
              <a:sym typeface="Helvetica Neue"/>
            </a:endParaRPr>
          </a:p>
        </p:txBody>
      </p:sp>
      <p:pic>
        <p:nvPicPr>
          <p:cNvPr id="479" name="Google Shape;479;p39"/>
          <p:cNvPicPr preferRelativeResize="0"/>
          <p:nvPr/>
        </p:nvPicPr>
        <p:blipFill rotWithShape="1">
          <a:blip r:embed="rId3">
            <a:alphaModFix/>
          </a:blip>
          <a:srcRect/>
          <a:stretch/>
        </p:blipFill>
        <p:spPr>
          <a:xfrm>
            <a:off x="4724400" y="2819401"/>
            <a:ext cx="415290" cy="260985"/>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483"/>
        <p:cNvGrpSpPr/>
        <p:nvPr/>
      </p:nvGrpSpPr>
      <p:grpSpPr>
        <a:xfrm>
          <a:off x="0" y="0"/>
          <a:ext cx="0" cy="0"/>
          <a:chOff x="0" y="0"/>
          <a:chExt cx="0" cy="0"/>
        </a:xfrm>
      </p:grpSpPr>
      <p:sp>
        <p:nvSpPr>
          <p:cNvPr id="484" name="Google Shape;484;p40"/>
          <p:cNvSpPr txBox="1">
            <a:spLocks noGrp="1"/>
          </p:cNvSpPr>
          <p:nvPr>
            <p:ph type="body" idx="1"/>
          </p:nvPr>
        </p:nvSpPr>
        <p:spPr>
          <a:xfrm>
            <a:off x="1524001" y="609601"/>
            <a:ext cx="8913495" cy="6219825"/>
          </a:xfrm>
          <a:prstGeom prst="rect">
            <a:avLst/>
          </a:prstGeom>
          <a:noFill/>
          <a:ln>
            <a:noFill/>
          </a:ln>
        </p:spPr>
        <p:txBody>
          <a:bodyPr spcFirstLastPara="1" vert="horz" wrap="square" lIns="91425" tIns="45700" rIns="91425" bIns="45700" rtlCol="0" anchor="t" anchorCtr="0">
            <a:noAutofit/>
          </a:bodyPr>
          <a:lstStyle/>
          <a:p>
            <a:pPr marL="342900" indent="-342900">
              <a:lnSpc>
                <a:spcPct val="100000"/>
              </a:lnSpc>
              <a:spcBef>
                <a:spcPts val="0"/>
              </a:spcBef>
              <a:buClr>
                <a:schemeClr val="dk1"/>
              </a:buClr>
              <a:buSzPts val="2800"/>
              <a:buFont typeface="Times New Roman"/>
              <a:buChar char="•"/>
            </a:pPr>
            <a:r>
              <a:rPr lang="en-US">
                <a:latin typeface="Times New Roman"/>
                <a:ea typeface="Times New Roman"/>
                <a:cs typeface="Times New Roman"/>
                <a:sym typeface="Times New Roman"/>
              </a:rPr>
              <a:t>Example:</a:t>
            </a:r>
            <a:endParaRPr>
              <a:latin typeface="Times New Roman"/>
              <a:ea typeface="Times New Roman"/>
              <a:cs typeface="Times New Roman"/>
              <a:sym typeface="Times New Roman"/>
            </a:endParaRPr>
          </a:p>
          <a:p>
            <a:pPr marL="742950" lvl="1" indent="-285750">
              <a:lnSpc>
                <a:spcPct val="100000"/>
              </a:lnSpc>
              <a:spcBef>
                <a:spcPts val="560"/>
              </a:spcBef>
              <a:buClr>
                <a:schemeClr val="dk1"/>
              </a:buClr>
              <a:buSzPts val="2800"/>
              <a:buNone/>
            </a:pPr>
            <a:r>
              <a:rPr lang="en-US" i="1">
                <a:latin typeface="Times New Roman"/>
                <a:ea typeface="Times New Roman"/>
                <a:cs typeface="Times New Roman"/>
                <a:sym typeface="Times New Roman"/>
              </a:rPr>
              <a:t>R</a:t>
            </a:r>
            <a:r>
              <a:rPr lang="en-US">
                <a:latin typeface="Times New Roman"/>
                <a:ea typeface="Times New Roman"/>
                <a:cs typeface="Times New Roman"/>
                <a:sym typeface="Times New Roman"/>
              </a:rPr>
              <a:t> = (</a:t>
            </a:r>
            <a:r>
              <a:rPr lang="en-US" i="1">
                <a:latin typeface="Times New Roman"/>
                <a:ea typeface="Times New Roman"/>
                <a:cs typeface="Times New Roman"/>
                <a:sym typeface="Times New Roman"/>
              </a:rPr>
              <a:t>A, B, C, D</a:t>
            </a:r>
            <a:r>
              <a:rPr lang="en-US">
                <a:latin typeface="Times New Roman"/>
                <a:ea typeface="Times New Roman"/>
                <a:cs typeface="Times New Roman"/>
                <a:sym typeface="Times New Roman"/>
              </a:rPr>
              <a:t>)</a:t>
            </a:r>
            <a:endParaRPr>
              <a:latin typeface="Times New Roman"/>
              <a:ea typeface="Times New Roman"/>
              <a:cs typeface="Times New Roman"/>
              <a:sym typeface="Times New Roman"/>
            </a:endParaRPr>
          </a:p>
          <a:p>
            <a:pPr marL="742950" lvl="1" indent="-285750">
              <a:lnSpc>
                <a:spcPct val="100000"/>
              </a:lnSpc>
              <a:spcBef>
                <a:spcPts val="560"/>
              </a:spcBef>
              <a:buClr>
                <a:schemeClr val="dk1"/>
              </a:buClr>
              <a:buSzPts val="2800"/>
              <a:buNone/>
            </a:pPr>
            <a:r>
              <a:rPr lang="en-US" i="1">
                <a:latin typeface="Times New Roman"/>
                <a:ea typeface="Times New Roman"/>
                <a:cs typeface="Times New Roman"/>
                <a:sym typeface="Times New Roman"/>
              </a:rPr>
              <a:t>S</a:t>
            </a:r>
            <a:r>
              <a:rPr lang="en-US">
                <a:latin typeface="Times New Roman"/>
                <a:ea typeface="Times New Roman"/>
                <a:cs typeface="Times New Roman"/>
                <a:sym typeface="Times New Roman"/>
              </a:rPr>
              <a:t> = (</a:t>
            </a:r>
            <a:r>
              <a:rPr lang="en-US" i="1">
                <a:latin typeface="Times New Roman"/>
                <a:ea typeface="Times New Roman"/>
                <a:cs typeface="Times New Roman"/>
                <a:sym typeface="Times New Roman"/>
              </a:rPr>
              <a:t>E, B, D</a:t>
            </a:r>
            <a:r>
              <a:rPr lang="en-US">
                <a:latin typeface="Times New Roman"/>
                <a:ea typeface="Times New Roman"/>
                <a:cs typeface="Times New Roman"/>
                <a:sym typeface="Times New Roman"/>
              </a:rPr>
              <a:t>)</a:t>
            </a:r>
            <a:endParaRPr>
              <a:latin typeface="Times New Roman"/>
              <a:ea typeface="Times New Roman"/>
              <a:cs typeface="Times New Roman"/>
              <a:sym typeface="Times New Roman"/>
            </a:endParaRPr>
          </a:p>
          <a:p>
            <a:pPr marL="742950" lvl="1" indent="-285750">
              <a:lnSpc>
                <a:spcPct val="100000"/>
              </a:lnSpc>
              <a:spcBef>
                <a:spcPts val="560"/>
              </a:spcBef>
              <a:buClr>
                <a:schemeClr val="dk1"/>
              </a:buClr>
              <a:buSzPts val="2800"/>
              <a:buFont typeface="Times New Roman"/>
              <a:buChar char="–"/>
            </a:pPr>
            <a:r>
              <a:rPr lang="en-US">
                <a:latin typeface="Times New Roman"/>
                <a:ea typeface="Times New Roman"/>
                <a:cs typeface="Times New Roman"/>
                <a:sym typeface="Times New Roman"/>
              </a:rPr>
              <a:t>Result schema = (</a:t>
            </a:r>
            <a:r>
              <a:rPr lang="en-US" i="1">
                <a:latin typeface="Times New Roman"/>
                <a:ea typeface="Times New Roman"/>
                <a:cs typeface="Times New Roman"/>
                <a:sym typeface="Times New Roman"/>
              </a:rPr>
              <a:t>A, B, C, D, E</a:t>
            </a:r>
            <a:r>
              <a:rPr lang="en-US">
                <a:latin typeface="Times New Roman"/>
                <a:ea typeface="Times New Roman"/>
                <a:cs typeface="Times New Roman"/>
                <a:sym typeface="Times New Roman"/>
              </a:rPr>
              <a:t>)</a:t>
            </a:r>
            <a:endParaRPr>
              <a:latin typeface="Times New Roman"/>
              <a:ea typeface="Times New Roman"/>
              <a:cs typeface="Times New Roman"/>
              <a:sym typeface="Times New Roman"/>
            </a:endParaRPr>
          </a:p>
          <a:p>
            <a:pPr marL="742950" lvl="1" indent="-285750">
              <a:lnSpc>
                <a:spcPct val="100000"/>
              </a:lnSpc>
              <a:spcBef>
                <a:spcPts val="560"/>
              </a:spcBef>
              <a:buClr>
                <a:schemeClr val="dk1"/>
              </a:buClr>
              <a:buSzPts val="2800"/>
              <a:buFont typeface="Times New Roman"/>
              <a:buChar char="–"/>
            </a:pPr>
            <a:r>
              <a:rPr lang="en-US" i="1">
                <a:latin typeface="Times New Roman"/>
                <a:ea typeface="Times New Roman"/>
                <a:cs typeface="Times New Roman"/>
                <a:sym typeface="Times New Roman"/>
              </a:rPr>
              <a:t>r</a:t>
            </a:r>
            <a:r>
              <a:rPr lang="en-US">
                <a:latin typeface="Times New Roman"/>
                <a:ea typeface="Times New Roman"/>
                <a:cs typeface="Times New Roman"/>
                <a:sym typeface="Times New Roman"/>
              </a:rPr>
              <a:t>     </a:t>
            </a:r>
            <a:r>
              <a:rPr lang="en-US" i="1">
                <a:latin typeface="Times New Roman"/>
                <a:ea typeface="Times New Roman"/>
                <a:cs typeface="Times New Roman"/>
                <a:sym typeface="Times New Roman"/>
              </a:rPr>
              <a:t>s</a:t>
            </a:r>
            <a:r>
              <a:rPr lang="en-US">
                <a:latin typeface="Times New Roman"/>
                <a:ea typeface="Times New Roman"/>
                <a:cs typeface="Times New Roman"/>
                <a:sym typeface="Times New Roman"/>
              </a:rPr>
              <a:t> is defined as:</a:t>
            </a:r>
            <a:br>
              <a:rPr lang="en-US">
                <a:latin typeface="Times New Roman"/>
                <a:ea typeface="Times New Roman"/>
                <a:cs typeface="Times New Roman"/>
                <a:sym typeface="Times New Roman"/>
              </a:rPr>
            </a:br>
            <a:r>
              <a:rPr lang="en-US">
                <a:latin typeface="Times New Roman"/>
                <a:ea typeface="Times New Roman"/>
                <a:cs typeface="Times New Roman"/>
                <a:sym typeface="Times New Roman"/>
              </a:rPr>
              <a:t>      ∏</a:t>
            </a:r>
            <a:r>
              <a:rPr lang="en-US" i="1" baseline="-25000">
                <a:latin typeface="Times New Roman"/>
                <a:ea typeface="Times New Roman"/>
                <a:cs typeface="Times New Roman"/>
                <a:sym typeface="Times New Roman"/>
              </a:rPr>
              <a:t>r.A, r.B, r.C, r.D, s.E</a:t>
            </a:r>
            <a:r>
              <a:rPr lang="en-US">
                <a:latin typeface="Times New Roman"/>
                <a:ea typeface="Times New Roman"/>
                <a:cs typeface="Times New Roman"/>
                <a:sym typeface="Times New Roman"/>
              </a:rPr>
              <a:t> (σ</a:t>
            </a:r>
            <a:r>
              <a:rPr lang="en-US" i="1" baseline="-25000">
                <a:latin typeface="Times New Roman"/>
                <a:ea typeface="Times New Roman"/>
                <a:cs typeface="Times New Roman"/>
                <a:sym typeface="Times New Roman"/>
              </a:rPr>
              <a:t>r.B = s.B </a:t>
            </a:r>
            <a:r>
              <a:rPr lang="en-US">
                <a:latin typeface="Times New Roman"/>
                <a:ea typeface="Times New Roman"/>
                <a:cs typeface="Times New Roman"/>
                <a:sym typeface="Times New Roman"/>
              </a:rPr>
              <a:t>∧</a:t>
            </a:r>
            <a:r>
              <a:rPr lang="en-US" i="1" baseline="-25000">
                <a:latin typeface="Times New Roman"/>
                <a:ea typeface="Times New Roman"/>
                <a:cs typeface="Times New Roman"/>
                <a:sym typeface="Times New Roman"/>
              </a:rPr>
              <a:t> r.D = s.D</a:t>
            </a:r>
            <a:r>
              <a:rPr lang="en-US">
                <a:latin typeface="Times New Roman"/>
                <a:ea typeface="Times New Roman"/>
                <a:cs typeface="Times New Roman"/>
                <a:sym typeface="Times New Roman"/>
              </a:rPr>
              <a:t> (</a:t>
            </a:r>
            <a:r>
              <a:rPr lang="en-US" i="1">
                <a:latin typeface="Times New Roman"/>
                <a:ea typeface="Times New Roman"/>
                <a:cs typeface="Times New Roman"/>
                <a:sym typeface="Times New Roman"/>
              </a:rPr>
              <a:t>r </a:t>
            </a:r>
            <a:r>
              <a:rPr lang="en-US">
                <a:latin typeface="Times New Roman"/>
                <a:ea typeface="Times New Roman"/>
                <a:cs typeface="Times New Roman"/>
                <a:sym typeface="Times New Roman"/>
              </a:rPr>
              <a:t> x  </a:t>
            </a:r>
            <a:r>
              <a:rPr lang="en-US" i="1">
                <a:latin typeface="Times New Roman"/>
                <a:ea typeface="Times New Roman"/>
                <a:cs typeface="Times New Roman"/>
                <a:sym typeface="Times New Roman"/>
              </a:rPr>
              <a:t>s</a:t>
            </a:r>
            <a:r>
              <a:rPr lang="en-US">
                <a:latin typeface="Times New Roman"/>
                <a:ea typeface="Times New Roman"/>
                <a:cs typeface="Times New Roman"/>
                <a:sym typeface="Times New Roman"/>
              </a:rPr>
              <a:t>))</a:t>
            </a:r>
            <a:endParaRPr>
              <a:latin typeface="Times New Roman"/>
              <a:ea typeface="Times New Roman"/>
              <a:cs typeface="Times New Roman"/>
              <a:sym typeface="Times New Roman"/>
            </a:endParaRPr>
          </a:p>
          <a:p>
            <a:pPr marL="342900" indent="-342900" algn="just">
              <a:lnSpc>
                <a:spcPct val="100000"/>
              </a:lnSpc>
              <a:spcBef>
                <a:spcPts val="560"/>
              </a:spcBef>
              <a:buClr>
                <a:schemeClr val="dk1"/>
              </a:buClr>
              <a:buSzPts val="2800"/>
              <a:buFont typeface="Times New Roman"/>
              <a:buChar char="•"/>
            </a:pPr>
            <a:r>
              <a:rPr lang="en-US">
                <a:latin typeface="Times New Roman"/>
                <a:ea typeface="Times New Roman"/>
                <a:cs typeface="Times New Roman"/>
                <a:sym typeface="Times New Roman"/>
              </a:rPr>
              <a:t>The natural-join operation forms a Cartesian product of its two arguments, performs a selection forcing equality on those attributes that appear in both relation schemas, and finally removes duplicate attributes.</a:t>
            </a:r>
            <a:endParaRPr>
              <a:latin typeface="Times New Roman"/>
              <a:ea typeface="Times New Roman"/>
              <a:cs typeface="Times New Roman"/>
              <a:sym typeface="Times New Roman"/>
            </a:endParaRPr>
          </a:p>
          <a:p>
            <a:pPr marL="342900" indent="-342900">
              <a:lnSpc>
                <a:spcPct val="100000"/>
              </a:lnSpc>
              <a:spcBef>
                <a:spcPts val="560"/>
              </a:spcBef>
              <a:buClr>
                <a:schemeClr val="dk1"/>
              </a:buClr>
              <a:buSzPts val="2800"/>
              <a:buFont typeface="Times New Roman"/>
              <a:buChar char="•"/>
            </a:pPr>
            <a:r>
              <a:rPr lang="en-US">
                <a:latin typeface="Times New Roman"/>
                <a:ea typeface="Times New Roman"/>
                <a:cs typeface="Times New Roman"/>
                <a:sym typeface="Times New Roman"/>
              </a:rPr>
              <a:t>Find the names of all customers who have a loan at the bank, and find the amount of the loan.</a:t>
            </a:r>
            <a:endParaRPr>
              <a:latin typeface="Times New Roman"/>
              <a:ea typeface="Times New Roman"/>
              <a:cs typeface="Times New Roman"/>
              <a:sym typeface="Times New Roman"/>
            </a:endParaRPr>
          </a:p>
          <a:p>
            <a:pPr marL="342900" indent="-342900" algn="ctr">
              <a:lnSpc>
                <a:spcPct val="100000"/>
              </a:lnSpc>
              <a:spcBef>
                <a:spcPts val="560"/>
              </a:spcBef>
              <a:buClr>
                <a:schemeClr val="dk1"/>
              </a:buClr>
              <a:buSzPts val="2800"/>
              <a:buNone/>
            </a:pPr>
            <a:r>
              <a:rPr lang="en-US">
                <a:latin typeface="Times New Roman"/>
                <a:ea typeface="Times New Roman"/>
                <a:cs typeface="Times New Roman"/>
                <a:sym typeface="Times New Roman"/>
              </a:rPr>
              <a:t>Π</a:t>
            </a:r>
            <a:r>
              <a:rPr lang="en-US" baseline="-25000">
                <a:latin typeface="Times New Roman"/>
                <a:ea typeface="Times New Roman"/>
                <a:cs typeface="Times New Roman"/>
                <a:sym typeface="Times New Roman"/>
              </a:rPr>
              <a:t>customer_name, loan_number, amount </a:t>
            </a:r>
            <a:r>
              <a:rPr lang="en-US">
                <a:latin typeface="Times New Roman"/>
                <a:ea typeface="Times New Roman"/>
                <a:cs typeface="Times New Roman"/>
                <a:sym typeface="Times New Roman"/>
              </a:rPr>
              <a:t>(borrower     loan)</a:t>
            </a:r>
            <a:endParaRPr>
              <a:latin typeface="Times New Roman"/>
              <a:ea typeface="Times New Roman"/>
              <a:cs typeface="Times New Roman"/>
              <a:sym typeface="Times New Roman"/>
            </a:endParaRPr>
          </a:p>
          <a:p>
            <a:pPr marL="342900" indent="-165100">
              <a:lnSpc>
                <a:spcPct val="100000"/>
              </a:lnSpc>
              <a:spcBef>
                <a:spcPts val="560"/>
              </a:spcBef>
              <a:buClr>
                <a:schemeClr val="dk1"/>
              </a:buClr>
              <a:buSzPts val="2800"/>
              <a:buNone/>
            </a:pPr>
            <a:endParaRPr>
              <a:latin typeface="Times New Roman"/>
              <a:ea typeface="Times New Roman"/>
              <a:cs typeface="Times New Roman"/>
              <a:sym typeface="Times New Roman"/>
            </a:endParaRPr>
          </a:p>
        </p:txBody>
      </p:sp>
      <p:pic>
        <p:nvPicPr>
          <p:cNvPr id="485" name="Google Shape;485;p40"/>
          <p:cNvPicPr preferRelativeResize="0"/>
          <p:nvPr/>
        </p:nvPicPr>
        <p:blipFill rotWithShape="1">
          <a:blip r:embed="rId3">
            <a:alphaModFix/>
          </a:blip>
          <a:srcRect/>
          <a:stretch/>
        </p:blipFill>
        <p:spPr>
          <a:xfrm>
            <a:off x="8077200" y="6477000"/>
            <a:ext cx="294862" cy="260838"/>
          </a:xfrm>
          <a:prstGeom prst="rect">
            <a:avLst/>
          </a:prstGeom>
          <a:noFill/>
          <a:ln>
            <a:noFill/>
          </a:ln>
        </p:spPr>
      </p:pic>
      <p:sp>
        <p:nvSpPr>
          <p:cNvPr id="486" name="Google Shape;486;p40"/>
          <p:cNvSpPr txBox="1">
            <a:spLocks noGrp="1"/>
          </p:cNvSpPr>
          <p:nvPr>
            <p:ph type="title"/>
          </p:nvPr>
        </p:nvSpPr>
        <p:spPr>
          <a:xfrm>
            <a:off x="1981200" y="152401"/>
            <a:ext cx="8229600" cy="493395"/>
          </a:xfrm>
          <a:prstGeom prst="rect">
            <a:avLst/>
          </a:prstGeom>
          <a:noFill/>
          <a:ln>
            <a:noFill/>
          </a:ln>
        </p:spPr>
        <p:txBody>
          <a:bodyPr spcFirstLastPara="1" vert="horz" wrap="square" lIns="91425" tIns="45700" rIns="91425" bIns="45700" rtlCol="0" anchor="ctr" anchorCtr="0">
            <a:noAutofit/>
          </a:bodyPr>
          <a:lstStyle/>
          <a:p>
            <a:pPr algn="ctr">
              <a:lnSpc>
                <a:spcPct val="100000"/>
              </a:lnSpc>
              <a:spcBef>
                <a:spcPts val="0"/>
              </a:spcBef>
              <a:buClr>
                <a:schemeClr val="dk2"/>
              </a:buClr>
              <a:buSzPts val="3600"/>
            </a:pPr>
            <a:r>
              <a:rPr lang="en-US" sz="3600" b="1">
                <a:latin typeface="Times New Roman"/>
                <a:ea typeface="Times New Roman"/>
                <a:cs typeface="Times New Roman"/>
                <a:sym typeface="Times New Roman"/>
              </a:rPr>
              <a:t>Natural-Join Operation.....</a:t>
            </a:r>
            <a:endParaRPr sz="3600" b="1">
              <a:latin typeface="Times New Roman"/>
              <a:ea typeface="Times New Roman"/>
              <a:cs typeface="Times New Roman"/>
              <a:sym typeface="Times New Roman"/>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490"/>
        <p:cNvGrpSpPr/>
        <p:nvPr/>
      </p:nvGrpSpPr>
      <p:grpSpPr>
        <a:xfrm>
          <a:off x="0" y="0"/>
          <a:ext cx="0" cy="0"/>
          <a:chOff x="0" y="0"/>
          <a:chExt cx="0" cy="0"/>
        </a:xfrm>
      </p:grpSpPr>
      <p:sp>
        <p:nvSpPr>
          <p:cNvPr id="491" name="Google Shape;491;p41"/>
          <p:cNvSpPr txBox="1">
            <a:spLocks noGrp="1"/>
          </p:cNvSpPr>
          <p:nvPr>
            <p:ph type="title"/>
          </p:nvPr>
        </p:nvSpPr>
        <p:spPr>
          <a:xfrm>
            <a:off x="2209800" y="152400"/>
            <a:ext cx="7772400" cy="486410"/>
          </a:xfrm>
          <a:prstGeom prst="rect">
            <a:avLst/>
          </a:prstGeom>
          <a:noFill/>
          <a:ln>
            <a:noFill/>
          </a:ln>
        </p:spPr>
        <p:txBody>
          <a:bodyPr spcFirstLastPara="1" vert="horz" wrap="square" lIns="91425" tIns="45700" rIns="91425" bIns="45700" rtlCol="0" anchor="ctr" anchorCtr="0">
            <a:noAutofit/>
          </a:bodyPr>
          <a:lstStyle/>
          <a:p>
            <a:pPr algn="ctr">
              <a:lnSpc>
                <a:spcPct val="100000"/>
              </a:lnSpc>
              <a:spcBef>
                <a:spcPts val="0"/>
              </a:spcBef>
              <a:buClr>
                <a:schemeClr val="dk2"/>
              </a:buClr>
              <a:buSzPts val="2800"/>
            </a:pPr>
            <a:r>
              <a:rPr lang="en-US" sz="2800" b="1"/>
              <a:t>Natural Join Operation – Example</a:t>
            </a:r>
            <a:endParaRPr sz="2800" b="1"/>
          </a:p>
        </p:txBody>
      </p:sp>
      <p:sp>
        <p:nvSpPr>
          <p:cNvPr id="492" name="Google Shape;492;p41"/>
          <p:cNvSpPr txBox="1">
            <a:spLocks noGrp="1"/>
          </p:cNvSpPr>
          <p:nvPr>
            <p:ph type="body" idx="1"/>
          </p:nvPr>
        </p:nvSpPr>
        <p:spPr>
          <a:xfrm>
            <a:off x="1981200" y="1219201"/>
            <a:ext cx="7029450" cy="409575"/>
          </a:xfrm>
          <a:prstGeom prst="rect">
            <a:avLst/>
          </a:prstGeom>
          <a:noFill/>
          <a:ln>
            <a:noFill/>
          </a:ln>
        </p:spPr>
        <p:txBody>
          <a:bodyPr spcFirstLastPara="1" vert="horz" wrap="square" lIns="91425" tIns="45700" rIns="91425" bIns="45700" rtlCol="0" anchor="t" anchorCtr="0">
            <a:noAutofit/>
          </a:bodyPr>
          <a:lstStyle/>
          <a:p>
            <a:pPr marL="342900" indent="-342900">
              <a:spcBef>
                <a:spcPts val="0"/>
              </a:spcBef>
              <a:buClr>
                <a:schemeClr val="dk1"/>
              </a:buClr>
              <a:buSzPts val="2800"/>
              <a:buFont typeface="Arial"/>
              <a:buChar char="•"/>
            </a:pPr>
            <a:r>
              <a:rPr lang="en-US"/>
              <a:t>Relations r, s:</a:t>
            </a:r>
            <a:endParaRPr/>
          </a:p>
        </p:txBody>
      </p:sp>
      <p:sp>
        <p:nvSpPr>
          <p:cNvPr id="493" name="Google Shape;493;p41"/>
          <p:cNvSpPr/>
          <p:nvPr/>
        </p:nvSpPr>
        <p:spPr>
          <a:xfrm>
            <a:off x="3200400" y="1676400"/>
            <a:ext cx="457200" cy="5334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A</a:t>
            </a:r>
            <a:endParaRPr i="1">
              <a:solidFill>
                <a:schemeClr val="dk1"/>
              </a:solidFill>
              <a:latin typeface="Helvetica Neue"/>
              <a:ea typeface="Helvetica Neue"/>
              <a:cs typeface="Helvetica Neue"/>
              <a:sym typeface="Helvetica Neue"/>
            </a:endParaRPr>
          </a:p>
        </p:txBody>
      </p:sp>
      <p:sp>
        <p:nvSpPr>
          <p:cNvPr id="494" name="Google Shape;494;p41"/>
          <p:cNvSpPr/>
          <p:nvPr/>
        </p:nvSpPr>
        <p:spPr>
          <a:xfrm>
            <a:off x="3657600" y="1676400"/>
            <a:ext cx="457200" cy="5334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B</a:t>
            </a:r>
            <a:endParaRPr i="1">
              <a:solidFill>
                <a:schemeClr val="dk1"/>
              </a:solidFill>
              <a:latin typeface="Helvetica Neue"/>
              <a:ea typeface="Helvetica Neue"/>
              <a:cs typeface="Helvetica Neue"/>
              <a:sym typeface="Helvetica Neue"/>
            </a:endParaRPr>
          </a:p>
        </p:txBody>
      </p:sp>
      <p:sp>
        <p:nvSpPr>
          <p:cNvPr id="495" name="Google Shape;495;p41"/>
          <p:cNvSpPr/>
          <p:nvPr/>
        </p:nvSpPr>
        <p:spPr>
          <a:xfrm>
            <a:off x="3200400" y="2286000"/>
            <a:ext cx="457200" cy="13716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α</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β</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γ</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α</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δ</a:t>
            </a:r>
            <a:endParaRPr i="1">
              <a:solidFill>
                <a:schemeClr val="dk1"/>
              </a:solidFill>
              <a:latin typeface="Helvetica Neue"/>
              <a:ea typeface="Helvetica Neue"/>
              <a:cs typeface="Helvetica Neue"/>
              <a:sym typeface="Helvetica Neue"/>
            </a:endParaRPr>
          </a:p>
        </p:txBody>
      </p:sp>
      <p:sp>
        <p:nvSpPr>
          <p:cNvPr id="496" name="Google Shape;496;p41"/>
          <p:cNvSpPr/>
          <p:nvPr/>
        </p:nvSpPr>
        <p:spPr>
          <a:xfrm>
            <a:off x="3657600" y="2286000"/>
            <a:ext cx="457200" cy="13716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1</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2</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4</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1</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2</a:t>
            </a:r>
            <a:endParaRPr i="1">
              <a:solidFill>
                <a:schemeClr val="dk1"/>
              </a:solidFill>
              <a:latin typeface="Helvetica Neue"/>
              <a:ea typeface="Helvetica Neue"/>
              <a:cs typeface="Helvetica Neue"/>
              <a:sym typeface="Helvetica Neue"/>
            </a:endParaRPr>
          </a:p>
        </p:txBody>
      </p:sp>
      <p:sp>
        <p:nvSpPr>
          <p:cNvPr id="497" name="Google Shape;497;p41"/>
          <p:cNvSpPr/>
          <p:nvPr/>
        </p:nvSpPr>
        <p:spPr>
          <a:xfrm>
            <a:off x="4114800" y="1676400"/>
            <a:ext cx="457200" cy="5334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C</a:t>
            </a:r>
            <a:endParaRPr i="1">
              <a:solidFill>
                <a:schemeClr val="dk1"/>
              </a:solidFill>
              <a:latin typeface="Helvetica Neue"/>
              <a:ea typeface="Helvetica Neue"/>
              <a:cs typeface="Helvetica Neue"/>
              <a:sym typeface="Helvetica Neue"/>
            </a:endParaRPr>
          </a:p>
        </p:txBody>
      </p:sp>
      <p:sp>
        <p:nvSpPr>
          <p:cNvPr id="498" name="Google Shape;498;p41"/>
          <p:cNvSpPr/>
          <p:nvPr/>
        </p:nvSpPr>
        <p:spPr>
          <a:xfrm>
            <a:off x="4572000" y="1676400"/>
            <a:ext cx="457200" cy="5334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D</a:t>
            </a:r>
            <a:endParaRPr i="1">
              <a:solidFill>
                <a:schemeClr val="dk1"/>
              </a:solidFill>
              <a:latin typeface="Helvetica Neue"/>
              <a:ea typeface="Helvetica Neue"/>
              <a:cs typeface="Helvetica Neue"/>
              <a:sym typeface="Helvetica Neue"/>
            </a:endParaRPr>
          </a:p>
        </p:txBody>
      </p:sp>
      <p:sp>
        <p:nvSpPr>
          <p:cNvPr id="499" name="Google Shape;499;p41"/>
          <p:cNvSpPr/>
          <p:nvPr/>
        </p:nvSpPr>
        <p:spPr>
          <a:xfrm>
            <a:off x="4114800" y="2286000"/>
            <a:ext cx="457200" cy="13716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α</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γ</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β</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γ</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β</a:t>
            </a:r>
            <a:endParaRPr i="1">
              <a:solidFill>
                <a:schemeClr val="dk1"/>
              </a:solidFill>
              <a:latin typeface="Helvetica Neue"/>
              <a:ea typeface="Helvetica Neue"/>
              <a:cs typeface="Helvetica Neue"/>
              <a:sym typeface="Helvetica Neue"/>
            </a:endParaRPr>
          </a:p>
        </p:txBody>
      </p:sp>
      <p:sp>
        <p:nvSpPr>
          <p:cNvPr id="500" name="Google Shape;500;p41"/>
          <p:cNvSpPr/>
          <p:nvPr/>
        </p:nvSpPr>
        <p:spPr>
          <a:xfrm>
            <a:off x="4572000" y="2286000"/>
            <a:ext cx="457200" cy="13716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a:solidFill>
                  <a:schemeClr val="dk1"/>
                </a:solidFill>
                <a:latin typeface="Helvetica Neue"/>
                <a:ea typeface="Helvetica Neue"/>
                <a:cs typeface="Helvetica Neue"/>
                <a:sym typeface="Helvetica Neue"/>
              </a:rPr>
              <a:t>a</a:t>
            </a:r>
            <a:endParaRPr>
              <a:solidFill>
                <a:schemeClr val="dk1"/>
              </a:solidFill>
              <a:latin typeface="Helvetica Neue"/>
              <a:ea typeface="Helvetica Neue"/>
              <a:cs typeface="Helvetica Neue"/>
              <a:sym typeface="Helvetica Neue"/>
            </a:endParaRPr>
          </a:p>
          <a:p>
            <a:pPr algn="ctr"/>
            <a:r>
              <a:rPr lang="en-US">
                <a:solidFill>
                  <a:schemeClr val="dk1"/>
                </a:solidFill>
                <a:latin typeface="Helvetica Neue"/>
                <a:ea typeface="Helvetica Neue"/>
                <a:cs typeface="Helvetica Neue"/>
                <a:sym typeface="Helvetica Neue"/>
              </a:rPr>
              <a:t>a</a:t>
            </a:r>
            <a:endParaRPr>
              <a:solidFill>
                <a:schemeClr val="dk1"/>
              </a:solidFill>
              <a:latin typeface="Helvetica Neue"/>
              <a:ea typeface="Helvetica Neue"/>
              <a:cs typeface="Helvetica Neue"/>
              <a:sym typeface="Helvetica Neue"/>
            </a:endParaRPr>
          </a:p>
          <a:p>
            <a:pPr algn="ctr"/>
            <a:r>
              <a:rPr lang="en-US">
                <a:solidFill>
                  <a:schemeClr val="dk1"/>
                </a:solidFill>
                <a:latin typeface="Helvetica Neue"/>
                <a:ea typeface="Helvetica Neue"/>
                <a:cs typeface="Helvetica Neue"/>
                <a:sym typeface="Helvetica Neue"/>
              </a:rPr>
              <a:t>b</a:t>
            </a:r>
            <a:endParaRPr>
              <a:solidFill>
                <a:schemeClr val="dk1"/>
              </a:solidFill>
              <a:latin typeface="Helvetica Neue"/>
              <a:ea typeface="Helvetica Neue"/>
              <a:cs typeface="Helvetica Neue"/>
              <a:sym typeface="Helvetica Neue"/>
            </a:endParaRPr>
          </a:p>
          <a:p>
            <a:pPr algn="ctr"/>
            <a:r>
              <a:rPr lang="en-US">
                <a:solidFill>
                  <a:schemeClr val="dk1"/>
                </a:solidFill>
                <a:latin typeface="Helvetica Neue"/>
                <a:ea typeface="Helvetica Neue"/>
                <a:cs typeface="Helvetica Neue"/>
                <a:sym typeface="Helvetica Neue"/>
              </a:rPr>
              <a:t>a</a:t>
            </a:r>
            <a:endParaRPr>
              <a:solidFill>
                <a:schemeClr val="dk1"/>
              </a:solidFill>
              <a:latin typeface="Helvetica Neue"/>
              <a:ea typeface="Helvetica Neue"/>
              <a:cs typeface="Helvetica Neue"/>
              <a:sym typeface="Helvetica Neue"/>
            </a:endParaRPr>
          </a:p>
          <a:p>
            <a:pPr algn="ctr"/>
            <a:r>
              <a:rPr lang="en-US">
                <a:solidFill>
                  <a:schemeClr val="dk1"/>
                </a:solidFill>
                <a:latin typeface="Helvetica Neue"/>
                <a:ea typeface="Helvetica Neue"/>
                <a:cs typeface="Helvetica Neue"/>
                <a:sym typeface="Helvetica Neue"/>
              </a:rPr>
              <a:t>b</a:t>
            </a:r>
            <a:endParaRPr>
              <a:solidFill>
                <a:schemeClr val="dk1"/>
              </a:solidFill>
              <a:latin typeface="Helvetica Neue"/>
              <a:ea typeface="Helvetica Neue"/>
              <a:cs typeface="Helvetica Neue"/>
              <a:sym typeface="Helvetica Neue"/>
            </a:endParaRPr>
          </a:p>
        </p:txBody>
      </p:sp>
      <p:sp>
        <p:nvSpPr>
          <p:cNvPr id="501" name="Google Shape;501;p41"/>
          <p:cNvSpPr/>
          <p:nvPr/>
        </p:nvSpPr>
        <p:spPr>
          <a:xfrm>
            <a:off x="6705600" y="1600200"/>
            <a:ext cx="457200" cy="5334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B</a:t>
            </a:r>
            <a:endParaRPr i="1">
              <a:solidFill>
                <a:schemeClr val="dk1"/>
              </a:solidFill>
              <a:latin typeface="Helvetica Neue"/>
              <a:ea typeface="Helvetica Neue"/>
              <a:cs typeface="Helvetica Neue"/>
              <a:sym typeface="Helvetica Neue"/>
            </a:endParaRPr>
          </a:p>
        </p:txBody>
      </p:sp>
      <p:sp>
        <p:nvSpPr>
          <p:cNvPr id="502" name="Google Shape;502;p41"/>
          <p:cNvSpPr/>
          <p:nvPr/>
        </p:nvSpPr>
        <p:spPr>
          <a:xfrm>
            <a:off x="6705600" y="2209800"/>
            <a:ext cx="457200" cy="14478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1</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3</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1</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2</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3</a:t>
            </a:r>
            <a:endParaRPr i="1">
              <a:solidFill>
                <a:schemeClr val="dk1"/>
              </a:solidFill>
              <a:latin typeface="Helvetica Neue"/>
              <a:ea typeface="Helvetica Neue"/>
              <a:cs typeface="Helvetica Neue"/>
              <a:sym typeface="Helvetica Neue"/>
            </a:endParaRPr>
          </a:p>
        </p:txBody>
      </p:sp>
      <p:sp>
        <p:nvSpPr>
          <p:cNvPr id="503" name="Google Shape;503;p41"/>
          <p:cNvSpPr/>
          <p:nvPr/>
        </p:nvSpPr>
        <p:spPr>
          <a:xfrm>
            <a:off x="7162800" y="1600200"/>
            <a:ext cx="457200" cy="5334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D</a:t>
            </a:r>
            <a:endParaRPr i="1">
              <a:solidFill>
                <a:schemeClr val="dk1"/>
              </a:solidFill>
              <a:latin typeface="Helvetica Neue"/>
              <a:ea typeface="Helvetica Neue"/>
              <a:cs typeface="Helvetica Neue"/>
              <a:sym typeface="Helvetica Neue"/>
            </a:endParaRPr>
          </a:p>
        </p:txBody>
      </p:sp>
      <p:sp>
        <p:nvSpPr>
          <p:cNvPr id="504" name="Google Shape;504;p41"/>
          <p:cNvSpPr/>
          <p:nvPr/>
        </p:nvSpPr>
        <p:spPr>
          <a:xfrm>
            <a:off x="7162800" y="2209800"/>
            <a:ext cx="457200" cy="14478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a:solidFill>
                  <a:schemeClr val="dk1"/>
                </a:solidFill>
                <a:latin typeface="Helvetica Neue"/>
                <a:ea typeface="Helvetica Neue"/>
                <a:cs typeface="Helvetica Neue"/>
                <a:sym typeface="Helvetica Neue"/>
              </a:rPr>
              <a:t>a</a:t>
            </a:r>
            <a:endParaRPr>
              <a:solidFill>
                <a:schemeClr val="dk1"/>
              </a:solidFill>
              <a:latin typeface="Helvetica Neue"/>
              <a:ea typeface="Helvetica Neue"/>
              <a:cs typeface="Helvetica Neue"/>
              <a:sym typeface="Helvetica Neue"/>
            </a:endParaRPr>
          </a:p>
          <a:p>
            <a:pPr algn="ctr"/>
            <a:r>
              <a:rPr lang="en-US">
                <a:solidFill>
                  <a:schemeClr val="dk1"/>
                </a:solidFill>
                <a:latin typeface="Helvetica Neue"/>
                <a:ea typeface="Helvetica Neue"/>
                <a:cs typeface="Helvetica Neue"/>
                <a:sym typeface="Helvetica Neue"/>
              </a:rPr>
              <a:t>a</a:t>
            </a:r>
            <a:endParaRPr>
              <a:solidFill>
                <a:schemeClr val="dk1"/>
              </a:solidFill>
              <a:latin typeface="Helvetica Neue"/>
              <a:ea typeface="Helvetica Neue"/>
              <a:cs typeface="Helvetica Neue"/>
              <a:sym typeface="Helvetica Neue"/>
            </a:endParaRPr>
          </a:p>
          <a:p>
            <a:pPr algn="ctr"/>
            <a:r>
              <a:rPr lang="en-US">
                <a:solidFill>
                  <a:schemeClr val="dk1"/>
                </a:solidFill>
                <a:latin typeface="Helvetica Neue"/>
                <a:ea typeface="Helvetica Neue"/>
                <a:cs typeface="Helvetica Neue"/>
                <a:sym typeface="Helvetica Neue"/>
              </a:rPr>
              <a:t>a</a:t>
            </a:r>
            <a:endParaRPr>
              <a:solidFill>
                <a:schemeClr val="dk1"/>
              </a:solidFill>
              <a:latin typeface="Helvetica Neue"/>
              <a:ea typeface="Helvetica Neue"/>
              <a:cs typeface="Helvetica Neue"/>
              <a:sym typeface="Helvetica Neue"/>
            </a:endParaRPr>
          </a:p>
          <a:p>
            <a:pPr algn="ctr"/>
            <a:r>
              <a:rPr lang="en-US">
                <a:solidFill>
                  <a:schemeClr val="dk1"/>
                </a:solidFill>
                <a:latin typeface="Helvetica Neue"/>
                <a:ea typeface="Helvetica Neue"/>
                <a:cs typeface="Helvetica Neue"/>
                <a:sym typeface="Helvetica Neue"/>
              </a:rPr>
              <a:t>b</a:t>
            </a:r>
            <a:endParaRPr>
              <a:solidFill>
                <a:schemeClr val="dk1"/>
              </a:solidFill>
              <a:latin typeface="Helvetica Neue"/>
              <a:ea typeface="Helvetica Neue"/>
              <a:cs typeface="Helvetica Neue"/>
              <a:sym typeface="Helvetica Neue"/>
            </a:endParaRPr>
          </a:p>
          <a:p>
            <a:pPr algn="ctr"/>
            <a:r>
              <a:rPr lang="en-US">
                <a:solidFill>
                  <a:schemeClr val="dk1"/>
                </a:solidFill>
                <a:latin typeface="Helvetica Neue"/>
                <a:ea typeface="Helvetica Neue"/>
                <a:cs typeface="Helvetica Neue"/>
                <a:sym typeface="Helvetica Neue"/>
              </a:rPr>
              <a:t>b</a:t>
            </a:r>
            <a:endParaRPr>
              <a:solidFill>
                <a:schemeClr val="dk1"/>
              </a:solidFill>
              <a:latin typeface="Helvetica Neue"/>
              <a:ea typeface="Helvetica Neue"/>
              <a:cs typeface="Helvetica Neue"/>
              <a:sym typeface="Helvetica Neue"/>
            </a:endParaRPr>
          </a:p>
        </p:txBody>
      </p:sp>
      <p:sp>
        <p:nvSpPr>
          <p:cNvPr id="505" name="Google Shape;505;p41"/>
          <p:cNvSpPr/>
          <p:nvPr/>
        </p:nvSpPr>
        <p:spPr>
          <a:xfrm>
            <a:off x="7620000" y="1600200"/>
            <a:ext cx="457200" cy="5334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E</a:t>
            </a:r>
            <a:endParaRPr i="1">
              <a:solidFill>
                <a:schemeClr val="dk1"/>
              </a:solidFill>
              <a:latin typeface="Helvetica Neue"/>
              <a:ea typeface="Helvetica Neue"/>
              <a:cs typeface="Helvetica Neue"/>
              <a:sym typeface="Helvetica Neue"/>
            </a:endParaRPr>
          </a:p>
        </p:txBody>
      </p:sp>
      <p:sp>
        <p:nvSpPr>
          <p:cNvPr id="506" name="Google Shape;506;p41"/>
          <p:cNvSpPr/>
          <p:nvPr/>
        </p:nvSpPr>
        <p:spPr>
          <a:xfrm>
            <a:off x="7620000" y="2209800"/>
            <a:ext cx="457200" cy="14478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α</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β</a:t>
            </a:r>
            <a:endParaRPr b="1"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γ</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δ</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a:t>
            </a:r>
            <a:endParaRPr i="1">
              <a:solidFill>
                <a:schemeClr val="dk1"/>
              </a:solidFill>
              <a:latin typeface="Helvetica Neue"/>
              <a:ea typeface="Helvetica Neue"/>
              <a:cs typeface="Helvetica Neue"/>
              <a:sym typeface="Helvetica Neue"/>
            </a:endParaRPr>
          </a:p>
        </p:txBody>
      </p:sp>
      <p:sp>
        <p:nvSpPr>
          <p:cNvPr id="507" name="Google Shape;507;p41"/>
          <p:cNvSpPr txBox="1"/>
          <p:nvPr/>
        </p:nvSpPr>
        <p:spPr>
          <a:xfrm>
            <a:off x="3886200" y="3657601"/>
            <a:ext cx="260350" cy="366713"/>
          </a:xfrm>
          <a:prstGeom prst="rect">
            <a:avLst/>
          </a:prstGeom>
          <a:noFill/>
          <a:ln>
            <a:noFill/>
          </a:ln>
        </p:spPr>
        <p:txBody>
          <a:bodyPr spcFirstLastPara="1" wrap="square" lIns="91425" tIns="45700" rIns="91425" bIns="45700" anchor="ctr" anchorCtr="0">
            <a:spAutoFit/>
          </a:bodyPr>
          <a:lstStyle/>
          <a:p>
            <a:pPr algn="ctr"/>
            <a:r>
              <a:rPr lang="en-US" i="1">
                <a:solidFill>
                  <a:schemeClr val="dk1"/>
                </a:solidFill>
                <a:latin typeface="Helvetica Neue"/>
                <a:ea typeface="Helvetica Neue"/>
                <a:cs typeface="Helvetica Neue"/>
                <a:sym typeface="Helvetica Neue"/>
              </a:rPr>
              <a:t>r</a:t>
            </a:r>
            <a:endParaRPr i="1">
              <a:solidFill>
                <a:schemeClr val="dk1"/>
              </a:solidFill>
              <a:latin typeface="Helvetica Neue"/>
              <a:ea typeface="Helvetica Neue"/>
              <a:cs typeface="Helvetica Neue"/>
              <a:sym typeface="Helvetica Neue"/>
            </a:endParaRPr>
          </a:p>
        </p:txBody>
      </p:sp>
      <p:sp>
        <p:nvSpPr>
          <p:cNvPr id="508" name="Google Shape;508;p41"/>
          <p:cNvSpPr/>
          <p:nvPr/>
        </p:nvSpPr>
        <p:spPr>
          <a:xfrm>
            <a:off x="4876801" y="4340225"/>
            <a:ext cx="434975" cy="496888"/>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A</a:t>
            </a:r>
            <a:endParaRPr i="1">
              <a:solidFill>
                <a:schemeClr val="dk1"/>
              </a:solidFill>
              <a:latin typeface="Helvetica Neue"/>
              <a:ea typeface="Helvetica Neue"/>
              <a:cs typeface="Helvetica Neue"/>
              <a:sym typeface="Helvetica Neue"/>
            </a:endParaRPr>
          </a:p>
        </p:txBody>
      </p:sp>
      <p:sp>
        <p:nvSpPr>
          <p:cNvPr id="509" name="Google Shape;509;p41"/>
          <p:cNvSpPr/>
          <p:nvPr/>
        </p:nvSpPr>
        <p:spPr>
          <a:xfrm>
            <a:off x="5311776" y="4340225"/>
            <a:ext cx="434975" cy="496888"/>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B</a:t>
            </a:r>
            <a:endParaRPr i="1">
              <a:solidFill>
                <a:schemeClr val="dk1"/>
              </a:solidFill>
              <a:latin typeface="Helvetica Neue"/>
              <a:ea typeface="Helvetica Neue"/>
              <a:cs typeface="Helvetica Neue"/>
              <a:sym typeface="Helvetica Neue"/>
            </a:endParaRPr>
          </a:p>
        </p:txBody>
      </p:sp>
      <p:sp>
        <p:nvSpPr>
          <p:cNvPr id="510" name="Google Shape;510;p41"/>
          <p:cNvSpPr/>
          <p:nvPr/>
        </p:nvSpPr>
        <p:spPr>
          <a:xfrm>
            <a:off x="4876801" y="4908551"/>
            <a:ext cx="434975" cy="1350963"/>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α</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α</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α</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α</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δ</a:t>
            </a:r>
            <a:endParaRPr i="1">
              <a:solidFill>
                <a:schemeClr val="dk1"/>
              </a:solidFill>
              <a:latin typeface="Helvetica Neue"/>
              <a:ea typeface="Helvetica Neue"/>
              <a:cs typeface="Helvetica Neue"/>
              <a:sym typeface="Helvetica Neue"/>
            </a:endParaRPr>
          </a:p>
        </p:txBody>
      </p:sp>
      <p:sp>
        <p:nvSpPr>
          <p:cNvPr id="511" name="Google Shape;511;p41"/>
          <p:cNvSpPr/>
          <p:nvPr/>
        </p:nvSpPr>
        <p:spPr>
          <a:xfrm>
            <a:off x="5311776" y="4908551"/>
            <a:ext cx="434975" cy="1350963"/>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1</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1</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1</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1</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2</a:t>
            </a:r>
            <a:endParaRPr i="1">
              <a:solidFill>
                <a:schemeClr val="dk1"/>
              </a:solidFill>
              <a:latin typeface="Helvetica Neue"/>
              <a:ea typeface="Helvetica Neue"/>
              <a:cs typeface="Helvetica Neue"/>
              <a:sym typeface="Helvetica Neue"/>
            </a:endParaRPr>
          </a:p>
        </p:txBody>
      </p:sp>
      <p:sp>
        <p:nvSpPr>
          <p:cNvPr id="512" name="Google Shape;512;p41"/>
          <p:cNvSpPr/>
          <p:nvPr/>
        </p:nvSpPr>
        <p:spPr>
          <a:xfrm>
            <a:off x="5746751" y="4340225"/>
            <a:ext cx="436563" cy="496888"/>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C</a:t>
            </a:r>
            <a:endParaRPr i="1">
              <a:solidFill>
                <a:schemeClr val="dk1"/>
              </a:solidFill>
              <a:latin typeface="Helvetica Neue"/>
              <a:ea typeface="Helvetica Neue"/>
              <a:cs typeface="Helvetica Neue"/>
              <a:sym typeface="Helvetica Neue"/>
            </a:endParaRPr>
          </a:p>
        </p:txBody>
      </p:sp>
      <p:sp>
        <p:nvSpPr>
          <p:cNvPr id="513" name="Google Shape;513;p41"/>
          <p:cNvSpPr/>
          <p:nvPr/>
        </p:nvSpPr>
        <p:spPr>
          <a:xfrm>
            <a:off x="6183314" y="4340225"/>
            <a:ext cx="434975" cy="496888"/>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D</a:t>
            </a:r>
            <a:endParaRPr i="1">
              <a:solidFill>
                <a:schemeClr val="dk1"/>
              </a:solidFill>
              <a:latin typeface="Helvetica Neue"/>
              <a:ea typeface="Helvetica Neue"/>
              <a:cs typeface="Helvetica Neue"/>
              <a:sym typeface="Helvetica Neue"/>
            </a:endParaRPr>
          </a:p>
        </p:txBody>
      </p:sp>
      <p:sp>
        <p:nvSpPr>
          <p:cNvPr id="514" name="Google Shape;514;p41"/>
          <p:cNvSpPr/>
          <p:nvPr/>
        </p:nvSpPr>
        <p:spPr>
          <a:xfrm>
            <a:off x="5746751" y="4908551"/>
            <a:ext cx="436563" cy="1350963"/>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α</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α</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γ</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γ</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β</a:t>
            </a:r>
            <a:endParaRPr i="1">
              <a:solidFill>
                <a:schemeClr val="dk1"/>
              </a:solidFill>
              <a:latin typeface="Helvetica Neue"/>
              <a:ea typeface="Helvetica Neue"/>
              <a:cs typeface="Helvetica Neue"/>
              <a:sym typeface="Helvetica Neue"/>
            </a:endParaRPr>
          </a:p>
        </p:txBody>
      </p:sp>
      <p:sp>
        <p:nvSpPr>
          <p:cNvPr id="515" name="Google Shape;515;p41"/>
          <p:cNvSpPr/>
          <p:nvPr/>
        </p:nvSpPr>
        <p:spPr>
          <a:xfrm>
            <a:off x="6183314" y="4908551"/>
            <a:ext cx="434975" cy="1350963"/>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a:solidFill>
                  <a:schemeClr val="dk1"/>
                </a:solidFill>
                <a:latin typeface="Helvetica Neue"/>
                <a:ea typeface="Helvetica Neue"/>
                <a:cs typeface="Helvetica Neue"/>
                <a:sym typeface="Helvetica Neue"/>
              </a:rPr>
              <a:t>a</a:t>
            </a:r>
            <a:endParaRPr>
              <a:solidFill>
                <a:schemeClr val="dk1"/>
              </a:solidFill>
              <a:latin typeface="Helvetica Neue"/>
              <a:ea typeface="Helvetica Neue"/>
              <a:cs typeface="Helvetica Neue"/>
              <a:sym typeface="Helvetica Neue"/>
            </a:endParaRPr>
          </a:p>
          <a:p>
            <a:pPr algn="ctr"/>
            <a:r>
              <a:rPr lang="en-US">
                <a:solidFill>
                  <a:schemeClr val="dk1"/>
                </a:solidFill>
                <a:latin typeface="Helvetica Neue"/>
                <a:ea typeface="Helvetica Neue"/>
                <a:cs typeface="Helvetica Neue"/>
                <a:sym typeface="Helvetica Neue"/>
              </a:rPr>
              <a:t>a</a:t>
            </a:r>
            <a:endParaRPr>
              <a:solidFill>
                <a:schemeClr val="dk1"/>
              </a:solidFill>
              <a:latin typeface="Helvetica Neue"/>
              <a:ea typeface="Helvetica Neue"/>
              <a:cs typeface="Helvetica Neue"/>
              <a:sym typeface="Helvetica Neue"/>
            </a:endParaRPr>
          </a:p>
          <a:p>
            <a:pPr algn="ctr"/>
            <a:r>
              <a:rPr lang="en-US">
                <a:solidFill>
                  <a:schemeClr val="dk1"/>
                </a:solidFill>
                <a:latin typeface="Helvetica Neue"/>
                <a:ea typeface="Helvetica Neue"/>
                <a:cs typeface="Helvetica Neue"/>
                <a:sym typeface="Helvetica Neue"/>
              </a:rPr>
              <a:t>a</a:t>
            </a:r>
            <a:endParaRPr>
              <a:solidFill>
                <a:schemeClr val="dk1"/>
              </a:solidFill>
              <a:latin typeface="Helvetica Neue"/>
              <a:ea typeface="Helvetica Neue"/>
              <a:cs typeface="Helvetica Neue"/>
              <a:sym typeface="Helvetica Neue"/>
            </a:endParaRPr>
          </a:p>
          <a:p>
            <a:pPr algn="ctr"/>
            <a:r>
              <a:rPr lang="en-US">
                <a:solidFill>
                  <a:schemeClr val="dk1"/>
                </a:solidFill>
                <a:latin typeface="Helvetica Neue"/>
                <a:ea typeface="Helvetica Neue"/>
                <a:cs typeface="Helvetica Neue"/>
                <a:sym typeface="Helvetica Neue"/>
              </a:rPr>
              <a:t>a</a:t>
            </a:r>
            <a:endParaRPr>
              <a:solidFill>
                <a:schemeClr val="dk1"/>
              </a:solidFill>
              <a:latin typeface="Helvetica Neue"/>
              <a:ea typeface="Helvetica Neue"/>
              <a:cs typeface="Helvetica Neue"/>
              <a:sym typeface="Helvetica Neue"/>
            </a:endParaRPr>
          </a:p>
          <a:p>
            <a:pPr algn="ctr"/>
            <a:r>
              <a:rPr lang="en-US">
                <a:solidFill>
                  <a:schemeClr val="dk1"/>
                </a:solidFill>
                <a:latin typeface="Helvetica Neue"/>
                <a:ea typeface="Helvetica Neue"/>
                <a:cs typeface="Helvetica Neue"/>
                <a:sym typeface="Helvetica Neue"/>
              </a:rPr>
              <a:t>b</a:t>
            </a:r>
            <a:endParaRPr>
              <a:solidFill>
                <a:schemeClr val="dk1"/>
              </a:solidFill>
              <a:latin typeface="Helvetica Neue"/>
              <a:ea typeface="Helvetica Neue"/>
              <a:cs typeface="Helvetica Neue"/>
              <a:sym typeface="Helvetica Neue"/>
            </a:endParaRPr>
          </a:p>
        </p:txBody>
      </p:sp>
      <p:sp>
        <p:nvSpPr>
          <p:cNvPr id="516" name="Google Shape;516;p41"/>
          <p:cNvSpPr/>
          <p:nvPr/>
        </p:nvSpPr>
        <p:spPr>
          <a:xfrm>
            <a:off x="6618289" y="4340225"/>
            <a:ext cx="434975" cy="496888"/>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E</a:t>
            </a:r>
            <a:endParaRPr i="1">
              <a:solidFill>
                <a:schemeClr val="dk1"/>
              </a:solidFill>
              <a:latin typeface="Helvetica Neue"/>
              <a:ea typeface="Helvetica Neue"/>
              <a:cs typeface="Helvetica Neue"/>
              <a:sym typeface="Helvetica Neue"/>
            </a:endParaRPr>
          </a:p>
        </p:txBody>
      </p:sp>
      <p:sp>
        <p:nvSpPr>
          <p:cNvPr id="517" name="Google Shape;517;p41"/>
          <p:cNvSpPr/>
          <p:nvPr/>
        </p:nvSpPr>
        <p:spPr>
          <a:xfrm>
            <a:off x="6618289" y="4908551"/>
            <a:ext cx="434975" cy="1350963"/>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α</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γ</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α</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γ</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δ</a:t>
            </a:r>
            <a:endParaRPr i="1">
              <a:solidFill>
                <a:schemeClr val="dk1"/>
              </a:solidFill>
              <a:latin typeface="Helvetica Neue"/>
              <a:ea typeface="Helvetica Neue"/>
              <a:cs typeface="Helvetica Neue"/>
              <a:sym typeface="Helvetica Neue"/>
            </a:endParaRPr>
          </a:p>
        </p:txBody>
      </p:sp>
      <p:sp>
        <p:nvSpPr>
          <p:cNvPr id="518" name="Google Shape;518;p41"/>
          <p:cNvSpPr txBox="1"/>
          <p:nvPr/>
        </p:nvSpPr>
        <p:spPr>
          <a:xfrm>
            <a:off x="7239000" y="3657601"/>
            <a:ext cx="298450" cy="366713"/>
          </a:xfrm>
          <a:prstGeom prst="rect">
            <a:avLst/>
          </a:prstGeom>
          <a:noFill/>
          <a:ln>
            <a:noFill/>
          </a:ln>
        </p:spPr>
        <p:txBody>
          <a:bodyPr spcFirstLastPara="1" wrap="square" lIns="91425" tIns="45700" rIns="91425" bIns="45700" anchor="ctr" anchorCtr="0">
            <a:spAutoFit/>
          </a:bodyPr>
          <a:lstStyle/>
          <a:p>
            <a:pPr algn="ctr"/>
            <a:r>
              <a:rPr lang="en-US" i="1">
                <a:solidFill>
                  <a:schemeClr val="dk1"/>
                </a:solidFill>
                <a:latin typeface="Helvetica Neue"/>
                <a:ea typeface="Helvetica Neue"/>
                <a:cs typeface="Helvetica Neue"/>
                <a:sym typeface="Helvetica Neue"/>
              </a:rPr>
              <a:t>s</a:t>
            </a:r>
            <a:endParaRPr i="1">
              <a:solidFill>
                <a:schemeClr val="dk1"/>
              </a:solidFill>
              <a:latin typeface="Helvetica Neue"/>
              <a:ea typeface="Helvetica Neue"/>
              <a:cs typeface="Helvetica Neue"/>
              <a:sym typeface="Helvetica Neue"/>
            </a:endParaRPr>
          </a:p>
        </p:txBody>
      </p:sp>
      <p:grpSp>
        <p:nvGrpSpPr>
          <p:cNvPr id="519" name="Google Shape;519;p41"/>
          <p:cNvGrpSpPr/>
          <p:nvPr/>
        </p:nvGrpSpPr>
        <p:grpSpPr>
          <a:xfrm>
            <a:off x="2552700" y="4241801"/>
            <a:ext cx="7029450" cy="409575"/>
            <a:chOff x="288" y="2688"/>
            <a:chExt cx="4428" cy="258"/>
          </a:xfrm>
        </p:grpSpPr>
        <p:sp>
          <p:nvSpPr>
            <p:cNvPr id="520" name="Google Shape;520;p41"/>
            <p:cNvSpPr/>
            <p:nvPr/>
          </p:nvSpPr>
          <p:spPr>
            <a:xfrm>
              <a:off x="288" y="2688"/>
              <a:ext cx="4428" cy="258"/>
            </a:xfrm>
            <a:prstGeom prst="rect">
              <a:avLst/>
            </a:prstGeom>
            <a:noFill/>
            <a:ln>
              <a:noFill/>
            </a:ln>
          </p:spPr>
          <p:txBody>
            <a:bodyPr spcFirstLastPara="1" wrap="square" lIns="91425" tIns="45700" rIns="91425" bIns="45700" anchor="t" anchorCtr="0">
              <a:noAutofit/>
            </a:bodyPr>
            <a:lstStyle/>
            <a:p>
              <a:pPr marL="342900" indent="-342900"/>
              <a:r>
                <a:rPr lang="en-US" sz="2000" i="1">
                  <a:solidFill>
                    <a:schemeClr val="dk1"/>
                  </a:solidFill>
                  <a:latin typeface="Helvetica Neue"/>
                  <a:ea typeface="Helvetica Neue"/>
                  <a:cs typeface="Helvetica Neue"/>
                  <a:sym typeface="Helvetica Neue"/>
                </a:rPr>
                <a:t>r     s</a:t>
              </a:r>
              <a:endParaRPr sz="2000" i="1">
                <a:solidFill>
                  <a:schemeClr val="dk1"/>
                </a:solidFill>
                <a:latin typeface="Helvetica Neue"/>
                <a:ea typeface="Helvetica Neue"/>
                <a:cs typeface="Helvetica Neue"/>
                <a:sym typeface="Helvetica Neue"/>
              </a:endParaRPr>
            </a:p>
          </p:txBody>
        </p:sp>
        <p:sp>
          <p:nvSpPr>
            <p:cNvPr id="521" name="Google Shape;521;p41"/>
            <p:cNvSpPr/>
            <p:nvPr/>
          </p:nvSpPr>
          <p:spPr>
            <a:xfrm rot="5400000" flipH="1">
              <a:off x="470" y="2784"/>
              <a:ext cx="96" cy="96"/>
            </a:xfrm>
            <a:prstGeom prst="flowChartCollate">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endParaRPr>
                <a:solidFill>
                  <a:schemeClr val="dk1"/>
                </a:solidFill>
                <a:latin typeface="Times New Roman"/>
                <a:ea typeface="Times New Roman"/>
                <a:cs typeface="Times New Roman"/>
                <a:sym typeface="Times New Roman"/>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08"/>
                                        </p:tgtEl>
                                        <p:attrNameLst>
                                          <p:attrName>style.visibility</p:attrName>
                                        </p:attrNameLst>
                                      </p:cBhvr>
                                      <p:to>
                                        <p:strVal val="visible"/>
                                      </p:to>
                                    </p:set>
                                    <p:anim calcmode="lin" valueType="num">
                                      <p:cBhvr additive="base">
                                        <p:cTn id="7" dur="500"/>
                                        <p:tgtEl>
                                          <p:spTgt spid="508"/>
                                        </p:tgtEl>
                                        <p:attrNameLst>
                                          <p:attrName>ppt_y</p:attrName>
                                        </p:attrNameLst>
                                      </p:cBhvr>
                                      <p:tavLst>
                                        <p:tav tm="0">
                                          <p:val>
                                            <p:strVal val="#ppt_y+1"/>
                                          </p:val>
                                        </p:tav>
                                        <p:tav tm="100000">
                                          <p:val>
                                            <p:strVal val="#ppt_y"/>
                                          </p:val>
                                        </p:tav>
                                      </p:tavLst>
                                    </p:anim>
                                  </p:childTnLst>
                                </p:cTn>
                              </p:par>
                              <p:par>
                                <p:cTn id="8" presetID="2" presetClass="entr" presetSubtype="4" fill="hold" nodeType="withEffect">
                                  <p:stCondLst>
                                    <p:cond delay="0"/>
                                  </p:stCondLst>
                                  <p:childTnLst>
                                    <p:set>
                                      <p:cBhvr>
                                        <p:cTn id="9" dur="1" fill="hold">
                                          <p:stCondLst>
                                            <p:cond delay="0"/>
                                          </p:stCondLst>
                                        </p:cTn>
                                        <p:tgtEl>
                                          <p:spTgt spid="509"/>
                                        </p:tgtEl>
                                        <p:attrNameLst>
                                          <p:attrName>style.visibility</p:attrName>
                                        </p:attrNameLst>
                                      </p:cBhvr>
                                      <p:to>
                                        <p:strVal val="visible"/>
                                      </p:to>
                                    </p:set>
                                    <p:anim calcmode="lin" valueType="num">
                                      <p:cBhvr additive="base">
                                        <p:cTn id="10" dur="500"/>
                                        <p:tgtEl>
                                          <p:spTgt spid="509"/>
                                        </p:tgtEl>
                                        <p:attrNameLst>
                                          <p:attrName>ppt_y</p:attrName>
                                        </p:attrNameLst>
                                      </p:cBhvr>
                                      <p:tavLst>
                                        <p:tav tm="0">
                                          <p:val>
                                            <p:strVal val="#ppt_y+1"/>
                                          </p:val>
                                        </p:tav>
                                        <p:tav tm="100000">
                                          <p:val>
                                            <p:strVal val="#ppt_y"/>
                                          </p:val>
                                        </p:tav>
                                      </p:tavLst>
                                    </p:anim>
                                  </p:childTnLst>
                                </p:cTn>
                              </p:par>
                              <p:par>
                                <p:cTn id="11" presetID="2" presetClass="entr" presetSubtype="4" fill="hold" nodeType="withEffect">
                                  <p:stCondLst>
                                    <p:cond delay="0"/>
                                  </p:stCondLst>
                                  <p:childTnLst>
                                    <p:set>
                                      <p:cBhvr>
                                        <p:cTn id="12" dur="1" fill="hold">
                                          <p:stCondLst>
                                            <p:cond delay="0"/>
                                          </p:stCondLst>
                                        </p:cTn>
                                        <p:tgtEl>
                                          <p:spTgt spid="510"/>
                                        </p:tgtEl>
                                        <p:attrNameLst>
                                          <p:attrName>style.visibility</p:attrName>
                                        </p:attrNameLst>
                                      </p:cBhvr>
                                      <p:to>
                                        <p:strVal val="visible"/>
                                      </p:to>
                                    </p:set>
                                    <p:anim calcmode="lin" valueType="num">
                                      <p:cBhvr additive="base">
                                        <p:cTn id="13" dur="500"/>
                                        <p:tgtEl>
                                          <p:spTgt spid="510"/>
                                        </p:tgtEl>
                                        <p:attrNameLst>
                                          <p:attrName>ppt_y</p:attrName>
                                        </p:attrNameLst>
                                      </p:cBhvr>
                                      <p:tavLst>
                                        <p:tav tm="0">
                                          <p:val>
                                            <p:strVal val="#ppt_y+1"/>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511"/>
                                        </p:tgtEl>
                                        <p:attrNameLst>
                                          <p:attrName>style.visibility</p:attrName>
                                        </p:attrNameLst>
                                      </p:cBhvr>
                                      <p:to>
                                        <p:strVal val="visible"/>
                                      </p:to>
                                    </p:set>
                                    <p:anim calcmode="lin" valueType="num">
                                      <p:cBhvr additive="base">
                                        <p:cTn id="16" dur="500"/>
                                        <p:tgtEl>
                                          <p:spTgt spid="511"/>
                                        </p:tgtEl>
                                        <p:attrNameLst>
                                          <p:attrName>ppt_y</p:attrName>
                                        </p:attrNameLst>
                                      </p:cBhvr>
                                      <p:tavLst>
                                        <p:tav tm="0">
                                          <p:val>
                                            <p:strVal val="#ppt_y+1"/>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512"/>
                                        </p:tgtEl>
                                        <p:attrNameLst>
                                          <p:attrName>style.visibility</p:attrName>
                                        </p:attrNameLst>
                                      </p:cBhvr>
                                      <p:to>
                                        <p:strVal val="visible"/>
                                      </p:to>
                                    </p:set>
                                    <p:anim calcmode="lin" valueType="num">
                                      <p:cBhvr additive="base">
                                        <p:cTn id="19" dur="500"/>
                                        <p:tgtEl>
                                          <p:spTgt spid="512"/>
                                        </p:tgtEl>
                                        <p:attrNameLst>
                                          <p:attrName>ppt_y</p:attrName>
                                        </p:attrNameLst>
                                      </p:cBhvr>
                                      <p:tavLst>
                                        <p:tav tm="0">
                                          <p:val>
                                            <p:strVal val="#ppt_y+1"/>
                                          </p:val>
                                        </p:tav>
                                        <p:tav tm="100000">
                                          <p:val>
                                            <p:strVal val="#ppt_y"/>
                                          </p:val>
                                        </p:tav>
                                      </p:tavLst>
                                    </p:anim>
                                  </p:childTnLst>
                                </p:cTn>
                              </p:par>
                              <p:par>
                                <p:cTn id="20" presetID="2" presetClass="entr" presetSubtype="4" fill="hold" nodeType="withEffect">
                                  <p:stCondLst>
                                    <p:cond delay="0"/>
                                  </p:stCondLst>
                                  <p:childTnLst>
                                    <p:set>
                                      <p:cBhvr>
                                        <p:cTn id="21" dur="1" fill="hold">
                                          <p:stCondLst>
                                            <p:cond delay="0"/>
                                          </p:stCondLst>
                                        </p:cTn>
                                        <p:tgtEl>
                                          <p:spTgt spid="513"/>
                                        </p:tgtEl>
                                        <p:attrNameLst>
                                          <p:attrName>style.visibility</p:attrName>
                                        </p:attrNameLst>
                                      </p:cBhvr>
                                      <p:to>
                                        <p:strVal val="visible"/>
                                      </p:to>
                                    </p:set>
                                    <p:anim calcmode="lin" valueType="num">
                                      <p:cBhvr additive="base">
                                        <p:cTn id="22" dur="500"/>
                                        <p:tgtEl>
                                          <p:spTgt spid="513"/>
                                        </p:tgtEl>
                                        <p:attrNameLst>
                                          <p:attrName>ppt_y</p:attrName>
                                        </p:attrNameLst>
                                      </p:cBhvr>
                                      <p:tavLst>
                                        <p:tav tm="0">
                                          <p:val>
                                            <p:strVal val="#ppt_y+1"/>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514"/>
                                        </p:tgtEl>
                                        <p:attrNameLst>
                                          <p:attrName>style.visibility</p:attrName>
                                        </p:attrNameLst>
                                      </p:cBhvr>
                                      <p:to>
                                        <p:strVal val="visible"/>
                                      </p:to>
                                    </p:set>
                                    <p:anim calcmode="lin" valueType="num">
                                      <p:cBhvr additive="base">
                                        <p:cTn id="25" dur="500"/>
                                        <p:tgtEl>
                                          <p:spTgt spid="514"/>
                                        </p:tgtEl>
                                        <p:attrNameLst>
                                          <p:attrName>ppt_y</p:attrName>
                                        </p:attrNameLst>
                                      </p:cBhvr>
                                      <p:tavLst>
                                        <p:tav tm="0">
                                          <p:val>
                                            <p:strVal val="#ppt_y+1"/>
                                          </p:val>
                                        </p:tav>
                                        <p:tav tm="100000">
                                          <p:val>
                                            <p:strVal val="#ppt_y"/>
                                          </p:val>
                                        </p:tav>
                                      </p:tavLst>
                                    </p:anim>
                                  </p:childTnLst>
                                </p:cTn>
                              </p:par>
                              <p:par>
                                <p:cTn id="26" presetID="2" presetClass="entr" presetSubtype="4" fill="hold" nodeType="withEffect">
                                  <p:stCondLst>
                                    <p:cond delay="0"/>
                                  </p:stCondLst>
                                  <p:childTnLst>
                                    <p:set>
                                      <p:cBhvr>
                                        <p:cTn id="27" dur="1" fill="hold">
                                          <p:stCondLst>
                                            <p:cond delay="0"/>
                                          </p:stCondLst>
                                        </p:cTn>
                                        <p:tgtEl>
                                          <p:spTgt spid="515"/>
                                        </p:tgtEl>
                                        <p:attrNameLst>
                                          <p:attrName>style.visibility</p:attrName>
                                        </p:attrNameLst>
                                      </p:cBhvr>
                                      <p:to>
                                        <p:strVal val="visible"/>
                                      </p:to>
                                    </p:set>
                                    <p:anim calcmode="lin" valueType="num">
                                      <p:cBhvr additive="base">
                                        <p:cTn id="28" dur="500"/>
                                        <p:tgtEl>
                                          <p:spTgt spid="515"/>
                                        </p:tgtEl>
                                        <p:attrNameLst>
                                          <p:attrName>ppt_y</p:attrName>
                                        </p:attrNameLst>
                                      </p:cBhvr>
                                      <p:tavLst>
                                        <p:tav tm="0">
                                          <p:val>
                                            <p:strVal val="#ppt_y+1"/>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516"/>
                                        </p:tgtEl>
                                        <p:attrNameLst>
                                          <p:attrName>style.visibility</p:attrName>
                                        </p:attrNameLst>
                                      </p:cBhvr>
                                      <p:to>
                                        <p:strVal val="visible"/>
                                      </p:to>
                                    </p:set>
                                    <p:anim calcmode="lin" valueType="num">
                                      <p:cBhvr additive="base">
                                        <p:cTn id="31" dur="500"/>
                                        <p:tgtEl>
                                          <p:spTgt spid="516"/>
                                        </p:tgtEl>
                                        <p:attrNameLst>
                                          <p:attrName>ppt_y</p:attrName>
                                        </p:attrNameLst>
                                      </p:cBhvr>
                                      <p:tavLst>
                                        <p:tav tm="0">
                                          <p:val>
                                            <p:strVal val="#ppt_y+1"/>
                                          </p:val>
                                        </p:tav>
                                        <p:tav tm="100000">
                                          <p:val>
                                            <p:strVal val="#ppt_y"/>
                                          </p:val>
                                        </p:tav>
                                      </p:tavLst>
                                    </p:anim>
                                  </p:childTnLst>
                                </p:cTn>
                              </p:par>
                              <p:par>
                                <p:cTn id="32" presetID="2" presetClass="entr" presetSubtype="4" fill="hold" nodeType="withEffect">
                                  <p:stCondLst>
                                    <p:cond delay="0"/>
                                  </p:stCondLst>
                                  <p:childTnLst>
                                    <p:set>
                                      <p:cBhvr>
                                        <p:cTn id="33" dur="1" fill="hold">
                                          <p:stCondLst>
                                            <p:cond delay="0"/>
                                          </p:stCondLst>
                                        </p:cTn>
                                        <p:tgtEl>
                                          <p:spTgt spid="517"/>
                                        </p:tgtEl>
                                        <p:attrNameLst>
                                          <p:attrName>style.visibility</p:attrName>
                                        </p:attrNameLst>
                                      </p:cBhvr>
                                      <p:to>
                                        <p:strVal val="visible"/>
                                      </p:to>
                                    </p:set>
                                    <p:anim calcmode="lin" valueType="num">
                                      <p:cBhvr additive="base">
                                        <p:cTn id="34" dur="500"/>
                                        <p:tgtEl>
                                          <p:spTgt spid="5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526"/>
        <p:cNvGrpSpPr/>
        <p:nvPr/>
      </p:nvGrpSpPr>
      <p:grpSpPr>
        <a:xfrm>
          <a:off x="0" y="0"/>
          <a:ext cx="0" cy="0"/>
          <a:chOff x="0" y="0"/>
          <a:chExt cx="0" cy="0"/>
        </a:xfrm>
      </p:grpSpPr>
      <p:sp>
        <p:nvSpPr>
          <p:cNvPr id="527" name="Google Shape;527;p42"/>
          <p:cNvSpPr txBox="1">
            <a:spLocks noGrp="1"/>
          </p:cNvSpPr>
          <p:nvPr>
            <p:ph type="title"/>
          </p:nvPr>
        </p:nvSpPr>
        <p:spPr>
          <a:xfrm>
            <a:off x="1941195" y="171451"/>
            <a:ext cx="8341360" cy="628015"/>
          </a:xfrm>
          <a:prstGeom prst="rect">
            <a:avLst/>
          </a:prstGeom>
          <a:noFill/>
          <a:ln>
            <a:noFill/>
          </a:ln>
        </p:spPr>
        <p:txBody>
          <a:bodyPr spcFirstLastPara="1" vert="horz" wrap="square" lIns="91425" tIns="45700" rIns="91425" bIns="45700" rtlCol="0" anchor="ctr" anchorCtr="0">
            <a:noAutofit/>
          </a:bodyPr>
          <a:lstStyle/>
          <a:p>
            <a:pPr algn="ctr">
              <a:lnSpc>
                <a:spcPct val="100000"/>
              </a:lnSpc>
              <a:spcBef>
                <a:spcPts val="0"/>
              </a:spcBef>
              <a:buClr>
                <a:schemeClr val="dk2"/>
              </a:buClr>
              <a:buSzPts val="3600"/>
            </a:pPr>
            <a:r>
              <a:rPr lang="en-US" sz="3600" b="1"/>
              <a:t>Natural Join Example2.....</a:t>
            </a:r>
            <a:endParaRPr sz="3600" b="1"/>
          </a:p>
        </p:txBody>
      </p:sp>
      <p:sp>
        <p:nvSpPr>
          <p:cNvPr id="528" name="Google Shape;528;p42"/>
          <p:cNvSpPr txBox="1"/>
          <p:nvPr/>
        </p:nvSpPr>
        <p:spPr>
          <a:xfrm>
            <a:off x="3184525" y="2887663"/>
            <a:ext cx="889000" cy="457200"/>
          </a:xfrm>
          <a:prstGeom prst="rect">
            <a:avLst/>
          </a:prstGeom>
          <a:noFill/>
          <a:ln>
            <a:noFill/>
          </a:ln>
        </p:spPr>
        <p:txBody>
          <a:bodyPr spcFirstLastPara="1" wrap="square" lIns="91425" tIns="45700" rIns="91425" bIns="45700" anchor="t" anchorCtr="0">
            <a:spAutoFit/>
          </a:bodyPr>
          <a:lstStyle/>
          <a:p>
            <a:r>
              <a:rPr lang="en-US" sz="2400" b="1">
                <a:solidFill>
                  <a:schemeClr val="dk1"/>
                </a:solidFill>
                <a:latin typeface="Book Antiqua"/>
                <a:ea typeface="Book Antiqua"/>
                <a:cs typeface="Book Antiqua"/>
                <a:sym typeface="Book Antiqua"/>
              </a:rPr>
              <a:t>R1</a:t>
            </a:r>
            <a:endParaRPr sz="2400">
              <a:solidFill>
                <a:srgbClr val="CF0E30"/>
              </a:solidFill>
              <a:latin typeface="Book Antiqua"/>
              <a:ea typeface="Book Antiqua"/>
              <a:cs typeface="Book Antiqua"/>
              <a:sym typeface="Book Antiqua"/>
            </a:endParaRPr>
          </a:p>
        </p:txBody>
      </p:sp>
      <p:sp>
        <p:nvSpPr>
          <p:cNvPr id="529" name="Google Shape;529;p42"/>
          <p:cNvSpPr txBox="1"/>
          <p:nvPr/>
        </p:nvSpPr>
        <p:spPr>
          <a:xfrm>
            <a:off x="7985125" y="3055938"/>
            <a:ext cx="522288" cy="457200"/>
          </a:xfrm>
          <a:prstGeom prst="rect">
            <a:avLst/>
          </a:prstGeom>
          <a:noFill/>
          <a:ln>
            <a:noFill/>
          </a:ln>
        </p:spPr>
        <p:txBody>
          <a:bodyPr spcFirstLastPara="1" wrap="square" lIns="91425" tIns="45700" rIns="91425" bIns="45700" anchor="t" anchorCtr="0">
            <a:spAutoFit/>
          </a:bodyPr>
          <a:lstStyle/>
          <a:p>
            <a:r>
              <a:rPr lang="en-US" sz="2400" b="1">
                <a:solidFill>
                  <a:schemeClr val="dk1"/>
                </a:solidFill>
                <a:latin typeface="Book Antiqua"/>
                <a:ea typeface="Book Antiqua"/>
                <a:cs typeface="Book Antiqua"/>
                <a:sym typeface="Book Antiqua"/>
              </a:rPr>
              <a:t>S1</a:t>
            </a:r>
            <a:endParaRPr sz="2400">
              <a:solidFill>
                <a:srgbClr val="CF0E30"/>
              </a:solidFill>
              <a:latin typeface="Book Antiqua"/>
              <a:ea typeface="Book Antiqua"/>
              <a:cs typeface="Book Antiqua"/>
              <a:sym typeface="Book Antiqua"/>
            </a:endParaRPr>
          </a:p>
        </p:txBody>
      </p:sp>
      <p:sp>
        <p:nvSpPr>
          <p:cNvPr id="530" name="Google Shape;530;p42"/>
          <p:cNvSpPr txBox="1"/>
          <p:nvPr/>
        </p:nvSpPr>
        <p:spPr>
          <a:xfrm>
            <a:off x="1812926" y="3762376"/>
            <a:ext cx="1939925" cy="954067"/>
          </a:xfrm>
          <a:prstGeom prst="rect">
            <a:avLst/>
          </a:prstGeom>
          <a:noFill/>
          <a:ln>
            <a:noFill/>
          </a:ln>
        </p:spPr>
        <p:txBody>
          <a:bodyPr spcFirstLastPara="1" wrap="square" lIns="91425" tIns="45700" rIns="91425" bIns="45700" anchor="t" anchorCtr="0">
            <a:spAutoFit/>
          </a:bodyPr>
          <a:lstStyle/>
          <a:p>
            <a:r>
              <a:rPr lang="en-US" sz="2800" b="1">
                <a:solidFill>
                  <a:schemeClr val="dk1"/>
                </a:solidFill>
                <a:latin typeface="Book Antiqua"/>
                <a:ea typeface="Book Antiqua"/>
                <a:cs typeface="Book Antiqua"/>
                <a:sym typeface="Book Antiqua"/>
              </a:rPr>
              <a:t>R1       S1 =</a:t>
            </a:r>
            <a:endParaRPr sz="2800" b="1">
              <a:solidFill>
                <a:schemeClr val="dk1"/>
              </a:solidFill>
              <a:latin typeface="Book Antiqua"/>
              <a:ea typeface="Book Antiqua"/>
              <a:cs typeface="Book Antiqua"/>
              <a:sym typeface="Book Antiqua"/>
            </a:endParaRPr>
          </a:p>
        </p:txBody>
      </p:sp>
      <p:grpSp>
        <p:nvGrpSpPr>
          <p:cNvPr id="531" name="Google Shape;531;p42"/>
          <p:cNvGrpSpPr/>
          <p:nvPr/>
        </p:nvGrpSpPr>
        <p:grpSpPr>
          <a:xfrm>
            <a:off x="2403475" y="3938588"/>
            <a:ext cx="488950" cy="214312"/>
            <a:chOff x="2226" y="2065"/>
            <a:chExt cx="1148" cy="671"/>
          </a:xfrm>
        </p:grpSpPr>
        <p:sp>
          <p:nvSpPr>
            <p:cNvPr id="532" name="Google Shape;532;p42"/>
            <p:cNvSpPr/>
            <p:nvPr/>
          </p:nvSpPr>
          <p:spPr>
            <a:xfrm rot="-5400000">
              <a:off x="2753" y="2110"/>
              <a:ext cx="666" cy="576"/>
            </a:xfrm>
            <a:prstGeom prst="triangle">
              <a:avLst>
                <a:gd name="adj" fmla="val 50000"/>
              </a:avLst>
            </a:prstGeom>
            <a:noFill/>
            <a:ln w="2857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endParaRPr>
                <a:solidFill>
                  <a:schemeClr val="dk1"/>
                </a:solidFill>
                <a:latin typeface="Times New Roman"/>
                <a:ea typeface="Times New Roman"/>
                <a:cs typeface="Times New Roman"/>
                <a:sym typeface="Times New Roman"/>
              </a:endParaRPr>
            </a:p>
          </p:txBody>
        </p:sp>
        <p:sp>
          <p:nvSpPr>
            <p:cNvPr id="533" name="Google Shape;533;p42"/>
            <p:cNvSpPr/>
            <p:nvPr/>
          </p:nvSpPr>
          <p:spPr>
            <a:xfrm rot="5400000" flipH="1">
              <a:off x="2181" y="2115"/>
              <a:ext cx="666" cy="576"/>
            </a:xfrm>
            <a:prstGeom prst="triangle">
              <a:avLst>
                <a:gd name="adj" fmla="val 50000"/>
              </a:avLst>
            </a:prstGeom>
            <a:noFill/>
            <a:ln w="2857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endParaRPr>
                <a:solidFill>
                  <a:schemeClr val="dk1"/>
                </a:solidFill>
                <a:latin typeface="Times New Roman"/>
                <a:ea typeface="Times New Roman"/>
                <a:cs typeface="Times New Roman"/>
                <a:sym typeface="Times New Roman"/>
              </a:endParaRPr>
            </a:p>
          </p:txBody>
        </p:sp>
      </p:grpSp>
      <p:graphicFrame>
        <p:nvGraphicFramePr>
          <p:cNvPr id="534" name="Google Shape;534;p42"/>
          <p:cNvGraphicFramePr/>
          <p:nvPr/>
        </p:nvGraphicFramePr>
        <p:xfrm>
          <a:off x="2330451" y="4581525"/>
          <a:ext cx="7445375" cy="1531938"/>
        </p:xfrm>
        <a:graphic>
          <a:graphicData uri="http://schemas.openxmlformats.org/presentationml/2006/ole">
            <mc:AlternateContent xmlns:mc="http://schemas.openxmlformats.org/markup-compatibility/2006">
              <mc:Choice xmlns:v="urn:schemas-microsoft-com:vml" Requires="v">
                <p:oleObj r:id="rId3" imgW="7445375" imgH="1531938" progId="Word.Document.8">
                  <p:embed/>
                </p:oleObj>
              </mc:Choice>
              <mc:Fallback>
                <p:oleObj r:id="rId3" imgW="7445375" imgH="1531938" progId="Word.Document.8">
                  <p:embed/>
                  <p:pic>
                    <p:nvPicPr>
                      <p:cNvPr id="534" name="Google Shape;534;p42"/>
                      <p:cNvPicPr preferRelativeResize="0"/>
                      <p:nvPr/>
                    </p:nvPicPr>
                    <p:blipFill rotWithShape="1">
                      <a:blip r:embed="rId4">
                        <a:alphaModFix/>
                      </a:blip>
                      <a:srcRect/>
                      <a:stretch/>
                    </p:blipFill>
                    <p:spPr>
                      <a:xfrm>
                        <a:off x="2330451" y="4581525"/>
                        <a:ext cx="7445375" cy="1531938"/>
                      </a:xfrm>
                      <a:prstGeom prst="rect">
                        <a:avLst/>
                      </a:prstGeom>
                      <a:noFill/>
                      <a:ln>
                        <a:noFill/>
                      </a:ln>
                    </p:spPr>
                  </p:pic>
                </p:oleObj>
              </mc:Fallback>
            </mc:AlternateContent>
          </a:graphicData>
        </a:graphic>
      </p:graphicFrame>
      <p:graphicFrame>
        <p:nvGraphicFramePr>
          <p:cNvPr id="535" name="Google Shape;535;p42"/>
          <p:cNvGraphicFramePr/>
          <p:nvPr/>
        </p:nvGraphicFramePr>
        <p:xfrm>
          <a:off x="5892801" y="1014414"/>
          <a:ext cx="4170363" cy="2124075"/>
        </p:xfrm>
        <a:graphic>
          <a:graphicData uri="http://schemas.openxmlformats.org/presentationml/2006/ole">
            <mc:AlternateContent xmlns:mc="http://schemas.openxmlformats.org/markup-compatibility/2006">
              <mc:Choice xmlns:v="urn:schemas-microsoft-com:vml" Requires="v">
                <p:oleObj r:id="rId5" imgW="4170363" imgH="2124075" progId="Word.Document.8">
                  <p:embed/>
                </p:oleObj>
              </mc:Choice>
              <mc:Fallback>
                <p:oleObj r:id="rId5" imgW="4170363" imgH="2124075" progId="Word.Document.8">
                  <p:embed/>
                  <p:pic>
                    <p:nvPicPr>
                      <p:cNvPr id="535" name="Google Shape;535;p42"/>
                      <p:cNvPicPr preferRelativeResize="0"/>
                      <p:nvPr/>
                    </p:nvPicPr>
                    <p:blipFill rotWithShape="1">
                      <a:blip r:embed="rId6">
                        <a:alphaModFix/>
                      </a:blip>
                      <a:srcRect/>
                      <a:stretch/>
                    </p:blipFill>
                    <p:spPr>
                      <a:xfrm>
                        <a:off x="5892801" y="1014414"/>
                        <a:ext cx="4170363" cy="2124075"/>
                      </a:xfrm>
                      <a:prstGeom prst="rect">
                        <a:avLst/>
                      </a:prstGeom>
                      <a:noFill/>
                      <a:ln>
                        <a:noFill/>
                      </a:ln>
                    </p:spPr>
                  </p:pic>
                </p:oleObj>
              </mc:Fallback>
            </mc:AlternateContent>
          </a:graphicData>
        </a:graphic>
      </p:graphicFrame>
      <p:graphicFrame>
        <p:nvGraphicFramePr>
          <p:cNvPr id="536" name="Google Shape;536;p42"/>
          <p:cNvGraphicFramePr/>
          <p:nvPr/>
        </p:nvGraphicFramePr>
        <p:xfrm>
          <a:off x="1917701" y="1460500"/>
          <a:ext cx="5643563" cy="1614488"/>
        </p:xfrm>
        <a:graphic>
          <a:graphicData uri="http://schemas.openxmlformats.org/presentationml/2006/ole">
            <mc:AlternateContent xmlns:mc="http://schemas.openxmlformats.org/markup-compatibility/2006">
              <mc:Choice xmlns:v="urn:schemas-microsoft-com:vml" Requires="v">
                <p:oleObj r:id="rId7" imgW="5643563" imgH="1614488" progId="Word.Document.8">
                  <p:embed/>
                </p:oleObj>
              </mc:Choice>
              <mc:Fallback>
                <p:oleObj r:id="rId7" imgW="5643563" imgH="1614488" progId="Word.Document.8">
                  <p:embed/>
                  <p:pic>
                    <p:nvPicPr>
                      <p:cNvPr id="536" name="Google Shape;536;p42"/>
                      <p:cNvPicPr preferRelativeResize="0"/>
                      <p:nvPr/>
                    </p:nvPicPr>
                    <p:blipFill rotWithShape="1">
                      <a:blip r:embed="rId8">
                        <a:alphaModFix/>
                      </a:blip>
                      <a:srcRect/>
                      <a:stretch/>
                    </p:blipFill>
                    <p:spPr>
                      <a:xfrm>
                        <a:off x="1917701" y="1460500"/>
                        <a:ext cx="5643563" cy="1614488"/>
                      </a:xfrm>
                      <a:prstGeom prst="rect">
                        <a:avLst/>
                      </a:prstGeom>
                      <a:noFill/>
                      <a:ln>
                        <a:noFill/>
                      </a:ln>
                    </p:spPr>
                  </p:pic>
                </p:oleObj>
              </mc:Fallback>
            </mc:AlternateContent>
          </a:graphicData>
        </a:graphic>
      </p:graphicFrame>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540"/>
        <p:cNvGrpSpPr/>
        <p:nvPr/>
      </p:nvGrpSpPr>
      <p:grpSpPr>
        <a:xfrm>
          <a:off x="0" y="0"/>
          <a:ext cx="0" cy="0"/>
          <a:chOff x="0" y="0"/>
          <a:chExt cx="0" cy="0"/>
        </a:xfrm>
      </p:grpSpPr>
      <p:sp>
        <p:nvSpPr>
          <p:cNvPr id="541" name="Google Shape;541;p43"/>
          <p:cNvSpPr txBox="1">
            <a:spLocks noGrp="1"/>
          </p:cNvSpPr>
          <p:nvPr>
            <p:ph type="title"/>
          </p:nvPr>
        </p:nvSpPr>
        <p:spPr>
          <a:xfrm>
            <a:off x="1981200" y="274638"/>
            <a:ext cx="8229600" cy="1143000"/>
          </a:xfrm>
          <a:prstGeom prst="rect">
            <a:avLst/>
          </a:prstGeom>
          <a:noFill/>
          <a:ln>
            <a:noFill/>
          </a:ln>
        </p:spPr>
        <p:txBody>
          <a:bodyPr spcFirstLastPara="1" vert="horz" wrap="square" lIns="91425" tIns="45700" rIns="91425" bIns="45700" rtlCol="0" anchor="ctr" anchorCtr="0">
            <a:noAutofit/>
          </a:bodyPr>
          <a:lstStyle/>
          <a:p>
            <a:pPr algn="ctr">
              <a:lnSpc>
                <a:spcPct val="100000"/>
              </a:lnSpc>
              <a:spcBef>
                <a:spcPts val="0"/>
              </a:spcBef>
              <a:buClr>
                <a:schemeClr val="dk2"/>
              </a:buClr>
              <a:buSzPts val="3600"/>
            </a:pPr>
            <a:r>
              <a:rPr lang="en-US" sz="3600" b="1">
                <a:latin typeface="Times New Roman"/>
                <a:ea typeface="Times New Roman"/>
                <a:cs typeface="Times New Roman"/>
                <a:sym typeface="Times New Roman"/>
              </a:rPr>
              <a:t>Natural-Join Operation......</a:t>
            </a:r>
            <a:endParaRPr sz="3600" b="1">
              <a:latin typeface="Times New Roman"/>
              <a:ea typeface="Times New Roman"/>
              <a:cs typeface="Times New Roman"/>
              <a:sym typeface="Times New Roman"/>
            </a:endParaRPr>
          </a:p>
        </p:txBody>
      </p:sp>
      <p:sp>
        <p:nvSpPr>
          <p:cNvPr id="542" name="Google Shape;542;p43"/>
          <p:cNvSpPr txBox="1">
            <a:spLocks noGrp="1"/>
          </p:cNvSpPr>
          <p:nvPr>
            <p:ph type="body" idx="1"/>
          </p:nvPr>
        </p:nvSpPr>
        <p:spPr>
          <a:xfrm>
            <a:off x="1981200" y="1600201"/>
            <a:ext cx="8229600" cy="4525963"/>
          </a:xfrm>
          <a:prstGeom prst="rect">
            <a:avLst/>
          </a:prstGeom>
          <a:noFill/>
          <a:ln>
            <a:noFill/>
          </a:ln>
        </p:spPr>
        <p:txBody>
          <a:bodyPr spcFirstLastPara="1" vert="horz" wrap="square" lIns="91425" tIns="45700" rIns="91425" bIns="45700" rtlCol="0" anchor="t" anchorCtr="0">
            <a:noAutofit/>
          </a:bodyPr>
          <a:lstStyle/>
          <a:p>
            <a:pPr marL="342900" indent="-342900" algn="just">
              <a:lnSpc>
                <a:spcPct val="100000"/>
              </a:lnSpc>
              <a:spcBef>
                <a:spcPts val="0"/>
              </a:spcBef>
              <a:buClr>
                <a:schemeClr val="dk1"/>
              </a:buClr>
              <a:buSzPts val="2400"/>
              <a:buFont typeface="Times New Roman"/>
              <a:buChar char="•"/>
            </a:pPr>
            <a:r>
              <a:rPr lang="en-US" sz="2400">
                <a:latin typeface="Times New Roman"/>
                <a:ea typeface="Times New Roman"/>
                <a:cs typeface="Times New Roman"/>
                <a:sym typeface="Times New Roman"/>
              </a:rPr>
              <a:t>Usually, a query that involves a Cartesian product includes a selection operation on the result of the Cartesian product.</a:t>
            </a:r>
            <a:endParaRPr sz="2400">
              <a:latin typeface="Times New Roman"/>
              <a:ea typeface="Times New Roman"/>
              <a:cs typeface="Times New Roman"/>
              <a:sym typeface="Times New Roman"/>
            </a:endParaRPr>
          </a:p>
          <a:p>
            <a:pPr marL="342900" indent="-190500" algn="just">
              <a:lnSpc>
                <a:spcPct val="100000"/>
              </a:lnSpc>
              <a:spcBef>
                <a:spcPts val="480"/>
              </a:spcBef>
              <a:buClr>
                <a:schemeClr val="dk1"/>
              </a:buClr>
              <a:buSzPts val="2400"/>
              <a:buNone/>
            </a:pPr>
            <a:endParaRPr sz="2400">
              <a:latin typeface="Times New Roman"/>
              <a:ea typeface="Times New Roman"/>
              <a:cs typeface="Times New Roman"/>
              <a:sym typeface="Times New Roman"/>
            </a:endParaRPr>
          </a:p>
          <a:p>
            <a:pPr marL="342900" indent="-342900" algn="just">
              <a:lnSpc>
                <a:spcPct val="100000"/>
              </a:lnSpc>
              <a:spcBef>
                <a:spcPts val="480"/>
              </a:spcBef>
              <a:buClr>
                <a:schemeClr val="dk1"/>
              </a:buClr>
              <a:buSzPts val="2400"/>
              <a:buFont typeface="Times New Roman"/>
              <a:buChar char="•"/>
            </a:pPr>
            <a:r>
              <a:rPr lang="en-US" sz="2400">
                <a:latin typeface="Times New Roman"/>
                <a:ea typeface="Times New Roman"/>
                <a:cs typeface="Times New Roman"/>
                <a:sym typeface="Times New Roman"/>
              </a:rPr>
              <a:t>Consider the query “Find the names of all customers who have a loan at the bank, along with the loan number and the loan amount.”</a:t>
            </a:r>
            <a:endParaRPr sz="2400">
              <a:latin typeface="Times New Roman"/>
              <a:ea typeface="Times New Roman"/>
              <a:cs typeface="Times New Roman"/>
              <a:sym typeface="Times New Roman"/>
            </a:endParaRPr>
          </a:p>
          <a:p>
            <a:pPr marL="342900" indent="-342900" algn="just">
              <a:lnSpc>
                <a:spcPct val="100000"/>
              </a:lnSpc>
              <a:spcBef>
                <a:spcPts val="480"/>
              </a:spcBef>
              <a:buClr>
                <a:schemeClr val="dk1"/>
              </a:buClr>
              <a:buSzPts val="2400"/>
              <a:buFont typeface="Times New Roman"/>
              <a:buChar char="•"/>
            </a:pPr>
            <a:r>
              <a:rPr lang="en-US" sz="2400">
                <a:latin typeface="Times New Roman"/>
                <a:ea typeface="Times New Roman"/>
                <a:cs typeface="Times New Roman"/>
                <a:sym typeface="Times New Roman"/>
              </a:rPr>
              <a:t> </a:t>
            </a:r>
            <a:endParaRPr sz="2400">
              <a:latin typeface="Times New Roman"/>
              <a:ea typeface="Times New Roman"/>
              <a:cs typeface="Times New Roman"/>
              <a:sym typeface="Times New Roman"/>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546"/>
        <p:cNvGrpSpPr/>
        <p:nvPr/>
      </p:nvGrpSpPr>
      <p:grpSpPr>
        <a:xfrm>
          <a:off x="0" y="0"/>
          <a:ext cx="0" cy="0"/>
          <a:chOff x="0" y="0"/>
          <a:chExt cx="0" cy="0"/>
        </a:xfrm>
      </p:grpSpPr>
      <p:sp>
        <p:nvSpPr>
          <p:cNvPr id="547" name="Google Shape;547;p44"/>
          <p:cNvSpPr txBox="1">
            <a:spLocks noGrp="1"/>
          </p:cNvSpPr>
          <p:nvPr>
            <p:ph type="title"/>
          </p:nvPr>
        </p:nvSpPr>
        <p:spPr>
          <a:xfrm>
            <a:off x="1981200" y="274638"/>
            <a:ext cx="8229600" cy="1143000"/>
          </a:xfrm>
          <a:prstGeom prst="rect">
            <a:avLst/>
          </a:prstGeom>
          <a:noFill/>
          <a:ln>
            <a:noFill/>
          </a:ln>
        </p:spPr>
        <p:txBody>
          <a:bodyPr spcFirstLastPara="1" vert="horz" wrap="square" lIns="91425" tIns="45700" rIns="91425" bIns="45700" rtlCol="0" anchor="ctr" anchorCtr="0">
            <a:noAutofit/>
          </a:bodyPr>
          <a:lstStyle/>
          <a:p>
            <a:pPr algn="ctr">
              <a:lnSpc>
                <a:spcPct val="100000"/>
              </a:lnSpc>
              <a:spcBef>
                <a:spcPts val="0"/>
              </a:spcBef>
              <a:buClr>
                <a:schemeClr val="dk2"/>
              </a:buClr>
              <a:buSzPts val="3600"/>
            </a:pPr>
            <a:r>
              <a:rPr lang="en-US" sz="3600" b="1">
                <a:latin typeface="Times New Roman"/>
                <a:ea typeface="Times New Roman"/>
                <a:cs typeface="Times New Roman"/>
                <a:sym typeface="Times New Roman"/>
              </a:rPr>
              <a:t>Natural-Join Operation....</a:t>
            </a:r>
            <a:endParaRPr sz="3600" b="1">
              <a:latin typeface="Times New Roman"/>
              <a:ea typeface="Times New Roman"/>
              <a:cs typeface="Times New Roman"/>
              <a:sym typeface="Times New Roman"/>
            </a:endParaRPr>
          </a:p>
        </p:txBody>
      </p:sp>
      <p:sp>
        <p:nvSpPr>
          <p:cNvPr id="548" name="Google Shape;548;p44"/>
          <p:cNvSpPr txBox="1">
            <a:spLocks noGrp="1"/>
          </p:cNvSpPr>
          <p:nvPr>
            <p:ph type="body" idx="1"/>
          </p:nvPr>
        </p:nvSpPr>
        <p:spPr>
          <a:xfrm>
            <a:off x="1981200" y="1600201"/>
            <a:ext cx="8229600" cy="4525963"/>
          </a:xfrm>
          <a:prstGeom prst="rect">
            <a:avLst/>
          </a:prstGeom>
          <a:noFill/>
          <a:ln>
            <a:noFill/>
          </a:ln>
        </p:spPr>
        <p:txBody>
          <a:bodyPr spcFirstLastPara="1" vert="horz" wrap="square" lIns="91425" tIns="45700" rIns="91425" bIns="45700" rtlCol="0" anchor="t" anchorCtr="0">
            <a:noAutofit/>
          </a:bodyPr>
          <a:lstStyle/>
          <a:p>
            <a:pPr marL="342900" indent="-342900" algn="just">
              <a:lnSpc>
                <a:spcPct val="100000"/>
              </a:lnSpc>
              <a:spcBef>
                <a:spcPts val="0"/>
              </a:spcBef>
              <a:buClr>
                <a:schemeClr val="dk1"/>
              </a:buClr>
              <a:buSzPts val="2400"/>
              <a:buFont typeface="Times New Roman"/>
              <a:buChar char="•"/>
            </a:pPr>
            <a:r>
              <a:rPr lang="en-US" sz="2400">
                <a:latin typeface="Times New Roman"/>
                <a:ea typeface="Times New Roman"/>
                <a:cs typeface="Times New Roman"/>
                <a:sym typeface="Times New Roman"/>
              </a:rPr>
              <a:t>To solve this query, we first form the Cartesian product of the borrower and loan relations. Then, we select those tuples that pertain to only the same loan-number, followed by the projection of the resulting customer-name, loan-number, and amount.</a:t>
            </a:r>
            <a:endParaRPr sz="2400">
              <a:latin typeface="Times New Roman"/>
              <a:ea typeface="Times New Roman"/>
              <a:cs typeface="Times New Roman"/>
              <a:sym typeface="Times New Roman"/>
            </a:endParaRPr>
          </a:p>
          <a:p>
            <a:pPr marL="342900" indent="-190500" algn="just">
              <a:lnSpc>
                <a:spcPct val="100000"/>
              </a:lnSpc>
              <a:spcBef>
                <a:spcPts val="480"/>
              </a:spcBef>
              <a:buClr>
                <a:schemeClr val="dk1"/>
              </a:buClr>
              <a:buSzPts val="2400"/>
              <a:buNone/>
            </a:pPr>
            <a:endParaRPr sz="2400">
              <a:latin typeface="Times New Roman"/>
              <a:ea typeface="Times New Roman"/>
              <a:cs typeface="Times New Roman"/>
              <a:sym typeface="Times New Roman"/>
            </a:endParaRPr>
          </a:p>
          <a:p>
            <a:pPr marL="342900" indent="-342900" algn="ctr">
              <a:lnSpc>
                <a:spcPct val="100000"/>
              </a:lnSpc>
              <a:spcBef>
                <a:spcPts val="480"/>
              </a:spcBef>
              <a:buClr>
                <a:schemeClr val="dk1"/>
              </a:buClr>
              <a:buSzPts val="2400"/>
              <a:buNone/>
            </a:pPr>
            <a:r>
              <a:rPr lang="en-US" sz="2400">
                <a:latin typeface="Times New Roman"/>
                <a:ea typeface="Times New Roman"/>
                <a:cs typeface="Times New Roman"/>
                <a:sym typeface="Times New Roman"/>
              </a:rPr>
              <a:t>Π</a:t>
            </a:r>
            <a:r>
              <a:rPr lang="en-US" sz="2400" baseline="-25000">
                <a:latin typeface="Times New Roman"/>
                <a:ea typeface="Times New Roman"/>
                <a:cs typeface="Times New Roman"/>
                <a:sym typeface="Times New Roman"/>
              </a:rPr>
              <a:t>customer_name, loan.loan_number, amount </a:t>
            </a:r>
            <a:r>
              <a:rPr lang="en-US" sz="2400">
                <a:latin typeface="Times New Roman"/>
                <a:ea typeface="Times New Roman"/>
                <a:cs typeface="Times New Roman"/>
                <a:sym typeface="Times New Roman"/>
              </a:rPr>
              <a:t>(σ</a:t>
            </a:r>
            <a:r>
              <a:rPr lang="en-US" sz="2400" baseline="-25000">
                <a:latin typeface="Times New Roman"/>
                <a:ea typeface="Times New Roman"/>
                <a:cs typeface="Times New Roman"/>
                <a:sym typeface="Times New Roman"/>
              </a:rPr>
              <a:t>borrower.loan_number =loan.loan_number</a:t>
            </a:r>
            <a:r>
              <a:rPr lang="en-US" sz="2400">
                <a:latin typeface="Times New Roman"/>
                <a:ea typeface="Times New Roman"/>
                <a:cs typeface="Times New Roman"/>
                <a:sym typeface="Times New Roman"/>
              </a:rPr>
              <a:t>(borrower × loan))</a:t>
            </a:r>
            <a:endParaRPr sz="2400">
              <a:latin typeface="Times New Roman"/>
              <a:ea typeface="Times New Roman"/>
              <a:cs typeface="Times New Roman"/>
              <a:sym typeface="Times New Roman"/>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552"/>
        <p:cNvGrpSpPr/>
        <p:nvPr/>
      </p:nvGrpSpPr>
      <p:grpSpPr>
        <a:xfrm>
          <a:off x="0" y="0"/>
          <a:ext cx="0" cy="0"/>
          <a:chOff x="0" y="0"/>
          <a:chExt cx="0" cy="0"/>
        </a:xfrm>
      </p:grpSpPr>
      <p:sp>
        <p:nvSpPr>
          <p:cNvPr id="553" name="Google Shape;553;p45"/>
          <p:cNvSpPr txBox="1">
            <a:spLocks noGrp="1"/>
          </p:cNvSpPr>
          <p:nvPr>
            <p:ph type="title"/>
          </p:nvPr>
        </p:nvSpPr>
        <p:spPr>
          <a:xfrm>
            <a:off x="1981200" y="274638"/>
            <a:ext cx="8229600" cy="1143000"/>
          </a:xfrm>
          <a:prstGeom prst="rect">
            <a:avLst/>
          </a:prstGeom>
          <a:noFill/>
          <a:ln>
            <a:noFill/>
          </a:ln>
        </p:spPr>
        <p:txBody>
          <a:bodyPr spcFirstLastPara="1" vert="horz" wrap="square" lIns="91425" tIns="45700" rIns="91425" bIns="45700" rtlCol="0" anchor="ctr" anchorCtr="0">
            <a:noAutofit/>
          </a:bodyPr>
          <a:lstStyle/>
          <a:p>
            <a:pPr algn="ctr">
              <a:lnSpc>
                <a:spcPct val="100000"/>
              </a:lnSpc>
              <a:spcBef>
                <a:spcPts val="0"/>
              </a:spcBef>
              <a:buClr>
                <a:schemeClr val="dk2"/>
              </a:buClr>
              <a:buSzPts val="4400"/>
            </a:pPr>
            <a:r>
              <a:rPr lang="en-US">
                <a:latin typeface="Times New Roman"/>
                <a:ea typeface="Times New Roman"/>
                <a:cs typeface="Times New Roman"/>
                <a:sym typeface="Times New Roman"/>
              </a:rPr>
              <a:t>Example</a:t>
            </a:r>
            <a:endParaRPr>
              <a:latin typeface="Times New Roman"/>
              <a:ea typeface="Times New Roman"/>
              <a:cs typeface="Times New Roman"/>
              <a:sym typeface="Times New Roman"/>
            </a:endParaRPr>
          </a:p>
        </p:txBody>
      </p:sp>
      <p:sp>
        <p:nvSpPr>
          <p:cNvPr id="554" name="Google Shape;554;p45"/>
          <p:cNvSpPr txBox="1">
            <a:spLocks noGrp="1"/>
          </p:cNvSpPr>
          <p:nvPr>
            <p:ph type="body" idx="1"/>
          </p:nvPr>
        </p:nvSpPr>
        <p:spPr>
          <a:xfrm>
            <a:off x="1981200" y="1600201"/>
            <a:ext cx="8229600" cy="4525963"/>
          </a:xfrm>
          <a:prstGeom prst="rect">
            <a:avLst/>
          </a:prstGeom>
          <a:noFill/>
          <a:ln>
            <a:noFill/>
          </a:ln>
        </p:spPr>
        <p:txBody>
          <a:bodyPr spcFirstLastPara="1" vert="horz" wrap="square" lIns="91425" tIns="45700" rIns="91425" bIns="45700" rtlCol="0" anchor="t" anchorCtr="0">
            <a:noAutofit/>
          </a:bodyPr>
          <a:lstStyle/>
          <a:p>
            <a:pPr marL="342900" indent="-342900">
              <a:lnSpc>
                <a:spcPct val="100000"/>
              </a:lnSpc>
              <a:spcBef>
                <a:spcPts val="0"/>
              </a:spcBef>
              <a:buClr>
                <a:schemeClr val="dk1"/>
              </a:buClr>
              <a:buSzPts val="2400"/>
              <a:buFont typeface="Times New Roman"/>
              <a:buChar char="•"/>
            </a:pPr>
            <a:r>
              <a:rPr lang="en-US" sz="2400">
                <a:latin typeface="Times New Roman"/>
                <a:ea typeface="Times New Roman"/>
                <a:cs typeface="Times New Roman"/>
                <a:sym typeface="Times New Roman"/>
              </a:rPr>
              <a:t>Relations :-  </a:t>
            </a:r>
            <a:endParaRPr sz="2400">
              <a:latin typeface="Times New Roman"/>
              <a:ea typeface="Times New Roman"/>
              <a:cs typeface="Times New Roman"/>
              <a:sym typeface="Times New Roman"/>
            </a:endParaRPr>
          </a:p>
          <a:p>
            <a:pPr marL="342900" indent="-342900">
              <a:lnSpc>
                <a:spcPct val="100000"/>
              </a:lnSpc>
              <a:spcBef>
                <a:spcPts val="480"/>
              </a:spcBef>
              <a:buClr>
                <a:schemeClr val="dk1"/>
              </a:buClr>
              <a:buSzPts val="2400"/>
              <a:buFont typeface="Times New Roman"/>
              <a:buChar char="•"/>
            </a:pPr>
            <a:r>
              <a:rPr lang="en-US" sz="2400" b="1">
                <a:latin typeface="Times New Roman"/>
                <a:ea typeface="Times New Roman"/>
                <a:cs typeface="Times New Roman"/>
                <a:sym typeface="Times New Roman"/>
              </a:rPr>
              <a:t>customer</a:t>
            </a:r>
            <a:r>
              <a:rPr lang="en-US" sz="2400">
                <a:latin typeface="Times New Roman"/>
                <a:ea typeface="Times New Roman"/>
                <a:cs typeface="Times New Roman"/>
                <a:sym typeface="Times New Roman"/>
              </a:rPr>
              <a:t>(customer_id,customer name,</a:t>
            </a:r>
            <a:r>
              <a:rPr lang="en-US" sz="2400" b="1">
                <a:latin typeface="Times New Roman"/>
                <a:ea typeface="Times New Roman"/>
                <a:cs typeface="Times New Roman"/>
                <a:sym typeface="Times New Roman"/>
              </a:rPr>
              <a:t>customer_city, </a:t>
            </a:r>
            <a:r>
              <a:rPr lang="en-US" sz="2400">
                <a:latin typeface="Times New Roman"/>
                <a:ea typeface="Times New Roman"/>
                <a:cs typeface="Times New Roman"/>
                <a:sym typeface="Times New Roman"/>
              </a:rPr>
              <a:t>aadhar_number) , </a:t>
            </a:r>
            <a:endParaRPr sz="2400">
              <a:latin typeface="Times New Roman"/>
              <a:ea typeface="Times New Roman"/>
              <a:cs typeface="Times New Roman"/>
              <a:sym typeface="Times New Roman"/>
            </a:endParaRPr>
          </a:p>
          <a:p>
            <a:pPr marL="342900" indent="-342900">
              <a:lnSpc>
                <a:spcPct val="100000"/>
              </a:lnSpc>
              <a:spcBef>
                <a:spcPts val="480"/>
              </a:spcBef>
              <a:buClr>
                <a:schemeClr val="dk1"/>
              </a:buClr>
              <a:buSzPts val="2400"/>
              <a:buFont typeface="Times New Roman"/>
              <a:buChar char="•"/>
            </a:pPr>
            <a:r>
              <a:rPr lang="en-US" sz="2400" b="1">
                <a:latin typeface="Times New Roman"/>
                <a:ea typeface="Times New Roman"/>
                <a:cs typeface="Times New Roman"/>
                <a:sym typeface="Times New Roman"/>
              </a:rPr>
              <a:t>account</a:t>
            </a:r>
            <a:r>
              <a:rPr lang="en-US" sz="2400">
                <a:latin typeface="Times New Roman"/>
                <a:ea typeface="Times New Roman"/>
                <a:cs typeface="Times New Roman"/>
                <a:sym typeface="Times New Roman"/>
              </a:rPr>
              <a:t>(customer name, </a:t>
            </a:r>
            <a:r>
              <a:rPr lang="en-US" sz="2400" b="1">
                <a:latin typeface="Times New Roman"/>
                <a:ea typeface="Times New Roman"/>
                <a:cs typeface="Times New Roman"/>
                <a:sym typeface="Times New Roman"/>
              </a:rPr>
              <a:t>branch_name</a:t>
            </a:r>
            <a:r>
              <a:rPr lang="en-US" sz="2400">
                <a:latin typeface="Times New Roman"/>
                <a:ea typeface="Times New Roman"/>
                <a:cs typeface="Times New Roman"/>
                <a:sym typeface="Times New Roman"/>
              </a:rPr>
              <a:t>,account_number,account_type), </a:t>
            </a:r>
            <a:endParaRPr sz="2400">
              <a:latin typeface="Times New Roman"/>
              <a:ea typeface="Times New Roman"/>
              <a:cs typeface="Times New Roman"/>
              <a:sym typeface="Times New Roman"/>
            </a:endParaRPr>
          </a:p>
          <a:p>
            <a:pPr marL="342900" indent="-342900">
              <a:lnSpc>
                <a:spcPct val="100000"/>
              </a:lnSpc>
              <a:spcBef>
                <a:spcPts val="480"/>
              </a:spcBef>
              <a:buClr>
                <a:schemeClr val="dk1"/>
              </a:buClr>
              <a:buSzPts val="2400"/>
              <a:buFont typeface="Times New Roman"/>
              <a:buChar char="•"/>
            </a:pPr>
            <a:r>
              <a:rPr lang="en-US" sz="2400" b="1">
                <a:latin typeface="Times New Roman"/>
                <a:ea typeface="Times New Roman"/>
                <a:cs typeface="Times New Roman"/>
                <a:sym typeface="Times New Roman"/>
              </a:rPr>
              <a:t>depositor</a:t>
            </a:r>
            <a:r>
              <a:rPr lang="en-US" sz="2400">
                <a:latin typeface="Times New Roman"/>
                <a:ea typeface="Times New Roman"/>
                <a:cs typeface="Times New Roman"/>
                <a:sym typeface="Times New Roman"/>
              </a:rPr>
              <a:t>(customer name,account _number,amount)</a:t>
            </a:r>
            <a:endParaRPr sz="2400">
              <a:latin typeface="Times New Roman"/>
              <a:ea typeface="Times New Roman"/>
              <a:cs typeface="Times New Roman"/>
              <a:sym typeface="Times New Roman"/>
            </a:endParaRPr>
          </a:p>
          <a:p>
            <a:pPr marL="342900" indent="-190500">
              <a:lnSpc>
                <a:spcPct val="100000"/>
              </a:lnSpc>
              <a:spcBef>
                <a:spcPts val="480"/>
              </a:spcBef>
              <a:buClr>
                <a:schemeClr val="dk1"/>
              </a:buClr>
              <a:buSzPts val="2400"/>
              <a:buNone/>
            </a:pPr>
            <a:endParaRPr sz="2400">
              <a:latin typeface="Times New Roman"/>
              <a:ea typeface="Times New Roman"/>
              <a:cs typeface="Times New Roman"/>
              <a:sym typeface="Times New Roman"/>
            </a:endParaRPr>
          </a:p>
          <a:p>
            <a:pPr marL="342900" indent="-342900">
              <a:lnSpc>
                <a:spcPct val="100000"/>
              </a:lnSpc>
              <a:spcBef>
                <a:spcPts val="480"/>
              </a:spcBef>
              <a:buClr>
                <a:schemeClr val="dk1"/>
              </a:buClr>
              <a:buSzPts val="2400"/>
              <a:buFont typeface="Times New Roman"/>
              <a:buChar char="•"/>
            </a:pPr>
            <a:r>
              <a:rPr lang="en-US" sz="2400">
                <a:latin typeface="Times New Roman"/>
                <a:ea typeface="Times New Roman"/>
                <a:cs typeface="Times New Roman"/>
                <a:sym typeface="Times New Roman"/>
              </a:rPr>
              <a:t>Find the names of all branches with customers who have an account in the bank and who live in Indore.</a:t>
            </a:r>
            <a:endParaRPr sz="2400">
              <a:latin typeface="Times New Roman"/>
              <a:ea typeface="Times New Roman"/>
              <a:cs typeface="Times New Roman"/>
              <a:sym typeface="Times New Roman"/>
            </a:endParaRPr>
          </a:p>
          <a:p>
            <a:pPr marL="342900" indent="-342900">
              <a:lnSpc>
                <a:spcPct val="100000"/>
              </a:lnSpc>
              <a:spcBef>
                <a:spcPts val="640"/>
              </a:spcBef>
              <a:buClr>
                <a:schemeClr val="dk1"/>
              </a:buClr>
              <a:buSzPts val="3200"/>
              <a:buNone/>
            </a:pPr>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558"/>
        <p:cNvGrpSpPr/>
        <p:nvPr/>
      </p:nvGrpSpPr>
      <p:grpSpPr>
        <a:xfrm>
          <a:off x="0" y="0"/>
          <a:ext cx="0" cy="0"/>
          <a:chOff x="0" y="0"/>
          <a:chExt cx="0" cy="0"/>
        </a:xfrm>
      </p:grpSpPr>
      <p:sp>
        <p:nvSpPr>
          <p:cNvPr id="559" name="Google Shape;559;p46"/>
          <p:cNvSpPr txBox="1">
            <a:spLocks noGrp="1"/>
          </p:cNvSpPr>
          <p:nvPr>
            <p:ph type="title"/>
          </p:nvPr>
        </p:nvSpPr>
        <p:spPr>
          <a:xfrm>
            <a:off x="1981200" y="274638"/>
            <a:ext cx="8229600" cy="1143000"/>
          </a:xfrm>
          <a:prstGeom prst="rect">
            <a:avLst/>
          </a:prstGeom>
          <a:noFill/>
          <a:ln>
            <a:noFill/>
          </a:ln>
        </p:spPr>
        <p:txBody>
          <a:bodyPr spcFirstLastPara="1" vert="horz" wrap="square" lIns="91425" tIns="45700" rIns="91425" bIns="45700" rtlCol="0" anchor="ctr" anchorCtr="0">
            <a:noAutofit/>
          </a:bodyPr>
          <a:lstStyle/>
          <a:p>
            <a:pPr algn="ctr">
              <a:lnSpc>
                <a:spcPct val="100000"/>
              </a:lnSpc>
              <a:spcBef>
                <a:spcPts val="0"/>
              </a:spcBef>
              <a:buClr>
                <a:schemeClr val="dk2"/>
              </a:buClr>
              <a:buSzPts val="4400"/>
            </a:pPr>
            <a:r>
              <a:rPr lang="en-US" b="1">
                <a:latin typeface="Times New Roman"/>
                <a:ea typeface="Times New Roman"/>
                <a:cs typeface="Times New Roman"/>
                <a:sym typeface="Times New Roman"/>
              </a:rPr>
              <a:t>Example</a:t>
            </a:r>
            <a:endParaRPr>
              <a:latin typeface="Times New Roman"/>
              <a:ea typeface="Times New Roman"/>
              <a:cs typeface="Times New Roman"/>
              <a:sym typeface="Times New Roman"/>
            </a:endParaRPr>
          </a:p>
        </p:txBody>
      </p:sp>
      <p:sp>
        <p:nvSpPr>
          <p:cNvPr id="560" name="Google Shape;560;p46"/>
          <p:cNvSpPr txBox="1">
            <a:spLocks noGrp="1"/>
          </p:cNvSpPr>
          <p:nvPr>
            <p:ph type="body" idx="1"/>
          </p:nvPr>
        </p:nvSpPr>
        <p:spPr>
          <a:xfrm>
            <a:off x="1981200" y="1600201"/>
            <a:ext cx="8534400" cy="4525963"/>
          </a:xfrm>
          <a:prstGeom prst="rect">
            <a:avLst/>
          </a:prstGeom>
          <a:noFill/>
          <a:ln>
            <a:noFill/>
          </a:ln>
        </p:spPr>
        <p:txBody>
          <a:bodyPr spcFirstLastPara="1" vert="horz" wrap="square" lIns="91425" tIns="45700" rIns="91425" bIns="45700" rtlCol="0" anchor="t" anchorCtr="0">
            <a:noAutofit/>
          </a:bodyPr>
          <a:lstStyle/>
          <a:p>
            <a:pPr marL="342900" indent="-342900" algn="just">
              <a:lnSpc>
                <a:spcPct val="100000"/>
              </a:lnSpc>
              <a:spcBef>
                <a:spcPts val="0"/>
              </a:spcBef>
              <a:buClr>
                <a:schemeClr val="dk1"/>
              </a:buClr>
              <a:buSzPts val="2400"/>
              <a:buFont typeface="Times New Roman"/>
              <a:buChar char="•"/>
            </a:pPr>
            <a:r>
              <a:rPr lang="en-US" sz="2400">
                <a:latin typeface="Times New Roman"/>
                <a:ea typeface="Times New Roman"/>
                <a:cs typeface="Times New Roman"/>
                <a:sym typeface="Times New Roman"/>
              </a:rPr>
              <a:t>Find the names of all branches with customers who have an account in the bank and who live in Indore.</a:t>
            </a:r>
            <a:endParaRPr sz="2400">
              <a:latin typeface="Times New Roman"/>
              <a:ea typeface="Times New Roman"/>
              <a:cs typeface="Times New Roman"/>
              <a:sym typeface="Times New Roman"/>
            </a:endParaRPr>
          </a:p>
          <a:p>
            <a:pPr marL="342900" indent="-190500" algn="just">
              <a:lnSpc>
                <a:spcPct val="100000"/>
              </a:lnSpc>
              <a:spcBef>
                <a:spcPts val="480"/>
              </a:spcBef>
              <a:buClr>
                <a:schemeClr val="dk1"/>
              </a:buClr>
              <a:buSzPts val="2400"/>
              <a:buNone/>
            </a:pPr>
            <a:endParaRPr sz="2400">
              <a:latin typeface="Times New Roman"/>
              <a:ea typeface="Times New Roman"/>
              <a:cs typeface="Times New Roman"/>
              <a:sym typeface="Times New Roman"/>
            </a:endParaRPr>
          </a:p>
          <a:p>
            <a:pPr marL="342900" indent="-342900" algn="ctr">
              <a:lnSpc>
                <a:spcPct val="100000"/>
              </a:lnSpc>
              <a:spcBef>
                <a:spcPts val="480"/>
              </a:spcBef>
              <a:buClr>
                <a:schemeClr val="dk1"/>
              </a:buClr>
              <a:buSzPts val="2400"/>
              <a:buNone/>
            </a:pPr>
            <a:r>
              <a:rPr lang="en-US" sz="2400">
                <a:latin typeface="Times New Roman"/>
                <a:ea typeface="Times New Roman"/>
                <a:cs typeface="Times New Roman"/>
                <a:sym typeface="Times New Roman"/>
              </a:rPr>
              <a:t>Π</a:t>
            </a:r>
            <a:r>
              <a:rPr lang="en-US" sz="2400" baseline="-25000">
                <a:latin typeface="Times New Roman"/>
                <a:ea typeface="Times New Roman"/>
                <a:cs typeface="Times New Roman"/>
                <a:sym typeface="Times New Roman"/>
              </a:rPr>
              <a:t>branch_name</a:t>
            </a:r>
            <a:r>
              <a:rPr lang="en-US" sz="2400">
                <a:latin typeface="Times New Roman"/>
                <a:ea typeface="Times New Roman"/>
                <a:cs typeface="Times New Roman"/>
                <a:sym typeface="Times New Roman"/>
              </a:rPr>
              <a:t>(σ</a:t>
            </a:r>
            <a:r>
              <a:rPr lang="en-US" sz="2400" baseline="-25000">
                <a:latin typeface="Times New Roman"/>
                <a:ea typeface="Times New Roman"/>
                <a:cs typeface="Times New Roman"/>
                <a:sym typeface="Times New Roman"/>
              </a:rPr>
              <a:t>customer_city=“Indore”</a:t>
            </a:r>
            <a:r>
              <a:rPr lang="en-US" sz="2400">
                <a:latin typeface="Times New Roman"/>
                <a:ea typeface="Times New Roman"/>
                <a:cs typeface="Times New Roman"/>
                <a:sym typeface="Times New Roman"/>
              </a:rPr>
              <a:t>(customer      account    depositor))</a:t>
            </a:r>
            <a:endParaRPr sz="2400">
              <a:latin typeface="Times New Roman"/>
              <a:ea typeface="Times New Roman"/>
              <a:cs typeface="Times New Roman"/>
              <a:sym typeface="Times New Roman"/>
            </a:endParaRPr>
          </a:p>
        </p:txBody>
      </p:sp>
      <p:pic>
        <p:nvPicPr>
          <p:cNvPr id="561" name="Google Shape;561;p46"/>
          <p:cNvPicPr preferRelativeResize="0"/>
          <p:nvPr/>
        </p:nvPicPr>
        <p:blipFill rotWithShape="1">
          <a:blip r:embed="rId3">
            <a:alphaModFix/>
          </a:blip>
          <a:srcRect/>
          <a:stretch/>
        </p:blipFill>
        <p:spPr>
          <a:xfrm>
            <a:off x="7162800" y="2971800"/>
            <a:ext cx="294862" cy="260838"/>
          </a:xfrm>
          <a:prstGeom prst="rect">
            <a:avLst/>
          </a:prstGeom>
          <a:noFill/>
          <a:ln>
            <a:noFill/>
          </a:ln>
        </p:spPr>
      </p:pic>
      <p:pic>
        <p:nvPicPr>
          <p:cNvPr id="562" name="Google Shape;562;p46"/>
          <p:cNvPicPr preferRelativeResize="0"/>
          <p:nvPr/>
        </p:nvPicPr>
        <p:blipFill rotWithShape="1">
          <a:blip r:embed="rId3">
            <a:alphaModFix/>
          </a:blip>
          <a:srcRect/>
          <a:stretch/>
        </p:blipFill>
        <p:spPr>
          <a:xfrm>
            <a:off x="8534400" y="2971800"/>
            <a:ext cx="294862" cy="260838"/>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567"/>
        <p:cNvGrpSpPr/>
        <p:nvPr/>
      </p:nvGrpSpPr>
      <p:grpSpPr>
        <a:xfrm>
          <a:off x="0" y="0"/>
          <a:ext cx="0" cy="0"/>
          <a:chOff x="0" y="0"/>
          <a:chExt cx="0" cy="0"/>
        </a:xfrm>
      </p:grpSpPr>
      <p:sp>
        <p:nvSpPr>
          <p:cNvPr id="568" name="Google Shape;568;p47"/>
          <p:cNvSpPr/>
          <p:nvPr/>
        </p:nvSpPr>
        <p:spPr>
          <a:xfrm>
            <a:off x="2209800" y="6248400"/>
            <a:ext cx="1905000" cy="457200"/>
          </a:xfrm>
          <a:prstGeom prst="rect">
            <a:avLst/>
          </a:prstGeom>
          <a:noFill/>
          <a:ln>
            <a:noFill/>
          </a:ln>
        </p:spPr>
        <p:txBody>
          <a:bodyPr spcFirstLastPara="1" wrap="square" lIns="91425" tIns="45700" rIns="91425" bIns="45700" anchor="ctr" anchorCtr="0">
            <a:noAutofit/>
          </a:bodyPr>
          <a:lstStyle/>
          <a:p>
            <a:endParaRPr>
              <a:solidFill>
                <a:schemeClr val="dk1"/>
              </a:solidFill>
              <a:latin typeface="Times New Roman"/>
              <a:ea typeface="Times New Roman"/>
              <a:cs typeface="Times New Roman"/>
              <a:sym typeface="Times New Roman"/>
            </a:endParaRPr>
          </a:p>
        </p:txBody>
      </p:sp>
      <p:sp>
        <p:nvSpPr>
          <p:cNvPr id="569" name="Google Shape;569;p47"/>
          <p:cNvSpPr/>
          <p:nvPr/>
        </p:nvSpPr>
        <p:spPr>
          <a:xfrm>
            <a:off x="4648200" y="6248400"/>
            <a:ext cx="2895600" cy="457200"/>
          </a:xfrm>
          <a:prstGeom prst="rect">
            <a:avLst/>
          </a:prstGeom>
          <a:noFill/>
          <a:ln>
            <a:noFill/>
          </a:ln>
        </p:spPr>
        <p:txBody>
          <a:bodyPr spcFirstLastPara="1" wrap="square" lIns="91425" tIns="45700" rIns="91425" bIns="45700" anchor="ctr" anchorCtr="0">
            <a:noAutofit/>
          </a:bodyPr>
          <a:lstStyle/>
          <a:p>
            <a:endParaRPr>
              <a:solidFill>
                <a:schemeClr val="dk1"/>
              </a:solidFill>
              <a:latin typeface="Times New Roman"/>
              <a:ea typeface="Times New Roman"/>
              <a:cs typeface="Times New Roman"/>
              <a:sym typeface="Times New Roman"/>
            </a:endParaRPr>
          </a:p>
        </p:txBody>
      </p:sp>
      <p:sp>
        <p:nvSpPr>
          <p:cNvPr id="570" name="Google Shape;570;p47"/>
          <p:cNvSpPr txBox="1">
            <a:spLocks noGrp="1"/>
          </p:cNvSpPr>
          <p:nvPr>
            <p:ph type="title"/>
          </p:nvPr>
        </p:nvSpPr>
        <p:spPr>
          <a:xfrm>
            <a:off x="2595563" y="0"/>
            <a:ext cx="7772400" cy="1143000"/>
          </a:xfrm>
          <a:prstGeom prst="rect">
            <a:avLst/>
          </a:prstGeom>
          <a:noFill/>
          <a:ln>
            <a:noFill/>
          </a:ln>
        </p:spPr>
        <p:txBody>
          <a:bodyPr spcFirstLastPara="1" vert="horz" wrap="square" lIns="92075" tIns="46025" rIns="92075" bIns="46025" rtlCol="0" anchor="ctr" anchorCtr="0">
            <a:noAutofit/>
          </a:bodyPr>
          <a:lstStyle/>
          <a:p>
            <a:pPr algn="ctr">
              <a:lnSpc>
                <a:spcPct val="100000"/>
              </a:lnSpc>
              <a:spcBef>
                <a:spcPts val="0"/>
              </a:spcBef>
              <a:buClr>
                <a:schemeClr val="dk2"/>
              </a:buClr>
              <a:buSzPts val="4400"/>
            </a:pPr>
            <a:r>
              <a:rPr lang="en-US"/>
              <a:t>Other Types of Joins</a:t>
            </a:r>
            <a:endParaRPr/>
          </a:p>
        </p:txBody>
      </p:sp>
      <p:sp>
        <p:nvSpPr>
          <p:cNvPr id="571" name="Google Shape;571;p47"/>
          <p:cNvSpPr txBox="1">
            <a:spLocks noGrp="1"/>
          </p:cNvSpPr>
          <p:nvPr>
            <p:ph type="body" idx="1"/>
          </p:nvPr>
        </p:nvSpPr>
        <p:spPr>
          <a:xfrm>
            <a:off x="2286000" y="1166813"/>
            <a:ext cx="7772400" cy="4076700"/>
          </a:xfrm>
          <a:prstGeom prst="rect">
            <a:avLst/>
          </a:prstGeom>
          <a:noFill/>
          <a:ln>
            <a:noFill/>
          </a:ln>
        </p:spPr>
        <p:txBody>
          <a:bodyPr spcFirstLastPara="1" vert="horz" wrap="square" lIns="92075" tIns="46025" rIns="92075" bIns="46025" rtlCol="0" anchor="t" anchorCtr="0">
            <a:noAutofit/>
          </a:bodyPr>
          <a:lstStyle/>
          <a:p>
            <a:pPr marL="342900" indent="-342900">
              <a:spcBef>
                <a:spcPts val="0"/>
              </a:spcBef>
              <a:buClr>
                <a:schemeClr val="accent2"/>
              </a:buClr>
              <a:buSzPts val="3200"/>
              <a:buFont typeface="Arial"/>
              <a:buChar char="•"/>
            </a:pPr>
            <a:r>
              <a:rPr lang="en-US" i="1" u="sng">
                <a:solidFill>
                  <a:schemeClr val="accent2"/>
                </a:solidFill>
              </a:rPr>
              <a:t>Condition Join (or “theta-join”)</a:t>
            </a:r>
            <a:r>
              <a:rPr lang="en-US"/>
              <a:t>:</a:t>
            </a:r>
            <a:endParaRPr/>
          </a:p>
          <a:p>
            <a:pPr marL="342900" indent="-139700">
              <a:spcBef>
                <a:spcPts val="640"/>
              </a:spcBef>
              <a:buClr>
                <a:schemeClr val="dk1"/>
              </a:buClr>
              <a:buSzPts val="3200"/>
              <a:buNone/>
            </a:pPr>
            <a:endParaRPr/>
          </a:p>
          <a:p>
            <a:pPr marL="342900" indent="-139700">
              <a:spcBef>
                <a:spcPts val="640"/>
              </a:spcBef>
              <a:buClr>
                <a:schemeClr val="dk1"/>
              </a:buClr>
              <a:buSzPts val="3200"/>
              <a:buNone/>
            </a:pPr>
            <a:endParaRPr i="1">
              <a:solidFill>
                <a:schemeClr val="accent2"/>
              </a:solidFill>
            </a:endParaRPr>
          </a:p>
          <a:p>
            <a:pPr marL="342900" indent="-342900">
              <a:spcBef>
                <a:spcPts val="640"/>
              </a:spcBef>
              <a:buClr>
                <a:schemeClr val="accent2"/>
              </a:buClr>
              <a:buSzPts val="3200"/>
              <a:buFont typeface="Arial"/>
              <a:buChar char="•"/>
            </a:pPr>
            <a:r>
              <a:rPr lang="en-US" i="1">
                <a:solidFill>
                  <a:schemeClr val="accent2"/>
                </a:solidFill>
              </a:rPr>
              <a:t>Result schema </a:t>
            </a:r>
            <a:r>
              <a:rPr lang="en-US"/>
              <a:t>same as that of cross-product.</a:t>
            </a:r>
            <a:endParaRPr/>
          </a:p>
          <a:p>
            <a:pPr marL="342900" indent="-342900">
              <a:spcBef>
                <a:spcPts val="640"/>
              </a:spcBef>
              <a:buClr>
                <a:schemeClr val="dk1"/>
              </a:buClr>
              <a:buSzPts val="3200"/>
              <a:buFont typeface="Arial"/>
              <a:buChar char="•"/>
            </a:pPr>
            <a:r>
              <a:rPr lang="en-US"/>
              <a:t>May have fewer tuples than cross-product.</a:t>
            </a:r>
            <a:endParaRPr/>
          </a:p>
          <a:p>
            <a:pPr marL="342900" indent="-139700">
              <a:spcBef>
                <a:spcPts val="640"/>
              </a:spcBef>
              <a:buClr>
                <a:schemeClr val="dk1"/>
              </a:buClr>
              <a:buSzPts val="3200"/>
              <a:buNone/>
            </a:pPr>
            <a:endParaRPr/>
          </a:p>
          <a:p>
            <a:pPr marL="342900" indent="-342900">
              <a:spcBef>
                <a:spcPts val="640"/>
              </a:spcBef>
              <a:buClr>
                <a:schemeClr val="accent2"/>
              </a:buClr>
              <a:buSzPts val="3200"/>
              <a:buFont typeface="Arial"/>
              <a:buChar char="•"/>
            </a:pPr>
            <a:r>
              <a:rPr lang="en-US" i="1" u="sng">
                <a:solidFill>
                  <a:schemeClr val="accent2"/>
                </a:solidFill>
              </a:rPr>
              <a:t>Equi-Join</a:t>
            </a:r>
            <a:r>
              <a:rPr lang="en-US">
                <a:solidFill>
                  <a:schemeClr val="accent2"/>
                </a:solidFill>
              </a:rPr>
              <a:t>:  </a:t>
            </a:r>
            <a:r>
              <a:rPr lang="en-US"/>
              <a:t>Special case: condition </a:t>
            </a:r>
            <a:r>
              <a:rPr lang="en-US" i="1"/>
              <a:t>c</a:t>
            </a:r>
            <a:r>
              <a:rPr lang="en-US"/>
              <a:t> contains only conjunction of </a:t>
            </a:r>
            <a:r>
              <a:rPr lang="en-US" b="1" i="1"/>
              <a:t>equalities</a:t>
            </a:r>
            <a:r>
              <a:rPr lang="en-US" b="1"/>
              <a:t>.</a:t>
            </a:r>
            <a:endParaRPr b="1"/>
          </a:p>
        </p:txBody>
      </p:sp>
      <p:pic>
        <p:nvPicPr>
          <p:cNvPr id="572" name="Google Shape;572;p47"/>
          <p:cNvPicPr preferRelativeResize="0"/>
          <p:nvPr/>
        </p:nvPicPr>
        <p:blipFill rotWithShape="1">
          <a:blip r:embed="rId3">
            <a:alphaModFix/>
          </a:blip>
          <a:srcRect/>
          <a:stretch/>
        </p:blipFill>
        <p:spPr>
          <a:xfrm>
            <a:off x="4076700" y="1706564"/>
            <a:ext cx="4102100" cy="625475"/>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577"/>
        <p:cNvGrpSpPr/>
        <p:nvPr/>
      </p:nvGrpSpPr>
      <p:grpSpPr>
        <a:xfrm>
          <a:off x="0" y="0"/>
          <a:ext cx="0" cy="0"/>
          <a:chOff x="0" y="0"/>
          <a:chExt cx="0" cy="0"/>
        </a:xfrm>
      </p:grpSpPr>
      <p:sp>
        <p:nvSpPr>
          <p:cNvPr id="578" name="Google Shape;578;p48"/>
          <p:cNvSpPr txBox="1">
            <a:spLocks noGrp="1"/>
          </p:cNvSpPr>
          <p:nvPr>
            <p:ph type="title"/>
          </p:nvPr>
        </p:nvSpPr>
        <p:spPr>
          <a:xfrm>
            <a:off x="2509838" y="95250"/>
            <a:ext cx="7772400" cy="1143000"/>
          </a:xfrm>
          <a:prstGeom prst="rect">
            <a:avLst/>
          </a:prstGeom>
          <a:noFill/>
          <a:ln>
            <a:noFill/>
          </a:ln>
        </p:spPr>
        <p:txBody>
          <a:bodyPr spcFirstLastPara="1" vert="horz" wrap="square" lIns="91425" tIns="45700" rIns="91425" bIns="45700" rtlCol="0" anchor="ctr" anchorCtr="0">
            <a:noAutofit/>
          </a:bodyPr>
          <a:lstStyle/>
          <a:p>
            <a:pPr algn="ctr">
              <a:lnSpc>
                <a:spcPct val="100000"/>
              </a:lnSpc>
              <a:spcBef>
                <a:spcPts val="0"/>
              </a:spcBef>
              <a:buClr>
                <a:schemeClr val="dk2"/>
              </a:buClr>
              <a:buSzPts val="4400"/>
            </a:pPr>
            <a:r>
              <a:rPr lang="en-US"/>
              <a:t>“Theta” Join Example</a:t>
            </a:r>
            <a:endParaRPr/>
          </a:p>
        </p:txBody>
      </p:sp>
      <p:graphicFrame>
        <p:nvGraphicFramePr>
          <p:cNvPr id="579" name="Google Shape;579;p48"/>
          <p:cNvGraphicFramePr/>
          <p:nvPr/>
        </p:nvGraphicFramePr>
        <p:xfrm>
          <a:off x="6283325" y="1047750"/>
          <a:ext cx="4154488" cy="2101850"/>
        </p:xfrm>
        <a:graphic>
          <a:graphicData uri="http://schemas.openxmlformats.org/presentationml/2006/ole">
            <mc:AlternateContent xmlns:mc="http://schemas.openxmlformats.org/markup-compatibility/2006">
              <mc:Choice xmlns:v="urn:schemas-microsoft-com:vml" Requires="v">
                <p:oleObj r:id="rId3" imgW="4154488" imgH="2101850" progId="Word.Document.8">
                  <p:embed/>
                </p:oleObj>
              </mc:Choice>
              <mc:Fallback>
                <p:oleObj r:id="rId3" imgW="4154488" imgH="2101850" progId="Word.Document.8">
                  <p:embed/>
                  <p:pic>
                    <p:nvPicPr>
                      <p:cNvPr id="579" name="Google Shape;579;p48"/>
                      <p:cNvPicPr preferRelativeResize="0"/>
                      <p:nvPr/>
                    </p:nvPicPr>
                    <p:blipFill rotWithShape="1">
                      <a:blip r:embed="rId4">
                        <a:alphaModFix/>
                      </a:blip>
                      <a:srcRect/>
                      <a:stretch/>
                    </p:blipFill>
                    <p:spPr>
                      <a:xfrm>
                        <a:off x="6283325" y="1047750"/>
                        <a:ext cx="4154488" cy="2101850"/>
                      </a:xfrm>
                      <a:prstGeom prst="rect">
                        <a:avLst/>
                      </a:prstGeom>
                      <a:noFill/>
                      <a:ln>
                        <a:noFill/>
                      </a:ln>
                    </p:spPr>
                  </p:pic>
                </p:oleObj>
              </mc:Fallback>
            </mc:AlternateContent>
          </a:graphicData>
        </a:graphic>
      </p:graphicFrame>
      <p:graphicFrame>
        <p:nvGraphicFramePr>
          <p:cNvPr id="580" name="Google Shape;580;p48"/>
          <p:cNvGraphicFramePr/>
          <p:nvPr/>
        </p:nvGraphicFramePr>
        <p:xfrm>
          <a:off x="1900238" y="1193801"/>
          <a:ext cx="3319462" cy="1598613"/>
        </p:xfrm>
        <a:graphic>
          <a:graphicData uri="http://schemas.openxmlformats.org/presentationml/2006/ole">
            <mc:AlternateContent xmlns:mc="http://schemas.openxmlformats.org/markup-compatibility/2006">
              <mc:Choice xmlns:v="urn:schemas-microsoft-com:vml" Requires="v">
                <p:oleObj r:id="rId5" imgW="3319462" imgH="1598613" progId="Word.Document.8">
                  <p:embed/>
                </p:oleObj>
              </mc:Choice>
              <mc:Fallback>
                <p:oleObj r:id="rId5" imgW="3319462" imgH="1598613" progId="Word.Document.8">
                  <p:embed/>
                  <p:pic>
                    <p:nvPicPr>
                      <p:cNvPr id="580" name="Google Shape;580;p48"/>
                      <p:cNvPicPr preferRelativeResize="0"/>
                      <p:nvPr/>
                    </p:nvPicPr>
                    <p:blipFill rotWithShape="1">
                      <a:blip r:embed="rId6">
                        <a:alphaModFix/>
                      </a:blip>
                      <a:srcRect/>
                      <a:stretch/>
                    </p:blipFill>
                    <p:spPr>
                      <a:xfrm>
                        <a:off x="1900238" y="1193801"/>
                        <a:ext cx="3319462" cy="1598613"/>
                      </a:xfrm>
                      <a:prstGeom prst="rect">
                        <a:avLst/>
                      </a:prstGeom>
                      <a:noFill/>
                      <a:ln>
                        <a:noFill/>
                      </a:ln>
                    </p:spPr>
                  </p:pic>
                </p:oleObj>
              </mc:Fallback>
            </mc:AlternateContent>
          </a:graphicData>
        </a:graphic>
      </p:graphicFrame>
      <p:sp>
        <p:nvSpPr>
          <p:cNvPr id="581" name="Google Shape;581;p48"/>
          <p:cNvSpPr txBox="1"/>
          <p:nvPr/>
        </p:nvSpPr>
        <p:spPr>
          <a:xfrm>
            <a:off x="3184525" y="2887663"/>
            <a:ext cx="889000" cy="457200"/>
          </a:xfrm>
          <a:prstGeom prst="rect">
            <a:avLst/>
          </a:prstGeom>
          <a:noFill/>
          <a:ln>
            <a:noFill/>
          </a:ln>
        </p:spPr>
        <p:txBody>
          <a:bodyPr spcFirstLastPara="1" wrap="square" lIns="91425" tIns="45700" rIns="91425" bIns="45700" anchor="t" anchorCtr="0">
            <a:spAutoFit/>
          </a:bodyPr>
          <a:lstStyle/>
          <a:p>
            <a:r>
              <a:rPr lang="en-US" sz="2400" b="1">
                <a:solidFill>
                  <a:schemeClr val="dk1"/>
                </a:solidFill>
                <a:latin typeface="Book Antiqua"/>
                <a:ea typeface="Book Antiqua"/>
                <a:cs typeface="Book Antiqua"/>
                <a:sym typeface="Book Antiqua"/>
              </a:rPr>
              <a:t>R1</a:t>
            </a:r>
            <a:endParaRPr sz="2400">
              <a:solidFill>
                <a:srgbClr val="CF0E30"/>
              </a:solidFill>
              <a:latin typeface="Book Antiqua"/>
              <a:ea typeface="Book Antiqua"/>
              <a:cs typeface="Book Antiqua"/>
              <a:sym typeface="Book Antiqua"/>
            </a:endParaRPr>
          </a:p>
        </p:txBody>
      </p:sp>
      <p:sp>
        <p:nvSpPr>
          <p:cNvPr id="582" name="Google Shape;582;p48"/>
          <p:cNvSpPr txBox="1"/>
          <p:nvPr/>
        </p:nvSpPr>
        <p:spPr>
          <a:xfrm>
            <a:off x="7985125" y="3055938"/>
            <a:ext cx="522288" cy="457200"/>
          </a:xfrm>
          <a:prstGeom prst="rect">
            <a:avLst/>
          </a:prstGeom>
          <a:noFill/>
          <a:ln>
            <a:noFill/>
          </a:ln>
        </p:spPr>
        <p:txBody>
          <a:bodyPr spcFirstLastPara="1" wrap="square" lIns="91425" tIns="45700" rIns="91425" bIns="45700" anchor="t" anchorCtr="0">
            <a:spAutoFit/>
          </a:bodyPr>
          <a:lstStyle/>
          <a:p>
            <a:r>
              <a:rPr lang="en-US" sz="2400" b="1">
                <a:solidFill>
                  <a:schemeClr val="dk1"/>
                </a:solidFill>
                <a:latin typeface="Book Antiqua"/>
                <a:ea typeface="Book Antiqua"/>
                <a:cs typeface="Book Antiqua"/>
                <a:sym typeface="Book Antiqua"/>
              </a:rPr>
              <a:t>S1</a:t>
            </a:r>
            <a:endParaRPr sz="2400">
              <a:solidFill>
                <a:srgbClr val="CF0E30"/>
              </a:solidFill>
              <a:latin typeface="Book Antiqua"/>
              <a:ea typeface="Book Antiqua"/>
              <a:cs typeface="Book Antiqua"/>
              <a:sym typeface="Book Antiqua"/>
            </a:endParaRPr>
          </a:p>
        </p:txBody>
      </p:sp>
      <p:pic>
        <p:nvPicPr>
          <p:cNvPr id="583" name="Google Shape;583;p48"/>
          <p:cNvPicPr preferRelativeResize="0"/>
          <p:nvPr/>
        </p:nvPicPr>
        <p:blipFill rotWithShape="1">
          <a:blip r:embed="rId7">
            <a:alphaModFix/>
          </a:blip>
          <a:srcRect/>
          <a:stretch/>
        </p:blipFill>
        <p:spPr>
          <a:xfrm>
            <a:off x="2046289" y="3716339"/>
            <a:ext cx="3303587" cy="523875"/>
          </a:xfrm>
          <a:prstGeom prst="rect">
            <a:avLst/>
          </a:prstGeom>
          <a:noFill/>
          <a:ln>
            <a:noFill/>
          </a:ln>
        </p:spPr>
      </p:pic>
      <p:sp>
        <p:nvSpPr>
          <p:cNvPr id="584" name="Google Shape;584;p48"/>
          <p:cNvSpPr txBox="1"/>
          <p:nvPr/>
        </p:nvSpPr>
        <p:spPr>
          <a:xfrm flipH="1">
            <a:off x="5424488" y="3670300"/>
            <a:ext cx="952500" cy="579438"/>
          </a:xfrm>
          <a:prstGeom prst="rect">
            <a:avLst/>
          </a:prstGeom>
          <a:noFill/>
          <a:ln>
            <a:noFill/>
          </a:ln>
        </p:spPr>
        <p:txBody>
          <a:bodyPr spcFirstLastPara="1" wrap="square" lIns="91425" tIns="45700" rIns="91425" bIns="45700" anchor="t" anchorCtr="0">
            <a:spAutoFit/>
          </a:bodyPr>
          <a:lstStyle/>
          <a:p>
            <a:r>
              <a:rPr lang="en-US" sz="3200">
                <a:solidFill>
                  <a:schemeClr val="dk1"/>
                </a:solidFill>
                <a:latin typeface="Book Antiqua"/>
                <a:ea typeface="Book Antiqua"/>
                <a:cs typeface="Book Antiqua"/>
                <a:sym typeface="Book Antiqua"/>
              </a:rPr>
              <a:t>=</a:t>
            </a:r>
            <a:endParaRPr sz="2400">
              <a:solidFill>
                <a:srgbClr val="CF0E30"/>
              </a:solidFill>
              <a:latin typeface="Book Antiqua"/>
              <a:ea typeface="Book Antiqua"/>
              <a:cs typeface="Book Antiqua"/>
              <a:sym typeface="Book Antiqua"/>
            </a:endParaRPr>
          </a:p>
        </p:txBody>
      </p:sp>
      <p:graphicFrame>
        <p:nvGraphicFramePr>
          <p:cNvPr id="585" name="Google Shape;585;p48"/>
          <p:cNvGraphicFramePr/>
          <p:nvPr/>
        </p:nvGraphicFramePr>
        <p:xfrm>
          <a:off x="1814514" y="4675188"/>
          <a:ext cx="8447087" cy="1530350"/>
        </p:xfrm>
        <a:graphic>
          <a:graphicData uri="http://schemas.openxmlformats.org/presentationml/2006/ole">
            <mc:AlternateContent xmlns:mc="http://schemas.openxmlformats.org/markup-compatibility/2006">
              <mc:Choice xmlns:v="urn:schemas-microsoft-com:vml" Requires="v">
                <p:oleObj r:id="rId8" imgW="8447087" imgH="1530350" progId="Word.Document.8">
                  <p:embed/>
                </p:oleObj>
              </mc:Choice>
              <mc:Fallback>
                <p:oleObj r:id="rId8" imgW="8447087" imgH="1530350" progId="Word.Document.8">
                  <p:embed/>
                  <p:pic>
                    <p:nvPicPr>
                      <p:cNvPr id="585" name="Google Shape;585;p48"/>
                      <p:cNvPicPr preferRelativeResize="0"/>
                      <p:nvPr/>
                    </p:nvPicPr>
                    <p:blipFill rotWithShape="1">
                      <a:blip r:embed="rId9">
                        <a:alphaModFix/>
                      </a:blip>
                      <a:srcRect/>
                      <a:stretch/>
                    </p:blipFill>
                    <p:spPr>
                      <a:xfrm>
                        <a:off x="1814514" y="4675188"/>
                        <a:ext cx="8447087" cy="1530350"/>
                      </a:xfrm>
                      <a:prstGeom prst="rect">
                        <a:avLst/>
                      </a:prstGeom>
                      <a:noFill/>
                      <a:ln>
                        <a:noFill/>
                      </a:ln>
                    </p:spPr>
                  </p:pic>
                </p:oleObj>
              </mc:Fallback>
            </mc:AlternateContent>
          </a:graphicData>
        </a:graphic>
      </p:graphicFrame>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589"/>
        <p:cNvGrpSpPr/>
        <p:nvPr/>
      </p:nvGrpSpPr>
      <p:grpSpPr>
        <a:xfrm>
          <a:off x="0" y="0"/>
          <a:ext cx="0" cy="0"/>
          <a:chOff x="0" y="0"/>
          <a:chExt cx="0" cy="0"/>
        </a:xfrm>
      </p:grpSpPr>
      <p:sp>
        <p:nvSpPr>
          <p:cNvPr id="590" name="Google Shape;590;p49"/>
          <p:cNvSpPr txBox="1">
            <a:spLocks noGrp="1"/>
          </p:cNvSpPr>
          <p:nvPr>
            <p:ph type="title"/>
          </p:nvPr>
        </p:nvSpPr>
        <p:spPr>
          <a:xfrm>
            <a:off x="2209800" y="169546"/>
            <a:ext cx="7772400" cy="973455"/>
          </a:xfrm>
          <a:prstGeom prst="rect">
            <a:avLst/>
          </a:prstGeom>
          <a:noFill/>
          <a:ln>
            <a:noFill/>
          </a:ln>
        </p:spPr>
        <p:txBody>
          <a:bodyPr spcFirstLastPara="1" vert="horz" wrap="square" lIns="91425" tIns="45700" rIns="91425" bIns="45700" rtlCol="0" anchor="ctr" anchorCtr="0">
            <a:noAutofit/>
          </a:bodyPr>
          <a:lstStyle/>
          <a:p>
            <a:pPr algn="ctr">
              <a:lnSpc>
                <a:spcPct val="100000"/>
              </a:lnSpc>
              <a:spcBef>
                <a:spcPts val="0"/>
              </a:spcBef>
              <a:buClr>
                <a:schemeClr val="dk2"/>
              </a:buClr>
              <a:buSzPts val="3200"/>
            </a:pPr>
            <a:r>
              <a:rPr lang="en-US" sz="3200" b="1"/>
              <a:t>3. Division Operation</a:t>
            </a:r>
            <a:endParaRPr sz="3200" b="1"/>
          </a:p>
        </p:txBody>
      </p:sp>
      <p:sp>
        <p:nvSpPr>
          <p:cNvPr id="591" name="Google Shape;591;p49"/>
          <p:cNvSpPr txBox="1">
            <a:spLocks noGrp="1"/>
          </p:cNvSpPr>
          <p:nvPr>
            <p:ph type="body" idx="1"/>
          </p:nvPr>
        </p:nvSpPr>
        <p:spPr>
          <a:xfrm>
            <a:off x="2614614" y="1752600"/>
            <a:ext cx="6961187" cy="2700338"/>
          </a:xfrm>
          <a:prstGeom prst="rect">
            <a:avLst/>
          </a:prstGeom>
          <a:noFill/>
          <a:ln>
            <a:noFill/>
          </a:ln>
        </p:spPr>
        <p:txBody>
          <a:bodyPr spcFirstLastPara="1" vert="horz" wrap="square" lIns="91425" tIns="45700" rIns="91425" bIns="45700" rtlCol="0" anchor="t" anchorCtr="0">
            <a:noAutofit/>
          </a:bodyPr>
          <a:lstStyle/>
          <a:p>
            <a:pPr marL="342900" indent="-342900">
              <a:spcBef>
                <a:spcPts val="0"/>
              </a:spcBef>
              <a:buClr>
                <a:schemeClr val="dk1"/>
              </a:buClr>
              <a:buSzPts val="2400"/>
              <a:buFont typeface="Arial"/>
              <a:buChar char="•"/>
            </a:pPr>
            <a:r>
              <a:rPr lang="en-US" sz="2400"/>
              <a:t>Suited to queries that include the phrase “for all”.</a:t>
            </a:r>
            <a:endParaRPr sz="2400"/>
          </a:p>
          <a:p>
            <a:pPr marL="342900" indent="-342900">
              <a:spcBef>
                <a:spcPts val="480"/>
              </a:spcBef>
              <a:buClr>
                <a:schemeClr val="dk1"/>
              </a:buClr>
              <a:buSzPts val="2400"/>
              <a:buFont typeface="Arial"/>
              <a:buChar char="•"/>
            </a:pPr>
            <a:r>
              <a:rPr lang="en-US" sz="2400"/>
              <a:t>Let </a:t>
            </a:r>
            <a:r>
              <a:rPr lang="en-US" sz="2400" i="1"/>
              <a:t>r</a:t>
            </a:r>
            <a:r>
              <a:rPr lang="en-US" sz="2400"/>
              <a:t> and </a:t>
            </a:r>
            <a:r>
              <a:rPr lang="en-US" sz="2400" i="1"/>
              <a:t>s</a:t>
            </a:r>
            <a:r>
              <a:rPr lang="en-US" sz="2400"/>
              <a:t> be relations on schemas R and S respectively where</a:t>
            </a:r>
            <a:endParaRPr sz="2400"/>
          </a:p>
          <a:p>
            <a:pPr marL="742950" lvl="1" indent="-285750">
              <a:spcBef>
                <a:spcPts val="480"/>
              </a:spcBef>
              <a:buClr>
                <a:schemeClr val="dk1"/>
              </a:buClr>
              <a:buSzPts val="2400"/>
              <a:buFont typeface="Arial"/>
              <a:buChar char="–"/>
            </a:pPr>
            <a:r>
              <a:rPr lang="en-US" i="1"/>
              <a:t>R</a:t>
            </a:r>
            <a:r>
              <a:rPr lang="en-US"/>
              <a:t> = (</a:t>
            </a:r>
            <a:r>
              <a:rPr lang="en-US" i="1"/>
              <a:t>A</a:t>
            </a:r>
            <a:r>
              <a:rPr lang="en-US" baseline="-25000"/>
              <a:t>1</a:t>
            </a:r>
            <a:r>
              <a:rPr lang="en-US"/>
              <a:t>, …, </a:t>
            </a:r>
            <a:r>
              <a:rPr lang="en-US" i="1"/>
              <a:t>A</a:t>
            </a:r>
            <a:r>
              <a:rPr lang="en-US" i="1" baseline="-25000"/>
              <a:t>m</a:t>
            </a:r>
            <a:r>
              <a:rPr lang="en-US"/>
              <a:t>, </a:t>
            </a:r>
            <a:r>
              <a:rPr lang="en-US" i="1"/>
              <a:t>B</a:t>
            </a:r>
            <a:r>
              <a:rPr lang="en-US" baseline="-25000"/>
              <a:t>1</a:t>
            </a:r>
            <a:r>
              <a:rPr lang="en-US"/>
              <a:t>, …, </a:t>
            </a:r>
            <a:r>
              <a:rPr lang="en-US" i="1"/>
              <a:t>B</a:t>
            </a:r>
            <a:r>
              <a:rPr lang="en-US" i="1" baseline="-25000"/>
              <a:t>n</a:t>
            </a:r>
            <a:r>
              <a:rPr lang="en-US"/>
              <a:t>)</a:t>
            </a:r>
            <a:endParaRPr/>
          </a:p>
          <a:p>
            <a:pPr marL="742950" lvl="1" indent="-285750">
              <a:spcBef>
                <a:spcPts val="480"/>
              </a:spcBef>
              <a:buClr>
                <a:schemeClr val="dk1"/>
              </a:buClr>
              <a:buSzPts val="2400"/>
              <a:buFont typeface="Arial"/>
              <a:buChar char="–"/>
            </a:pPr>
            <a:r>
              <a:rPr lang="en-US" i="1"/>
              <a:t>S</a:t>
            </a:r>
            <a:r>
              <a:rPr lang="en-US"/>
              <a:t> = (</a:t>
            </a:r>
            <a:r>
              <a:rPr lang="en-US" i="1"/>
              <a:t>B</a:t>
            </a:r>
            <a:r>
              <a:rPr lang="en-US" baseline="-25000"/>
              <a:t>1</a:t>
            </a:r>
            <a:r>
              <a:rPr lang="en-US"/>
              <a:t>, …, </a:t>
            </a:r>
            <a:r>
              <a:rPr lang="en-US" i="1"/>
              <a:t>B</a:t>
            </a:r>
            <a:r>
              <a:rPr lang="en-US" i="1" baseline="-25000"/>
              <a:t>n</a:t>
            </a:r>
            <a:r>
              <a:rPr lang="en-US"/>
              <a:t>)</a:t>
            </a:r>
            <a:endParaRPr/>
          </a:p>
          <a:p>
            <a:pPr marL="742950" lvl="1" indent="-285750">
              <a:spcBef>
                <a:spcPts val="480"/>
              </a:spcBef>
              <a:buClr>
                <a:schemeClr val="dk1"/>
              </a:buClr>
              <a:buSzPts val="2400"/>
              <a:buNone/>
            </a:pPr>
            <a:r>
              <a:rPr lang="en-US"/>
              <a:t>The result of  r ÷ s is a relation on schema</a:t>
            </a:r>
            <a:endParaRPr/>
          </a:p>
          <a:p>
            <a:pPr marL="742950" lvl="1" indent="-285750">
              <a:spcBef>
                <a:spcPts val="480"/>
              </a:spcBef>
              <a:buClr>
                <a:schemeClr val="dk1"/>
              </a:buClr>
              <a:buSzPts val="2400"/>
              <a:buNone/>
            </a:pPr>
            <a:r>
              <a:rPr lang="en-US" i="1"/>
              <a:t>R</a:t>
            </a:r>
            <a:r>
              <a:rPr lang="en-US"/>
              <a:t> – </a:t>
            </a:r>
            <a:r>
              <a:rPr lang="en-US" i="1"/>
              <a:t>S </a:t>
            </a:r>
            <a:r>
              <a:rPr lang="en-US"/>
              <a:t>= (</a:t>
            </a:r>
            <a:r>
              <a:rPr lang="en-US" i="1"/>
              <a:t>A</a:t>
            </a:r>
            <a:r>
              <a:rPr lang="en-US" baseline="-25000"/>
              <a:t>1</a:t>
            </a:r>
            <a:r>
              <a:rPr lang="en-US"/>
              <a:t>, …, </a:t>
            </a:r>
            <a:r>
              <a:rPr lang="en-US" i="1"/>
              <a:t>A</a:t>
            </a:r>
            <a:r>
              <a:rPr lang="en-US" i="1" baseline="-25000"/>
              <a:t>m</a:t>
            </a:r>
            <a:r>
              <a:rPr lang="en-US"/>
              <a:t>)</a:t>
            </a:r>
            <a:endParaRPr/>
          </a:p>
          <a:p>
            <a:pPr marL="742950" lvl="1" indent="-285750">
              <a:spcBef>
                <a:spcPts val="480"/>
              </a:spcBef>
              <a:buClr>
                <a:schemeClr val="dk1"/>
              </a:buClr>
              <a:buSzPts val="2400"/>
              <a:buNone/>
            </a:pPr>
            <a:endParaRPr/>
          </a:p>
          <a:p>
            <a:pPr marL="742950" lvl="1" indent="-285750">
              <a:spcBef>
                <a:spcPts val="480"/>
              </a:spcBef>
              <a:buClr>
                <a:schemeClr val="dk1"/>
              </a:buClr>
              <a:buSzPts val="2400"/>
              <a:buNone/>
            </a:pPr>
            <a:r>
              <a:rPr lang="en-US"/>
              <a:t>		</a:t>
            </a:r>
            <a:r>
              <a:rPr lang="en-US" i="1"/>
              <a:t>r </a:t>
            </a:r>
            <a:r>
              <a:rPr lang="en-US"/>
              <a:t>÷ </a:t>
            </a:r>
            <a:r>
              <a:rPr lang="en-US" i="1"/>
              <a:t>s</a:t>
            </a:r>
            <a:r>
              <a:rPr lang="en-US"/>
              <a:t> = { </a:t>
            </a:r>
            <a:r>
              <a:rPr lang="en-US" i="1"/>
              <a:t>t</a:t>
            </a:r>
            <a:r>
              <a:rPr lang="en-US"/>
              <a:t>  |  </a:t>
            </a:r>
            <a:r>
              <a:rPr lang="en-US" i="1"/>
              <a:t>t </a:t>
            </a:r>
            <a:r>
              <a:rPr lang="en-US"/>
              <a:t>∈ ∏ </a:t>
            </a:r>
            <a:r>
              <a:rPr lang="en-US" i="1" baseline="-25000"/>
              <a:t>R-S</a:t>
            </a:r>
            <a:r>
              <a:rPr lang="en-US"/>
              <a:t>(</a:t>
            </a:r>
            <a:r>
              <a:rPr lang="en-US" i="1"/>
              <a:t>r</a:t>
            </a:r>
            <a:r>
              <a:rPr lang="en-US"/>
              <a:t>) ∧ ∀ </a:t>
            </a:r>
            <a:r>
              <a:rPr lang="en-US" i="1"/>
              <a:t>u </a:t>
            </a:r>
            <a:r>
              <a:rPr lang="en-US"/>
              <a:t>∈ </a:t>
            </a:r>
            <a:r>
              <a:rPr lang="en-US" i="1"/>
              <a:t>s </a:t>
            </a:r>
            <a:r>
              <a:rPr lang="en-US"/>
              <a:t>( </a:t>
            </a:r>
            <a:r>
              <a:rPr lang="en-US" i="1"/>
              <a:t>tu</a:t>
            </a:r>
            <a:r>
              <a:rPr lang="en-US"/>
              <a:t> ∈</a:t>
            </a:r>
            <a:r>
              <a:rPr lang="en-US" i="1"/>
              <a:t> r </a:t>
            </a:r>
            <a:r>
              <a:rPr lang="en-US"/>
              <a:t>) } </a:t>
            </a:r>
            <a:endParaRPr/>
          </a:p>
        </p:txBody>
      </p:sp>
      <p:sp>
        <p:nvSpPr>
          <p:cNvPr id="592" name="Google Shape;592;p49"/>
          <p:cNvSpPr txBox="1"/>
          <p:nvPr/>
        </p:nvSpPr>
        <p:spPr>
          <a:xfrm>
            <a:off x="3429001" y="1143000"/>
            <a:ext cx="1731963" cy="457200"/>
          </a:xfrm>
          <a:prstGeom prst="rect">
            <a:avLst/>
          </a:prstGeom>
          <a:noFill/>
          <a:ln>
            <a:noFill/>
          </a:ln>
        </p:spPr>
        <p:txBody>
          <a:bodyPr spcFirstLastPara="1" wrap="square" lIns="91425" tIns="45700" rIns="91425" bIns="45700" anchor="ctr" anchorCtr="0">
            <a:spAutoFit/>
          </a:bodyPr>
          <a:lstStyle/>
          <a:p>
            <a:r>
              <a:rPr lang="en-US" sz="2400">
                <a:solidFill>
                  <a:schemeClr val="dk1"/>
                </a:solidFill>
                <a:latin typeface="Times New Roman"/>
                <a:ea typeface="Times New Roman"/>
                <a:cs typeface="Times New Roman"/>
                <a:sym typeface="Times New Roman"/>
              </a:rPr>
              <a:t>	</a:t>
            </a:r>
            <a:r>
              <a:rPr lang="en-US" sz="2400" i="1">
                <a:solidFill>
                  <a:schemeClr val="dk1"/>
                </a:solidFill>
                <a:latin typeface="Times New Roman"/>
                <a:ea typeface="Times New Roman"/>
                <a:cs typeface="Times New Roman"/>
                <a:sym typeface="Times New Roman"/>
              </a:rPr>
              <a:t>r </a:t>
            </a:r>
            <a:r>
              <a:rPr lang="en-US" sz="2400">
                <a:solidFill>
                  <a:schemeClr val="dk1"/>
                </a:solidFill>
                <a:latin typeface="Times New Roman"/>
                <a:ea typeface="Times New Roman"/>
                <a:cs typeface="Times New Roman"/>
                <a:sym typeface="Times New Roman"/>
              </a:rPr>
              <a:t>÷ </a:t>
            </a:r>
            <a:r>
              <a:rPr lang="en-US" sz="2400" i="1">
                <a:solidFill>
                  <a:schemeClr val="dk1"/>
                </a:solidFill>
                <a:latin typeface="Times New Roman"/>
                <a:ea typeface="Times New Roman"/>
                <a:cs typeface="Times New Roman"/>
                <a:sym typeface="Times New Roman"/>
              </a:rPr>
              <a:t>s</a:t>
            </a:r>
            <a:r>
              <a:rPr lang="en-US" sz="2400">
                <a:solidFill>
                  <a:schemeClr val="dk1"/>
                </a:solidFill>
                <a:latin typeface="Times New Roman"/>
                <a:ea typeface="Times New Roman"/>
                <a:cs typeface="Times New Roman"/>
                <a:sym typeface="Times New Roman"/>
              </a:rPr>
              <a:t> </a:t>
            </a:r>
            <a:endParaRPr sz="2400">
              <a:solidFill>
                <a:schemeClr val="dk1"/>
              </a:solidFill>
              <a:latin typeface="Times New Roman"/>
              <a:ea typeface="Times New Roman"/>
              <a:cs typeface="Times New Roman"/>
              <a:sym typeface="Times New Roman"/>
            </a:endParaRPr>
          </a:p>
        </p:txBody>
      </p:sp>
      <p:sp>
        <p:nvSpPr>
          <p:cNvPr id="593" name="Google Shape;593;p49"/>
          <p:cNvSpPr txBox="1"/>
          <p:nvPr/>
        </p:nvSpPr>
        <p:spPr>
          <a:xfrm>
            <a:off x="2803525" y="1108075"/>
            <a:ext cx="1333500" cy="457200"/>
          </a:xfrm>
          <a:prstGeom prst="rect">
            <a:avLst/>
          </a:prstGeom>
          <a:noFill/>
          <a:ln>
            <a:noFill/>
          </a:ln>
        </p:spPr>
        <p:txBody>
          <a:bodyPr spcFirstLastPara="1" wrap="square" lIns="91425" tIns="45700" rIns="91425" bIns="45700" anchor="t" anchorCtr="0">
            <a:spAutoFit/>
          </a:bodyPr>
          <a:lstStyle/>
          <a:p>
            <a:r>
              <a:rPr lang="en-US" sz="2400">
                <a:solidFill>
                  <a:schemeClr val="dk1"/>
                </a:solidFill>
                <a:latin typeface="Times New Roman"/>
                <a:ea typeface="Times New Roman"/>
                <a:cs typeface="Times New Roman"/>
                <a:sym typeface="Times New Roman"/>
              </a:rPr>
              <a:t>Notation:</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597"/>
        <p:cNvGrpSpPr/>
        <p:nvPr/>
      </p:nvGrpSpPr>
      <p:grpSpPr>
        <a:xfrm>
          <a:off x="0" y="0"/>
          <a:ext cx="0" cy="0"/>
          <a:chOff x="0" y="0"/>
          <a:chExt cx="0" cy="0"/>
        </a:xfrm>
      </p:grpSpPr>
      <p:sp>
        <p:nvSpPr>
          <p:cNvPr id="598" name="Google Shape;598;p50"/>
          <p:cNvSpPr txBox="1">
            <a:spLocks noGrp="1"/>
          </p:cNvSpPr>
          <p:nvPr>
            <p:ph type="title"/>
          </p:nvPr>
        </p:nvSpPr>
        <p:spPr>
          <a:xfrm>
            <a:off x="2209800" y="0"/>
            <a:ext cx="7772400" cy="1143000"/>
          </a:xfrm>
          <a:prstGeom prst="rect">
            <a:avLst/>
          </a:prstGeom>
          <a:noFill/>
          <a:ln>
            <a:noFill/>
          </a:ln>
        </p:spPr>
        <p:txBody>
          <a:bodyPr spcFirstLastPara="1" vert="horz" wrap="square" lIns="91425" tIns="45700" rIns="91425" bIns="45700" rtlCol="0" anchor="ctr" anchorCtr="0">
            <a:noAutofit/>
          </a:bodyPr>
          <a:lstStyle/>
          <a:p>
            <a:pPr algn="ctr">
              <a:lnSpc>
                <a:spcPct val="100000"/>
              </a:lnSpc>
              <a:spcBef>
                <a:spcPts val="0"/>
              </a:spcBef>
              <a:buClr>
                <a:schemeClr val="dk2"/>
              </a:buClr>
              <a:buSzPts val="2800"/>
            </a:pPr>
            <a:r>
              <a:rPr lang="en-US" sz="2800" b="1"/>
              <a:t>Division Operation – Example</a:t>
            </a:r>
            <a:endParaRPr sz="2800" b="1"/>
          </a:p>
        </p:txBody>
      </p:sp>
      <p:sp>
        <p:nvSpPr>
          <p:cNvPr id="599" name="Google Shape;599;p50"/>
          <p:cNvSpPr/>
          <p:nvPr/>
        </p:nvSpPr>
        <p:spPr>
          <a:xfrm>
            <a:off x="1981200" y="1295401"/>
            <a:ext cx="7029450" cy="333375"/>
          </a:xfrm>
          <a:prstGeom prst="rect">
            <a:avLst/>
          </a:prstGeom>
          <a:noFill/>
          <a:ln>
            <a:noFill/>
          </a:ln>
        </p:spPr>
        <p:txBody>
          <a:bodyPr spcFirstLastPara="1" wrap="square" lIns="91425" tIns="45700" rIns="91425" bIns="45700" anchor="t" anchorCtr="0">
            <a:noAutofit/>
          </a:bodyPr>
          <a:lstStyle/>
          <a:p>
            <a:pPr marL="342900" indent="-342900"/>
            <a:r>
              <a:rPr lang="en-US" sz="2000">
                <a:solidFill>
                  <a:schemeClr val="dk1"/>
                </a:solidFill>
                <a:latin typeface="Helvetica Neue"/>
                <a:ea typeface="Helvetica Neue"/>
                <a:cs typeface="Helvetica Neue"/>
                <a:sym typeface="Helvetica Neue"/>
              </a:rPr>
              <a:t>Relations </a:t>
            </a:r>
            <a:r>
              <a:rPr lang="en-US" sz="2000" i="1">
                <a:solidFill>
                  <a:schemeClr val="dk1"/>
                </a:solidFill>
                <a:latin typeface="Helvetica Neue"/>
                <a:ea typeface="Helvetica Neue"/>
                <a:cs typeface="Helvetica Neue"/>
                <a:sym typeface="Helvetica Neue"/>
              </a:rPr>
              <a:t>r, s</a:t>
            </a:r>
            <a:r>
              <a:rPr lang="en-US" sz="2000">
                <a:solidFill>
                  <a:schemeClr val="dk1"/>
                </a:solidFill>
                <a:latin typeface="Helvetica Neue"/>
                <a:ea typeface="Helvetica Neue"/>
                <a:cs typeface="Helvetica Neue"/>
                <a:sym typeface="Helvetica Neue"/>
              </a:rPr>
              <a:t>:</a:t>
            </a:r>
            <a:endParaRPr sz="2000">
              <a:solidFill>
                <a:schemeClr val="dk1"/>
              </a:solidFill>
              <a:latin typeface="Helvetica Neue"/>
              <a:ea typeface="Helvetica Neue"/>
              <a:cs typeface="Helvetica Neue"/>
              <a:sym typeface="Helvetica Neue"/>
            </a:endParaRPr>
          </a:p>
        </p:txBody>
      </p:sp>
      <p:sp>
        <p:nvSpPr>
          <p:cNvPr id="600" name="Google Shape;600;p50"/>
          <p:cNvSpPr/>
          <p:nvPr/>
        </p:nvSpPr>
        <p:spPr>
          <a:xfrm>
            <a:off x="1981200" y="4876801"/>
            <a:ext cx="7029450" cy="333375"/>
          </a:xfrm>
          <a:prstGeom prst="rect">
            <a:avLst/>
          </a:prstGeom>
          <a:noFill/>
          <a:ln>
            <a:noFill/>
          </a:ln>
        </p:spPr>
        <p:txBody>
          <a:bodyPr spcFirstLastPara="1" wrap="square" lIns="91425" tIns="45700" rIns="91425" bIns="45700" anchor="t" anchorCtr="0">
            <a:noAutofit/>
          </a:bodyPr>
          <a:lstStyle/>
          <a:p>
            <a:pPr marL="342900" indent="-342900"/>
            <a:r>
              <a:rPr lang="en-US" sz="2000" i="1">
                <a:solidFill>
                  <a:schemeClr val="dk1"/>
                </a:solidFill>
                <a:latin typeface="Helvetica Neue"/>
                <a:ea typeface="Helvetica Neue"/>
                <a:cs typeface="Helvetica Neue"/>
                <a:sym typeface="Helvetica Neue"/>
              </a:rPr>
              <a:t>r</a:t>
            </a:r>
            <a:r>
              <a:rPr lang="en-US" sz="2000">
                <a:solidFill>
                  <a:schemeClr val="dk1"/>
                </a:solidFill>
                <a:latin typeface="Helvetica Neue"/>
                <a:ea typeface="Helvetica Neue"/>
                <a:cs typeface="Helvetica Neue"/>
                <a:sym typeface="Helvetica Neue"/>
              </a:rPr>
              <a:t> ÷ </a:t>
            </a:r>
            <a:r>
              <a:rPr lang="en-US" sz="2000" i="1">
                <a:solidFill>
                  <a:schemeClr val="dk1"/>
                </a:solidFill>
                <a:latin typeface="Helvetica Neue"/>
                <a:ea typeface="Helvetica Neue"/>
                <a:cs typeface="Helvetica Neue"/>
                <a:sym typeface="Helvetica Neue"/>
              </a:rPr>
              <a:t>s</a:t>
            </a:r>
            <a:r>
              <a:rPr lang="en-US" sz="2000">
                <a:solidFill>
                  <a:schemeClr val="dk1"/>
                </a:solidFill>
                <a:latin typeface="Helvetica Neue"/>
                <a:ea typeface="Helvetica Neue"/>
                <a:cs typeface="Helvetica Neue"/>
                <a:sym typeface="Helvetica Neue"/>
              </a:rPr>
              <a:t>:</a:t>
            </a:r>
            <a:endParaRPr sz="2000">
              <a:solidFill>
                <a:schemeClr val="dk1"/>
              </a:solidFill>
              <a:latin typeface="Helvetica Neue"/>
              <a:ea typeface="Helvetica Neue"/>
              <a:cs typeface="Helvetica Neue"/>
              <a:sym typeface="Helvetica Neue"/>
            </a:endParaRPr>
          </a:p>
        </p:txBody>
      </p:sp>
      <p:sp>
        <p:nvSpPr>
          <p:cNvPr id="601" name="Google Shape;601;p50"/>
          <p:cNvSpPr/>
          <p:nvPr/>
        </p:nvSpPr>
        <p:spPr>
          <a:xfrm>
            <a:off x="3200400" y="4876800"/>
            <a:ext cx="457200" cy="4572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A</a:t>
            </a:r>
            <a:endParaRPr i="1">
              <a:solidFill>
                <a:schemeClr val="dk1"/>
              </a:solidFill>
              <a:latin typeface="Helvetica Neue"/>
              <a:ea typeface="Helvetica Neue"/>
              <a:cs typeface="Helvetica Neue"/>
              <a:sym typeface="Helvetica Neue"/>
            </a:endParaRPr>
          </a:p>
        </p:txBody>
      </p:sp>
      <p:sp>
        <p:nvSpPr>
          <p:cNvPr id="602" name="Google Shape;602;p50"/>
          <p:cNvSpPr/>
          <p:nvPr/>
        </p:nvSpPr>
        <p:spPr>
          <a:xfrm>
            <a:off x="6096000" y="1371600"/>
            <a:ext cx="457200" cy="4572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B</a:t>
            </a:r>
            <a:endParaRPr i="1">
              <a:solidFill>
                <a:schemeClr val="dk1"/>
              </a:solidFill>
              <a:latin typeface="Helvetica Neue"/>
              <a:ea typeface="Helvetica Neue"/>
              <a:cs typeface="Helvetica Neue"/>
              <a:sym typeface="Helvetica Neue"/>
            </a:endParaRPr>
          </a:p>
        </p:txBody>
      </p:sp>
      <p:sp>
        <p:nvSpPr>
          <p:cNvPr id="603" name="Google Shape;603;p50"/>
          <p:cNvSpPr/>
          <p:nvPr/>
        </p:nvSpPr>
        <p:spPr>
          <a:xfrm>
            <a:off x="3200400" y="5395913"/>
            <a:ext cx="457200" cy="7620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lnSpc>
                <a:spcPct val="150000"/>
              </a:lnSpc>
            </a:pPr>
            <a:r>
              <a:rPr lang="en-US" i="1">
                <a:solidFill>
                  <a:schemeClr val="dk1"/>
                </a:solidFill>
                <a:latin typeface="Helvetica Neue"/>
                <a:ea typeface="Helvetica Neue"/>
                <a:cs typeface="Helvetica Neue"/>
                <a:sym typeface="Helvetica Neue"/>
              </a:rPr>
              <a:t>α</a:t>
            </a:r>
            <a:endParaRPr i="1">
              <a:solidFill>
                <a:schemeClr val="dk1"/>
              </a:solidFill>
              <a:latin typeface="Helvetica Neue"/>
              <a:ea typeface="Helvetica Neue"/>
              <a:cs typeface="Helvetica Neue"/>
              <a:sym typeface="Helvetica Neue"/>
            </a:endParaRPr>
          </a:p>
          <a:p>
            <a:pPr algn="ctr">
              <a:lnSpc>
                <a:spcPct val="150000"/>
              </a:lnSpc>
            </a:pPr>
            <a:r>
              <a:rPr lang="en-US" i="1">
                <a:solidFill>
                  <a:schemeClr val="dk1"/>
                </a:solidFill>
                <a:latin typeface="Helvetica Neue"/>
                <a:ea typeface="Helvetica Neue"/>
                <a:cs typeface="Helvetica Neue"/>
                <a:sym typeface="Helvetica Neue"/>
              </a:rPr>
              <a:t>β</a:t>
            </a:r>
            <a:endParaRPr i="1">
              <a:solidFill>
                <a:schemeClr val="dk1"/>
              </a:solidFill>
              <a:latin typeface="Helvetica Neue"/>
              <a:ea typeface="Helvetica Neue"/>
              <a:cs typeface="Helvetica Neue"/>
              <a:sym typeface="Helvetica Neue"/>
            </a:endParaRPr>
          </a:p>
        </p:txBody>
      </p:sp>
      <p:sp>
        <p:nvSpPr>
          <p:cNvPr id="604" name="Google Shape;604;p50"/>
          <p:cNvSpPr/>
          <p:nvPr/>
        </p:nvSpPr>
        <p:spPr>
          <a:xfrm>
            <a:off x="6096000" y="1905000"/>
            <a:ext cx="457200" cy="7620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lnSpc>
                <a:spcPct val="150000"/>
              </a:lnSpc>
            </a:pPr>
            <a:r>
              <a:rPr lang="en-US" i="1">
                <a:solidFill>
                  <a:schemeClr val="dk1"/>
                </a:solidFill>
                <a:latin typeface="Helvetica Neue"/>
                <a:ea typeface="Helvetica Neue"/>
                <a:cs typeface="Helvetica Neue"/>
                <a:sym typeface="Helvetica Neue"/>
              </a:rPr>
              <a:t>1</a:t>
            </a:r>
            <a:endParaRPr i="1">
              <a:solidFill>
                <a:schemeClr val="dk1"/>
              </a:solidFill>
              <a:latin typeface="Helvetica Neue"/>
              <a:ea typeface="Helvetica Neue"/>
              <a:cs typeface="Helvetica Neue"/>
              <a:sym typeface="Helvetica Neue"/>
            </a:endParaRPr>
          </a:p>
          <a:p>
            <a:pPr algn="ctr">
              <a:lnSpc>
                <a:spcPct val="150000"/>
              </a:lnSpc>
            </a:pPr>
            <a:r>
              <a:rPr lang="en-US" i="1">
                <a:solidFill>
                  <a:schemeClr val="dk1"/>
                </a:solidFill>
                <a:latin typeface="Helvetica Neue"/>
                <a:ea typeface="Helvetica Neue"/>
                <a:cs typeface="Helvetica Neue"/>
                <a:sym typeface="Helvetica Neue"/>
              </a:rPr>
              <a:t>2</a:t>
            </a:r>
            <a:endParaRPr i="1">
              <a:solidFill>
                <a:schemeClr val="dk1"/>
              </a:solidFill>
              <a:latin typeface="Helvetica Neue"/>
              <a:ea typeface="Helvetica Neue"/>
              <a:cs typeface="Helvetica Neue"/>
              <a:sym typeface="Helvetica Neue"/>
            </a:endParaRPr>
          </a:p>
        </p:txBody>
      </p:sp>
      <p:sp>
        <p:nvSpPr>
          <p:cNvPr id="605" name="Google Shape;605;p50"/>
          <p:cNvSpPr/>
          <p:nvPr/>
        </p:nvSpPr>
        <p:spPr>
          <a:xfrm>
            <a:off x="4267200" y="1219200"/>
            <a:ext cx="457200" cy="5334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A</a:t>
            </a:r>
            <a:endParaRPr i="1">
              <a:solidFill>
                <a:schemeClr val="dk1"/>
              </a:solidFill>
              <a:latin typeface="Helvetica Neue"/>
              <a:ea typeface="Helvetica Neue"/>
              <a:cs typeface="Helvetica Neue"/>
              <a:sym typeface="Helvetica Neue"/>
            </a:endParaRPr>
          </a:p>
        </p:txBody>
      </p:sp>
      <p:sp>
        <p:nvSpPr>
          <p:cNvPr id="606" name="Google Shape;606;p50"/>
          <p:cNvSpPr/>
          <p:nvPr/>
        </p:nvSpPr>
        <p:spPr>
          <a:xfrm>
            <a:off x="4724400" y="1219200"/>
            <a:ext cx="457200" cy="5334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B</a:t>
            </a:r>
            <a:endParaRPr i="1">
              <a:solidFill>
                <a:schemeClr val="dk1"/>
              </a:solidFill>
              <a:latin typeface="Helvetica Neue"/>
              <a:ea typeface="Helvetica Neue"/>
              <a:cs typeface="Helvetica Neue"/>
              <a:sym typeface="Helvetica Neue"/>
            </a:endParaRPr>
          </a:p>
        </p:txBody>
      </p:sp>
      <p:sp>
        <p:nvSpPr>
          <p:cNvPr id="607" name="Google Shape;607;p50"/>
          <p:cNvSpPr/>
          <p:nvPr/>
        </p:nvSpPr>
        <p:spPr>
          <a:xfrm>
            <a:off x="4267200" y="1828800"/>
            <a:ext cx="457200" cy="31242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α</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α</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α</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β</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γ</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δ</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δ</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δ</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β</a:t>
            </a:r>
            <a:endParaRPr i="1">
              <a:solidFill>
                <a:schemeClr val="dk1"/>
              </a:solidFill>
              <a:latin typeface="Helvetica Neue"/>
              <a:ea typeface="Helvetica Neue"/>
              <a:cs typeface="Helvetica Neue"/>
              <a:sym typeface="Helvetica Neue"/>
            </a:endParaRPr>
          </a:p>
        </p:txBody>
      </p:sp>
      <p:sp>
        <p:nvSpPr>
          <p:cNvPr id="608" name="Google Shape;608;p50"/>
          <p:cNvSpPr/>
          <p:nvPr/>
        </p:nvSpPr>
        <p:spPr>
          <a:xfrm>
            <a:off x="4724400" y="1828800"/>
            <a:ext cx="457200" cy="31242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1</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2</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3</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1</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1</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1</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3</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4</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6</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1</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2</a:t>
            </a:r>
            <a:endParaRPr i="1">
              <a:solidFill>
                <a:schemeClr val="dk1"/>
              </a:solidFill>
              <a:latin typeface="Helvetica Neue"/>
              <a:ea typeface="Helvetica Neue"/>
              <a:cs typeface="Helvetica Neue"/>
              <a:sym typeface="Helvetica Neue"/>
            </a:endParaRPr>
          </a:p>
        </p:txBody>
      </p:sp>
      <p:sp>
        <p:nvSpPr>
          <p:cNvPr id="609" name="Google Shape;609;p50"/>
          <p:cNvSpPr txBox="1"/>
          <p:nvPr/>
        </p:nvSpPr>
        <p:spPr>
          <a:xfrm>
            <a:off x="4572000" y="4953001"/>
            <a:ext cx="260350" cy="366713"/>
          </a:xfrm>
          <a:prstGeom prst="rect">
            <a:avLst/>
          </a:prstGeom>
          <a:noFill/>
          <a:ln>
            <a:noFill/>
          </a:ln>
        </p:spPr>
        <p:txBody>
          <a:bodyPr spcFirstLastPara="1" wrap="square" lIns="91425" tIns="45700" rIns="91425" bIns="45700" anchor="ctr" anchorCtr="0">
            <a:spAutoFit/>
          </a:bodyPr>
          <a:lstStyle/>
          <a:p>
            <a:pPr algn="ctr"/>
            <a:r>
              <a:rPr lang="en-US" i="1">
                <a:solidFill>
                  <a:schemeClr val="dk1"/>
                </a:solidFill>
                <a:latin typeface="Helvetica Neue"/>
                <a:ea typeface="Helvetica Neue"/>
                <a:cs typeface="Helvetica Neue"/>
                <a:sym typeface="Helvetica Neue"/>
              </a:rPr>
              <a:t>r</a:t>
            </a:r>
            <a:endParaRPr i="1">
              <a:solidFill>
                <a:schemeClr val="dk1"/>
              </a:solidFill>
              <a:latin typeface="Helvetica Neue"/>
              <a:ea typeface="Helvetica Neue"/>
              <a:cs typeface="Helvetica Neue"/>
              <a:sym typeface="Helvetica Neue"/>
            </a:endParaRPr>
          </a:p>
        </p:txBody>
      </p:sp>
      <p:sp>
        <p:nvSpPr>
          <p:cNvPr id="610" name="Google Shape;610;p50"/>
          <p:cNvSpPr txBox="1"/>
          <p:nvPr/>
        </p:nvSpPr>
        <p:spPr>
          <a:xfrm>
            <a:off x="6172200" y="2743201"/>
            <a:ext cx="298450" cy="366713"/>
          </a:xfrm>
          <a:prstGeom prst="rect">
            <a:avLst/>
          </a:prstGeom>
          <a:noFill/>
          <a:ln>
            <a:noFill/>
          </a:ln>
        </p:spPr>
        <p:txBody>
          <a:bodyPr spcFirstLastPara="1" wrap="square" lIns="91425" tIns="45700" rIns="91425" bIns="45700" anchor="ctr" anchorCtr="0">
            <a:spAutoFit/>
          </a:bodyPr>
          <a:lstStyle/>
          <a:p>
            <a:pPr algn="ctr"/>
            <a:r>
              <a:rPr lang="en-US" i="1">
                <a:solidFill>
                  <a:schemeClr val="dk1"/>
                </a:solidFill>
                <a:latin typeface="Helvetica Neue"/>
                <a:ea typeface="Helvetica Neue"/>
                <a:cs typeface="Helvetica Neue"/>
                <a:sym typeface="Helvetica Neue"/>
              </a:rPr>
              <a:t>s</a:t>
            </a:r>
            <a:endParaRPr i="1">
              <a:solidFill>
                <a:schemeClr val="dk1"/>
              </a:solidFill>
              <a:latin typeface="Helvetica Neue"/>
              <a:ea typeface="Helvetica Neue"/>
              <a:cs typeface="Helvetica Neue"/>
              <a:sym typeface="Helvetica Neue"/>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01"/>
                                        </p:tgtEl>
                                        <p:attrNameLst>
                                          <p:attrName>style.visibility</p:attrName>
                                        </p:attrNameLst>
                                      </p:cBhvr>
                                      <p:to>
                                        <p:strVal val="visible"/>
                                      </p:to>
                                    </p:set>
                                    <p:animEffect transition="in" filter="fade">
                                      <p:cBhvr>
                                        <p:cTn id="7" dur="500"/>
                                        <p:tgtEl>
                                          <p:spTgt spid="601"/>
                                        </p:tgtEl>
                                      </p:cBhvr>
                                    </p:animEffect>
                                  </p:childTnLst>
                                </p:cTn>
                              </p:par>
                              <p:par>
                                <p:cTn id="8" presetID="10" presetClass="entr" presetSubtype="0" fill="hold" nodeType="withEffect">
                                  <p:stCondLst>
                                    <p:cond delay="0"/>
                                  </p:stCondLst>
                                  <p:childTnLst>
                                    <p:set>
                                      <p:cBhvr>
                                        <p:cTn id="9" dur="1" fill="hold">
                                          <p:stCondLst>
                                            <p:cond delay="0"/>
                                          </p:stCondLst>
                                        </p:cTn>
                                        <p:tgtEl>
                                          <p:spTgt spid="603"/>
                                        </p:tgtEl>
                                        <p:attrNameLst>
                                          <p:attrName>style.visibility</p:attrName>
                                        </p:attrNameLst>
                                      </p:cBhvr>
                                      <p:to>
                                        <p:strVal val="visible"/>
                                      </p:to>
                                    </p:set>
                                    <p:animEffect transition="in" filter="fade">
                                      <p:cBhvr>
                                        <p:cTn id="10" dur="500"/>
                                        <p:tgtEl>
                                          <p:spTgt spid="6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614"/>
        <p:cNvGrpSpPr/>
        <p:nvPr/>
      </p:nvGrpSpPr>
      <p:grpSpPr>
        <a:xfrm>
          <a:off x="0" y="0"/>
          <a:ext cx="0" cy="0"/>
          <a:chOff x="0" y="0"/>
          <a:chExt cx="0" cy="0"/>
        </a:xfrm>
      </p:grpSpPr>
      <p:sp>
        <p:nvSpPr>
          <p:cNvPr id="615" name="Google Shape;615;p51"/>
          <p:cNvSpPr txBox="1">
            <a:spLocks noGrp="1"/>
          </p:cNvSpPr>
          <p:nvPr>
            <p:ph type="title"/>
          </p:nvPr>
        </p:nvSpPr>
        <p:spPr>
          <a:xfrm>
            <a:off x="2209800" y="0"/>
            <a:ext cx="7772400" cy="1143000"/>
          </a:xfrm>
          <a:prstGeom prst="rect">
            <a:avLst/>
          </a:prstGeom>
          <a:noFill/>
          <a:ln>
            <a:noFill/>
          </a:ln>
        </p:spPr>
        <p:txBody>
          <a:bodyPr spcFirstLastPara="1" vert="horz" wrap="square" lIns="91425" tIns="45700" rIns="91425" bIns="45700" rtlCol="0" anchor="ctr" anchorCtr="0">
            <a:noAutofit/>
          </a:bodyPr>
          <a:lstStyle/>
          <a:p>
            <a:pPr algn="ctr">
              <a:lnSpc>
                <a:spcPct val="100000"/>
              </a:lnSpc>
              <a:spcBef>
                <a:spcPts val="0"/>
              </a:spcBef>
              <a:buClr>
                <a:schemeClr val="dk2"/>
              </a:buClr>
              <a:buSzPts val="2800"/>
            </a:pPr>
            <a:r>
              <a:rPr lang="en-US" sz="2800" b="1"/>
              <a:t>Another Division Example</a:t>
            </a:r>
            <a:endParaRPr sz="2800" b="1"/>
          </a:p>
        </p:txBody>
      </p:sp>
      <p:sp>
        <p:nvSpPr>
          <p:cNvPr id="616" name="Google Shape;616;p51"/>
          <p:cNvSpPr/>
          <p:nvPr/>
        </p:nvSpPr>
        <p:spPr>
          <a:xfrm>
            <a:off x="4229100" y="1371600"/>
            <a:ext cx="457200" cy="5334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A</a:t>
            </a:r>
            <a:endParaRPr i="1">
              <a:solidFill>
                <a:schemeClr val="dk1"/>
              </a:solidFill>
              <a:latin typeface="Helvetica Neue"/>
              <a:ea typeface="Helvetica Neue"/>
              <a:cs typeface="Helvetica Neue"/>
              <a:sym typeface="Helvetica Neue"/>
            </a:endParaRPr>
          </a:p>
        </p:txBody>
      </p:sp>
      <p:sp>
        <p:nvSpPr>
          <p:cNvPr id="617" name="Google Shape;617;p51"/>
          <p:cNvSpPr/>
          <p:nvPr/>
        </p:nvSpPr>
        <p:spPr>
          <a:xfrm>
            <a:off x="4686300" y="1371600"/>
            <a:ext cx="457200" cy="5334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B</a:t>
            </a:r>
            <a:endParaRPr i="1">
              <a:solidFill>
                <a:schemeClr val="dk1"/>
              </a:solidFill>
              <a:latin typeface="Helvetica Neue"/>
              <a:ea typeface="Helvetica Neue"/>
              <a:cs typeface="Helvetica Neue"/>
              <a:sym typeface="Helvetica Neue"/>
            </a:endParaRPr>
          </a:p>
        </p:txBody>
      </p:sp>
      <p:sp>
        <p:nvSpPr>
          <p:cNvPr id="618" name="Google Shape;618;p51"/>
          <p:cNvSpPr/>
          <p:nvPr/>
        </p:nvSpPr>
        <p:spPr>
          <a:xfrm>
            <a:off x="4229100" y="1981200"/>
            <a:ext cx="457200" cy="22098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α</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α</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α</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β</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β</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γ</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γ</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γ</a:t>
            </a:r>
            <a:endParaRPr i="1">
              <a:solidFill>
                <a:schemeClr val="dk1"/>
              </a:solidFill>
              <a:latin typeface="Helvetica Neue"/>
              <a:ea typeface="Helvetica Neue"/>
              <a:cs typeface="Helvetica Neue"/>
              <a:sym typeface="Helvetica Neue"/>
            </a:endParaRPr>
          </a:p>
        </p:txBody>
      </p:sp>
      <p:sp>
        <p:nvSpPr>
          <p:cNvPr id="619" name="Google Shape;619;p51"/>
          <p:cNvSpPr/>
          <p:nvPr/>
        </p:nvSpPr>
        <p:spPr>
          <a:xfrm>
            <a:off x="4686300" y="1981200"/>
            <a:ext cx="457200" cy="22098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a:solidFill>
                  <a:schemeClr val="dk1"/>
                </a:solidFill>
                <a:latin typeface="Helvetica Neue"/>
                <a:ea typeface="Helvetica Neue"/>
                <a:cs typeface="Helvetica Neue"/>
                <a:sym typeface="Helvetica Neue"/>
              </a:rPr>
              <a:t>a</a:t>
            </a:r>
            <a:endParaRPr>
              <a:solidFill>
                <a:schemeClr val="dk1"/>
              </a:solidFill>
              <a:latin typeface="Helvetica Neue"/>
              <a:ea typeface="Helvetica Neue"/>
              <a:cs typeface="Helvetica Neue"/>
              <a:sym typeface="Helvetica Neue"/>
            </a:endParaRPr>
          </a:p>
          <a:p>
            <a:pPr algn="ctr"/>
            <a:r>
              <a:rPr lang="en-US">
                <a:solidFill>
                  <a:schemeClr val="dk1"/>
                </a:solidFill>
                <a:latin typeface="Helvetica Neue"/>
                <a:ea typeface="Helvetica Neue"/>
                <a:cs typeface="Helvetica Neue"/>
                <a:sym typeface="Helvetica Neue"/>
              </a:rPr>
              <a:t>a</a:t>
            </a:r>
            <a:endParaRPr>
              <a:solidFill>
                <a:schemeClr val="dk1"/>
              </a:solidFill>
              <a:latin typeface="Helvetica Neue"/>
              <a:ea typeface="Helvetica Neue"/>
              <a:cs typeface="Helvetica Neue"/>
              <a:sym typeface="Helvetica Neue"/>
            </a:endParaRPr>
          </a:p>
          <a:p>
            <a:pPr algn="ctr"/>
            <a:r>
              <a:rPr lang="en-US">
                <a:solidFill>
                  <a:schemeClr val="dk1"/>
                </a:solidFill>
                <a:latin typeface="Helvetica Neue"/>
                <a:ea typeface="Helvetica Neue"/>
                <a:cs typeface="Helvetica Neue"/>
                <a:sym typeface="Helvetica Neue"/>
              </a:rPr>
              <a:t>a</a:t>
            </a:r>
            <a:endParaRPr>
              <a:solidFill>
                <a:schemeClr val="dk1"/>
              </a:solidFill>
              <a:latin typeface="Helvetica Neue"/>
              <a:ea typeface="Helvetica Neue"/>
              <a:cs typeface="Helvetica Neue"/>
              <a:sym typeface="Helvetica Neue"/>
            </a:endParaRPr>
          </a:p>
          <a:p>
            <a:pPr algn="ctr"/>
            <a:r>
              <a:rPr lang="en-US">
                <a:solidFill>
                  <a:schemeClr val="dk1"/>
                </a:solidFill>
                <a:latin typeface="Helvetica Neue"/>
                <a:ea typeface="Helvetica Neue"/>
                <a:cs typeface="Helvetica Neue"/>
                <a:sym typeface="Helvetica Neue"/>
              </a:rPr>
              <a:t>a</a:t>
            </a:r>
            <a:endParaRPr>
              <a:solidFill>
                <a:schemeClr val="dk1"/>
              </a:solidFill>
              <a:latin typeface="Helvetica Neue"/>
              <a:ea typeface="Helvetica Neue"/>
              <a:cs typeface="Helvetica Neue"/>
              <a:sym typeface="Helvetica Neue"/>
            </a:endParaRPr>
          </a:p>
          <a:p>
            <a:pPr algn="ctr"/>
            <a:r>
              <a:rPr lang="en-US">
                <a:solidFill>
                  <a:schemeClr val="dk1"/>
                </a:solidFill>
                <a:latin typeface="Helvetica Neue"/>
                <a:ea typeface="Helvetica Neue"/>
                <a:cs typeface="Helvetica Neue"/>
                <a:sym typeface="Helvetica Neue"/>
              </a:rPr>
              <a:t>a</a:t>
            </a:r>
            <a:endParaRPr>
              <a:solidFill>
                <a:schemeClr val="dk1"/>
              </a:solidFill>
              <a:latin typeface="Helvetica Neue"/>
              <a:ea typeface="Helvetica Neue"/>
              <a:cs typeface="Helvetica Neue"/>
              <a:sym typeface="Helvetica Neue"/>
            </a:endParaRPr>
          </a:p>
          <a:p>
            <a:pPr algn="ctr"/>
            <a:r>
              <a:rPr lang="en-US">
                <a:solidFill>
                  <a:schemeClr val="dk1"/>
                </a:solidFill>
                <a:latin typeface="Helvetica Neue"/>
                <a:ea typeface="Helvetica Neue"/>
                <a:cs typeface="Helvetica Neue"/>
                <a:sym typeface="Helvetica Neue"/>
              </a:rPr>
              <a:t>a</a:t>
            </a:r>
            <a:endParaRPr>
              <a:solidFill>
                <a:schemeClr val="dk1"/>
              </a:solidFill>
              <a:latin typeface="Helvetica Neue"/>
              <a:ea typeface="Helvetica Neue"/>
              <a:cs typeface="Helvetica Neue"/>
              <a:sym typeface="Helvetica Neue"/>
            </a:endParaRPr>
          </a:p>
          <a:p>
            <a:pPr algn="ctr"/>
            <a:r>
              <a:rPr lang="en-US">
                <a:solidFill>
                  <a:schemeClr val="dk1"/>
                </a:solidFill>
                <a:latin typeface="Helvetica Neue"/>
                <a:ea typeface="Helvetica Neue"/>
                <a:cs typeface="Helvetica Neue"/>
                <a:sym typeface="Helvetica Neue"/>
              </a:rPr>
              <a:t>a</a:t>
            </a:r>
            <a:endParaRPr>
              <a:solidFill>
                <a:schemeClr val="dk1"/>
              </a:solidFill>
              <a:latin typeface="Helvetica Neue"/>
              <a:ea typeface="Helvetica Neue"/>
              <a:cs typeface="Helvetica Neue"/>
              <a:sym typeface="Helvetica Neue"/>
            </a:endParaRPr>
          </a:p>
          <a:p>
            <a:pPr algn="ctr"/>
            <a:r>
              <a:rPr lang="en-US">
                <a:solidFill>
                  <a:schemeClr val="dk1"/>
                </a:solidFill>
                <a:latin typeface="Helvetica Neue"/>
                <a:ea typeface="Helvetica Neue"/>
                <a:cs typeface="Helvetica Neue"/>
                <a:sym typeface="Helvetica Neue"/>
              </a:rPr>
              <a:t>a</a:t>
            </a:r>
            <a:endParaRPr i="1">
              <a:solidFill>
                <a:schemeClr val="dk1"/>
              </a:solidFill>
              <a:latin typeface="Helvetica Neue"/>
              <a:ea typeface="Helvetica Neue"/>
              <a:cs typeface="Helvetica Neue"/>
              <a:sym typeface="Helvetica Neue"/>
            </a:endParaRPr>
          </a:p>
        </p:txBody>
      </p:sp>
      <p:sp>
        <p:nvSpPr>
          <p:cNvPr id="620" name="Google Shape;620;p51"/>
          <p:cNvSpPr/>
          <p:nvPr/>
        </p:nvSpPr>
        <p:spPr>
          <a:xfrm>
            <a:off x="5143500" y="1371600"/>
            <a:ext cx="457200" cy="5334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C</a:t>
            </a:r>
            <a:endParaRPr i="1">
              <a:solidFill>
                <a:schemeClr val="dk1"/>
              </a:solidFill>
              <a:latin typeface="Helvetica Neue"/>
              <a:ea typeface="Helvetica Neue"/>
              <a:cs typeface="Helvetica Neue"/>
              <a:sym typeface="Helvetica Neue"/>
            </a:endParaRPr>
          </a:p>
        </p:txBody>
      </p:sp>
      <p:sp>
        <p:nvSpPr>
          <p:cNvPr id="621" name="Google Shape;621;p51"/>
          <p:cNvSpPr/>
          <p:nvPr/>
        </p:nvSpPr>
        <p:spPr>
          <a:xfrm>
            <a:off x="5600700" y="1371600"/>
            <a:ext cx="457200" cy="5334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D</a:t>
            </a:r>
            <a:endParaRPr i="1">
              <a:solidFill>
                <a:schemeClr val="dk1"/>
              </a:solidFill>
              <a:latin typeface="Helvetica Neue"/>
              <a:ea typeface="Helvetica Neue"/>
              <a:cs typeface="Helvetica Neue"/>
              <a:sym typeface="Helvetica Neue"/>
            </a:endParaRPr>
          </a:p>
        </p:txBody>
      </p:sp>
      <p:sp>
        <p:nvSpPr>
          <p:cNvPr id="622" name="Google Shape;622;p51"/>
          <p:cNvSpPr/>
          <p:nvPr/>
        </p:nvSpPr>
        <p:spPr>
          <a:xfrm>
            <a:off x="5143500" y="1981200"/>
            <a:ext cx="457200" cy="22098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α</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γ</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γ</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γ</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γ</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γ</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γ</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β</a:t>
            </a:r>
            <a:endParaRPr i="1">
              <a:solidFill>
                <a:schemeClr val="dk1"/>
              </a:solidFill>
              <a:latin typeface="Helvetica Neue"/>
              <a:ea typeface="Helvetica Neue"/>
              <a:cs typeface="Helvetica Neue"/>
              <a:sym typeface="Helvetica Neue"/>
            </a:endParaRPr>
          </a:p>
        </p:txBody>
      </p:sp>
      <p:sp>
        <p:nvSpPr>
          <p:cNvPr id="623" name="Google Shape;623;p51"/>
          <p:cNvSpPr/>
          <p:nvPr/>
        </p:nvSpPr>
        <p:spPr>
          <a:xfrm>
            <a:off x="5600700" y="1981200"/>
            <a:ext cx="457200" cy="22098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a:solidFill>
                  <a:schemeClr val="dk1"/>
                </a:solidFill>
                <a:latin typeface="Helvetica Neue"/>
                <a:ea typeface="Helvetica Neue"/>
                <a:cs typeface="Helvetica Neue"/>
                <a:sym typeface="Helvetica Neue"/>
              </a:rPr>
              <a:t>a</a:t>
            </a:r>
            <a:endParaRPr>
              <a:solidFill>
                <a:schemeClr val="dk1"/>
              </a:solidFill>
              <a:latin typeface="Helvetica Neue"/>
              <a:ea typeface="Helvetica Neue"/>
              <a:cs typeface="Helvetica Neue"/>
              <a:sym typeface="Helvetica Neue"/>
            </a:endParaRPr>
          </a:p>
          <a:p>
            <a:pPr algn="ctr"/>
            <a:r>
              <a:rPr lang="en-US">
                <a:solidFill>
                  <a:schemeClr val="dk1"/>
                </a:solidFill>
                <a:latin typeface="Helvetica Neue"/>
                <a:ea typeface="Helvetica Neue"/>
                <a:cs typeface="Helvetica Neue"/>
                <a:sym typeface="Helvetica Neue"/>
              </a:rPr>
              <a:t>a</a:t>
            </a:r>
            <a:endParaRPr>
              <a:solidFill>
                <a:schemeClr val="dk1"/>
              </a:solidFill>
              <a:latin typeface="Helvetica Neue"/>
              <a:ea typeface="Helvetica Neue"/>
              <a:cs typeface="Helvetica Neue"/>
              <a:sym typeface="Helvetica Neue"/>
            </a:endParaRPr>
          </a:p>
          <a:p>
            <a:pPr algn="ctr"/>
            <a:r>
              <a:rPr lang="en-US">
                <a:solidFill>
                  <a:schemeClr val="dk1"/>
                </a:solidFill>
                <a:latin typeface="Helvetica Neue"/>
                <a:ea typeface="Helvetica Neue"/>
                <a:cs typeface="Helvetica Neue"/>
                <a:sym typeface="Helvetica Neue"/>
              </a:rPr>
              <a:t>b</a:t>
            </a:r>
            <a:endParaRPr>
              <a:solidFill>
                <a:schemeClr val="dk1"/>
              </a:solidFill>
              <a:latin typeface="Helvetica Neue"/>
              <a:ea typeface="Helvetica Neue"/>
              <a:cs typeface="Helvetica Neue"/>
              <a:sym typeface="Helvetica Neue"/>
            </a:endParaRPr>
          </a:p>
          <a:p>
            <a:pPr algn="ctr"/>
            <a:r>
              <a:rPr lang="en-US">
                <a:solidFill>
                  <a:schemeClr val="dk1"/>
                </a:solidFill>
                <a:latin typeface="Helvetica Neue"/>
                <a:ea typeface="Helvetica Neue"/>
                <a:cs typeface="Helvetica Neue"/>
                <a:sym typeface="Helvetica Neue"/>
              </a:rPr>
              <a:t>a</a:t>
            </a:r>
            <a:endParaRPr>
              <a:solidFill>
                <a:schemeClr val="dk1"/>
              </a:solidFill>
              <a:latin typeface="Helvetica Neue"/>
              <a:ea typeface="Helvetica Neue"/>
              <a:cs typeface="Helvetica Neue"/>
              <a:sym typeface="Helvetica Neue"/>
            </a:endParaRPr>
          </a:p>
          <a:p>
            <a:pPr algn="ctr"/>
            <a:r>
              <a:rPr lang="en-US">
                <a:solidFill>
                  <a:schemeClr val="dk1"/>
                </a:solidFill>
                <a:latin typeface="Helvetica Neue"/>
                <a:ea typeface="Helvetica Neue"/>
                <a:cs typeface="Helvetica Neue"/>
                <a:sym typeface="Helvetica Neue"/>
              </a:rPr>
              <a:t>b</a:t>
            </a:r>
            <a:endParaRPr>
              <a:solidFill>
                <a:schemeClr val="dk1"/>
              </a:solidFill>
              <a:latin typeface="Helvetica Neue"/>
              <a:ea typeface="Helvetica Neue"/>
              <a:cs typeface="Helvetica Neue"/>
              <a:sym typeface="Helvetica Neue"/>
            </a:endParaRPr>
          </a:p>
          <a:p>
            <a:pPr algn="ctr"/>
            <a:r>
              <a:rPr lang="en-US">
                <a:solidFill>
                  <a:schemeClr val="dk1"/>
                </a:solidFill>
                <a:latin typeface="Helvetica Neue"/>
                <a:ea typeface="Helvetica Neue"/>
                <a:cs typeface="Helvetica Neue"/>
                <a:sym typeface="Helvetica Neue"/>
              </a:rPr>
              <a:t>a</a:t>
            </a:r>
            <a:endParaRPr>
              <a:solidFill>
                <a:schemeClr val="dk1"/>
              </a:solidFill>
              <a:latin typeface="Helvetica Neue"/>
              <a:ea typeface="Helvetica Neue"/>
              <a:cs typeface="Helvetica Neue"/>
              <a:sym typeface="Helvetica Neue"/>
            </a:endParaRPr>
          </a:p>
          <a:p>
            <a:pPr algn="ctr"/>
            <a:r>
              <a:rPr lang="en-US">
                <a:solidFill>
                  <a:schemeClr val="dk1"/>
                </a:solidFill>
                <a:latin typeface="Helvetica Neue"/>
                <a:ea typeface="Helvetica Neue"/>
                <a:cs typeface="Helvetica Neue"/>
                <a:sym typeface="Helvetica Neue"/>
              </a:rPr>
              <a:t>b</a:t>
            </a:r>
            <a:endParaRPr>
              <a:solidFill>
                <a:schemeClr val="dk1"/>
              </a:solidFill>
              <a:latin typeface="Helvetica Neue"/>
              <a:ea typeface="Helvetica Neue"/>
              <a:cs typeface="Helvetica Neue"/>
              <a:sym typeface="Helvetica Neue"/>
            </a:endParaRPr>
          </a:p>
          <a:p>
            <a:pPr algn="ctr"/>
            <a:r>
              <a:rPr lang="en-US">
                <a:solidFill>
                  <a:schemeClr val="dk1"/>
                </a:solidFill>
                <a:latin typeface="Helvetica Neue"/>
                <a:ea typeface="Helvetica Neue"/>
                <a:cs typeface="Helvetica Neue"/>
                <a:sym typeface="Helvetica Neue"/>
              </a:rPr>
              <a:t>b</a:t>
            </a:r>
            <a:endParaRPr i="1">
              <a:solidFill>
                <a:schemeClr val="dk1"/>
              </a:solidFill>
              <a:latin typeface="Helvetica Neue"/>
              <a:ea typeface="Helvetica Neue"/>
              <a:cs typeface="Helvetica Neue"/>
              <a:sym typeface="Helvetica Neue"/>
            </a:endParaRPr>
          </a:p>
        </p:txBody>
      </p:sp>
      <p:sp>
        <p:nvSpPr>
          <p:cNvPr id="624" name="Google Shape;624;p51"/>
          <p:cNvSpPr/>
          <p:nvPr/>
        </p:nvSpPr>
        <p:spPr>
          <a:xfrm>
            <a:off x="6057900" y="1371600"/>
            <a:ext cx="457200" cy="5334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E</a:t>
            </a:r>
            <a:endParaRPr i="1">
              <a:solidFill>
                <a:schemeClr val="dk1"/>
              </a:solidFill>
              <a:latin typeface="Helvetica Neue"/>
              <a:ea typeface="Helvetica Neue"/>
              <a:cs typeface="Helvetica Neue"/>
              <a:sym typeface="Helvetica Neue"/>
            </a:endParaRPr>
          </a:p>
        </p:txBody>
      </p:sp>
      <p:sp>
        <p:nvSpPr>
          <p:cNvPr id="625" name="Google Shape;625;p51"/>
          <p:cNvSpPr/>
          <p:nvPr/>
        </p:nvSpPr>
        <p:spPr>
          <a:xfrm>
            <a:off x="6057900" y="1981200"/>
            <a:ext cx="457200" cy="22098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1</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1</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1</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1</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3</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1</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1</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1</a:t>
            </a:r>
            <a:endParaRPr i="1">
              <a:solidFill>
                <a:schemeClr val="dk1"/>
              </a:solidFill>
              <a:latin typeface="Helvetica Neue"/>
              <a:ea typeface="Helvetica Neue"/>
              <a:cs typeface="Helvetica Neue"/>
              <a:sym typeface="Helvetica Neue"/>
            </a:endParaRPr>
          </a:p>
        </p:txBody>
      </p:sp>
      <p:sp>
        <p:nvSpPr>
          <p:cNvPr id="626" name="Google Shape;626;p51"/>
          <p:cNvSpPr/>
          <p:nvPr/>
        </p:nvSpPr>
        <p:spPr>
          <a:xfrm>
            <a:off x="1981200" y="1295401"/>
            <a:ext cx="2133600" cy="333375"/>
          </a:xfrm>
          <a:prstGeom prst="rect">
            <a:avLst/>
          </a:prstGeom>
          <a:noFill/>
          <a:ln>
            <a:noFill/>
          </a:ln>
        </p:spPr>
        <p:txBody>
          <a:bodyPr spcFirstLastPara="1" wrap="square" lIns="91425" tIns="45700" rIns="91425" bIns="45700" anchor="t" anchorCtr="0">
            <a:noAutofit/>
          </a:bodyPr>
          <a:lstStyle/>
          <a:p>
            <a:pPr marL="342900" indent="-342900"/>
            <a:r>
              <a:rPr lang="en-US" sz="2000">
                <a:solidFill>
                  <a:schemeClr val="dk1"/>
                </a:solidFill>
                <a:latin typeface="Helvetica Neue"/>
                <a:ea typeface="Helvetica Neue"/>
                <a:cs typeface="Helvetica Neue"/>
                <a:sym typeface="Helvetica Neue"/>
              </a:rPr>
              <a:t>Relations </a:t>
            </a:r>
            <a:r>
              <a:rPr lang="en-US" sz="2000" i="1">
                <a:solidFill>
                  <a:schemeClr val="dk1"/>
                </a:solidFill>
                <a:latin typeface="Helvetica Neue"/>
                <a:ea typeface="Helvetica Neue"/>
                <a:cs typeface="Helvetica Neue"/>
                <a:sym typeface="Helvetica Neue"/>
              </a:rPr>
              <a:t>r, s</a:t>
            </a:r>
            <a:r>
              <a:rPr lang="en-US" sz="2000">
                <a:solidFill>
                  <a:schemeClr val="dk1"/>
                </a:solidFill>
                <a:latin typeface="Helvetica Neue"/>
                <a:ea typeface="Helvetica Neue"/>
                <a:cs typeface="Helvetica Neue"/>
                <a:sym typeface="Helvetica Neue"/>
              </a:rPr>
              <a:t>:</a:t>
            </a:r>
            <a:endParaRPr sz="2000">
              <a:solidFill>
                <a:schemeClr val="dk1"/>
              </a:solidFill>
              <a:latin typeface="Helvetica Neue"/>
              <a:ea typeface="Helvetica Neue"/>
              <a:cs typeface="Helvetica Neue"/>
              <a:sym typeface="Helvetica Neue"/>
            </a:endParaRPr>
          </a:p>
        </p:txBody>
      </p:sp>
      <p:sp>
        <p:nvSpPr>
          <p:cNvPr id="627" name="Google Shape;627;p51"/>
          <p:cNvSpPr/>
          <p:nvPr/>
        </p:nvSpPr>
        <p:spPr>
          <a:xfrm>
            <a:off x="1981200" y="4876801"/>
            <a:ext cx="1295400" cy="333375"/>
          </a:xfrm>
          <a:prstGeom prst="rect">
            <a:avLst/>
          </a:prstGeom>
          <a:noFill/>
          <a:ln>
            <a:noFill/>
          </a:ln>
        </p:spPr>
        <p:txBody>
          <a:bodyPr spcFirstLastPara="1" wrap="square" lIns="91425" tIns="45700" rIns="91425" bIns="45700" anchor="t" anchorCtr="0">
            <a:noAutofit/>
          </a:bodyPr>
          <a:lstStyle/>
          <a:p>
            <a:pPr marL="342900" indent="-342900"/>
            <a:r>
              <a:rPr lang="en-US" sz="2000" i="1">
                <a:solidFill>
                  <a:schemeClr val="dk1"/>
                </a:solidFill>
                <a:latin typeface="Helvetica Neue"/>
                <a:ea typeface="Helvetica Neue"/>
                <a:cs typeface="Helvetica Neue"/>
                <a:sym typeface="Helvetica Neue"/>
              </a:rPr>
              <a:t>r</a:t>
            </a:r>
            <a:r>
              <a:rPr lang="en-US" sz="2000">
                <a:solidFill>
                  <a:schemeClr val="dk1"/>
                </a:solidFill>
                <a:latin typeface="Helvetica Neue"/>
                <a:ea typeface="Helvetica Neue"/>
                <a:cs typeface="Helvetica Neue"/>
                <a:sym typeface="Helvetica Neue"/>
              </a:rPr>
              <a:t> ÷ </a:t>
            </a:r>
            <a:r>
              <a:rPr lang="en-US" sz="2000" i="1">
                <a:solidFill>
                  <a:schemeClr val="dk1"/>
                </a:solidFill>
                <a:latin typeface="Helvetica Neue"/>
                <a:ea typeface="Helvetica Neue"/>
                <a:cs typeface="Helvetica Neue"/>
                <a:sym typeface="Helvetica Neue"/>
              </a:rPr>
              <a:t>s</a:t>
            </a:r>
            <a:r>
              <a:rPr lang="en-US" sz="2000">
                <a:solidFill>
                  <a:schemeClr val="dk1"/>
                </a:solidFill>
                <a:latin typeface="Helvetica Neue"/>
                <a:ea typeface="Helvetica Neue"/>
                <a:cs typeface="Helvetica Neue"/>
                <a:sym typeface="Helvetica Neue"/>
              </a:rPr>
              <a:t>:</a:t>
            </a:r>
            <a:endParaRPr sz="2000">
              <a:solidFill>
                <a:schemeClr val="dk1"/>
              </a:solidFill>
              <a:latin typeface="Helvetica Neue"/>
              <a:ea typeface="Helvetica Neue"/>
              <a:cs typeface="Helvetica Neue"/>
              <a:sym typeface="Helvetica Neue"/>
            </a:endParaRPr>
          </a:p>
        </p:txBody>
      </p:sp>
      <p:sp>
        <p:nvSpPr>
          <p:cNvPr id="628" name="Google Shape;628;p51"/>
          <p:cNvSpPr/>
          <p:nvPr/>
        </p:nvSpPr>
        <p:spPr>
          <a:xfrm>
            <a:off x="7620000" y="1371600"/>
            <a:ext cx="457200" cy="5334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D</a:t>
            </a:r>
            <a:endParaRPr i="1">
              <a:solidFill>
                <a:schemeClr val="dk1"/>
              </a:solidFill>
              <a:latin typeface="Helvetica Neue"/>
              <a:ea typeface="Helvetica Neue"/>
              <a:cs typeface="Helvetica Neue"/>
              <a:sym typeface="Helvetica Neue"/>
            </a:endParaRPr>
          </a:p>
        </p:txBody>
      </p:sp>
      <p:sp>
        <p:nvSpPr>
          <p:cNvPr id="629" name="Google Shape;629;p51"/>
          <p:cNvSpPr/>
          <p:nvPr/>
        </p:nvSpPr>
        <p:spPr>
          <a:xfrm>
            <a:off x="7620000" y="1981200"/>
            <a:ext cx="457200" cy="5334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a:solidFill>
                  <a:schemeClr val="dk1"/>
                </a:solidFill>
                <a:latin typeface="Helvetica Neue"/>
                <a:ea typeface="Helvetica Neue"/>
                <a:cs typeface="Helvetica Neue"/>
                <a:sym typeface="Helvetica Neue"/>
              </a:rPr>
              <a:t>a</a:t>
            </a:r>
            <a:endParaRPr>
              <a:solidFill>
                <a:schemeClr val="dk1"/>
              </a:solidFill>
              <a:latin typeface="Helvetica Neue"/>
              <a:ea typeface="Helvetica Neue"/>
              <a:cs typeface="Helvetica Neue"/>
              <a:sym typeface="Helvetica Neue"/>
            </a:endParaRPr>
          </a:p>
          <a:p>
            <a:pPr algn="ctr"/>
            <a:r>
              <a:rPr lang="en-US">
                <a:solidFill>
                  <a:schemeClr val="dk1"/>
                </a:solidFill>
                <a:latin typeface="Helvetica Neue"/>
                <a:ea typeface="Helvetica Neue"/>
                <a:cs typeface="Helvetica Neue"/>
                <a:sym typeface="Helvetica Neue"/>
              </a:rPr>
              <a:t>b</a:t>
            </a:r>
            <a:endParaRPr i="1">
              <a:solidFill>
                <a:schemeClr val="dk1"/>
              </a:solidFill>
              <a:latin typeface="Helvetica Neue"/>
              <a:ea typeface="Helvetica Neue"/>
              <a:cs typeface="Helvetica Neue"/>
              <a:sym typeface="Helvetica Neue"/>
            </a:endParaRPr>
          </a:p>
        </p:txBody>
      </p:sp>
      <p:sp>
        <p:nvSpPr>
          <p:cNvPr id="630" name="Google Shape;630;p51"/>
          <p:cNvSpPr/>
          <p:nvPr/>
        </p:nvSpPr>
        <p:spPr>
          <a:xfrm>
            <a:off x="8077200" y="1371600"/>
            <a:ext cx="457200" cy="5334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E</a:t>
            </a:r>
            <a:endParaRPr i="1">
              <a:solidFill>
                <a:schemeClr val="dk1"/>
              </a:solidFill>
              <a:latin typeface="Helvetica Neue"/>
              <a:ea typeface="Helvetica Neue"/>
              <a:cs typeface="Helvetica Neue"/>
              <a:sym typeface="Helvetica Neue"/>
            </a:endParaRPr>
          </a:p>
        </p:txBody>
      </p:sp>
      <p:sp>
        <p:nvSpPr>
          <p:cNvPr id="631" name="Google Shape;631;p51"/>
          <p:cNvSpPr/>
          <p:nvPr/>
        </p:nvSpPr>
        <p:spPr>
          <a:xfrm>
            <a:off x="8077200" y="1981200"/>
            <a:ext cx="457200" cy="5334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1</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1</a:t>
            </a:r>
            <a:endParaRPr i="1">
              <a:solidFill>
                <a:schemeClr val="dk1"/>
              </a:solidFill>
              <a:latin typeface="Helvetica Neue"/>
              <a:ea typeface="Helvetica Neue"/>
              <a:cs typeface="Helvetica Neue"/>
              <a:sym typeface="Helvetica Neue"/>
            </a:endParaRPr>
          </a:p>
        </p:txBody>
      </p:sp>
      <p:sp>
        <p:nvSpPr>
          <p:cNvPr id="632" name="Google Shape;632;p51"/>
          <p:cNvSpPr/>
          <p:nvPr/>
        </p:nvSpPr>
        <p:spPr>
          <a:xfrm>
            <a:off x="5029200" y="4800600"/>
            <a:ext cx="457200" cy="5334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A</a:t>
            </a:r>
            <a:endParaRPr i="1">
              <a:solidFill>
                <a:schemeClr val="dk1"/>
              </a:solidFill>
              <a:latin typeface="Helvetica Neue"/>
              <a:ea typeface="Helvetica Neue"/>
              <a:cs typeface="Helvetica Neue"/>
              <a:sym typeface="Helvetica Neue"/>
            </a:endParaRPr>
          </a:p>
        </p:txBody>
      </p:sp>
      <p:sp>
        <p:nvSpPr>
          <p:cNvPr id="633" name="Google Shape;633;p51"/>
          <p:cNvSpPr/>
          <p:nvPr/>
        </p:nvSpPr>
        <p:spPr>
          <a:xfrm>
            <a:off x="5486400" y="4800600"/>
            <a:ext cx="457200" cy="5334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B</a:t>
            </a:r>
            <a:endParaRPr i="1">
              <a:solidFill>
                <a:schemeClr val="dk1"/>
              </a:solidFill>
              <a:latin typeface="Helvetica Neue"/>
              <a:ea typeface="Helvetica Neue"/>
              <a:cs typeface="Helvetica Neue"/>
              <a:sym typeface="Helvetica Neue"/>
            </a:endParaRPr>
          </a:p>
        </p:txBody>
      </p:sp>
      <p:sp>
        <p:nvSpPr>
          <p:cNvPr id="634" name="Google Shape;634;p51"/>
          <p:cNvSpPr/>
          <p:nvPr/>
        </p:nvSpPr>
        <p:spPr>
          <a:xfrm>
            <a:off x="5029200" y="5410200"/>
            <a:ext cx="457200" cy="6096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α</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γ</a:t>
            </a:r>
            <a:endParaRPr i="1">
              <a:solidFill>
                <a:schemeClr val="dk1"/>
              </a:solidFill>
              <a:latin typeface="Helvetica Neue"/>
              <a:ea typeface="Helvetica Neue"/>
              <a:cs typeface="Helvetica Neue"/>
              <a:sym typeface="Helvetica Neue"/>
            </a:endParaRPr>
          </a:p>
        </p:txBody>
      </p:sp>
      <p:sp>
        <p:nvSpPr>
          <p:cNvPr id="635" name="Google Shape;635;p51"/>
          <p:cNvSpPr/>
          <p:nvPr/>
        </p:nvSpPr>
        <p:spPr>
          <a:xfrm>
            <a:off x="5486400" y="5410200"/>
            <a:ext cx="457200" cy="6096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a:solidFill>
                  <a:schemeClr val="dk1"/>
                </a:solidFill>
                <a:latin typeface="Helvetica Neue"/>
                <a:ea typeface="Helvetica Neue"/>
                <a:cs typeface="Helvetica Neue"/>
                <a:sym typeface="Helvetica Neue"/>
              </a:rPr>
              <a:t>a</a:t>
            </a:r>
            <a:endParaRPr>
              <a:solidFill>
                <a:schemeClr val="dk1"/>
              </a:solidFill>
              <a:latin typeface="Helvetica Neue"/>
              <a:ea typeface="Helvetica Neue"/>
              <a:cs typeface="Helvetica Neue"/>
              <a:sym typeface="Helvetica Neue"/>
            </a:endParaRPr>
          </a:p>
          <a:p>
            <a:pPr algn="ctr"/>
            <a:r>
              <a:rPr lang="en-US">
                <a:solidFill>
                  <a:schemeClr val="dk1"/>
                </a:solidFill>
                <a:latin typeface="Helvetica Neue"/>
                <a:ea typeface="Helvetica Neue"/>
                <a:cs typeface="Helvetica Neue"/>
                <a:sym typeface="Helvetica Neue"/>
              </a:rPr>
              <a:t>a</a:t>
            </a:r>
            <a:endParaRPr i="1">
              <a:solidFill>
                <a:schemeClr val="dk1"/>
              </a:solidFill>
              <a:latin typeface="Helvetica Neue"/>
              <a:ea typeface="Helvetica Neue"/>
              <a:cs typeface="Helvetica Neue"/>
              <a:sym typeface="Helvetica Neue"/>
            </a:endParaRPr>
          </a:p>
        </p:txBody>
      </p:sp>
      <p:sp>
        <p:nvSpPr>
          <p:cNvPr id="636" name="Google Shape;636;p51"/>
          <p:cNvSpPr/>
          <p:nvPr/>
        </p:nvSpPr>
        <p:spPr>
          <a:xfrm>
            <a:off x="5943600" y="4800600"/>
            <a:ext cx="457200" cy="5334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C</a:t>
            </a:r>
            <a:endParaRPr i="1">
              <a:solidFill>
                <a:schemeClr val="dk1"/>
              </a:solidFill>
              <a:latin typeface="Helvetica Neue"/>
              <a:ea typeface="Helvetica Neue"/>
              <a:cs typeface="Helvetica Neue"/>
              <a:sym typeface="Helvetica Neue"/>
            </a:endParaRPr>
          </a:p>
        </p:txBody>
      </p:sp>
      <p:sp>
        <p:nvSpPr>
          <p:cNvPr id="637" name="Google Shape;637;p51"/>
          <p:cNvSpPr/>
          <p:nvPr/>
        </p:nvSpPr>
        <p:spPr>
          <a:xfrm>
            <a:off x="5943600" y="5410200"/>
            <a:ext cx="457200" cy="6096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γ</a:t>
            </a:r>
            <a:endParaRPr i="1">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γ</a:t>
            </a:r>
            <a:endParaRPr i="1">
              <a:solidFill>
                <a:schemeClr val="dk1"/>
              </a:solidFill>
              <a:latin typeface="Helvetica Neue"/>
              <a:ea typeface="Helvetica Neue"/>
              <a:cs typeface="Helvetica Neue"/>
              <a:sym typeface="Helvetica Neue"/>
            </a:endParaRPr>
          </a:p>
        </p:txBody>
      </p:sp>
      <p:sp>
        <p:nvSpPr>
          <p:cNvPr id="638" name="Google Shape;638;p51"/>
          <p:cNvSpPr txBox="1"/>
          <p:nvPr/>
        </p:nvSpPr>
        <p:spPr>
          <a:xfrm>
            <a:off x="5143500" y="4203701"/>
            <a:ext cx="260350" cy="366713"/>
          </a:xfrm>
          <a:prstGeom prst="rect">
            <a:avLst/>
          </a:prstGeom>
          <a:noFill/>
          <a:ln>
            <a:noFill/>
          </a:ln>
        </p:spPr>
        <p:txBody>
          <a:bodyPr spcFirstLastPara="1" wrap="square" lIns="91425" tIns="45700" rIns="91425" bIns="45700" anchor="ctr" anchorCtr="0">
            <a:spAutoFit/>
          </a:bodyPr>
          <a:lstStyle/>
          <a:p>
            <a:pPr algn="ctr"/>
            <a:r>
              <a:rPr lang="en-US" i="1">
                <a:solidFill>
                  <a:schemeClr val="dk1"/>
                </a:solidFill>
                <a:latin typeface="Helvetica Neue"/>
                <a:ea typeface="Helvetica Neue"/>
                <a:cs typeface="Helvetica Neue"/>
                <a:sym typeface="Helvetica Neue"/>
              </a:rPr>
              <a:t>r</a:t>
            </a:r>
            <a:endParaRPr i="1">
              <a:solidFill>
                <a:schemeClr val="dk1"/>
              </a:solidFill>
              <a:latin typeface="Helvetica Neue"/>
              <a:ea typeface="Helvetica Neue"/>
              <a:cs typeface="Helvetica Neue"/>
              <a:sym typeface="Helvetica Neue"/>
            </a:endParaRPr>
          </a:p>
        </p:txBody>
      </p:sp>
      <p:sp>
        <p:nvSpPr>
          <p:cNvPr id="639" name="Google Shape;639;p51"/>
          <p:cNvSpPr txBox="1"/>
          <p:nvPr/>
        </p:nvSpPr>
        <p:spPr>
          <a:xfrm>
            <a:off x="7924800" y="2528888"/>
            <a:ext cx="298450" cy="366712"/>
          </a:xfrm>
          <a:prstGeom prst="rect">
            <a:avLst/>
          </a:prstGeom>
          <a:noFill/>
          <a:ln>
            <a:noFill/>
          </a:ln>
        </p:spPr>
        <p:txBody>
          <a:bodyPr spcFirstLastPara="1" wrap="square" lIns="91425" tIns="45700" rIns="91425" bIns="45700" anchor="ctr" anchorCtr="0">
            <a:spAutoFit/>
          </a:bodyPr>
          <a:lstStyle/>
          <a:p>
            <a:pPr algn="ctr"/>
            <a:r>
              <a:rPr lang="en-US" i="1">
                <a:solidFill>
                  <a:schemeClr val="dk1"/>
                </a:solidFill>
                <a:latin typeface="Helvetica Neue"/>
                <a:ea typeface="Helvetica Neue"/>
                <a:cs typeface="Helvetica Neue"/>
                <a:sym typeface="Helvetica Neue"/>
              </a:rPr>
              <a:t>s</a:t>
            </a:r>
            <a:endParaRPr i="1">
              <a:solidFill>
                <a:schemeClr val="dk1"/>
              </a:solidFill>
              <a:latin typeface="Helvetica Neue"/>
              <a:ea typeface="Helvetica Neue"/>
              <a:cs typeface="Helvetica Neue"/>
              <a:sym typeface="Helvetica Neue"/>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32"/>
                                        </p:tgtEl>
                                        <p:attrNameLst>
                                          <p:attrName>style.visibility</p:attrName>
                                        </p:attrNameLst>
                                      </p:cBhvr>
                                      <p:to>
                                        <p:strVal val="visible"/>
                                      </p:to>
                                    </p:set>
                                    <p:animEffect transition="in" filter="fade">
                                      <p:cBhvr>
                                        <p:cTn id="7" dur="500"/>
                                        <p:tgtEl>
                                          <p:spTgt spid="632"/>
                                        </p:tgtEl>
                                      </p:cBhvr>
                                    </p:animEffect>
                                  </p:childTnLst>
                                </p:cTn>
                              </p:par>
                              <p:par>
                                <p:cTn id="8" presetID="10" presetClass="entr" presetSubtype="0" fill="hold" nodeType="withEffect">
                                  <p:stCondLst>
                                    <p:cond delay="0"/>
                                  </p:stCondLst>
                                  <p:childTnLst>
                                    <p:set>
                                      <p:cBhvr>
                                        <p:cTn id="9" dur="1" fill="hold">
                                          <p:stCondLst>
                                            <p:cond delay="0"/>
                                          </p:stCondLst>
                                        </p:cTn>
                                        <p:tgtEl>
                                          <p:spTgt spid="633"/>
                                        </p:tgtEl>
                                        <p:attrNameLst>
                                          <p:attrName>style.visibility</p:attrName>
                                        </p:attrNameLst>
                                      </p:cBhvr>
                                      <p:to>
                                        <p:strVal val="visible"/>
                                      </p:to>
                                    </p:set>
                                    <p:animEffect transition="in" filter="fade">
                                      <p:cBhvr>
                                        <p:cTn id="10" dur="500"/>
                                        <p:tgtEl>
                                          <p:spTgt spid="633"/>
                                        </p:tgtEl>
                                      </p:cBhvr>
                                    </p:animEffect>
                                  </p:childTnLst>
                                </p:cTn>
                              </p:par>
                              <p:par>
                                <p:cTn id="11" presetID="10" presetClass="entr" presetSubtype="0" fill="hold" nodeType="withEffect">
                                  <p:stCondLst>
                                    <p:cond delay="0"/>
                                  </p:stCondLst>
                                  <p:childTnLst>
                                    <p:set>
                                      <p:cBhvr>
                                        <p:cTn id="12" dur="1" fill="hold">
                                          <p:stCondLst>
                                            <p:cond delay="0"/>
                                          </p:stCondLst>
                                        </p:cTn>
                                        <p:tgtEl>
                                          <p:spTgt spid="634"/>
                                        </p:tgtEl>
                                        <p:attrNameLst>
                                          <p:attrName>style.visibility</p:attrName>
                                        </p:attrNameLst>
                                      </p:cBhvr>
                                      <p:to>
                                        <p:strVal val="visible"/>
                                      </p:to>
                                    </p:set>
                                    <p:animEffect transition="in" filter="fade">
                                      <p:cBhvr>
                                        <p:cTn id="13" dur="500"/>
                                        <p:tgtEl>
                                          <p:spTgt spid="634"/>
                                        </p:tgtEl>
                                      </p:cBhvr>
                                    </p:animEffect>
                                  </p:childTnLst>
                                </p:cTn>
                              </p:par>
                              <p:par>
                                <p:cTn id="14" presetID="10" presetClass="entr" presetSubtype="0" fill="hold" nodeType="withEffect">
                                  <p:stCondLst>
                                    <p:cond delay="0"/>
                                  </p:stCondLst>
                                  <p:childTnLst>
                                    <p:set>
                                      <p:cBhvr>
                                        <p:cTn id="15" dur="1" fill="hold">
                                          <p:stCondLst>
                                            <p:cond delay="0"/>
                                          </p:stCondLst>
                                        </p:cTn>
                                        <p:tgtEl>
                                          <p:spTgt spid="635"/>
                                        </p:tgtEl>
                                        <p:attrNameLst>
                                          <p:attrName>style.visibility</p:attrName>
                                        </p:attrNameLst>
                                      </p:cBhvr>
                                      <p:to>
                                        <p:strVal val="visible"/>
                                      </p:to>
                                    </p:set>
                                    <p:animEffect transition="in" filter="fade">
                                      <p:cBhvr>
                                        <p:cTn id="16" dur="500"/>
                                        <p:tgtEl>
                                          <p:spTgt spid="635"/>
                                        </p:tgtEl>
                                      </p:cBhvr>
                                    </p:animEffect>
                                  </p:childTnLst>
                                </p:cTn>
                              </p:par>
                              <p:par>
                                <p:cTn id="17" presetID="10" presetClass="entr" presetSubtype="0" fill="hold" nodeType="withEffect">
                                  <p:stCondLst>
                                    <p:cond delay="0"/>
                                  </p:stCondLst>
                                  <p:childTnLst>
                                    <p:set>
                                      <p:cBhvr>
                                        <p:cTn id="18" dur="1" fill="hold">
                                          <p:stCondLst>
                                            <p:cond delay="0"/>
                                          </p:stCondLst>
                                        </p:cTn>
                                        <p:tgtEl>
                                          <p:spTgt spid="636"/>
                                        </p:tgtEl>
                                        <p:attrNameLst>
                                          <p:attrName>style.visibility</p:attrName>
                                        </p:attrNameLst>
                                      </p:cBhvr>
                                      <p:to>
                                        <p:strVal val="visible"/>
                                      </p:to>
                                    </p:set>
                                    <p:animEffect transition="in" filter="fade">
                                      <p:cBhvr>
                                        <p:cTn id="19" dur="500"/>
                                        <p:tgtEl>
                                          <p:spTgt spid="636"/>
                                        </p:tgtEl>
                                      </p:cBhvr>
                                    </p:animEffect>
                                  </p:childTnLst>
                                </p:cTn>
                              </p:par>
                              <p:par>
                                <p:cTn id="20" presetID="10" presetClass="entr" presetSubtype="0" fill="hold" nodeType="withEffect">
                                  <p:stCondLst>
                                    <p:cond delay="0"/>
                                  </p:stCondLst>
                                  <p:childTnLst>
                                    <p:set>
                                      <p:cBhvr>
                                        <p:cTn id="21" dur="1" fill="hold">
                                          <p:stCondLst>
                                            <p:cond delay="0"/>
                                          </p:stCondLst>
                                        </p:cTn>
                                        <p:tgtEl>
                                          <p:spTgt spid="637"/>
                                        </p:tgtEl>
                                        <p:attrNameLst>
                                          <p:attrName>style.visibility</p:attrName>
                                        </p:attrNameLst>
                                      </p:cBhvr>
                                      <p:to>
                                        <p:strVal val="visible"/>
                                      </p:to>
                                    </p:set>
                                    <p:animEffect transition="in" filter="fade">
                                      <p:cBhvr>
                                        <p:cTn id="22" dur="500"/>
                                        <p:tgtEl>
                                          <p:spTgt spid="6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643"/>
        <p:cNvGrpSpPr/>
        <p:nvPr/>
      </p:nvGrpSpPr>
      <p:grpSpPr>
        <a:xfrm>
          <a:off x="0" y="0"/>
          <a:ext cx="0" cy="0"/>
          <a:chOff x="0" y="0"/>
          <a:chExt cx="0" cy="0"/>
        </a:xfrm>
      </p:grpSpPr>
      <p:sp>
        <p:nvSpPr>
          <p:cNvPr id="644" name="Google Shape;644;p52"/>
          <p:cNvSpPr txBox="1">
            <a:spLocks noGrp="1"/>
          </p:cNvSpPr>
          <p:nvPr>
            <p:ph type="title"/>
          </p:nvPr>
        </p:nvSpPr>
        <p:spPr>
          <a:xfrm>
            <a:off x="2209800" y="0"/>
            <a:ext cx="7772400" cy="1143000"/>
          </a:xfrm>
          <a:prstGeom prst="rect">
            <a:avLst/>
          </a:prstGeom>
          <a:noFill/>
          <a:ln>
            <a:noFill/>
          </a:ln>
        </p:spPr>
        <p:txBody>
          <a:bodyPr spcFirstLastPara="1" vert="horz" wrap="square" lIns="91425" tIns="45700" rIns="91425" bIns="45700" rtlCol="0" anchor="ctr" anchorCtr="0">
            <a:noAutofit/>
          </a:bodyPr>
          <a:lstStyle/>
          <a:p>
            <a:pPr algn="ctr">
              <a:lnSpc>
                <a:spcPct val="100000"/>
              </a:lnSpc>
              <a:spcBef>
                <a:spcPts val="0"/>
              </a:spcBef>
              <a:buClr>
                <a:schemeClr val="dk2"/>
              </a:buClr>
              <a:buSzPts val="2800"/>
            </a:pPr>
            <a:r>
              <a:rPr lang="en-US" sz="2800" b="1"/>
              <a:t>Division Operation</a:t>
            </a:r>
            <a:endParaRPr sz="2800" b="1"/>
          </a:p>
        </p:txBody>
      </p:sp>
      <p:sp>
        <p:nvSpPr>
          <p:cNvPr id="645" name="Google Shape;645;p52"/>
          <p:cNvSpPr txBox="1">
            <a:spLocks noGrp="1"/>
          </p:cNvSpPr>
          <p:nvPr>
            <p:ph type="body" idx="1"/>
          </p:nvPr>
        </p:nvSpPr>
        <p:spPr>
          <a:xfrm>
            <a:off x="2368551" y="1014414"/>
            <a:ext cx="7453313" cy="4829175"/>
          </a:xfrm>
          <a:prstGeom prst="rect">
            <a:avLst/>
          </a:prstGeom>
          <a:noFill/>
          <a:ln>
            <a:noFill/>
          </a:ln>
        </p:spPr>
        <p:txBody>
          <a:bodyPr spcFirstLastPara="1" vert="horz" wrap="square" lIns="91425" tIns="45700" rIns="91425" bIns="45700" rtlCol="0" anchor="t" anchorCtr="0">
            <a:noAutofit/>
          </a:bodyPr>
          <a:lstStyle/>
          <a:p>
            <a:pPr marL="342900" indent="-342900">
              <a:lnSpc>
                <a:spcPct val="100000"/>
              </a:lnSpc>
              <a:spcBef>
                <a:spcPts val="0"/>
              </a:spcBef>
              <a:buClr>
                <a:schemeClr val="dk1"/>
              </a:buClr>
              <a:buSzPts val="2400"/>
              <a:buFont typeface="Arial"/>
              <a:buChar char="•"/>
            </a:pPr>
            <a:r>
              <a:rPr lang="en-US" sz="2400"/>
              <a:t>Definition in terms of the basic algebra operation</a:t>
            </a:r>
            <a:br>
              <a:rPr lang="en-US" sz="2400"/>
            </a:br>
            <a:r>
              <a:rPr lang="en-US" sz="2400"/>
              <a:t>Let </a:t>
            </a:r>
            <a:r>
              <a:rPr lang="en-US" sz="2400" i="1"/>
              <a:t>r(R)</a:t>
            </a:r>
            <a:r>
              <a:rPr lang="en-US" sz="2400"/>
              <a:t> and </a:t>
            </a:r>
            <a:r>
              <a:rPr lang="en-US" sz="2400" i="1"/>
              <a:t>s(S)</a:t>
            </a:r>
            <a:r>
              <a:rPr lang="en-US" sz="2400"/>
              <a:t> be relations, and let </a:t>
            </a:r>
            <a:r>
              <a:rPr lang="en-US" sz="2400" i="1"/>
              <a:t>S </a:t>
            </a:r>
            <a:r>
              <a:rPr lang="en-US" sz="2400"/>
              <a:t> ⊆ </a:t>
            </a:r>
            <a:r>
              <a:rPr lang="en-US" sz="2400" i="1"/>
              <a:t>R</a:t>
            </a:r>
            <a:endParaRPr sz="2400"/>
          </a:p>
          <a:p>
            <a:pPr marL="342900" indent="-190500">
              <a:lnSpc>
                <a:spcPct val="100000"/>
              </a:lnSpc>
              <a:spcBef>
                <a:spcPts val="480"/>
              </a:spcBef>
              <a:buClr>
                <a:schemeClr val="dk1"/>
              </a:buClr>
              <a:buSzPts val="2400"/>
              <a:buNone/>
            </a:pPr>
            <a:endParaRPr sz="2400"/>
          </a:p>
          <a:p>
            <a:pPr marL="342900" indent="-342900">
              <a:lnSpc>
                <a:spcPct val="100000"/>
              </a:lnSpc>
              <a:spcBef>
                <a:spcPts val="480"/>
              </a:spcBef>
              <a:buClr>
                <a:schemeClr val="dk1"/>
              </a:buClr>
              <a:buSzPts val="2400"/>
              <a:buNone/>
            </a:pPr>
            <a:r>
              <a:rPr lang="en-US" sz="2400"/>
              <a:t>	</a:t>
            </a:r>
            <a:r>
              <a:rPr lang="en-US" sz="2400" i="1"/>
              <a:t>r</a:t>
            </a:r>
            <a:r>
              <a:rPr lang="en-US" sz="2400"/>
              <a:t> ÷ </a:t>
            </a:r>
            <a:r>
              <a:rPr lang="en-US" sz="2400" i="1"/>
              <a:t>s</a:t>
            </a:r>
            <a:r>
              <a:rPr lang="en-US" sz="2400"/>
              <a:t> = ∏</a:t>
            </a:r>
            <a:r>
              <a:rPr lang="en-US" sz="2400" i="1" baseline="-25000"/>
              <a:t>R-S</a:t>
            </a:r>
            <a:r>
              <a:rPr lang="en-US" sz="2400"/>
              <a:t> (</a:t>
            </a:r>
            <a:r>
              <a:rPr lang="en-US" sz="2400" i="1"/>
              <a:t>r</a:t>
            </a:r>
            <a:r>
              <a:rPr lang="en-US" sz="2400"/>
              <a:t>) –∏</a:t>
            </a:r>
            <a:r>
              <a:rPr lang="en-US" sz="2400" i="1" baseline="-25000"/>
              <a:t>R-S</a:t>
            </a:r>
            <a:r>
              <a:rPr lang="en-US" sz="2400"/>
              <a:t> ( (∏</a:t>
            </a:r>
            <a:r>
              <a:rPr lang="en-US" sz="2400" i="1" baseline="-25000"/>
              <a:t>R-S</a:t>
            </a:r>
            <a:r>
              <a:rPr lang="en-US" sz="2400" i="1"/>
              <a:t> </a:t>
            </a:r>
            <a:r>
              <a:rPr lang="en-US" sz="2400"/>
              <a:t>(</a:t>
            </a:r>
            <a:r>
              <a:rPr lang="en-US" sz="2400" i="1"/>
              <a:t>r</a:t>
            </a:r>
            <a:r>
              <a:rPr lang="en-US" sz="2400"/>
              <a:t>) x </a:t>
            </a:r>
            <a:r>
              <a:rPr lang="en-US" sz="2400" i="1"/>
              <a:t>s</a:t>
            </a:r>
            <a:r>
              <a:rPr lang="en-US" sz="2400"/>
              <a:t>) – ∏</a:t>
            </a:r>
            <a:r>
              <a:rPr lang="en-US" sz="2400" i="1" baseline="-25000"/>
              <a:t>R-S,S</a:t>
            </a:r>
            <a:r>
              <a:rPr lang="en-US" sz="2400"/>
              <a:t>(</a:t>
            </a:r>
            <a:r>
              <a:rPr lang="en-US" sz="2400" i="1"/>
              <a:t>r</a:t>
            </a:r>
            <a:r>
              <a:rPr lang="en-US" sz="2400"/>
              <a:t>))</a:t>
            </a:r>
            <a:br>
              <a:rPr lang="en-US" sz="2400"/>
            </a:br>
            <a:endParaRPr sz="2400"/>
          </a:p>
          <a:p>
            <a:pPr marL="342900" indent="-342900">
              <a:lnSpc>
                <a:spcPct val="100000"/>
              </a:lnSpc>
              <a:spcBef>
                <a:spcPts val="480"/>
              </a:spcBef>
              <a:buClr>
                <a:schemeClr val="dk1"/>
              </a:buClr>
              <a:buSzPts val="2400"/>
              <a:buNone/>
            </a:pPr>
            <a:r>
              <a:rPr lang="en-US" sz="2400"/>
              <a:t>	To see why</a:t>
            </a:r>
            <a:endParaRPr sz="2400"/>
          </a:p>
          <a:p>
            <a:pPr marL="742950" lvl="1" indent="-285750">
              <a:lnSpc>
                <a:spcPct val="100000"/>
              </a:lnSpc>
              <a:spcBef>
                <a:spcPts val="480"/>
              </a:spcBef>
              <a:buClr>
                <a:schemeClr val="dk1"/>
              </a:buClr>
              <a:buSzPts val="2400"/>
              <a:buFont typeface="Arial"/>
              <a:buChar char="–"/>
            </a:pPr>
            <a:r>
              <a:rPr lang="en-US"/>
              <a:t>∏</a:t>
            </a:r>
            <a:r>
              <a:rPr lang="en-US" i="1" baseline="-25000"/>
              <a:t>R-S,S</a:t>
            </a:r>
            <a:r>
              <a:rPr lang="en-US"/>
              <a:t>(</a:t>
            </a:r>
            <a:r>
              <a:rPr lang="en-US" i="1"/>
              <a:t>r</a:t>
            </a:r>
            <a:r>
              <a:rPr lang="en-US"/>
              <a:t>) simply reorders attributes of </a:t>
            </a:r>
            <a:r>
              <a:rPr lang="en-US" i="1"/>
              <a:t>r</a:t>
            </a:r>
            <a:br>
              <a:rPr lang="en-US" i="1"/>
            </a:br>
            <a:endParaRPr i="1"/>
          </a:p>
          <a:p>
            <a:pPr marL="742950" lvl="1" indent="-285750">
              <a:lnSpc>
                <a:spcPct val="100000"/>
              </a:lnSpc>
              <a:spcBef>
                <a:spcPts val="480"/>
              </a:spcBef>
              <a:buClr>
                <a:schemeClr val="dk1"/>
              </a:buClr>
              <a:buSzPts val="2400"/>
              <a:buFont typeface="Arial"/>
              <a:buChar char="–"/>
            </a:pPr>
            <a:r>
              <a:rPr lang="en-US"/>
              <a:t>∏</a:t>
            </a:r>
            <a:r>
              <a:rPr lang="en-US" i="1" baseline="-25000"/>
              <a:t>R-S</a:t>
            </a:r>
            <a:r>
              <a:rPr lang="en-US"/>
              <a:t>(∏</a:t>
            </a:r>
            <a:r>
              <a:rPr lang="en-US" i="1" baseline="-25000"/>
              <a:t>R-S</a:t>
            </a:r>
            <a:r>
              <a:rPr lang="en-US" i="1"/>
              <a:t> </a:t>
            </a:r>
            <a:r>
              <a:rPr lang="en-US"/>
              <a:t>(</a:t>
            </a:r>
            <a:r>
              <a:rPr lang="en-US" i="1"/>
              <a:t>r</a:t>
            </a:r>
            <a:r>
              <a:rPr lang="en-US"/>
              <a:t>) x </a:t>
            </a:r>
            <a:r>
              <a:rPr lang="en-US" i="1"/>
              <a:t>s</a:t>
            </a:r>
            <a:r>
              <a:rPr lang="en-US"/>
              <a:t>) – ∏</a:t>
            </a:r>
            <a:r>
              <a:rPr lang="en-US" i="1" baseline="-25000"/>
              <a:t>R-S,S</a:t>
            </a:r>
            <a:r>
              <a:rPr lang="en-US"/>
              <a:t>(</a:t>
            </a:r>
            <a:r>
              <a:rPr lang="en-US" i="1"/>
              <a:t>r</a:t>
            </a:r>
            <a:r>
              <a:rPr lang="en-US"/>
              <a:t>)) gives those tuples t in </a:t>
            </a:r>
            <a:br>
              <a:rPr lang="en-US"/>
            </a:br>
            <a:br>
              <a:rPr lang="en-US"/>
            </a:br>
            <a:r>
              <a:rPr lang="en-US"/>
              <a:t> ∏</a:t>
            </a:r>
            <a:r>
              <a:rPr lang="en-US" i="1" baseline="-25000"/>
              <a:t>R-S</a:t>
            </a:r>
            <a:r>
              <a:rPr lang="en-US" i="1"/>
              <a:t> </a:t>
            </a:r>
            <a:r>
              <a:rPr lang="en-US"/>
              <a:t>(</a:t>
            </a:r>
            <a:r>
              <a:rPr lang="en-US" i="1"/>
              <a:t>r</a:t>
            </a:r>
            <a:r>
              <a:rPr lang="en-US"/>
              <a:t>) such that for some tuple </a:t>
            </a:r>
            <a:r>
              <a:rPr lang="en-US" i="1"/>
              <a:t>u </a:t>
            </a:r>
            <a:r>
              <a:rPr lang="en-US"/>
              <a:t>∈ </a:t>
            </a:r>
            <a:r>
              <a:rPr lang="en-US" i="1"/>
              <a:t>s, tu </a:t>
            </a:r>
            <a:r>
              <a:rPr lang="en-US"/>
              <a:t>∉ </a:t>
            </a:r>
            <a:r>
              <a:rPr lang="en-US" i="1"/>
              <a:t>r</a:t>
            </a:r>
            <a:r>
              <a:rPr lang="en-US"/>
              <a:t>.</a:t>
            </a:r>
            <a:endParaRPr/>
          </a:p>
          <a:p>
            <a:pPr marL="742950" lvl="1" indent="-133350">
              <a:lnSpc>
                <a:spcPct val="100000"/>
              </a:lnSpc>
              <a:spcBef>
                <a:spcPts val="480"/>
              </a:spcBef>
              <a:buClr>
                <a:schemeClr val="dk1"/>
              </a:buClr>
              <a:buSzPts val="2400"/>
              <a:buNone/>
            </a:pPr>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655"/>
        <p:cNvGrpSpPr/>
        <p:nvPr/>
      </p:nvGrpSpPr>
      <p:grpSpPr>
        <a:xfrm>
          <a:off x="0" y="0"/>
          <a:ext cx="0" cy="0"/>
          <a:chOff x="0" y="0"/>
          <a:chExt cx="0" cy="0"/>
        </a:xfrm>
      </p:grpSpPr>
      <p:sp>
        <p:nvSpPr>
          <p:cNvPr id="656" name="Google Shape;656;p54"/>
          <p:cNvSpPr txBox="1">
            <a:spLocks noGrp="1"/>
          </p:cNvSpPr>
          <p:nvPr>
            <p:ph type="body" idx="1"/>
          </p:nvPr>
        </p:nvSpPr>
        <p:spPr>
          <a:xfrm>
            <a:off x="2057400" y="76201"/>
            <a:ext cx="8229600" cy="339725"/>
          </a:xfrm>
          <a:prstGeom prst="rect">
            <a:avLst/>
          </a:prstGeom>
          <a:noFill/>
          <a:ln>
            <a:noFill/>
          </a:ln>
        </p:spPr>
        <p:txBody>
          <a:bodyPr spcFirstLastPara="1" vert="horz" wrap="square" lIns="91425" tIns="45700" rIns="91425" bIns="45700" rtlCol="0" anchor="t" anchorCtr="0">
            <a:noAutofit/>
          </a:bodyPr>
          <a:lstStyle/>
          <a:p>
            <a:pPr marL="342900" indent="-139700">
              <a:lnSpc>
                <a:spcPct val="100000"/>
              </a:lnSpc>
              <a:spcBef>
                <a:spcPts val="0"/>
              </a:spcBef>
              <a:buClr>
                <a:schemeClr val="dk1"/>
              </a:buClr>
              <a:buSzPts val="3200"/>
              <a:buNone/>
            </a:pPr>
            <a:endParaRPr b="1">
              <a:latin typeface="Times New Roman"/>
              <a:ea typeface="Times New Roman"/>
              <a:cs typeface="Times New Roman"/>
              <a:sym typeface="Times New Roman"/>
            </a:endParaRPr>
          </a:p>
          <a:p>
            <a:pPr marL="342900" indent="-139700">
              <a:lnSpc>
                <a:spcPct val="100000"/>
              </a:lnSpc>
              <a:spcBef>
                <a:spcPts val="640"/>
              </a:spcBef>
              <a:buClr>
                <a:schemeClr val="dk1"/>
              </a:buClr>
              <a:buSzPts val="3200"/>
              <a:buNone/>
            </a:pPr>
            <a:endParaRPr b="1">
              <a:latin typeface="Times New Roman"/>
              <a:ea typeface="Times New Roman"/>
              <a:cs typeface="Times New Roman"/>
              <a:sym typeface="Times New Roman"/>
            </a:endParaRPr>
          </a:p>
          <a:p>
            <a:pPr marL="342900" indent="-342900" algn="ctr">
              <a:lnSpc>
                <a:spcPct val="100000"/>
              </a:lnSpc>
              <a:spcBef>
                <a:spcPts val="720"/>
              </a:spcBef>
              <a:buClr>
                <a:schemeClr val="dk1"/>
              </a:buClr>
              <a:buSzPts val="3600"/>
              <a:buNone/>
            </a:pPr>
            <a:r>
              <a:rPr lang="en-US" sz="3600" b="1">
                <a:latin typeface="Times New Roman"/>
                <a:ea typeface="Times New Roman"/>
                <a:cs typeface="Times New Roman"/>
                <a:sym typeface="Times New Roman"/>
              </a:rPr>
              <a:t>Extended Relational-Algebra Operations</a:t>
            </a:r>
            <a:endParaRPr sz="3600"/>
          </a:p>
        </p:txBody>
      </p:sp>
      <p:sp>
        <p:nvSpPr>
          <p:cNvPr id="657" name="Google Shape;657;p54"/>
          <p:cNvSpPr/>
          <p:nvPr/>
        </p:nvSpPr>
        <p:spPr>
          <a:xfrm>
            <a:off x="2033905" y="2473325"/>
            <a:ext cx="7848600" cy="1911350"/>
          </a:xfrm>
          <a:prstGeom prst="rect">
            <a:avLst/>
          </a:prstGeom>
          <a:noFill/>
          <a:ln>
            <a:noFill/>
          </a:ln>
        </p:spPr>
        <p:txBody>
          <a:bodyPr spcFirstLastPara="1" wrap="square" lIns="91425" tIns="45700" rIns="91425" bIns="45700" anchor="t" anchorCtr="0">
            <a:noAutofit/>
          </a:bodyPr>
          <a:lstStyle/>
          <a:p>
            <a:pPr marL="342900" indent="-342900">
              <a:buClr>
                <a:schemeClr val="dk1"/>
              </a:buClr>
              <a:buSzPts val="2400"/>
              <a:buFont typeface="Arial"/>
              <a:buChar char="•"/>
            </a:pPr>
            <a:r>
              <a:rPr lang="en-US" sz="2400">
                <a:solidFill>
                  <a:schemeClr val="dk1"/>
                </a:solidFill>
                <a:latin typeface="Arial"/>
                <a:ea typeface="Arial"/>
                <a:cs typeface="Arial"/>
                <a:sym typeface="Arial"/>
              </a:rPr>
              <a:t>Generalized Projection</a:t>
            </a:r>
            <a:endParaRPr sz="2400">
              <a:solidFill>
                <a:schemeClr val="dk1"/>
              </a:solidFill>
              <a:latin typeface="Arial"/>
              <a:ea typeface="Arial"/>
              <a:cs typeface="Arial"/>
              <a:sym typeface="Arial"/>
            </a:endParaRPr>
          </a:p>
          <a:p>
            <a:pPr marL="342900" indent="-342900">
              <a:spcBef>
                <a:spcPts val="480"/>
              </a:spcBef>
              <a:buClr>
                <a:schemeClr val="dk1"/>
              </a:buClr>
              <a:buSzPts val="2400"/>
              <a:buFont typeface="Arial"/>
              <a:buChar char="•"/>
            </a:pPr>
            <a:r>
              <a:rPr lang="en-US" sz="2400">
                <a:solidFill>
                  <a:schemeClr val="dk1"/>
                </a:solidFill>
                <a:latin typeface="Arial"/>
                <a:ea typeface="Arial"/>
                <a:cs typeface="Arial"/>
                <a:sym typeface="Arial"/>
              </a:rPr>
              <a:t>Outer Join</a:t>
            </a:r>
            <a:endParaRPr sz="2400">
              <a:solidFill>
                <a:schemeClr val="dk1"/>
              </a:solidFill>
              <a:latin typeface="Arial"/>
              <a:ea typeface="Arial"/>
              <a:cs typeface="Arial"/>
              <a:sym typeface="Arial"/>
            </a:endParaRPr>
          </a:p>
          <a:p>
            <a:pPr marL="342900" indent="-342900">
              <a:spcBef>
                <a:spcPts val="480"/>
              </a:spcBef>
              <a:buClr>
                <a:schemeClr val="dk1"/>
              </a:buClr>
              <a:buSzPts val="2400"/>
              <a:buFont typeface="Arial"/>
              <a:buChar char="•"/>
            </a:pPr>
            <a:r>
              <a:rPr lang="en-US" sz="2400">
                <a:solidFill>
                  <a:schemeClr val="dk1"/>
                </a:solidFill>
                <a:latin typeface="Arial"/>
                <a:ea typeface="Arial"/>
                <a:cs typeface="Arial"/>
                <a:sym typeface="Arial"/>
              </a:rPr>
              <a:t>Aggregate Functions</a:t>
            </a:r>
            <a:endParaRPr sz="2400">
              <a:solidFill>
                <a:schemeClr val="dk1"/>
              </a:solidFill>
              <a:latin typeface="Arial"/>
              <a:ea typeface="Arial"/>
              <a:cs typeface="Arial"/>
              <a:sym typeface="Arial"/>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661"/>
        <p:cNvGrpSpPr/>
        <p:nvPr/>
      </p:nvGrpSpPr>
      <p:grpSpPr>
        <a:xfrm>
          <a:off x="0" y="0"/>
          <a:ext cx="0" cy="0"/>
          <a:chOff x="0" y="0"/>
          <a:chExt cx="0" cy="0"/>
        </a:xfrm>
      </p:grpSpPr>
      <p:sp>
        <p:nvSpPr>
          <p:cNvPr id="662" name="Google Shape;662;p55"/>
          <p:cNvSpPr txBox="1">
            <a:spLocks noGrp="1"/>
          </p:cNvSpPr>
          <p:nvPr>
            <p:ph type="title"/>
          </p:nvPr>
        </p:nvSpPr>
        <p:spPr>
          <a:xfrm>
            <a:off x="1981200" y="274956"/>
            <a:ext cx="8229600" cy="577215"/>
          </a:xfrm>
          <a:prstGeom prst="rect">
            <a:avLst/>
          </a:prstGeom>
          <a:noFill/>
          <a:ln>
            <a:noFill/>
          </a:ln>
        </p:spPr>
        <p:txBody>
          <a:bodyPr spcFirstLastPara="1" vert="horz" wrap="square" lIns="91425" tIns="45700" rIns="91425" bIns="45700" rtlCol="0" anchor="ctr" anchorCtr="0">
            <a:noAutofit/>
          </a:bodyPr>
          <a:lstStyle/>
          <a:p>
            <a:pPr algn="ctr">
              <a:lnSpc>
                <a:spcPct val="100000"/>
              </a:lnSpc>
              <a:spcBef>
                <a:spcPts val="0"/>
              </a:spcBef>
              <a:buClr>
                <a:schemeClr val="dk2"/>
              </a:buClr>
              <a:buSzPts val="4000"/>
            </a:pPr>
            <a:r>
              <a:rPr lang="en-US" sz="4000" b="1">
                <a:latin typeface="Times New Roman"/>
                <a:ea typeface="Times New Roman"/>
                <a:cs typeface="Times New Roman"/>
                <a:sym typeface="Times New Roman"/>
              </a:rPr>
              <a:t>1. Generalized Projection</a:t>
            </a:r>
            <a:endParaRPr sz="4000" b="1">
              <a:latin typeface="Times New Roman"/>
              <a:ea typeface="Times New Roman"/>
              <a:cs typeface="Times New Roman"/>
              <a:sym typeface="Times New Roman"/>
            </a:endParaRPr>
          </a:p>
        </p:txBody>
      </p:sp>
      <p:sp>
        <p:nvSpPr>
          <p:cNvPr id="663" name="Google Shape;663;p55"/>
          <p:cNvSpPr txBox="1">
            <a:spLocks noGrp="1"/>
          </p:cNvSpPr>
          <p:nvPr>
            <p:ph type="body" idx="1"/>
          </p:nvPr>
        </p:nvSpPr>
        <p:spPr>
          <a:xfrm>
            <a:off x="1981200" y="938530"/>
            <a:ext cx="8566150" cy="5786120"/>
          </a:xfrm>
          <a:prstGeom prst="rect">
            <a:avLst/>
          </a:prstGeom>
          <a:noFill/>
          <a:ln>
            <a:noFill/>
          </a:ln>
        </p:spPr>
        <p:txBody>
          <a:bodyPr spcFirstLastPara="1" vert="horz" wrap="square" lIns="91425" tIns="45700" rIns="91425" bIns="45700" rtlCol="0" anchor="t" anchorCtr="0">
            <a:noAutofit/>
          </a:bodyPr>
          <a:lstStyle/>
          <a:p>
            <a:pPr marL="342900" indent="-342900" algn="just">
              <a:lnSpc>
                <a:spcPct val="100000"/>
              </a:lnSpc>
              <a:spcBef>
                <a:spcPts val="0"/>
              </a:spcBef>
              <a:buClr>
                <a:schemeClr val="dk1"/>
              </a:buClr>
              <a:buSzPts val="2800"/>
              <a:buFont typeface="Times New Roman"/>
              <a:buChar char="•"/>
            </a:pPr>
            <a:r>
              <a:rPr lang="en-US">
                <a:latin typeface="Times New Roman"/>
                <a:ea typeface="Times New Roman"/>
                <a:cs typeface="Times New Roman"/>
                <a:sym typeface="Times New Roman"/>
              </a:rPr>
              <a:t>The generalized-projection operation extends the projection operation by allowing arithmetic functions to be used in the projection list. </a:t>
            </a:r>
            <a:endParaRPr>
              <a:latin typeface="Times New Roman"/>
              <a:ea typeface="Times New Roman"/>
              <a:cs typeface="Times New Roman"/>
              <a:sym typeface="Times New Roman"/>
            </a:endParaRPr>
          </a:p>
          <a:p>
            <a:pPr marL="342900" indent="-165100" algn="just">
              <a:lnSpc>
                <a:spcPct val="100000"/>
              </a:lnSpc>
              <a:spcBef>
                <a:spcPts val="560"/>
              </a:spcBef>
              <a:buClr>
                <a:schemeClr val="dk1"/>
              </a:buClr>
              <a:buSzPts val="2800"/>
              <a:buNone/>
            </a:pPr>
            <a:endParaRPr>
              <a:latin typeface="Times New Roman"/>
              <a:ea typeface="Times New Roman"/>
              <a:cs typeface="Times New Roman"/>
              <a:sym typeface="Times New Roman"/>
            </a:endParaRPr>
          </a:p>
          <a:p>
            <a:pPr marL="342900" indent="-342900" algn="just">
              <a:lnSpc>
                <a:spcPct val="100000"/>
              </a:lnSpc>
              <a:spcBef>
                <a:spcPts val="560"/>
              </a:spcBef>
              <a:buClr>
                <a:schemeClr val="dk1"/>
              </a:buClr>
              <a:buSzPts val="2800"/>
              <a:buFont typeface="Times New Roman"/>
              <a:buChar char="•"/>
            </a:pPr>
            <a:r>
              <a:rPr lang="en-US">
                <a:latin typeface="Times New Roman"/>
                <a:ea typeface="Times New Roman"/>
                <a:cs typeface="Times New Roman"/>
                <a:sym typeface="Times New Roman"/>
              </a:rPr>
              <a:t>The generalized projection operation has the form    </a:t>
            </a:r>
            <a:endParaRPr>
              <a:latin typeface="Times New Roman"/>
              <a:ea typeface="Times New Roman"/>
              <a:cs typeface="Times New Roman"/>
              <a:sym typeface="Times New Roman"/>
            </a:endParaRPr>
          </a:p>
          <a:p>
            <a:pPr marL="342900" indent="-342900" algn="ctr">
              <a:lnSpc>
                <a:spcPct val="100000"/>
              </a:lnSpc>
              <a:spcBef>
                <a:spcPts val="560"/>
              </a:spcBef>
              <a:buClr>
                <a:schemeClr val="dk1"/>
              </a:buClr>
              <a:buSzPts val="2800"/>
              <a:buNone/>
            </a:pPr>
            <a:r>
              <a:rPr lang="en-US">
                <a:latin typeface="Times New Roman"/>
                <a:ea typeface="Times New Roman"/>
                <a:cs typeface="Times New Roman"/>
                <a:sym typeface="Times New Roman"/>
              </a:rPr>
              <a:t>Π</a:t>
            </a:r>
            <a:r>
              <a:rPr lang="en-US" baseline="-25000">
                <a:latin typeface="Times New Roman"/>
                <a:ea typeface="Times New Roman"/>
                <a:cs typeface="Times New Roman"/>
                <a:sym typeface="Times New Roman"/>
              </a:rPr>
              <a:t>F1,F2,...,Fn</a:t>
            </a:r>
            <a:r>
              <a:rPr lang="en-US">
                <a:latin typeface="Times New Roman"/>
                <a:ea typeface="Times New Roman"/>
                <a:cs typeface="Times New Roman"/>
                <a:sym typeface="Times New Roman"/>
              </a:rPr>
              <a:t>(E)</a:t>
            </a:r>
            <a:endParaRPr>
              <a:latin typeface="Times New Roman"/>
              <a:ea typeface="Times New Roman"/>
              <a:cs typeface="Times New Roman"/>
              <a:sym typeface="Times New Roman"/>
            </a:endParaRPr>
          </a:p>
          <a:p>
            <a:pPr marL="342900" indent="-342900" algn="ctr">
              <a:lnSpc>
                <a:spcPct val="100000"/>
              </a:lnSpc>
              <a:spcBef>
                <a:spcPts val="560"/>
              </a:spcBef>
              <a:buClr>
                <a:schemeClr val="dk1"/>
              </a:buClr>
              <a:buSzPts val="2800"/>
              <a:buNone/>
            </a:pPr>
            <a:endParaRPr>
              <a:latin typeface="Times New Roman"/>
              <a:ea typeface="Times New Roman"/>
              <a:cs typeface="Times New Roman"/>
              <a:sym typeface="Times New Roman"/>
            </a:endParaRPr>
          </a:p>
          <a:p>
            <a:pPr marL="342900" indent="-342900" algn="just">
              <a:lnSpc>
                <a:spcPct val="100000"/>
              </a:lnSpc>
              <a:spcBef>
                <a:spcPts val="560"/>
              </a:spcBef>
              <a:buClr>
                <a:schemeClr val="dk1"/>
              </a:buClr>
              <a:buSzPts val="2800"/>
              <a:buFont typeface="Times New Roman"/>
              <a:buChar char="•"/>
            </a:pPr>
            <a:r>
              <a:rPr lang="en-US">
                <a:latin typeface="Times New Roman"/>
                <a:ea typeface="Times New Roman"/>
                <a:cs typeface="Times New Roman"/>
                <a:sym typeface="Times New Roman"/>
              </a:rPr>
              <a:t>where E is any relational-algebra expression, and each of F1, F2, . . . , Fn is an arithmetic expression involving constants and attributes in the schema of E.</a:t>
            </a:r>
            <a:endParaRPr>
              <a:latin typeface="Times New Roman"/>
              <a:ea typeface="Times New Roman"/>
              <a:cs typeface="Times New Roman"/>
              <a:sym typeface="Times New Roman"/>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667"/>
        <p:cNvGrpSpPr/>
        <p:nvPr/>
      </p:nvGrpSpPr>
      <p:grpSpPr>
        <a:xfrm>
          <a:off x="0" y="0"/>
          <a:ext cx="0" cy="0"/>
          <a:chOff x="0" y="0"/>
          <a:chExt cx="0" cy="0"/>
        </a:xfrm>
      </p:grpSpPr>
      <p:sp>
        <p:nvSpPr>
          <p:cNvPr id="668" name="Google Shape;668;p56"/>
          <p:cNvSpPr txBox="1">
            <a:spLocks noGrp="1"/>
          </p:cNvSpPr>
          <p:nvPr>
            <p:ph type="title"/>
          </p:nvPr>
        </p:nvSpPr>
        <p:spPr>
          <a:xfrm>
            <a:off x="1981200" y="274638"/>
            <a:ext cx="8229600" cy="1143000"/>
          </a:xfrm>
          <a:prstGeom prst="rect">
            <a:avLst/>
          </a:prstGeom>
          <a:noFill/>
          <a:ln>
            <a:noFill/>
          </a:ln>
        </p:spPr>
        <p:txBody>
          <a:bodyPr spcFirstLastPara="1" vert="horz" wrap="square" lIns="91425" tIns="45700" rIns="91425" bIns="45700" rtlCol="0" anchor="ctr" anchorCtr="0">
            <a:noAutofit/>
          </a:bodyPr>
          <a:lstStyle/>
          <a:p>
            <a:pPr algn="ctr">
              <a:lnSpc>
                <a:spcPct val="100000"/>
              </a:lnSpc>
              <a:spcBef>
                <a:spcPts val="0"/>
              </a:spcBef>
              <a:buClr>
                <a:schemeClr val="dk2"/>
              </a:buClr>
              <a:buSzPts val="4400"/>
            </a:pPr>
            <a:r>
              <a:rPr lang="en-US" b="1">
                <a:latin typeface="Times New Roman"/>
                <a:ea typeface="Times New Roman"/>
                <a:cs typeface="Times New Roman"/>
                <a:sym typeface="Times New Roman"/>
              </a:rPr>
              <a:t>Generalized Projection.....</a:t>
            </a:r>
            <a:endParaRPr b="1">
              <a:latin typeface="Times New Roman"/>
              <a:ea typeface="Times New Roman"/>
              <a:cs typeface="Times New Roman"/>
              <a:sym typeface="Times New Roman"/>
            </a:endParaRPr>
          </a:p>
        </p:txBody>
      </p:sp>
      <p:sp>
        <p:nvSpPr>
          <p:cNvPr id="669" name="Google Shape;669;p56"/>
          <p:cNvSpPr txBox="1">
            <a:spLocks noGrp="1"/>
          </p:cNvSpPr>
          <p:nvPr>
            <p:ph type="body" idx="1"/>
          </p:nvPr>
        </p:nvSpPr>
        <p:spPr>
          <a:xfrm>
            <a:off x="1981200" y="1600201"/>
            <a:ext cx="8229600" cy="4525963"/>
          </a:xfrm>
          <a:prstGeom prst="rect">
            <a:avLst/>
          </a:prstGeom>
          <a:noFill/>
          <a:ln>
            <a:noFill/>
          </a:ln>
        </p:spPr>
        <p:txBody>
          <a:bodyPr spcFirstLastPara="1" vert="horz" wrap="square" lIns="91425" tIns="45700" rIns="91425" bIns="45700" rtlCol="0" anchor="t" anchorCtr="0">
            <a:normAutofit/>
          </a:bodyPr>
          <a:lstStyle/>
          <a:p>
            <a:pPr marL="342900" indent="-342900" algn="just">
              <a:lnSpc>
                <a:spcPct val="100000"/>
              </a:lnSpc>
              <a:spcBef>
                <a:spcPts val="0"/>
              </a:spcBef>
              <a:buClr>
                <a:schemeClr val="dk1"/>
              </a:buClr>
              <a:buSzPts val="2400"/>
              <a:buFont typeface="Times New Roman"/>
              <a:buChar char="•"/>
            </a:pPr>
            <a:r>
              <a:rPr lang="en-US" sz="2400">
                <a:latin typeface="Times New Roman"/>
                <a:ea typeface="Times New Roman"/>
                <a:cs typeface="Times New Roman"/>
                <a:sym typeface="Times New Roman"/>
              </a:rPr>
              <a:t>For example, suppose we have a </a:t>
            </a:r>
            <a:r>
              <a:rPr lang="en-US" sz="2400" b="1">
                <a:latin typeface="Times New Roman"/>
                <a:ea typeface="Times New Roman"/>
                <a:cs typeface="Times New Roman"/>
                <a:sym typeface="Times New Roman"/>
              </a:rPr>
              <a:t>relation credit-info</a:t>
            </a:r>
            <a:r>
              <a:rPr lang="en-US" sz="2400">
                <a:latin typeface="Times New Roman"/>
                <a:ea typeface="Times New Roman"/>
                <a:cs typeface="Times New Roman"/>
                <a:sym typeface="Times New Roman"/>
              </a:rPr>
              <a:t>, which lists the credit limit and expenses so far (the credit-balance on the account).</a:t>
            </a:r>
            <a:endParaRPr sz="2400">
              <a:latin typeface="Times New Roman"/>
              <a:ea typeface="Times New Roman"/>
              <a:cs typeface="Times New Roman"/>
              <a:sym typeface="Times New Roman"/>
            </a:endParaRPr>
          </a:p>
          <a:p>
            <a:pPr marL="342900" indent="-190500" algn="just">
              <a:lnSpc>
                <a:spcPct val="100000"/>
              </a:lnSpc>
              <a:spcBef>
                <a:spcPts val="480"/>
              </a:spcBef>
              <a:buClr>
                <a:schemeClr val="dk1"/>
              </a:buClr>
              <a:buSzPts val="2400"/>
              <a:buNone/>
            </a:pPr>
            <a:endParaRPr sz="2400">
              <a:latin typeface="Times New Roman"/>
              <a:ea typeface="Times New Roman"/>
              <a:cs typeface="Times New Roman"/>
              <a:sym typeface="Times New Roman"/>
            </a:endParaRPr>
          </a:p>
          <a:p>
            <a:pPr marL="342900" indent="-190500" algn="just">
              <a:lnSpc>
                <a:spcPct val="100000"/>
              </a:lnSpc>
              <a:spcBef>
                <a:spcPts val="480"/>
              </a:spcBef>
              <a:buClr>
                <a:schemeClr val="dk1"/>
              </a:buClr>
              <a:buSzPts val="2400"/>
              <a:buNone/>
            </a:pPr>
            <a:endParaRPr sz="2400">
              <a:latin typeface="Times New Roman"/>
              <a:ea typeface="Times New Roman"/>
              <a:cs typeface="Times New Roman"/>
              <a:sym typeface="Times New Roman"/>
            </a:endParaRPr>
          </a:p>
          <a:p>
            <a:pPr marL="342900" indent="-342900" algn="just">
              <a:lnSpc>
                <a:spcPct val="100000"/>
              </a:lnSpc>
              <a:spcBef>
                <a:spcPts val="480"/>
              </a:spcBef>
              <a:buClr>
                <a:schemeClr val="dk1"/>
              </a:buClr>
              <a:buSzPts val="2400"/>
              <a:buNone/>
            </a:pPr>
            <a:endParaRPr sz="2400">
              <a:latin typeface="Times New Roman"/>
              <a:ea typeface="Times New Roman"/>
              <a:cs typeface="Times New Roman"/>
              <a:sym typeface="Times New Roman"/>
            </a:endParaRPr>
          </a:p>
          <a:p>
            <a:pPr marL="342900" indent="-342900" algn="just">
              <a:lnSpc>
                <a:spcPct val="100000"/>
              </a:lnSpc>
              <a:spcBef>
                <a:spcPts val="480"/>
              </a:spcBef>
              <a:buClr>
                <a:schemeClr val="dk1"/>
              </a:buClr>
              <a:buSzPts val="2400"/>
              <a:buFont typeface="Times New Roman"/>
              <a:buChar char="•"/>
            </a:pPr>
            <a:r>
              <a:rPr lang="en-US" sz="2400">
                <a:latin typeface="Times New Roman"/>
                <a:ea typeface="Times New Roman"/>
                <a:cs typeface="Times New Roman"/>
                <a:sym typeface="Times New Roman"/>
              </a:rPr>
              <a:t>If we want to find how much more each person can spend, we can write the following expression:</a:t>
            </a:r>
            <a:endParaRPr sz="2400">
              <a:latin typeface="Times New Roman"/>
              <a:ea typeface="Times New Roman"/>
              <a:cs typeface="Times New Roman"/>
              <a:sym typeface="Times New Roman"/>
            </a:endParaRPr>
          </a:p>
          <a:p>
            <a:pPr marL="342900" indent="-342900" algn="ctr">
              <a:lnSpc>
                <a:spcPct val="100000"/>
              </a:lnSpc>
              <a:spcBef>
                <a:spcPts val="480"/>
              </a:spcBef>
              <a:buClr>
                <a:schemeClr val="dk1"/>
              </a:buClr>
              <a:buSzPts val="2400"/>
              <a:buNone/>
            </a:pPr>
            <a:r>
              <a:rPr lang="en-US" sz="2400">
                <a:latin typeface="Times New Roman"/>
                <a:ea typeface="Times New Roman"/>
                <a:cs typeface="Times New Roman"/>
                <a:sym typeface="Times New Roman"/>
              </a:rPr>
              <a:t>Π</a:t>
            </a:r>
            <a:r>
              <a:rPr lang="en-US" sz="2400" baseline="-25000">
                <a:latin typeface="Times New Roman"/>
                <a:ea typeface="Times New Roman"/>
                <a:cs typeface="Times New Roman"/>
                <a:sym typeface="Times New Roman"/>
              </a:rPr>
              <a:t>customer_name, limit , credit_balance </a:t>
            </a:r>
            <a:r>
              <a:rPr lang="en-US" sz="2400">
                <a:latin typeface="Times New Roman"/>
                <a:ea typeface="Times New Roman"/>
                <a:cs typeface="Times New Roman"/>
                <a:sym typeface="Times New Roman"/>
              </a:rPr>
              <a:t>(credit_info)</a:t>
            </a:r>
            <a:endParaRPr sz="2400">
              <a:latin typeface="Times New Roman"/>
              <a:ea typeface="Times New Roman"/>
              <a:cs typeface="Times New Roman"/>
              <a:sym typeface="Times New Roman"/>
            </a:endParaRPr>
          </a:p>
        </p:txBody>
      </p:sp>
      <p:pic>
        <p:nvPicPr>
          <p:cNvPr id="670" name="Google Shape;670;p56"/>
          <p:cNvPicPr preferRelativeResize="0"/>
          <p:nvPr/>
        </p:nvPicPr>
        <p:blipFill rotWithShape="1">
          <a:blip r:embed="rId3">
            <a:alphaModFix/>
          </a:blip>
          <a:srcRect/>
          <a:stretch/>
        </p:blipFill>
        <p:spPr>
          <a:xfrm>
            <a:off x="4572000" y="2743200"/>
            <a:ext cx="3200400" cy="1301146"/>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674"/>
        <p:cNvGrpSpPr/>
        <p:nvPr/>
      </p:nvGrpSpPr>
      <p:grpSpPr>
        <a:xfrm>
          <a:off x="0" y="0"/>
          <a:ext cx="0" cy="0"/>
          <a:chOff x="0" y="0"/>
          <a:chExt cx="0" cy="0"/>
        </a:xfrm>
      </p:grpSpPr>
      <p:sp>
        <p:nvSpPr>
          <p:cNvPr id="675" name="Google Shape;675;p57"/>
          <p:cNvSpPr txBox="1">
            <a:spLocks noGrp="1"/>
          </p:cNvSpPr>
          <p:nvPr>
            <p:ph type="title"/>
          </p:nvPr>
        </p:nvSpPr>
        <p:spPr>
          <a:xfrm>
            <a:off x="1981200" y="274638"/>
            <a:ext cx="8229600" cy="1143000"/>
          </a:xfrm>
          <a:prstGeom prst="rect">
            <a:avLst/>
          </a:prstGeom>
          <a:noFill/>
          <a:ln>
            <a:noFill/>
          </a:ln>
        </p:spPr>
        <p:txBody>
          <a:bodyPr spcFirstLastPara="1" vert="horz" wrap="square" lIns="91425" tIns="45700" rIns="91425" bIns="45700" rtlCol="0" anchor="ctr" anchorCtr="0">
            <a:noAutofit/>
          </a:bodyPr>
          <a:lstStyle/>
          <a:p>
            <a:pPr algn="ctr">
              <a:lnSpc>
                <a:spcPct val="100000"/>
              </a:lnSpc>
              <a:spcBef>
                <a:spcPts val="0"/>
              </a:spcBef>
              <a:buClr>
                <a:schemeClr val="dk2"/>
              </a:buClr>
              <a:buSzPts val="4400"/>
            </a:pPr>
            <a:r>
              <a:rPr lang="en-US" b="1">
                <a:latin typeface="Times New Roman"/>
                <a:ea typeface="Times New Roman"/>
                <a:cs typeface="Times New Roman"/>
                <a:sym typeface="Times New Roman"/>
              </a:rPr>
              <a:t>Generalized Projection.....</a:t>
            </a:r>
            <a:endParaRPr b="1">
              <a:latin typeface="Times New Roman"/>
              <a:ea typeface="Times New Roman"/>
              <a:cs typeface="Times New Roman"/>
              <a:sym typeface="Times New Roman"/>
            </a:endParaRPr>
          </a:p>
        </p:txBody>
      </p:sp>
      <p:sp>
        <p:nvSpPr>
          <p:cNvPr id="676" name="Google Shape;676;p57"/>
          <p:cNvSpPr txBox="1">
            <a:spLocks noGrp="1"/>
          </p:cNvSpPr>
          <p:nvPr>
            <p:ph type="body" idx="1"/>
          </p:nvPr>
        </p:nvSpPr>
        <p:spPr>
          <a:xfrm>
            <a:off x="1981200" y="1600201"/>
            <a:ext cx="8229600" cy="4525963"/>
          </a:xfrm>
          <a:prstGeom prst="rect">
            <a:avLst/>
          </a:prstGeom>
          <a:noFill/>
          <a:ln>
            <a:noFill/>
          </a:ln>
        </p:spPr>
        <p:txBody>
          <a:bodyPr spcFirstLastPara="1" vert="horz" wrap="square" lIns="91425" tIns="45700" rIns="91425" bIns="45700" rtlCol="0" anchor="t" anchorCtr="0">
            <a:normAutofit/>
          </a:bodyPr>
          <a:lstStyle/>
          <a:p>
            <a:pPr marL="342900" indent="-342900" algn="just">
              <a:lnSpc>
                <a:spcPct val="100000"/>
              </a:lnSpc>
              <a:spcBef>
                <a:spcPts val="0"/>
              </a:spcBef>
              <a:buClr>
                <a:schemeClr val="dk1"/>
              </a:buClr>
              <a:buSzPts val="2400"/>
              <a:buFont typeface="Times New Roman"/>
              <a:buChar char="•"/>
            </a:pPr>
            <a:r>
              <a:rPr lang="en-US" sz="2400">
                <a:latin typeface="Times New Roman"/>
                <a:ea typeface="Times New Roman"/>
                <a:cs typeface="Times New Roman"/>
                <a:sym typeface="Times New Roman"/>
              </a:rPr>
              <a:t>The attribute resulting from the expression limit − credit_balance does not have a name. We can apply the rename operation to the result of generalized projection in order to give it a name. As a notational convenience, renaming of attributes can be combined with generalized projection as illustrated below:</a:t>
            </a:r>
            <a:endParaRPr sz="2400">
              <a:latin typeface="Times New Roman"/>
              <a:ea typeface="Times New Roman"/>
              <a:cs typeface="Times New Roman"/>
              <a:sym typeface="Times New Roman"/>
            </a:endParaRPr>
          </a:p>
          <a:p>
            <a:pPr marL="342900" indent="-190500" algn="just">
              <a:lnSpc>
                <a:spcPct val="100000"/>
              </a:lnSpc>
              <a:spcBef>
                <a:spcPts val="480"/>
              </a:spcBef>
              <a:buClr>
                <a:schemeClr val="dk1"/>
              </a:buClr>
              <a:buSzPts val="2400"/>
              <a:buNone/>
            </a:pPr>
            <a:endParaRPr sz="2400">
              <a:latin typeface="Times New Roman"/>
              <a:ea typeface="Times New Roman"/>
              <a:cs typeface="Times New Roman"/>
              <a:sym typeface="Times New Roman"/>
            </a:endParaRPr>
          </a:p>
          <a:p>
            <a:pPr marL="342900" indent="-342900" algn="ctr">
              <a:lnSpc>
                <a:spcPct val="100000"/>
              </a:lnSpc>
              <a:spcBef>
                <a:spcPts val="480"/>
              </a:spcBef>
              <a:buClr>
                <a:schemeClr val="dk1"/>
              </a:buClr>
              <a:buSzPts val="2400"/>
              <a:buNone/>
            </a:pPr>
            <a:r>
              <a:rPr lang="en-US" sz="2400">
                <a:latin typeface="Times New Roman"/>
                <a:ea typeface="Times New Roman"/>
                <a:cs typeface="Times New Roman"/>
                <a:sym typeface="Times New Roman"/>
              </a:rPr>
              <a:t>Π</a:t>
            </a:r>
            <a:r>
              <a:rPr lang="en-US" sz="2400" baseline="-25000">
                <a:latin typeface="Times New Roman"/>
                <a:ea typeface="Times New Roman"/>
                <a:cs typeface="Times New Roman"/>
                <a:sym typeface="Times New Roman"/>
              </a:rPr>
              <a:t>customer_name, (limit − credit_balance) </a:t>
            </a:r>
            <a:r>
              <a:rPr lang="en-US" sz="2400" b="1" baseline="-25000">
                <a:latin typeface="Times New Roman"/>
                <a:ea typeface="Times New Roman"/>
                <a:cs typeface="Times New Roman"/>
                <a:sym typeface="Times New Roman"/>
              </a:rPr>
              <a:t>as credit_available </a:t>
            </a:r>
            <a:r>
              <a:rPr lang="en-US" sz="2400">
                <a:latin typeface="Times New Roman"/>
                <a:ea typeface="Times New Roman"/>
                <a:cs typeface="Times New Roman"/>
                <a:sym typeface="Times New Roman"/>
              </a:rPr>
              <a:t>(credit_info)</a:t>
            </a:r>
            <a:endParaRPr sz="2400">
              <a:latin typeface="Times New Roman"/>
              <a:ea typeface="Times New Roman"/>
              <a:cs typeface="Times New Roman"/>
              <a:sym typeface="Times New Roman"/>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680"/>
        <p:cNvGrpSpPr/>
        <p:nvPr/>
      </p:nvGrpSpPr>
      <p:grpSpPr>
        <a:xfrm>
          <a:off x="0" y="0"/>
          <a:ext cx="0" cy="0"/>
          <a:chOff x="0" y="0"/>
          <a:chExt cx="0" cy="0"/>
        </a:xfrm>
      </p:grpSpPr>
      <p:sp>
        <p:nvSpPr>
          <p:cNvPr id="681" name="Google Shape;681;p58"/>
          <p:cNvSpPr txBox="1">
            <a:spLocks noGrp="1"/>
          </p:cNvSpPr>
          <p:nvPr>
            <p:ph type="title"/>
          </p:nvPr>
        </p:nvSpPr>
        <p:spPr>
          <a:xfrm>
            <a:off x="1981200" y="274638"/>
            <a:ext cx="8229600" cy="563562"/>
          </a:xfrm>
          <a:prstGeom prst="rect">
            <a:avLst/>
          </a:prstGeom>
          <a:noFill/>
          <a:ln>
            <a:noFill/>
          </a:ln>
        </p:spPr>
        <p:txBody>
          <a:bodyPr spcFirstLastPara="1" vert="horz" wrap="square" lIns="91425" tIns="45700" rIns="91425" bIns="45700" rtlCol="0" anchor="ctr" anchorCtr="0">
            <a:normAutofit fontScale="90000"/>
          </a:bodyPr>
          <a:lstStyle/>
          <a:p>
            <a:pPr algn="ctr">
              <a:lnSpc>
                <a:spcPct val="100000"/>
              </a:lnSpc>
              <a:spcBef>
                <a:spcPts val="0"/>
              </a:spcBef>
              <a:buClr>
                <a:schemeClr val="dk2"/>
              </a:buClr>
              <a:buSzPct val="100000"/>
            </a:pPr>
            <a:r>
              <a:rPr lang="en-US" b="1">
                <a:latin typeface="Times New Roman"/>
                <a:ea typeface="Times New Roman"/>
                <a:cs typeface="Times New Roman"/>
                <a:sym typeface="Times New Roman"/>
              </a:rPr>
              <a:t>2. Aggregate Functions</a:t>
            </a:r>
            <a:endParaRPr>
              <a:latin typeface="Times New Roman"/>
              <a:ea typeface="Times New Roman"/>
              <a:cs typeface="Times New Roman"/>
              <a:sym typeface="Times New Roman"/>
            </a:endParaRPr>
          </a:p>
        </p:txBody>
      </p:sp>
      <p:sp>
        <p:nvSpPr>
          <p:cNvPr id="682" name="Google Shape;682;p58"/>
          <p:cNvSpPr txBox="1">
            <a:spLocks noGrp="1"/>
          </p:cNvSpPr>
          <p:nvPr>
            <p:ph type="body" idx="1"/>
          </p:nvPr>
        </p:nvSpPr>
        <p:spPr>
          <a:xfrm>
            <a:off x="1981200" y="914400"/>
            <a:ext cx="8229600" cy="5638800"/>
          </a:xfrm>
          <a:prstGeom prst="rect">
            <a:avLst/>
          </a:prstGeom>
          <a:noFill/>
          <a:ln>
            <a:noFill/>
          </a:ln>
        </p:spPr>
        <p:txBody>
          <a:bodyPr spcFirstLastPara="1" vert="horz" wrap="square" lIns="91425" tIns="45700" rIns="91425" bIns="45700" rtlCol="0" anchor="t" anchorCtr="0">
            <a:noAutofit/>
          </a:bodyPr>
          <a:lstStyle/>
          <a:p>
            <a:pPr marL="342900" indent="-342900" algn="just">
              <a:lnSpc>
                <a:spcPct val="100000"/>
              </a:lnSpc>
              <a:spcBef>
                <a:spcPts val="0"/>
              </a:spcBef>
              <a:buClr>
                <a:schemeClr val="dk1"/>
              </a:buClr>
              <a:buSzPts val="2400"/>
              <a:buFont typeface="Times New Roman"/>
              <a:buChar char="•"/>
            </a:pPr>
            <a:r>
              <a:rPr lang="en-US" sz="2400">
                <a:latin typeface="Times New Roman"/>
                <a:ea typeface="Times New Roman"/>
                <a:cs typeface="Times New Roman"/>
                <a:sym typeface="Times New Roman"/>
              </a:rPr>
              <a:t>Aggregate functions take a collection of values and return a single value as a result.</a:t>
            </a:r>
            <a:endParaRPr sz="2400">
              <a:latin typeface="Times New Roman"/>
              <a:ea typeface="Times New Roman"/>
              <a:cs typeface="Times New Roman"/>
              <a:sym typeface="Times New Roman"/>
            </a:endParaRPr>
          </a:p>
          <a:p>
            <a:pPr marL="342900" indent="-342900" algn="just">
              <a:lnSpc>
                <a:spcPct val="100000"/>
              </a:lnSpc>
              <a:spcBef>
                <a:spcPts val="480"/>
              </a:spcBef>
              <a:buClr>
                <a:schemeClr val="dk1"/>
              </a:buClr>
              <a:buSzPts val="2400"/>
              <a:buFont typeface="Times New Roman"/>
              <a:buChar char="•"/>
            </a:pPr>
            <a:r>
              <a:rPr lang="en-US" sz="2400">
                <a:latin typeface="Times New Roman"/>
                <a:ea typeface="Times New Roman"/>
                <a:cs typeface="Times New Roman"/>
                <a:sym typeface="Times New Roman"/>
              </a:rPr>
              <a:t>For example, the aggregate function sum takes a collection of values and returns the sum of the values.</a:t>
            </a:r>
            <a:endParaRPr sz="2400">
              <a:latin typeface="Times New Roman"/>
              <a:ea typeface="Times New Roman"/>
              <a:cs typeface="Times New Roman"/>
              <a:sym typeface="Times New Roman"/>
            </a:endParaRPr>
          </a:p>
          <a:p>
            <a:pPr marL="342900" indent="-342900" algn="just">
              <a:lnSpc>
                <a:spcPct val="100000"/>
              </a:lnSpc>
              <a:spcBef>
                <a:spcPts val="480"/>
              </a:spcBef>
              <a:buClr>
                <a:schemeClr val="dk1"/>
              </a:buClr>
              <a:buSzPts val="2400"/>
              <a:buFont typeface="Times New Roman"/>
              <a:buChar char="•"/>
            </a:pPr>
            <a:r>
              <a:rPr lang="en-US" sz="2400">
                <a:latin typeface="Times New Roman"/>
                <a:ea typeface="Times New Roman"/>
                <a:cs typeface="Times New Roman"/>
                <a:sym typeface="Times New Roman"/>
              </a:rPr>
              <a:t>The aggregate function avg returns the average of the values.</a:t>
            </a:r>
            <a:endParaRPr sz="2400">
              <a:latin typeface="Times New Roman"/>
              <a:ea typeface="Times New Roman"/>
              <a:cs typeface="Times New Roman"/>
              <a:sym typeface="Times New Roman"/>
            </a:endParaRPr>
          </a:p>
          <a:p>
            <a:pPr marL="342900" indent="-342900" algn="just">
              <a:lnSpc>
                <a:spcPct val="100000"/>
              </a:lnSpc>
              <a:spcBef>
                <a:spcPts val="480"/>
              </a:spcBef>
              <a:buClr>
                <a:schemeClr val="dk1"/>
              </a:buClr>
              <a:buSzPts val="2400"/>
              <a:buFont typeface="Times New Roman"/>
              <a:buChar char="•"/>
            </a:pPr>
            <a:r>
              <a:rPr lang="en-US" sz="2400">
                <a:latin typeface="Times New Roman"/>
                <a:ea typeface="Times New Roman"/>
                <a:cs typeface="Times New Roman"/>
                <a:sym typeface="Times New Roman"/>
              </a:rPr>
              <a:t>The aggregate function count returns the number of the elements in the collection.</a:t>
            </a:r>
            <a:endParaRPr sz="2400">
              <a:latin typeface="Times New Roman"/>
              <a:ea typeface="Times New Roman"/>
              <a:cs typeface="Times New Roman"/>
              <a:sym typeface="Times New Roman"/>
            </a:endParaRPr>
          </a:p>
          <a:p>
            <a:pPr marL="342900" indent="-342900" algn="just">
              <a:lnSpc>
                <a:spcPct val="100000"/>
              </a:lnSpc>
              <a:spcBef>
                <a:spcPts val="480"/>
              </a:spcBef>
              <a:buClr>
                <a:schemeClr val="dk1"/>
              </a:buClr>
              <a:buSzPts val="2400"/>
              <a:buFont typeface="Times New Roman"/>
              <a:buChar char="•"/>
            </a:pPr>
            <a:r>
              <a:rPr lang="en-US" sz="2400">
                <a:latin typeface="Times New Roman"/>
                <a:ea typeface="Times New Roman"/>
                <a:cs typeface="Times New Roman"/>
                <a:sym typeface="Times New Roman"/>
              </a:rPr>
              <a:t>Aggregate functions min and max, return the minimum and maximum values in a collection.</a:t>
            </a:r>
            <a:endParaRPr sz="2400">
              <a:latin typeface="Times New Roman"/>
              <a:ea typeface="Times New Roman"/>
              <a:cs typeface="Times New Roman"/>
              <a:sym typeface="Times New Roman"/>
            </a:endParaRPr>
          </a:p>
          <a:p>
            <a:pPr marL="342900" indent="-342900" algn="just">
              <a:lnSpc>
                <a:spcPct val="100000"/>
              </a:lnSpc>
              <a:spcBef>
                <a:spcPts val="480"/>
              </a:spcBef>
              <a:buClr>
                <a:schemeClr val="dk1"/>
              </a:buClr>
              <a:buSzPts val="2400"/>
              <a:buFont typeface="Times New Roman"/>
              <a:buChar char="•"/>
            </a:pPr>
            <a:r>
              <a:rPr lang="en-US" sz="2400">
                <a:latin typeface="Times New Roman"/>
                <a:ea typeface="Times New Roman"/>
                <a:cs typeface="Times New Roman"/>
                <a:sym typeface="Times New Roman"/>
              </a:rPr>
              <a:t>The relational-algebra operation    signifies that aggregation is to be applied, and its subscript specifies the aggregate operation to be applied.</a:t>
            </a:r>
            <a:endParaRPr sz="2400">
              <a:latin typeface="Times New Roman"/>
              <a:ea typeface="Times New Roman"/>
              <a:cs typeface="Times New Roman"/>
              <a:sym typeface="Times New Roman"/>
            </a:endParaRPr>
          </a:p>
          <a:p>
            <a:pPr marL="342900" indent="-342900" algn="just">
              <a:lnSpc>
                <a:spcPct val="100000"/>
              </a:lnSpc>
              <a:spcBef>
                <a:spcPts val="480"/>
              </a:spcBef>
              <a:buClr>
                <a:schemeClr val="dk1"/>
              </a:buClr>
              <a:buSzPts val="2400"/>
              <a:buFont typeface="Times New Roman"/>
              <a:buChar char="•"/>
            </a:pPr>
            <a:r>
              <a:rPr lang="en-US" sz="2400">
                <a:latin typeface="Times New Roman"/>
                <a:ea typeface="Times New Roman"/>
                <a:cs typeface="Times New Roman"/>
                <a:sym typeface="Times New Roman"/>
              </a:rPr>
              <a:t>The symbol  is the letter G in calligraphic font; read it as “calligraphic G.”</a:t>
            </a:r>
            <a:endParaRPr sz="2400">
              <a:latin typeface="Times New Roman"/>
              <a:ea typeface="Times New Roman"/>
              <a:cs typeface="Times New Roman"/>
              <a:sym typeface="Times New Roman"/>
            </a:endParaRPr>
          </a:p>
        </p:txBody>
      </p:sp>
      <p:pic>
        <p:nvPicPr>
          <p:cNvPr id="683" name="Google Shape;683;p58"/>
          <p:cNvPicPr preferRelativeResize="0"/>
          <p:nvPr/>
        </p:nvPicPr>
        <p:blipFill rotWithShape="1">
          <a:blip r:embed="rId3">
            <a:alphaModFix/>
          </a:blip>
          <a:srcRect/>
          <a:stretch/>
        </p:blipFill>
        <p:spPr>
          <a:xfrm>
            <a:off x="6429375" y="4676777"/>
            <a:ext cx="276225" cy="276225"/>
          </a:xfrm>
          <a:prstGeom prst="rect">
            <a:avLst/>
          </a:prstGeom>
          <a:noFill/>
          <a:ln>
            <a:noFill/>
          </a:ln>
        </p:spPr>
      </p:pic>
      <p:pic>
        <p:nvPicPr>
          <p:cNvPr id="684" name="Google Shape;684;p58"/>
          <p:cNvPicPr preferRelativeResize="0"/>
          <p:nvPr/>
        </p:nvPicPr>
        <p:blipFill rotWithShape="1">
          <a:blip r:embed="rId3">
            <a:alphaModFix/>
          </a:blip>
          <a:srcRect/>
          <a:stretch/>
        </p:blipFill>
        <p:spPr>
          <a:xfrm>
            <a:off x="3962401" y="5867401"/>
            <a:ext cx="257175" cy="257175"/>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688"/>
        <p:cNvGrpSpPr/>
        <p:nvPr/>
      </p:nvGrpSpPr>
      <p:grpSpPr>
        <a:xfrm>
          <a:off x="0" y="0"/>
          <a:ext cx="0" cy="0"/>
          <a:chOff x="0" y="0"/>
          <a:chExt cx="0" cy="0"/>
        </a:xfrm>
      </p:grpSpPr>
      <p:sp>
        <p:nvSpPr>
          <p:cNvPr id="689" name="Google Shape;689;p59"/>
          <p:cNvSpPr txBox="1">
            <a:spLocks noGrp="1"/>
          </p:cNvSpPr>
          <p:nvPr>
            <p:ph type="title"/>
          </p:nvPr>
        </p:nvSpPr>
        <p:spPr>
          <a:xfrm>
            <a:off x="1981200" y="274638"/>
            <a:ext cx="8229600" cy="563562"/>
          </a:xfrm>
          <a:prstGeom prst="rect">
            <a:avLst/>
          </a:prstGeom>
          <a:noFill/>
          <a:ln>
            <a:noFill/>
          </a:ln>
        </p:spPr>
        <p:txBody>
          <a:bodyPr spcFirstLastPara="1" vert="horz" wrap="square" lIns="91425" tIns="45700" rIns="91425" bIns="45700" rtlCol="0" anchor="ctr" anchorCtr="0">
            <a:normAutofit fontScale="90000"/>
          </a:bodyPr>
          <a:lstStyle/>
          <a:p>
            <a:pPr algn="ctr">
              <a:lnSpc>
                <a:spcPct val="100000"/>
              </a:lnSpc>
              <a:spcBef>
                <a:spcPts val="0"/>
              </a:spcBef>
              <a:buClr>
                <a:schemeClr val="dk2"/>
              </a:buClr>
              <a:buSzPct val="100000"/>
            </a:pPr>
            <a:r>
              <a:rPr lang="en-US" b="1">
                <a:latin typeface="Times New Roman"/>
                <a:ea typeface="Times New Roman"/>
                <a:cs typeface="Times New Roman"/>
                <a:sym typeface="Times New Roman"/>
              </a:rPr>
              <a:t>Aggregate Functions</a:t>
            </a:r>
            <a:endParaRPr>
              <a:latin typeface="Times New Roman"/>
              <a:ea typeface="Times New Roman"/>
              <a:cs typeface="Times New Roman"/>
              <a:sym typeface="Times New Roman"/>
            </a:endParaRPr>
          </a:p>
        </p:txBody>
      </p:sp>
      <p:sp>
        <p:nvSpPr>
          <p:cNvPr id="690" name="Google Shape;690;p59"/>
          <p:cNvSpPr txBox="1">
            <a:spLocks noGrp="1"/>
          </p:cNvSpPr>
          <p:nvPr>
            <p:ph type="body" idx="1"/>
          </p:nvPr>
        </p:nvSpPr>
        <p:spPr>
          <a:xfrm>
            <a:off x="1981200" y="1219200"/>
            <a:ext cx="7772400" cy="5105400"/>
          </a:xfrm>
          <a:prstGeom prst="rect">
            <a:avLst/>
          </a:prstGeom>
          <a:noFill/>
          <a:ln>
            <a:noFill/>
          </a:ln>
        </p:spPr>
        <p:txBody>
          <a:bodyPr spcFirstLastPara="1" vert="horz" wrap="square" lIns="91425" tIns="45700" rIns="91425" bIns="45700" rtlCol="0" anchor="t" anchorCtr="0">
            <a:noAutofit/>
          </a:bodyPr>
          <a:lstStyle/>
          <a:p>
            <a:pPr marL="342900" indent="-342900" algn="just">
              <a:lnSpc>
                <a:spcPct val="100000"/>
              </a:lnSpc>
              <a:spcBef>
                <a:spcPts val="0"/>
              </a:spcBef>
              <a:buClr>
                <a:schemeClr val="dk1"/>
              </a:buClr>
              <a:buSzPts val="2400"/>
              <a:buFont typeface="Times New Roman"/>
              <a:buChar char="•"/>
            </a:pPr>
            <a:r>
              <a:rPr lang="en-US" sz="2400">
                <a:latin typeface="Times New Roman"/>
                <a:ea typeface="Times New Roman"/>
                <a:cs typeface="Times New Roman"/>
                <a:sym typeface="Times New Roman"/>
              </a:rPr>
              <a:t>To illustrate the concept of aggregation, we shall use the </a:t>
            </a:r>
            <a:r>
              <a:rPr lang="en-US" sz="2400" b="1">
                <a:latin typeface="Times New Roman"/>
                <a:ea typeface="Times New Roman"/>
                <a:cs typeface="Times New Roman"/>
                <a:sym typeface="Times New Roman"/>
              </a:rPr>
              <a:t>pt-works relation </a:t>
            </a:r>
            <a:r>
              <a:rPr lang="en-US" sz="2400">
                <a:latin typeface="Times New Roman"/>
                <a:ea typeface="Times New Roman"/>
                <a:cs typeface="Times New Roman"/>
                <a:sym typeface="Times New Roman"/>
              </a:rPr>
              <a:t>for part-time employees. </a:t>
            </a:r>
            <a:endParaRPr sz="2400">
              <a:latin typeface="Times New Roman"/>
              <a:ea typeface="Times New Roman"/>
              <a:cs typeface="Times New Roman"/>
              <a:sym typeface="Times New Roman"/>
            </a:endParaRPr>
          </a:p>
          <a:p>
            <a:pPr marL="342900" indent="-190500" algn="just">
              <a:lnSpc>
                <a:spcPct val="100000"/>
              </a:lnSpc>
              <a:spcBef>
                <a:spcPts val="480"/>
              </a:spcBef>
              <a:buClr>
                <a:schemeClr val="dk1"/>
              </a:buClr>
              <a:buSzPts val="2400"/>
              <a:buNone/>
            </a:pPr>
            <a:endParaRPr sz="2400">
              <a:latin typeface="Times New Roman"/>
              <a:ea typeface="Times New Roman"/>
              <a:cs typeface="Times New Roman"/>
              <a:sym typeface="Times New Roman"/>
            </a:endParaRPr>
          </a:p>
          <a:p>
            <a:pPr marL="342900" indent="-190500" algn="just">
              <a:lnSpc>
                <a:spcPct val="100000"/>
              </a:lnSpc>
              <a:spcBef>
                <a:spcPts val="480"/>
              </a:spcBef>
              <a:buClr>
                <a:schemeClr val="dk1"/>
              </a:buClr>
              <a:buSzPts val="2400"/>
              <a:buNone/>
            </a:pPr>
            <a:endParaRPr sz="2400">
              <a:latin typeface="Times New Roman"/>
              <a:ea typeface="Times New Roman"/>
              <a:cs typeface="Times New Roman"/>
              <a:sym typeface="Times New Roman"/>
            </a:endParaRPr>
          </a:p>
          <a:p>
            <a:pPr marL="342900" indent="-190500" algn="just">
              <a:lnSpc>
                <a:spcPct val="100000"/>
              </a:lnSpc>
              <a:spcBef>
                <a:spcPts val="480"/>
              </a:spcBef>
              <a:buClr>
                <a:schemeClr val="dk1"/>
              </a:buClr>
              <a:buSzPts val="2400"/>
              <a:buNone/>
            </a:pPr>
            <a:endParaRPr sz="2400">
              <a:latin typeface="Times New Roman"/>
              <a:ea typeface="Times New Roman"/>
              <a:cs typeface="Times New Roman"/>
              <a:sym typeface="Times New Roman"/>
            </a:endParaRPr>
          </a:p>
          <a:p>
            <a:pPr marL="342900" indent="-190500" algn="just">
              <a:lnSpc>
                <a:spcPct val="100000"/>
              </a:lnSpc>
              <a:spcBef>
                <a:spcPts val="480"/>
              </a:spcBef>
              <a:buClr>
                <a:schemeClr val="dk1"/>
              </a:buClr>
              <a:buSzPts val="2400"/>
              <a:buNone/>
            </a:pPr>
            <a:endParaRPr sz="2400">
              <a:latin typeface="Times New Roman"/>
              <a:ea typeface="Times New Roman"/>
              <a:cs typeface="Times New Roman"/>
              <a:sym typeface="Times New Roman"/>
            </a:endParaRPr>
          </a:p>
          <a:p>
            <a:pPr marL="342900" indent="-190500" algn="just">
              <a:lnSpc>
                <a:spcPct val="100000"/>
              </a:lnSpc>
              <a:spcBef>
                <a:spcPts val="480"/>
              </a:spcBef>
              <a:buClr>
                <a:schemeClr val="dk1"/>
              </a:buClr>
              <a:buSzPts val="2400"/>
              <a:buNone/>
            </a:pPr>
            <a:endParaRPr sz="2400">
              <a:latin typeface="Times New Roman"/>
              <a:ea typeface="Times New Roman"/>
              <a:cs typeface="Times New Roman"/>
              <a:sym typeface="Times New Roman"/>
            </a:endParaRPr>
          </a:p>
          <a:p>
            <a:pPr marL="342900" indent="-342900" algn="just">
              <a:lnSpc>
                <a:spcPct val="100000"/>
              </a:lnSpc>
              <a:spcBef>
                <a:spcPts val="480"/>
              </a:spcBef>
              <a:buClr>
                <a:schemeClr val="dk1"/>
              </a:buClr>
              <a:buSzPts val="2400"/>
              <a:buFont typeface="Times New Roman"/>
              <a:buChar char="•"/>
            </a:pPr>
            <a:r>
              <a:rPr lang="en-US" sz="2400">
                <a:latin typeface="Times New Roman"/>
                <a:ea typeface="Times New Roman"/>
                <a:cs typeface="Times New Roman"/>
                <a:sym typeface="Times New Roman"/>
              </a:rPr>
              <a:t>Suppose that we want to find out the total sum of salaries of all the part-time employees in the bank. </a:t>
            </a:r>
            <a:endParaRPr sz="2400">
              <a:latin typeface="Times New Roman"/>
              <a:ea typeface="Times New Roman"/>
              <a:cs typeface="Times New Roman"/>
              <a:sym typeface="Times New Roman"/>
            </a:endParaRPr>
          </a:p>
          <a:p>
            <a:pPr marL="342900" indent="-342900" algn="just">
              <a:lnSpc>
                <a:spcPct val="100000"/>
              </a:lnSpc>
              <a:spcBef>
                <a:spcPts val="480"/>
              </a:spcBef>
              <a:buClr>
                <a:schemeClr val="dk1"/>
              </a:buClr>
              <a:buSzPts val="2400"/>
              <a:buFont typeface="Times New Roman"/>
              <a:buChar char="•"/>
            </a:pPr>
            <a:r>
              <a:rPr lang="en-US" sz="2400">
                <a:latin typeface="Times New Roman"/>
                <a:ea typeface="Times New Roman"/>
                <a:cs typeface="Times New Roman"/>
                <a:sym typeface="Times New Roman"/>
              </a:rPr>
              <a:t>The relational-algebra expression for this query is:</a:t>
            </a:r>
            <a:endParaRPr sz="2400">
              <a:latin typeface="Times New Roman"/>
              <a:ea typeface="Times New Roman"/>
              <a:cs typeface="Times New Roman"/>
              <a:sym typeface="Times New Roman"/>
            </a:endParaRPr>
          </a:p>
          <a:p>
            <a:pPr marL="342900" indent="-342900" algn="just">
              <a:lnSpc>
                <a:spcPct val="100000"/>
              </a:lnSpc>
              <a:spcBef>
                <a:spcPts val="480"/>
              </a:spcBef>
              <a:buClr>
                <a:schemeClr val="dk1"/>
              </a:buClr>
              <a:buSzPts val="2400"/>
              <a:buNone/>
            </a:pPr>
            <a:r>
              <a:rPr lang="en-US" sz="2400">
                <a:latin typeface="Times New Roman"/>
                <a:ea typeface="Times New Roman"/>
                <a:cs typeface="Times New Roman"/>
                <a:sym typeface="Times New Roman"/>
              </a:rPr>
              <a:t>                              </a:t>
            </a:r>
            <a:r>
              <a:rPr lang="en-US" sz="2400" baseline="-25000">
                <a:latin typeface="Times New Roman"/>
                <a:ea typeface="Times New Roman"/>
                <a:cs typeface="Times New Roman"/>
                <a:sym typeface="Times New Roman"/>
              </a:rPr>
              <a:t>sum(salary)</a:t>
            </a:r>
            <a:r>
              <a:rPr lang="en-US" sz="2400">
                <a:latin typeface="Times New Roman"/>
                <a:ea typeface="Times New Roman"/>
                <a:cs typeface="Times New Roman"/>
                <a:sym typeface="Times New Roman"/>
              </a:rPr>
              <a:t>(pt-works)</a:t>
            </a:r>
            <a:endParaRPr sz="2400">
              <a:latin typeface="Times New Roman"/>
              <a:ea typeface="Times New Roman"/>
              <a:cs typeface="Times New Roman"/>
              <a:sym typeface="Times New Roman"/>
            </a:endParaRPr>
          </a:p>
        </p:txBody>
      </p:sp>
      <p:pic>
        <p:nvPicPr>
          <p:cNvPr id="691" name="Google Shape;691;p59"/>
          <p:cNvPicPr preferRelativeResize="0"/>
          <p:nvPr/>
        </p:nvPicPr>
        <p:blipFill rotWithShape="1">
          <a:blip r:embed="rId3">
            <a:alphaModFix/>
          </a:blip>
          <a:srcRect/>
          <a:stretch/>
        </p:blipFill>
        <p:spPr>
          <a:xfrm>
            <a:off x="4038600" y="5562600"/>
            <a:ext cx="304800" cy="304800"/>
          </a:xfrm>
          <a:prstGeom prst="rect">
            <a:avLst/>
          </a:prstGeom>
          <a:noFill/>
          <a:ln>
            <a:noFill/>
          </a:ln>
        </p:spPr>
      </p:pic>
      <p:pic>
        <p:nvPicPr>
          <p:cNvPr id="692" name="Google Shape;692;p59"/>
          <p:cNvPicPr preferRelativeResize="0"/>
          <p:nvPr/>
        </p:nvPicPr>
        <p:blipFill rotWithShape="1">
          <a:blip r:embed="rId4">
            <a:alphaModFix/>
          </a:blip>
          <a:srcRect/>
          <a:stretch/>
        </p:blipFill>
        <p:spPr>
          <a:xfrm>
            <a:off x="4648201" y="2057401"/>
            <a:ext cx="2867025" cy="1952625"/>
          </a:xfrm>
          <a:prstGeom prst="rect">
            <a:avLst/>
          </a:prstGeom>
          <a:noFill/>
          <a:ln>
            <a:noFill/>
          </a:ln>
        </p:spPr>
      </p:pic>
      <p:pic>
        <p:nvPicPr>
          <p:cNvPr id="693" name="Google Shape;693;p59"/>
          <p:cNvPicPr preferRelativeResize="0"/>
          <p:nvPr/>
        </p:nvPicPr>
        <p:blipFill rotWithShape="1">
          <a:blip r:embed="rId5">
            <a:alphaModFix/>
          </a:blip>
          <a:srcRect/>
          <a:stretch/>
        </p:blipFill>
        <p:spPr>
          <a:xfrm>
            <a:off x="7620001" y="3810001"/>
            <a:ext cx="1533525" cy="276225"/>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697"/>
        <p:cNvGrpSpPr/>
        <p:nvPr/>
      </p:nvGrpSpPr>
      <p:grpSpPr>
        <a:xfrm>
          <a:off x="0" y="0"/>
          <a:ext cx="0" cy="0"/>
          <a:chOff x="0" y="0"/>
          <a:chExt cx="0" cy="0"/>
        </a:xfrm>
      </p:grpSpPr>
      <p:sp>
        <p:nvSpPr>
          <p:cNvPr id="698" name="Google Shape;698;p60"/>
          <p:cNvSpPr txBox="1">
            <a:spLocks noGrp="1"/>
          </p:cNvSpPr>
          <p:nvPr>
            <p:ph type="title"/>
          </p:nvPr>
        </p:nvSpPr>
        <p:spPr>
          <a:xfrm>
            <a:off x="1981200" y="274638"/>
            <a:ext cx="8229600" cy="639762"/>
          </a:xfrm>
          <a:prstGeom prst="rect">
            <a:avLst/>
          </a:prstGeom>
          <a:noFill/>
          <a:ln>
            <a:noFill/>
          </a:ln>
        </p:spPr>
        <p:txBody>
          <a:bodyPr spcFirstLastPara="1" vert="horz" wrap="square" lIns="91425" tIns="45700" rIns="91425" bIns="45700" rtlCol="0" anchor="ctr" anchorCtr="0">
            <a:normAutofit fontScale="90000"/>
          </a:bodyPr>
          <a:lstStyle/>
          <a:p>
            <a:pPr algn="ctr">
              <a:lnSpc>
                <a:spcPct val="100000"/>
              </a:lnSpc>
              <a:spcBef>
                <a:spcPts val="0"/>
              </a:spcBef>
              <a:buClr>
                <a:schemeClr val="dk2"/>
              </a:buClr>
              <a:buSzPct val="100000"/>
            </a:pPr>
            <a:r>
              <a:rPr lang="en-US" b="1">
                <a:latin typeface="Times New Roman"/>
                <a:ea typeface="Times New Roman"/>
                <a:cs typeface="Times New Roman"/>
                <a:sym typeface="Times New Roman"/>
              </a:rPr>
              <a:t>Aggregate Functions</a:t>
            </a:r>
            <a:endParaRPr/>
          </a:p>
        </p:txBody>
      </p:sp>
      <p:sp>
        <p:nvSpPr>
          <p:cNvPr id="699" name="Google Shape;699;p60"/>
          <p:cNvSpPr txBox="1">
            <a:spLocks noGrp="1"/>
          </p:cNvSpPr>
          <p:nvPr>
            <p:ph type="body" idx="1"/>
          </p:nvPr>
        </p:nvSpPr>
        <p:spPr>
          <a:xfrm>
            <a:off x="2057400" y="1066800"/>
            <a:ext cx="8229600" cy="5410200"/>
          </a:xfrm>
          <a:prstGeom prst="rect">
            <a:avLst/>
          </a:prstGeom>
          <a:noFill/>
          <a:ln>
            <a:noFill/>
          </a:ln>
        </p:spPr>
        <p:txBody>
          <a:bodyPr spcFirstLastPara="1" vert="horz" wrap="square" lIns="91425" tIns="45700" rIns="91425" bIns="45700" rtlCol="0" anchor="t" anchorCtr="0">
            <a:noAutofit/>
          </a:bodyPr>
          <a:lstStyle/>
          <a:p>
            <a:pPr marL="342900" indent="-342900" algn="just">
              <a:lnSpc>
                <a:spcPct val="100000"/>
              </a:lnSpc>
              <a:spcBef>
                <a:spcPts val="0"/>
              </a:spcBef>
              <a:buClr>
                <a:schemeClr val="dk1"/>
              </a:buClr>
              <a:buSzPts val="2400"/>
              <a:buFont typeface="Times New Roman"/>
              <a:buChar char="•"/>
            </a:pPr>
            <a:r>
              <a:rPr lang="en-US" sz="2400">
                <a:latin typeface="Times New Roman"/>
                <a:ea typeface="Times New Roman"/>
                <a:cs typeface="Times New Roman"/>
                <a:sym typeface="Times New Roman"/>
              </a:rPr>
              <a:t>Suppose we want to find the total salary sum of all part-time employees at each branch of the bank separately, rather than the sum for the entire bank. </a:t>
            </a:r>
            <a:endParaRPr sz="2400">
              <a:latin typeface="Times New Roman"/>
              <a:ea typeface="Times New Roman"/>
              <a:cs typeface="Times New Roman"/>
              <a:sym typeface="Times New Roman"/>
            </a:endParaRPr>
          </a:p>
          <a:p>
            <a:pPr marL="342900" indent="-342900" algn="just">
              <a:lnSpc>
                <a:spcPct val="100000"/>
              </a:lnSpc>
              <a:spcBef>
                <a:spcPts val="480"/>
              </a:spcBef>
              <a:buClr>
                <a:schemeClr val="dk1"/>
              </a:buClr>
              <a:buSzPts val="2400"/>
              <a:buFont typeface="Times New Roman"/>
              <a:buChar char="•"/>
            </a:pPr>
            <a:r>
              <a:rPr lang="en-US" sz="2400">
                <a:latin typeface="Times New Roman"/>
                <a:ea typeface="Times New Roman"/>
                <a:cs typeface="Times New Roman"/>
                <a:sym typeface="Times New Roman"/>
              </a:rPr>
              <a:t>To do so, we need to partition the relation pt-works into groups based on the branch, and to apply the aggregate function on each group.</a:t>
            </a:r>
            <a:endParaRPr sz="2400">
              <a:latin typeface="Times New Roman"/>
              <a:ea typeface="Times New Roman"/>
              <a:cs typeface="Times New Roman"/>
              <a:sym typeface="Times New Roman"/>
            </a:endParaRPr>
          </a:p>
          <a:p>
            <a:pPr marL="342900" indent="-342900" algn="just">
              <a:lnSpc>
                <a:spcPct val="100000"/>
              </a:lnSpc>
              <a:spcBef>
                <a:spcPts val="480"/>
              </a:spcBef>
              <a:buClr>
                <a:schemeClr val="dk1"/>
              </a:buClr>
              <a:buSzPts val="2400"/>
              <a:buFont typeface="Times New Roman"/>
              <a:buChar char="•"/>
            </a:pPr>
            <a:r>
              <a:rPr lang="en-US" sz="2400">
                <a:latin typeface="Times New Roman"/>
                <a:ea typeface="Times New Roman"/>
                <a:cs typeface="Times New Roman"/>
                <a:sym typeface="Times New Roman"/>
              </a:rPr>
              <a:t>The following expression using the aggregation operator G achieves the desired result:</a:t>
            </a:r>
            <a:endParaRPr sz="2400">
              <a:latin typeface="Times New Roman"/>
              <a:ea typeface="Times New Roman"/>
              <a:cs typeface="Times New Roman"/>
              <a:sym typeface="Times New Roman"/>
            </a:endParaRPr>
          </a:p>
          <a:p>
            <a:pPr marL="342900" indent="-342900" algn="ctr">
              <a:lnSpc>
                <a:spcPct val="100000"/>
              </a:lnSpc>
              <a:spcBef>
                <a:spcPts val="480"/>
              </a:spcBef>
              <a:buClr>
                <a:schemeClr val="dk1"/>
              </a:buClr>
              <a:buSzPts val="2400"/>
              <a:buNone/>
            </a:pPr>
            <a:r>
              <a:rPr lang="en-US" sz="2400" baseline="-25000">
                <a:latin typeface="Times New Roman"/>
                <a:ea typeface="Times New Roman"/>
                <a:cs typeface="Times New Roman"/>
                <a:sym typeface="Times New Roman"/>
              </a:rPr>
              <a:t>          branch_name</a:t>
            </a:r>
            <a:r>
              <a:rPr lang="en-US" sz="2400">
                <a:latin typeface="Times New Roman"/>
                <a:ea typeface="Times New Roman"/>
                <a:cs typeface="Times New Roman"/>
                <a:sym typeface="Times New Roman"/>
              </a:rPr>
              <a:t>      </a:t>
            </a:r>
            <a:r>
              <a:rPr lang="en-US" sz="2400" baseline="-25000">
                <a:latin typeface="Times New Roman"/>
                <a:ea typeface="Times New Roman"/>
                <a:cs typeface="Times New Roman"/>
                <a:sym typeface="Times New Roman"/>
              </a:rPr>
              <a:t>sum(salary)</a:t>
            </a:r>
            <a:r>
              <a:rPr lang="en-US" sz="2400">
                <a:latin typeface="Times New Roman"/>
                <a:ea typeface="Times New Roman"/>
                <a:cs typeface="Times New Roman"/>
                <a:sym typeface="Times New Roman"/>
              </a:rPr>
              <a:t>(pt-works)</a:t>
            </a:r>
            <a:endParaRPr sz="2400">
              <a:latin typeface="Times New Roman"/>
              <a:ea typeface="Times New Roman"/>
              <a:cs typeface="Times New Roman"/>
              <a:sym typeface="Times New Roman"/>
            </a:endParaRPr>
          </a:p>
          <a:p>
            <a:pPr marL="342900" indent="-342900" algn="just">
              <a:lnSpc>
                <a:spcPct val="100000"/>
              </a:lnSpc>
              <a:spcBef>
                <a:spcPts val="480"/>
              </a:spcBef>
              <a:buClr>
                <a:schemeClr val="dk1"/>
              </a:buClr>
              <a:buSzPts val="2400"/>
              <a:buFont typeface="Times New Roman"/>
              <a:buChar char="•"/>
            </a:pPr>
            <a:r>
              <a:rPr lang="en-US" sz="2400">
                <a:latin typeface="Times New Roman"/>
                <a:ea typeface="Times New Roman"/>
                <a:cs typeface="Times New Roman"/>
                <a:sym typeface="Times New Roman"/>
              </a:rPr>
              <a:t>In the expression, the attribute branch_name in the left-hand subscript of     indicates that the input relation pt-works must be divided into groups based on the value of branch-name.</a:t>
            </a:r>
            <a:endParaRPr sz="2400">
              <a:latin typeface="Times New Roman"/>
              <a:ea typeface="Times New Roman"/>
              <a:cs typeface="Times New Roman"/>
              <a:sym typeface="Times New Roman"/>
            </a:endParaRPr>
          </a:p>
        </p:txBody>
      </p:sp>
      <p:pic>
        <p:nvPicPr>
          <p:cNvPr id="700" name="Google Shape;700;p60"/>
          <p:cNvPicPr preferRelativeResize="0"/>
          <p:nvPr/>
        </p:nvPicPr>
        <p:blipFill rotWithShape="1">
          <a:blip r:embed="rId3">
            <a:alphaModFix/>
          </a:blip>
          <a:srcRect/>
          <a:stretch/>
        </p:blipFill>
        <p:spPr>
          <a:xfrm>
            <a:off x="5715000" y="4343400"/>
            <a:ext cx="304800" cy="304800"/>
          </a:xfrm>
          <a:prstGeom prst="rect">
            <a:avLst/>
          </a:prstGeom>
          <a:noFill/>
          <a:ln>
            <a:noFill/>
          </a:ln>
        </p:spPr>
      </p:pic>
      <p:pic>
        <p:nvPicPr>
          <p:cNvPr id="701" name="Google Shape;701;p60"/>
          <p:cNvPicPr preferRelativeResize="0"/>
          <p:nvPr/>
        </p:nvPicPr>
        <p:blipFill rotWithShape="1">
          <a:blip r:embed="rId3">
            <a:alphaModFix/>
          </a:blip>
          <a:srcRect/>
          <a:stretch/>
        </p:blipFill>
        <p:spPr>
          <a:xfrm>
            <a:off x="4114800" y="5105400"/>
            <a:ext cx="304800" cy="304800"/>
          </a:xfrm>
          <a:prstGeom prst="rect">
            <a:avLst/>
          </a:prstGeom>
          <a:noFill/>
          <a:ln>
            <a:noFill/>
          </a:ln>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705"/>
        <p:cNvGrpSpPr/>
        <p:nvPr/>
      </p:nvGrpSpPr>
      <p:grpSpPr>
        <a:xfrm>
          <a:off x="0" y="0"/>
          <a:ext cx="0" cy="0"/>
          <a:chOff x="0" y="0"/>
          <a:chExt cx="0" cy="0"/>
        </a:xfrm>
      </p:grpSpPr>
      <p:sp>
        <p:nvSpPr>
          <p:cNvPr id="706" name="Google Shape;706;p61"/>
          <p:cNvSpPr txBox="1">
            <a:spLocks noGrp="1"/>
          </p:cNvSpPr>
          <p:nvPr>
            <p:ph type="title"/>
          </p:nvPr>
        </p:nvSpPr>
        <p:spPr>
          <a:xfrm>
            <a:off x="2330450" y="174625"/>
            <a:ext cx="8077200" cy="609600"/>
          </a:xfrm>
          <a:prstGeom prst="rect">
            <a:avLst/>
          </a:prstGeom>
          <a:noFill/>
          <a:ln>
            <a:noFill/>
          </a:ln>
        </p:spPr>
        <p:txBody>
          <a:bodyPr spcFirstLastPara="1" vert="horz" wrap="square" lIns="91425" tIns="45700" rIns="91425" bIns="45700" rtlCol="0" anchor="ctr" anchorCtr="0">
            <a:noAutofit/>
          </a:bodyPr>
          <a:lstStyle/>
          <a:p>
            <a:pPr algn="ctr">
              <a:lnSpc>
                <a:spcPct val="100000"/>
              </a:lnSpc>
              <a:spcBef>
                <a:spcPts val="0"/>
              </a:spcBef>
              <a:buClr>
                <a:schemeClr val="dk2"/>
              </a:buClr>
              <a:buSzPts val="2800"/>
            </a:pPr>
            <a:r>
              <a:rPr lang="en-US" sz="2800"/>
              <a:t>Aggregate Functions and Operations</a:t>
            </a:r>
            <a:endParaRPr sz="2800"/>
          </a:p>
        </p:txBody>
      </p:sp>
      <p:sp>
        <p:nvSpPr>
          <p:cNvPr id="707" name="Google Shape;707;p61"/>
          <p:cNvSpPr txBox="1">
            <a:spLocks noGrp="1"/>
          </p:cNvSpPr>
          <p:nvPr>
            <p:ph type="body" idx="1"/>
          </p:nvPr>
        </p:nvSpPr>
        <p:spPr>
          <a:xfrm>
            <a:off x="2438400" y="838200"/>
            <a:ext cx="7772400" cy="4114800"/>
          </a:xfrm>
          <a:prstGeom prst="rect">
            <a:avLst/>
          </a:prstGeom>
          <a:noFill/>
          <a:ln>
            <a:noFill/>
          </a:ln>
        </p:spPr>
        <p:txBody>
          <a:bodyPr spcFirstLastPara="1" vert="horz" wrap="square" lIns="91425" tIns="45700" rIns="91425" bIns="45700" rtlCol="0" anchor="t" anchorCtr="0">
            <a:noAutofit/>
          </a:bodyPr>
          <a:lstStyle/>
          <a:p>
            <a:pPr marL="342900" indent="-342900">
              <a:spcBef>
                <a:spcPts val="0"/>
              </a:spcBef>
              <a:buClr>
                <a:schemeClr val="dk2"/>
              </a:buClr>
              <a:buSzPts val="2400"/>
              <a:buFont typeface="Arial"/>
              <a:buChar char="•"/>
            </a:pPr>
            <a:r>
              <a:rPr lang="en-US" sz="2400" b="1">
                <a:solidFill>
                  <a:schemeClr val="dk2"/>
                </a:solidFill>
              </a:rPr>
              <a:t>Aggregation function</a:t>
            </a:r>
            <a:r>
              <a:rPr lang="en-US" sz="2400"/>
              <a:t> takes a collection of values and returns a single value as a result.</a:t>
            </a:r>
            <a:endParaRPr sz="2400"/>
          </a:p>
          <a:p>
            <a:pPr marL="342900" indent="-342900">
              <a:spcBef>
                <a:spcPts val="480"/>
              </a:spcBef>
              <a:buClr>
                <a:schemeClr val="dk1"/>
              </a:buClr>
              <a:buSzPts val="2400"/>
              <a:buNone/>
            </a:pPr>
            <a:r>
              <a:rPr lang="en-US" sz="2400"/>
              <a:t>		</a:t>
            </a:r>
            <a:r>
              <a:rPr lang="en-US" sz="2400" b="1"/>
              <a:t>avg</a:t>
            </a:r>
            <a:r>
              <a:rPr lang="en-US" sz="2400"/>
              <a:t>:  average value</a:t>
            </a:r>
            <a:br>
              <a:rPr lang="en-US" sz="2400"/>
            </a:br>
            <a:r>
              <a:rPr lang="en-US" sz="2400"/>
              <a:t>	</a:t>
            </a:r>
            <a:r>
              <a:rPr lang="en-US" sz="2400" b="1"/>
              <a:t>min</a:t>
            </a:r>
            <a:r>
              <a:rPr lang="en-US" sz="2400"/>
              <a:t>:  minimum value</a:t>
            </a:r>
            <a:br>
              <a:rPr lang="en-US" sz="2400"/>
            </a:br>
            <a:r>
              <a:rPr lang="en-US" sz="2400"/>
              <a:t>	</a:t>
            </a:r>
            <a:r>
              <a:rPr lang="en-US" sz="2400" b="1"/>
              <a:t>max</a:t>
            </a:r>
            <a:r>
              <a:rPr lang="en-US" sz="2400"/>
              <a:t>:  maximum value</a:t>
            </a:r>
            <a:br>
              <a:rPr lang="en-US" sz="2400"/>
            </a:br>
            <a:r>
              <a:rPr lang="en-US" sz="2400"/>
              <a:t>	</a:t>
            </a:r>
            <a:r>
              <a:rPr lang="en-US" sz="2400" b="1"/>
              <a:t>sum</a:t>
            </a:r>
            <a:r>
              <a:rPr lang="en-US" sz="2400"/>
              <a:t>:  sum of values</a:t>
            </a:r>
            <a:br>
              <a:rPr lang="en-US" sz="2400"/>
            </a:br>
            <a:r>
              <a:rPr lang="en-US" sz="2400"/>
              <a:t>	</a:t>
            </a:r>
            <a:r>
              <a:rPr lang="en-US" sz="2400" b="1"/>
              <a:t>count</a:t>
            </a:r>
            <a:r>
              <a:rPr lang="en-US" sz="2400"/>
              <a:t>:  number of values</a:t>
            </a:r>
            <a:endParaRPr sz="2400"/>
          </a:p>
          <a:p>
            <a:pPr marL="342900" indent="-342900">
              <a:spcBef>
                <a:spcPts val="480"/>
              </a:spcBef>
              <a:buClr>
                <a:schemeClr val="dk2"/>
              </a:buClr>
              <a:buSzPts val="2400"/>
              <a:buFont typeface="Arial"/>
              <a:buChar char="•"/>
            </a:pPr>
            <a:r>
              <a:rPr lang="en-US" sz="2400" b="1">
                <a:solidFill>
                  <a:schemeClr val="dk2"/>
                </a:solidFill>
              </a:rPr>
              <a:t>Aggregate operation</a:t>
            </a:r>
            <a:r>
              <a:rPr lang="en-US" sz="2400"/>
              <a:t> in relational algebra </a:t>
            </a:r>
            <a:endParaRPr sz="2400"/>
          </a:p>
          <a:p>
            <a:pPr marL="342900" indent="-342900">
              <a:spcBef>
                <a:spcPts val="480"/>
              </a:spcBef>
              <a:buClr>
                <a:schemeClr val="dk1"/>
              </a:buClr>
              <a:buSzPts val="2400"/>
              <a:buNone/>
            </a:pPr>
            <a:r>
              <a:rPr lang="en-US" sz="2400"/>
              <a:t>		</a:t>
            </a:r>
            <a:r>
              <a:rPr lang="en-US" sz="2400" baseline="-25000"/>
              <a:t>	G1, G2, …, Gn</a:t>
            </a:r>
            <a:r>
              <a:rPr lang="en-US" sz="2400"/>
              <a:t> </a:t>
            </a:r>
            <a:r>
              <a:rPr lang="en-US" sz="2400" i="1">
                <a:latin typeface="Lucida Sans"/>
                <a:ea typeface="Lucida Sans"/>
                <a:cs typeface="Lucida Sans"/>
                <a:sym typeface="Lucida Sans"/>
              </a:rPr>
              <a:t>g</a:t>
            </a:r>
            <a:r>
              <a:rPr lang="en-US" sz="2400"/>
              <a:t> </a:t>
            </a:r>
            <a:r>
              <a:rPr lang="en-US" sz="2400" baseline="-25000"/>
              <a:t>F1( A1), F2( A2),…, Fn( An)</a:t>
            </a:r>
            <a:r>
              <a:rPr lang="en-US" sz="2400"/>
              <a:t> (</a:t>
            </a:r>
            <a:r>
              <a:rPr lang="en-US" sz="2400" i="1"/>
              <a:t>E</a:t>
            </a:r>
            <a:r>
              <a:rPr lang="en-US" sz="2400"/>
              <a:t>)</a:t>
            </a:r>
            <a:endParaRPr sz="2400"/>
          </a:p>
          <a:p>
            <a:pPr marL="742950" lvl="1" indent="-285750">
              <a:spcBef>
                <a:spcPts val="480"/>
              </a:spcBef>
              <a:buClr>
                <a:schemeClr val="dk1"/>
              </a:buClr>
              <a:buSzPts val="2400"/>
              <a:buFont typeface="Arial"/>
              <a:buChar char="–"/>
            </a:pPr>
            <a:r>
              <a:rPr lang="en-US" i="1"/>
              <a:t>E</a:t>
            </a:r>
            <a:r>
              <a:rPr lang="en-US"/>
              <a:t> is any relational-algebra expression</a:t>
            </a:r>
            <a:endParaRPr/>
          </a:p>
          <a:p>
            <a:pPr marL="742950" lvl="1" indent="-285750">
              <a:spcBef>
                <a:spcPts val="480"/>
              </a:spcBef>
              <a:buClr>
                <a:schemeClr val="dk1"/>
              </a:buClr>
              <a:buSzPts val="2400"/>
              <a:buFont typeface="Arial"/>
              <a:buChar char="–"/>
            </a:pPr>
            <a:r>
              <a:rPr lang="en-US" i="1"/>
              <a:t>G</a:t>
            </a:r>
            <a:r>
              <a:rPr lang="en-US" baseline="-25000"/>
              <a:t>1</a:t>
            </a:r>
            <a:r>
              <a:rPr lang="en-US"/>
              <a:t>, </a:t>
            </a:r>
            <a:r>
              <a:rPr lang="en-US" i="1"/>
              <a:t>G</a:t>
            </a:r>
            <a:r>
              <a:rPr lang="en-US" baseline="-25000"/>
              <a:t>2</a:t>
            </a:r>
            <a:r>
              <a:rPr lang="en-US"/>
              <a:t> …, </a:t>
            </a:r>
            <a:r>
              <a:rPr lang="en-US" i="1"/>
              <a:t>G</a:t>
            </a:r>
            <a:r>
              <a:rPr lang="en-US" baseline="-25000"/>
              <a:t>n</a:t>
            </a:r>
            <a:r>
              <a:rPr lang="en-US"/>
              <a:t> is a list of attributes on which to group (can be empty)</a:t>
            </a:r>
            <a:endParaRPr/>
          </a:p>
          <a:p>
            <a:pPr marL="742950" lvl="1" indent="-285750">
              <a:spcBef>
                <a:spcPts val="480"/>
              </a:spcBef>
              <a:buClr>
                <a:schemeClr val="dk1"/>
              </a:buClr>
              <a:buSzPts val="2400"/>
              <a:buFont typeface="Arial"/>
              <a:buChar char="–"/>
            </a:pPr>
            <a:r>
              <a:rPr lang="en-US"/>
              <a:t>Each </a:t>
            </a:r>
            <a:r>
              <a:rPr lang="en-US" i="1"/>
              <a:t>F</a:t>
            </a:r>
            <a:r>
              <a:rPr lang="en-US" i="1" baseline="-25000"/>
              <a:t>i</a:t>
            </a:r>
            <a:r>
              <a:rPr lang="en-US" i="1"/>
              <a:t> </a:t>
            </a:r>
            <a:r>
              <a:rPr lang="en-US"/>
              <a:t>is an aggregate function</a:t>
            </a:r>
            <a:endParaRPr i="1"/>
          </a:p>
          <a:p>
            <a:pPr marL="742950" lvl="1" indent="-285750">
              <a:spcBef>
                <a:spcPts val="480"/>
              </a:spcBef>
              <a:buClr>
                <a:schemeClr val="dk1"/>
              </a:buClr>
              <a:buSzPts val="2400"/>
              <a:buFont typeface="Arial"/>
              <a:buChar char="–"/>
            </a:pPr>
            <a:r>
              <a:rPr lang="en-US"/>
              <a:t>Each </a:t>
            </a:r>
            <a:r>
              <a:rPr lang="en-US" i="1"/>
              <a:t>A</a:t>
            </a:r>
            <a:r>
              <a:rPr lang="en-US" i="1" baseline="-25000"/>
              <a:t>i</a:t>
            </a:r>
            <a:r>
              <a:rPr lang="en-US" i="1"/>
              <a:t> </a:t>
            </a:r>
            <a:r>
              <a:rPr lang="en-US"/>
              <a:t>is an attribute name</a:t>
            </a:r>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711"/>
        <p:cNvGrpSpPr/>
        <p:nvPr/>
      </p:nvGrpSpPr>
      <p:grpSpPr>
        <a:xfrm>
          <a:off x="0" y="0"/>
          <a:ext cx="0" cy="0"/>
          <a:chOff x="0" y="0"/>
          <a:chExt cx="0" cy="0"/>
        </a:xfrm>
      </p:grpSpPr>
      <p:sp>
        <p:nvSpPr>
          <p:cNvPr id="712" name="Google Shape;712;p62"/>
          <p:cNvSpPr txBox="1">
            <a:spLocks noGrp="1"/>
          </p:cNvSpPr>
          <p:nvPr>
            <p:ph type="title"/>
          </p:nvPr>
        </p:nvSpPr>
        <p:spPr>
          <a:xfrm>
            <a:off x="2209800" y="0"/>
            <a:ext cx="7772400" cy="1143000"/>
          </a:xfrm>
          <a:prstGeom prst="rect">
            <a:avLst/>
          </a:prstGeom>
          <a:noFill/>
          <a:ln>
            <a:noFill/>
          </a:ln>
        </p:spPr>
        <p:txBody>
          <a:bodyPr spcFirstLastPara="1" vert="horz" wrap="square" lIns="91425" tIns="45700" rIns="91425" bIns="45700" rtlCol="0" anchor="ctr" anchorCtr="0">
            <a:noAutofit/>
          </a:bodyPr>
          <a:lstStyle/>
          <a:p>
            <a:pPr algn="ctr">
              <a:lnSpc>
                <a:spcPct val="100000"/>
              </a:lnSpc>
              <a:spcBef>
                <a:spcPts val="0"/>
              </a:spcBef>
              <a:buClr>
                <a:schemeClr val="dk2"/>
              </a:buClr>
              <a:buSzPts val="2800"/>
            </a:pPr>
            <a:r>
              <a:rPr lang="en-US" sz="2800"/>
              <a:t>Aggregate Operation – Example</a:t>
            </a:r>
            <a:endParaRPr sz="2800"/>
          </a:p>
        </p:txBody>
      </p:sp>
      <p:sp>
        <p:nvSpPr>
          <p:cNvPr id="713" name="Google Shape;713;p62"/>
          <p:cNvSpPr txBox="1">
            <a:spLocks noGrp="1"/>
          </p:cNvSpPr>
          <p:nvPr>
            <p:ph type="body" idx="1"/>
          </p:nvPr>
        </p:nvSpPr>
        <p:spPr>
          <a:xfrm>
            <a:off x="2209800" y="1981201"/>
            <a:ext cx="1790700" cy="485775"/>
          </a:xfrm>
          <a:prstGeom prst="rect">
            <a:avLst/>
          </a:prstGeom>
          <a:noFill/>
          <a:ln>
            <a:noFill/>
          </a:ln>
        </p:spPr>
        <p:txBody>
          <a:bodyPr spcFirstLastPara="1" vert="horz" wrap="square" lIns="91425" tIns="45700" rIns="91425" bIns="45700" rtlCol="0" anchor="t" anchorCtr="0">
            <a:noAutofit/>
          </a:bodyPr>
          <a:lstStyle/>
          <a:p>
            <a:pPr marL="342900" indent="-342900">
              <a:spcBef>
                <a:spcPts val="0"/>
              </a:spcBef>
              <a:buClr>
                <a:schemeClr val="dk1"/>
              </a:buClr>
              <a:buSzPts val="2800"/>
              <a:buFont typeface="Arial"/>
              <a:buChar char="•"/>
            </a:pPr>
            <a:r>
              <a:rPr lang="en-US"/>
              <a:t>Relation </a:t>
            </a:r>
            <a:r>
              <a:rPr lang="en-US" i="1"/>
              <a:t>r</a:t>
            </a:r>
            <a:r>
              <a:rPr lang="en-US"/>
              <a:t>:</a:t>
            </a:r>
            <a:endParaRPr/>
          </a:p>
        </p:txBody>
      </p:sp>
      <p:sp>
        <p:nvSpPr>
          <p:cNvPr id="714" name="Google Shape;714;p62"/>
          <p:cNvSpPr/>
          <p:nvPr/>
        </p:nvSpPr>
        <p:spPr>
          <a:xfrm>
            <a:off x="5410200" y="1447800"/>
            <a:ext cx="457200" cy="5334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A</a:t>
            </a:r>
            <a:endParaRPr i="1">
              <a:solidFill>
                <a:schemeClr val="dk1"/>
              </a:solidFill>
              <a:latin typeface="Helvetica Neue"/>
              <a:ea typeface="Helvetica Neue"/>
              <a:cs typeface="Helvetica Neue"/>
              <a:sym typeface="Helvetica Neue"/>
            </a:endParaRPr>
          </a:p>
        </p:txBody>
      </p:sp>
      <p:sp>
        <p:nvSpPr>
          <p:cNvPr id="715" name="Google Shape;715;p62"/>
          <p:cNvSpPr/>
          <p:nvPr/>
        </p:nvSpPr>
        <p:spPr>
          <a:xfrm>
            <a:off x="5867400" y="1447800"/>
            <a:ext cx="457200" cy="5334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B</a:t>
            </a:r>
            <a:endParaRPr i="1">
              <a:solidFill>
                <a:schemeClr val="dk1"/>
              </a:solidFill>
              <a:latin typeface="Helvetica Neue"/>
              <a:ea typeface="Helvetica Neue"/>
              <a:cs typeface="Helvetica Neue"/>
              <a:sym typeface="Helvetica Neue"/>
            </a:endParaRPr>
          </a:p>
        </p:txBody>
      </p:sp>
      <p:sp>
        <p:nvSpPr>
          <p:cNvPr id="716" name="Google Shape;716;p62"/>
          <p:cNvSpPr/>
          <p:nvPr/>
        </p:nvSpPr>
        <p:spPr>
          <a:xfrm>
            <a:off x="5410200" y="2057400"/>
            <a:ext cx="457200" cy="15240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lnSpc>
                <a:spcPct val="130000"/>
              </a:lnSpc>
            </a:pPr>
            <a:r>
              <a:rPr lang="en-US" i="1">
                <a:solidFill>
                  <a:schemeClr val="dk1"/>
                </a:solidFill>
                <a:latin typeface="Helvetica Neue"/>
                <a:ea typeface="Helvetica Neue"/>
                <a:cs typeface="Helvetica Neue"/>
                <a:sym typeface="Helvetica Neue"/>
              </a:rPr>
              <a:t>α</a:t>
            </a:r>
            <a:endParaRPr i="1">
              <a:solidFill>
                <a:schemeClr val="dk1"/>
              </a:solidFill>
              <a:latin typeface="Helvetica Neue"/>
              <a:ea typeface="Helvetica Neue"/>
              <a:cs typeface="Helvetica Neue"/>
              <a:sym typeface="Helvetica Neue"/>
            </a:endParaRPr>
          </a:p>
          <a:p>
            <a:pPr algn="ctr">
              <a:lnSpc>
                <a:spcPct val="130000"/>
              </a:lnSpc>
            </a:pPr>
            <a:r>
              <a:rPr lang="en-US" i="1">
                <a:solidFill>
                  <a:schemeClr val="dk1"/>
                </a:solidFill>
                <a:latin typeface="Helvetica Neue"/>
                <a:ea typeface="Helvetica Neue"/>
                <a:cs typeface="Helvetica Neue"/>
                <a:sym typeface="Helvetica Neue"/>
              </a:rPr>
              <a:t>α</a:t>
            </a:r>
            <a:endParaRPr i="1">
              <a:solidFill>
                <a:schemeClr val="dk1"/>
              </a:solidFill>
              <a:latin typeface="Helvetica Neue"/>
              <a:ea typeface="Helvetica Neue"/>
              <a:cs typeface="Helvetica Neue"/>
              <a:sym typeface="Helvetica Neue"/>
            </a:endParaRPr>
          </a:p>
          <a:p>
            <a:pPr algn="ctr">
              <a:lnSpc>
                <a:spcPct val="130000"/>
              </a:lnSpc>
            </a:pPr>
            <a:r>
              <a:rPr lang="en-US" i="1">
                <a:solidFill>
                  <a:schemeClr val="dk1"/>
                </a:solidFill>
                <a:latin typeface="Helvetica Neue"/>
                <a:ea typeface="Helvetica Neue"/>
                <a:cs typeface="Helvetica Neue"/>
                <a:sym typeface="Helvetica Neue"/>
              </a:rPr>
              <a:t>β</a:t>
            </a:r>
            <a:endParaRPr i="1">
              <a:solidFill>
                <a:schemeClr val="dk1"/>
              </a:solidFill>
              <a:latin typeface="Helvetica Neue"/>
              <a:ea typeface="Helvetica Neue"/>
              <a:cs typeface="Helvetica Neue"/>
              <a:sym typeface="Helvetica Neue"/>
            </a:endParaRPr>
          </a:p>
          <a:p>
            <a:pPr algn="ctr">
              <a:lnSpc>
                <a:spcPct val="130000"/>
              </a:lnSpc>
            </a:pPr>
            <a:r>
              <a:rPr lang="en-US" i="1">
                <a:solidFill>
                  <a:schemeClr val="dk1"/>
                </a:solidFill>
                <a:latin typeface="Helvetica Neue"/>
                <a:ea typeface="Helvetica Neue"/>
                <a:cs typeface="Helvetica Neue"/>
                <a:sym typeface="Helvetica Neue"/>
              </a:rPr>
              <a:t>β</a:t>
            </a:r>
            <a:endParaRPr i="1">
              <a:solidFill>
                <a:schemeClr val="dk1"/>
              </a:solidFill>
              <a:latin typeface="Helvetica Neue"/>
              <a:ea typeface="Helvetica Neue"/>
              <a:cs typeface="Helvetica Neue"/>
              <a:sym typeface="Helvetica Neue"/>
            </a:endParaRPr>
          </a:p>
        </p:txBody>
      </p:sp>
      <p:sp>
        <p:nvSpPr>
          <p:cNvPr id="717" name="Google Shape;717;p62"/>
          <p:cNvSpPr/>
          <p:nvPr/>
        </p:nvSpPr>
        <p:spPr>
          <a:xfrm>
            <a:off x="5867400" y="2057400"/>
            <a:ext cx="457200" cy="15240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lnSpc>
                <a:spcPct val="130000"/>
              </a:lnSpc>
            </a:pPr>
            <a:r>
              <a:rPr lang="en-US" i="1">
                <a:solidFill>
                  <a:schemeClr val="dk1"/>
                </a:solidFill>
                <a:latin typeface="Helvetica Neue"/>
                <a:ea typeface="Helvetica Neue"/>
                <a:cs typeface="Helvetica Neue"/>
                <a:sym typeface="Helvetica Neue"/>
              </a:rPr>
              <a:t>α</a:t>
            </a:r>
            <a:endParaRPr i="1">
              <a:solidFill>
                <a:schemeClr val="dk1"/>
              </a:solidFill>
              <a:latin typeface="Helvetica Neue"/>
              <a:ea typeface="Helvetica Neue"/>
              <a:cs typeface="Helvetica Neue"/>
              <a:sym typeface="Helvetica Neue"/>
            </a:endParaRPr>
          </a:p>
          <a:p>
            <a:pPr algn="ctr">
              <a:lnSpc>
                <a:spcPct val="130000"/>
              </a:lnSpc>
            </a:pPr>
            <a:r>
              <a:rPr lang="en-US" i="1">
                <a:solidFill>
                  <a:schemeClr val="dk1"/>
                </a:solidFill>
                <a:latin typeface="Helvetica Neue"/>
                <a:ea typeface="Helvetica Neue"/>
                <a:cs typeface="Helvetica Neue"/>
                <a:sym typeface="Helvetica Neue"/>
              </a:rPr>
              <a:t>β</a:t>
            </a:r>
            <a:endParaRPr i="1">
              <a:solidFill>
                <a:schemeClr val="dk1"/>
              </a:solidFill>
              <a:latin typeface="Helvetica Neue"/>
              <a:ea typeface="Helvetica Neue"/>
              <a:cs typeface="Helvetica Neue"/>
              <a:sym typeface="Helvetica Neue"/>
            </a:endParaRPr>
          </a:p>
          <a:p>
            <a:pPr algn="ctr">
              <a:lnSpc>
                <a:spcPct val="130000"/>
              </a:lnSpc>
            </a:pPr>
            <a:r>
              <a:rPr lang="en-US" i="1">
                <a:solidFill>
                  <a:schemeClr val="dk1"/>
                </a:solidFill>
                <a:latin typeface="Helvetica Neue"/>
                <a:ea typeface="Helvetica Neue"/>
                <a:cs typeface="Helvetica Neue"/>
                <a:sym typeface="Helvetica Neue"/>
              </a:rPr>
              <a:t>β</a:t>
            </a:r>
            <a:endParaRPr i="1">
              <a:solidFill>
                <a:schemeClr val="dk1"/>
              </a:solidFill>
              <a:latin typeface="Helvetica Neue"/>
              <a:ea typeface="Helvetica Neue"/>
              <a:cs typeface="Helvetica Neue"/>
              <a:sym typeface="Helvetica Neue"/>
            </a:endParaRPr>
          </a:p>
          <a:p>
            <a:pPr algn="ctr">
              <a:lnSpc>
                <a:spcPct val="130000"/>
              </a:lnSpc>
            </a:pPr>
            <a:r>
              <a:rPr lang="en-US" i="1">
                <a:solidFill>
                  <a:schemeClr val="dk1"/>
                </a:solidFill>
                <a:latin typeface="Helvetica Neue"/>
                <a:ea typeface="Helvetica Neue"/>
                <a:cs typeface="Helvetica Neue"/>
                <a:sym typeface="Helvetica Neue"/>
              </a:rPr>
              <a:t>β</a:t>
            </a:r>
            <a:endParaRPr i="1">
              <a:solidFill>
                <a:schemeClr val="dk1"/>
              </a:solidFill>
              <a:latin typeface="Helvetica Neue"/>
              <a:ea typeface="Helvetica Neue"/>
              <a:cs typeface="Helvetica Neue"/>
              <a:sym typeface="Helvetica Neue"/>
            </a:endParaRPr>
          </a:p>
        </p:txBody>
      </p:sp>
      <p:sp>
        <p:nvSpPr>
          <p:cNvPr id="718" name="Google Shape;718;p62"/>
          <p:cNvSpPr/>
          <p:nvPr/>
        </p:nvSpPr>
        <p:spPr>
          <a:xfrm>
            <a:off x="6324600" y="1447800"/>
            <a:ext cx="457200" cy="5334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C</a:t>
            </a:r>
            <a:endParaRPr i="1">
              <a:solidFill>
                <a:schemeClr val="dk1"/>
              </a:solidFill>
              <a:latin typeface="Helvetica Neue"/>
              <a:ea typeface="Helvetica Neue"/>
              <a:cs typeface="Helvetica Neue"/>
              <a:sym typeface="Helvetica Neue"/>
            </a:endParaRPr>
          </a:p>
        </p:txBody>
      </p:sp>
      <p:sp>
        <p:nvSpPr>
          <p:cNvPr id="719" name="Google Shape;719;p62"/>
          <p:cNvSpPr/>
          <p:nvPr/>
        </p:nvSpPr>
        <p:spPr>
          <a:xfrm>
            <a:off x="6324600" y="2057400"/>
            <a:ext cx="457200" cy="15240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lnSpc>
                <a:spcPct val="130000"/>
              </a:lnSpc>
            </a:pPr>
            <a:r>
              <a:rPr lang="en-US">
                <a:solidFill>
                  <a:schemeClr val="dk1"/>
                </a:solidFill>
                <a:latin typeface="Helvetica Neue"/>
                <a:ea typeface="Helvetica Neue"/>
                <a:cs typeface="Helvetica Neue"/>
                <a:sym typeface="Helvetica Neue"/>
              </a:rPr>
              <a:t>7</a:t>
            </a:r>
            <a:endParaRPr>
              <a:solidFill>
                <a:schemeClr val="dk1"/>
              </a:solidFill>
              <a:latin typeface="Helvetica Neue"/>
              <a:ea typeface="Helvetica Neue"/>
              <a:cs typeface="Helvetica Neue"/>
              <a:sym typeface="Helvetica Neue"/>
            </a:endParaRPr>
          </a:p>
          <a:p>
            <a:pPr algn="ctr">
              <a:lnSpc>
                <a:spcPct val="130000"/>
              </a:lnSpc>
            </a:pPr>
            <a:r>
              <a:rPr lang="en-US">
                <a:solidFill>
                  <a:schemeClr val="dk1"/>
                </a:solidFill>
                <a:latin typeface="Helvetica Neue"/>
                <a:ea typeface="Helvetica Neue"/>
                <a:cs typeface="Helvetica Neue"/>
                <a:sym typeface="Helvetica Neue"/>
              </a:rPr>
              <a:t>7</a:t>
            </a:r>
            <a:endParaRPr>
              <a:solidFill>
                <a:schemeClr val="dk1"/>
              </a:solidFill>
              <a:latin typeface="Helvetica Neue"/>
              <a:ea typeface="Helvetica Neue"/>
              <a:cs typeface="Helvetica Neue"/>
              <a:sym typeface="Helvetica Neue"/>
            </a:endParaRPr>
          </a:p>
          <a:p>
            <a:pPr algn="ctr">
              <a:lnSpc>
                <a:spcPct val="130000"/>
              </a:lnSpc>
            </a:pPr>
            <a:r>
              <a:rPr lang="en-US">
                <a:solidFill>
                  <a:schemeClr val="dk1"/>
                </a:solidFill>
                <a:latin typeface="Helvetica Neue"/>
                <a:ea typeface="Helvetica Neue"/>
                <a:cs typeface="Helvetica Neue"/>
                <a:sym typeface="Helvetica Neue"/>
              </a:rPr>
              <a:t>3</a:t>
            </a:r>
            <a:endParaRPr>
              <a:solidFill>
                <a:schemeClr val="dk1"/>
              </a:solidFill>
              <a:latin typeface="Helvetica Neue"/>
              <a:ea typeface="Helvetica Neue"/>
              <a:cs typeface="Helvetica Neue"/>
              <a:sym typeface="Helvetica Neue"/>
            </a:endParaRPr>
          </a:p>
          <a:p>
            <a:pPr algn="ctr">
              <a:lnSpc>
                <a:spcPct val="130000"/>
              </a:lnSpc>
            </a:pPr>
            <a:r>
              <a:rPr lang="en-US">
                <a:solidFill>
                  <a:schemeClr val="dk1"/>
                </a:solidFill>
                <a:latin typeface="Helvetica Neue"/>
                <a:ea typeface="Helvetica Neue"/>
                <a:cs typeface="Helvetica Neue"/>
                <a:sym typeface="Helvetica Neue"/>
              </a:rPr>
              <a:t>10</a:t>
            </a:r>
            <a:endParaRPr>
              <a:solidFill>
                <a:schemeClr val="dk1"/>
              </a:solidFill>
              <a:latin typeface="Helvetica Neue"/>
              <a:ea typeface="Helvetica Neue"/>
              <a:cs typeface="Helvetica Neue"/>
              <a:sym typeface="Helvetica Neue"/>
            </a:endParaRPr>
          </a:p>
        </p:txBody>
      </p:sp>
      <p:sp>
        <p:nvSpPr>
          <p:cNvPr id="720" name="Google Shape;720;p62"/>
          <p:cNvSpPr/>
          <p:nvPr/>
        </p:nvSpPr>
        <p:spPr>
          <a:xfrm>
            <a:off x="2590800" y="4572001"/>
            <a:ext cx="1619250" cy="557213"/>
          </a:xfrm>
          <a:prstGeom prst="rect">
            <a:avLst/>
          </a:prstGeom>
          <a:noFill/>
          <a:ln>
            <a:noFill/>
          </a:ln>
        </p:spPr>
        <p:txBody>
          <a:bodyPr spcFirstLastPara="1" wrap="square" lIns="91425" tIns="45700" rIns="91425" bIns="45700" anchor="t" anchorCtr="0">
            <a:noAutofit/>
          </a:bodyPr>
          <a:lstStyle/>
          <a:p>
            <a:pPr marL="342900" indent="-342900"/>
            <a:r>
              <a:rPr lang="en-US" sz="2800" i="1">
                <a:solidFill>
                  <a:schemeClr val="dk1"/>
                </a:solidFill>
                <a:latin typeface="Lucida Sans"/>
                <a:ea typeface="Lucida Sans"/>
                <a:cs typeface="Lucida Sans"/>
                <a:sym typeface="Lucida Sans"/>
              </a:rPr>
              <a:t>g</a:t>
            </a:r>
            <a:r>
              <a:rPr lang="en-US" sz="2000" b="1">
                <a:solidFill>
                  <a:schemeClr val="dk1"/>
                </a:solidFill>
                <a:latin typeface="Times New Roman"/>
                <a:ea typeface="Times New Roman"/>
                <a:cs typeface="Times New Roman"/>
                <a:sym typeface="Times New Roman"/>
              </a:rPr>
              <a:t> </a:t>
            </a:r>
            <a:r>
              <a:rPr lang="en-US" sz="2800" b="1" baseline="-25000">
                <a:solidFill>
                  <a:schemeClr val="dk1"/>
                </a:solidFill>
                <a:latin typeface="Times New Roman"/>
                <a:ea typeface="Times New Roman"/>
                <a:cs typeface="Times New Roman"/>
                <a:sym typeface="Times New Roman"/>
              </a:rPr>
              <a:t>sum(c)</a:t>
            </a:r>
            <a:r>
              <a:rPr lang="en-US" sz="2000" b="1" baseline="-25000">
                <a:solidFill>
                  <a:schemeClr val="dk1"/>
                </a:solidFill>
                <a:latin typeface="Times New Roman"/>
                <a:ea typeface="Times New Roman"/>
                <a:cs typeface="Times New Roman"/>
                <a:sym typeface="Times New Roman"/>
              </a:rPr>
              <a:t> </a:t>
            </a:r>
            <a:r>
              <a:rPr lang="en-US" sz="2000">
                <a:solidFill>
                  <a:schemeClr val="dk1"/>
                </a:solidFill>
                <a:latin typeface="Times New Roman"/>
                <a:ea typeface="Times New Roman"/>
                <a:cs typeface="Times New Roman"/>
                <a:sym typeface="Times New Roman"/>
              </a:rPr>
              <a:t>(r)</a:t>
            </a:r>
            <a:endParaRPr sz="2000">
              <a:solidFill>
                <a:schemeClr val="dk1"/>
              </a:solidFill>
              <a:latin typeface="Times New Roman"/>
              <a:ea typeface="Times New Roman"/>
              <a:cs typeface="Times New Roman"/>
              <a:sym typeface="Times New Roman"/>
            </a:endParaRPr>
          </a:p>
        </p:txBody>
      </p:sp>
      <p:sp>
        <p:nvSpPr>
          <p:cNvPr id="721" name="Google Shape;721;p62"/>
          <p:cNvSpPr/>
          <p:nvPr/>
        </p:nvSpPr>
        <p:spPr>
          <a:xfrm>
            <a:off x="5486400" y="4343400"/>
            <a:ext cx="914400" cy="4572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sum-C</a:t>
            </a:r>
            <a:endParaRPr>
              <a:solidFill>
                <a:schemeClr val="dk1"/>
              </a:solidFill>
              <a:latin typeface="Helvetica Neue"/>
              <a:ea typeface="Helvetica Neue"/>
              <a:cs typeface="Helvetica Neue"/>
              <a:sym typeface="Helvetica Neue"/>
            </a:endParaRPr>
          </a:p>
        </p:txBody>
      </p:sp>
      <p:sp>
        <p:nvSpPr>
          <p:cNvPr id="722" name="Google Shape;722;p62"/>
          <p:cNvSpPr/>
          <p:nvPr/>
        </p:nvSpPr>
        <p:spPr>
          <a:xfrm>
            <a:off x="5486400" y="4876800"/>
            <a:ext cx="914400" cy="4572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a:solidFill>
                  <a:schemeClr val="dk1"/>
                </a:solidFill>
                <a:latin typeface="Helvetica Neue"/>
                <a:ea typeface="Helvetica Neue"/>
                <a:cs typeface="Helvetica Neue"/>
                <a:sym typeface="Helvetica Neue"/>
              </a:rPr>
              <a:t>27</a:t>
            </a:r>
            <a:endParaRPr>
              <a:solidFill>
                <a:schemeClr val="dk1"/>
              </a:solidFill>
              <a:latin typeface="Helvetica Neue"/>
              <a:ea typeface="Helvetica Neue"/>
              <a:cs typeface="Helvetica Neue"/>
              <a:sym typeface="Helvetica Neue"/>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726"/>
        <p:cNvGrpSpPr/>
        <p:nvPr/>
      </p:nvGrpSpPr>
      <p:grpSpPr>
        <a:xfrm>
          <a:off x="0" y="0"/>
          <a:ext cx="0" cy="0"/>
          <a:chOff x="0" y="0"/>
          <a:chExt cx="0" cy="0"/>
        </a:xfrm>
      </p:grpSpPr>
      <p:sp>
        <p:nvSpPr>
          <p:cNvPr id="727" name="Google Shape;727;p63"/>
          <p:cNvSpPr txBox="1">
            <a:spLocks noGrp="1"/>
          </p:cNvSpPr>
          <p:nvPr>
            <p:ph type="title"/>
          </p:nvPr>
        </p:nvSpPr>
        <p:spPr>
          <a:xfrm>
            <a:off x="2209800" y="0"/>
            <a:ext cx="7772400" cy="732790"/>
          </a:xfrm>
          <a:prstGeom prst="rect">
            <a:avLst/>
          </a:prstGeom>
          <a:noFill/>
          <a:ln>
            <a:noFill/>
          </a:ln>
        </p:spPr>
        <p:txBody>
          <a:bodyPr spcFirstLastPara="1" vert="horz" wrap="square" lIns="91425" tIns="45700" rIns="91425" bIns="45700" rtlCol="0" anchor="ctr" anchorCtr="0">
            <a:noAutofit/>
          </a:bodyPr>
          <a:lstStyle/>
          <a:p>
            <a:pPr algn="ctr">
              <a:lnSpc>
                <a:spcPct val="100000"/>
              </a:lnSpc>
              <a:spcBef>
                <a:spcPts val="0"/>
              </a:spcBef>
              <a:buClr>
                <a:schemeClr val="dk2"/>
              </a:buClr>
              <a:buSzPts val="2800"/>
            </a:pPr>
            <a:r>
              <a:rPr lang="en-US" sz="2800" b="1"/>
              <a:t>Aggregate Operation – Example</a:t>
            </a:r>
            <a:endParaRPr sz="2800" b="1"/>
          </a:p>
        </p:txBody>
      </p:sp>
      <p:sp>
        <p:nvSpPr>
          <p:cNvPr id="728" name="Google Shape;728;p63"/>
          <p:cNvSpPr txBox="1">
            <a:spLocks noGrp="1"/>
          </p:cNvSpPr>
          <p:nvPr>
            <p:ph type="body" idx="1"/>
          </p:nvPr>
        </p:nvSpPr>
        <p:spPr>
          <a:xfrm>
            <a:off x="2614614" y="1143001"/>
            <a:ext cx="6961187" cy="346075"/>
          </a:xfrm>
          <a:prstGeom prst="rect">
            <a:avLst/>
          </a:prstGeom>
          <a:noFill/>
          <a:ln>
            <a:noFill/>
          </a:ln>
        </p:spPr>
        <p:txBody>
          <a:bodyPr spcFirstLastPara="1" vert="horz" wrap="square" lIns="91425" tIns="45700" rIns="91425" bIns="45700" rtlCol="0" anchor="t" anchorCtr="0">
            <a:noAutofit/>
          </a:bodyPr>
          <a:lstStyle/>
          <a:p>
            <a:pPr marL="342900" indent="-342900">
              <a:spcBef>
                <a:spcPts val="0"/>
              </a:spcBef>
              <a:buClr>
                <a:schemeClr val="dk1"/>
              </a:buClr>
              <a:buSzPts val="2800"/>
              <a:buFont typeface="Arial"/>
              <a:buChar char="•"/>
            </a:pPr>
            <a:r>
              <a:rPr lang="en-US"/>
              <a:t>Relation </a:t>
            </a:r>
            <a:r>
              <a:rPr lang="en-US" i="1"/>
              <a:t>account</a:t>
            </a:r>
            <a:r>
              <a:rPr lang="en-US"/>
              <a:t> grouped by </a:t>
            </a:r>
            <a:r>
              <a:rPr lang="en-US" i="1"/>
              <a:t>branch-name</a:t>
            </a:r>
            <a:r>
              <a:rPr lang="en-US"/>
              <a:t>:</a:t>
            </a:r>
            <a:endParaRPr/>
          </a:p>
        </p:txBody>
      </p:sp>
      <p:sp>
        <p:nvSpPr>
          <p:cNvPr id="729" name="Google Shape;729;p63"/>
          <p:cNvSpPr/>
          <p:nvPr/>
        </p:nvSpPr>
        <p:spPr>
          <a:xfrm>
            <a:off x="2590800" y="4419601"/>
            <a:ext cx="7029450" cy="409575"/>
          </a:xfrm>
          <a:prstGeom prst="rect">
            <a:avLst/>
          </a:prstGeom>
          <a:noFill/>
          <a:ln>
            <a:noFill/>
          </a:ln>
        </p:spPr>
        <p:txBody>
          <a:bodyPr spcFirstLastPara="1" wrap="square" lIns="91425" tIns="45700" rIns="91425" bIns="45700" anchor="t" anchorCtr="0">
            <a:noAutofit/>
          </a:bodyPr>
          <a:lstStyle/>
          <a:p>
            <a:r>
              <a:rPr lang="en-US" sz="2800" i="1" baseline="-25000">
                <a:solidFill>
                  <a:schemeClr val="dk1"/>
                </a:solidFill>
                <a:latin typeface="Times New Roman"/>
                <a:ea typeface="Times New Roman"/>
                <a:cs typeface="Times New Roman"/>
                <a:sym typeface="Times New Roman"/>
              </a:rPr>
              <a:t>branch-name</a:t>
            </a:r>
            <a:r>
              <a:rPr lang="en-US" sz="2400">
                <a:solidFill>
                  <a:schemeClr val="dk1"/>
                </a:solidFill>
                <a:latin typeface="Times New Roman"/>
                <a:ea typeface="Times New Roman"/>
                <a:cs typeface="Times New Roman"/>
                <a:sym typeface="Times New Roman"/>
              </a:rPr>
              <a:t> </a:t>
            </a:r>
            <a:r>
              <a:rPr lang="en-US" sz="2400" i="1">
                <a:solidFill>
                  <a:schemeClr val="dk1"/>
                </a:solidFill>
                <a:latin typeface="Lucida Sans"/>
                <a:ea typeface="Lucida Sans"/>
                <a:cs typeface="Lucida Sans"/>
                <a:sym typeface="Lucida Sans"/>
              </a:rPr>
              <a:t>g </a:t>
            </a:r>
            <a:r>
              <a:rPr lang="en-US" sz="2800" i="1" baseline="-25000">
                <a:solidFill>
                  <a:schemeClr val="dk1"/>
                </a:solidFill>
                <a:latin typeface="Times New Roman"/>
                <a:ea typeface="Times New Roman"/>
                <a:cs typeface="Times New Roman"/>
                <a:sym typeface="Times New Roman"/>
              </a:rPr>
              <a:t>sum(balance)</a:t>
            </a:r>
            <a:r>
              <a:rPr lang="en-US" sz="2400">
                <a:solidFill>
                  <a:schemeClr val="dk1"/>
                </a:solidFill>
                <a:latin typeface="Times New Roman"/>
                <a:ea typeface="Times New Roman"/>
                <a:cs typeface="Times New Roman"/>
                <a:sym typeface="Times New Roman"/>
              </a:rPr>
              <a:t> (</a:t>
            </a:r>
            <a:r>
              <a:rPr lang="en-US" sz="2400" i="1">
                <a:solidFill>
                  <a:schemeClr val="dk1"/>
                </a:solidFill>
                <a:latin typeface="Times New Roman"/>
                <a:ea typeface="Times New Roman"/>
                <a:cs typeface="Times New Roman"/>
                <a:sym typeface="Times New Roman"/>
              </a:rPr>
              <a:t>account</a:t>
            </a:r>
            <a:r>
              <a:rPr lang="en-US" sz="2400">
                <a:solidFill>
                  <a:schemeClr val="dk1"/>
                </a:solidFill>
                <a:latin typeface="Times New Roman"/>
                <a:ea typeface="Times New Roman"/>
                <a:cs typeface="Times New Roman"/>
                <a:sym typeface="Times New Roman"/>
              </a:rPr>
              <a:t>)</a:t>
            </a:r>
            <a:endParaRPr sz="2400">
              <a:solidFill>
                <a:schemeClr val="dk1"/>
              </a:solidFill>
              <a:latin typeface="Times New Roman"/>
              <a:ea typeface="Times New Roman"/>
              <a:cs typeface="Times New Roman"/>
              <a:sym typeface="Times New Roman"/>
            </a:endParaRPr>
          </a:p>
        </p:txBody>
      </p:sp>
      <p:sp>
        <p:nvSpPr>
          <p:cNvPr id="730" name="Google Shape;730;p63"/>
          <p:cNvSpPr/>
          <p:nvPr/>
        </p:nvSpPr>
        <p:spPr>
          <a:xfrm>
            <a:off x="3829050" y="2362200"/>
            <a:ext cx="1600200" cy="3048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branch-name</a:t>
            </a:r>
            <a:endParaRPr i="1">
              <a:solidFill>
                <a:schemeClr val="dk1"/>
              </a:solidFill>
              <a:latin typeface="Helvetica Neue"/>
              <a:ea typeface="Helvetica Neue"/>
              <a:cs typeface="Helvetica Neue"/>
              <a:sym typeface="Helvetica Neue"/>
            </a:endParaRPr>
          </a:p>
        </p:txBody>
      </p:sp>
      <p:sp>
        <p:nvSpPr>
          <p:cNvPr id="731" name="Google Shape;731;p63"/>
          <p:cNvSpPr/>
          <p:nvPr/>
        </p:nvSpPr>
        <p:spPr>
          <a:xfrm>
            <a:off x="5427663" y="2362200"/>
            <a:ext cx="1828800" cy="3048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account-number</a:t>
            </a:r>
            <a:endParaRPr>
              <a:solidFill>
                <a:schemeClr val="dk1"/>
              </a:solidFill>
              <a:latin typeface="Helvetica Neue"/>
              <a:ea typeface="Helvetica Neue"/>
              <a:cs typeface="Helvetica Neue"/>
              <a:sym typeface="Helvetica Neue"/>
            </a:endParaRPr>
          </a:p>
        </p:txBody>
      </p:sp>
      <p:sp>
        <p:nvSpPr>
          <p:cNvPr id="732" name="Google Shape;732;p63"/>
          <p:cNvSpPr/>
          <p:nvPr/>
        </p:nvSpPr>
        <p:spPr>
          <a:xfrm>
            <a:off x="7256463" y="2362200"/>
            <a:ext cx="1676400" cy="3048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balance</a:t>
            </a:r>
            <a:endParaRPr i="1">
              <a:solidFill>
                <a:schemeClr val="dk1"/>
              </a:solidFill>
              <a:latin typeface="Helvetica Neue"/>
              <a:ea typeface="Helvetica Neue"/>
              <a:cs typeface="Helvetica Neue"/>
              <a:sym typeface="Helvetica Neue"/>
            </a:endParaRPr>
          </a:p>
        </p:txBody>
      </p:sp>
      <p:sp>
        <p:nvSpPr>
          <p:cNvPr id="733" name="Google Shape;733;p63"/>
          <p:cNvSpPr/>
          <p:nvPr/>
        </p:nvSpPr>
        <p:spPr>
          <a:xfrm>
            <a:off x="3856038" y="2743200"/>
            <a:ext cx="1600200" cy="14478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r>
              <a:rPr lang="en-US">
                <a:solidFill>
                  <a:schemeClr val="dk1"/>
                </a:solidFill>
                <a:latin typeface="Helvetica Neue"/>
                <a:ea typeface="Helvetica Neue"/>
                <a:cs typeface="Helvetica Neue"/>
                <a:sym typeface="Helvetica Neue"/>
              </a:rPr>
              <a:t>Perryridge</a:t>
            </a:r>
            <a:endParaRPr>
              <a:solidFill>
                <a:schemeClr val="dk1"/>
              </a:solidFill>
              <a:latin typeface="Helvetica Neue"/>
              <a:ea typeface="Helvetica Neue"/>
              <a:cs typeface="Helvetica Neue"/>
              <a:sym typeface="Helvetica Neue"/>
            </a:endParaRPr>
          </a:p>
          <a:p>
            <a:r>
              <a:rPr lang="en-US">
                <a:solidFill>
                  <a:schemeClr val="dk1"/>
                </a:solidFill>
                <a:latin typeface="Helvetica Neue"/>
                <a:ea typeface="Helvetica Neue"/>
                <a:cs typeface="Helvetica Neue"/>
                <a:sym typeface="Helvetica Neue"/>
              </a:rPr>
              <a:t>Perryridge</a:t>
            </a:r>
            <a:endParaRPr>
              <a:solidFill>
                <a:schemeClr val="dk1"/>
              </a:solidFill>
              <a:latin typeface="Helvetica Neue"/>
              <a:ea typeface="Helvetica Neue"/>
              <a:cs typeface="Helvetica Neue"/>
              <a:sym typeface="Helvetica Neue"/>
            </a:endParaRPr>
          </a:p>
          <a:p>
            <a:r>
              <a:rPr lang="en-US">
                <a:solidFill>
                  <a:schemeClr val="dk1"/>
                </a:solidFill>
                <a:latin typeface="Helvetica Neue"/>
                <a:ea typeface="Helvetica Neue"/>
                <a:cs typeface="Helvetica Neue"/>
                <a:sym typeface="Helvetica Neue"/>
              </a:rPr>
              <a:t>Brighton</a:t>
            </a:r>
            <a:endParaRPr>
              <a:solidFill>
                <a:schemeClr val="dk1"/>
              </a:solidFill>
              <a:latin typeface="Helvetica Neue"/>
              <a:ea typeface="Helvetica Neue"/>
              <a:cs typeface="Helvetica Neue"/>
              <a:sym typeface="Helvetica Neue"/>
            </a:endParaRPr>
          </a:p>
          <a:p>
            <a:r>
              <a:rPr lang="en-US">
                <a:solidFill>
                  <a:schemeClr val="dk1"/>
                </a:solidFill>
                <a:latin typeface="Helvetica Neue"/>
                <a:ea typeface="Helvetica Neue"/>
                <a:cs typeface="Helvetica Neue"/>
                <a:sym typeface="Helvetica Neue"/>
              </a:rPr>
              <a:t>Brighton</a:t>
            </a:r>
            <a:endParaRPr>
              <a:solidFill>
                <a:schemeClr val="dk1"/>
              </a:solidFill>
              <a:latin typeface="Helvetica Neue"/>
              <a:ea typeface="Helvetica Neue"/>
              <a:cs typeface="Helvetica Neue"/>
              <a:sym typeface="Helvetica Neue"/>
            </a:endParaRPr>
          </a:p>
          <a:p>
            <a:r>
              <a:rPr lang="en-US">
                <a:solidFill>
                  <a:schemeClr val="dk1"/>
                </a:solidFill>
                <a:latin typeface="Helvetica Neue"/>
                <a:ea typeface="Helvetica Neue"/>
                <a:cs typeface="Helvetica Neue"/>
                <a:sym typeface="Helvetica Neue"/>
              </a:rPr>
              <a:t>Redwood</a:t>
            </a:r>
            <a:endParaRPr>
              <a:solidFill>
                <a:schemeClr val="dk1"/>
              </a:solidFill>
              <a:latin typeface="Helvetica Neue"/>
              <a:ea typeface="Helvetica Neue"/>
              <a:cs typeface="Helvetica Neue"/>
              <a:sym typeface="Helvetica Neue"/>
            </a:endParaRPr>
          </a:p>
        </p:txBody>
      </p:sp>
      <p:sp>
        <p:nvSpPr>
          <p:cNvPr id="734" name="Google Shape;734;p63"/>
          <p:cNvSpPr/>
          <p:nvPr/>
        </p:nvSpPr>
        <p:spPr>
          <a:xfrm>
            <a:off x="5427663" y="2743200"/>
            <a:ext cx="1828800" cy="14478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a:solidFill>
                  <a:schemeClr val="dk1"/>
                </a:solidFill>
                <a:latin typeface="Helvetica Neue"/>
                <a:ea typeface="Helvetica Neue"/>
                <a:cs typeface="Helvetica Neue"/>
                <a:sym typeface="Helvetica Neue"/>
              </a:rPr>
              <a:t>A-102</a:t>
            </a:r>
            <a:endParaRPr>
              <a:solidFill>
                <a:schemeClr val="dk1"/>
              </a:solidFill>
              <a:latin typeface="Helvetica Neue"/>
              <a:ea typeface="Helvetica Neue"/>
              <a:cs typeface="Helvetica Neue"/>
              <a:sym typeface="Helvetica Neue"/>
            </a:endParaRPr>
          </a:p>
          <a:p>
            <a:pPr algn="ctr"/>
            <a:r>
              <a:rPr lang="en-US">
                <a:solidFill>
                  <a:schemeClr val="dk1"/>
                </a:solidFill>
                <a:latin typeface="Helvetica Neue"/>
                <a:ea typeface="Helvetica Neue"/>
                <a:cs typeface="Helvetica Neue"/>
                <a:sym typeface="Helvetica Neue"/>
              </a:rPr>
              <a:t>A-201</a:t>
            </a:r>
            <a:endParaRPr>
              <a:solidFill>
                <a:schemeClr val="dk1"/>
              </a:solidFill>
              <a:latin typeface="Helvetica Neue"/>
              <a:ea typeface="Helvetica Neue"/>
              <a:cs typeface="Helvetica Neue"/>
              <a:sym typeface="Helvetica Neue"/>
            </a:endParaRPr>
          </a:p>
          <a:p>
            <a:pPr algn="ctr"/>
            <a:r>
              <a:rPr lang="en-US">
                <a:solidFill>
                  <a:schemeClr val="dk1"/>
                </a:solidFill>
                <a:latin typeface="Helvetica Neue"/>
                <a:ea typeface="Helvetica Neue"/>
                <a:cs typeface="Helvetica Neue"/>
                <a:sym typeface="Helvetica Neue"/>
              </a:rPr>
              <a:t>A-217</a:t>
            </a:r>
            <a:endParaRPr>
              <a:solidFill>
                <a:schemeClr val="dk1"/>
              </a:solidFill>
              <a:latin typeface="Helvetica Neue"/>
              <a:ea typeface="Helvetica Neue"/>
              <a:cs typeface="Helvetica Neue"/>
              <a:sym typeface="Helvetica Neue"/>
            </a:endParaRPr>
          </a:p>
          <a:p>
            <a:pPr algn="ctr"/>
            <a:r>
              <a:rPr lang="en-US">
                <a:solidFill>
                  <a:schemeClr val="dk1"/>
                </a:solidFill>
                <a:latin typeface="Helvetica Neue"/>
                <a:ea typeface="Helvetica Neue"/>
                <a:cs typeface="Helvetica Neue"/>
                <a:sym typeface="Helvetica Neue"/>
              </a:rPr>
              <a:t>A-215</a:t>
            </a:r>
            <a:endParaRPr>
              <a:solidFill>
                <a:schemeClr val="dk1"/>
              </a:solidFill>
              <a:latin typeface="Helvetica Neue"/>
              <a:ea typeface="Helvetica Neue"/>
              <a:cs typeface="Helvetica Neue"/>
              <a:sym typeface="Helvetica Neue"/>
            </a:endParaRPr>
          </a:p>
          <a:p>
            <a:pPr algn="ctr"/>
            <a:r>
              <a:rPr lang="en-US">
                <a:solidFill>
                  <a:schemeClr val="dk1"/>
                </a:solidFill>
                <a:latin typeface="Helvetica Neue"/>
                <a:ea typeface="Helvetica Neue"/>
                <a:cs typeface="Helvetica Neue"/>
                <a:sym typeface="Helvetica Neue"/>
              </a:rPr>
              <a:t>A-222</a:t>
            </a:r>
            <a:endParaRPr>
              <a:solidFill>
                <a:schemeClr val="dk1"/>
              </a:solidFill>
              <a:latin typeface="Helvetica Neue"/>
              <a:ea typeface="Helvetica Neue"/>
              <a:cs typeface="Helvetica Neue"/>
              <a:sym typeface="Helvetica Neue"/>
            </a:endParaRPr>
          </a:p>
        </p:txBody>
      </p:sp>
      <p:sp>
        <p:nvSpPr>
          <p:cNvPr id="735" name="Google Shape;735;p63"/>
          <p:cNvSpPr/>
          <p:nvPr/>
        </p:nvSpPr>
        <p:spPr>
          <a:xfrm>
            <a:off x="7256463" y="2743200"/>
            <a:ext cx="1676400" cy="14478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a:solidFill>
                  <a:schemeClr val="dk1"/>
                </a:solidFill>
                <a:latin typeface="Helvetica Neue"/>
                <a:ea typeface="Helvetica Neue"/>
                <a:cs typeface="Helvetica Neue"/>
                <a:sym typeface="Helvetica Neue"/>
              </a:rPr>
              <a:t>400</a:t>
            </a:r>
            <a:endParaRPr>
              <a:solidFill>
                <a:schemeClr val="dk1"/>
              </a:solidFill>
              <a:latin typeface="Helvetica Neue"/>
              <a:ea typeface="Helvetica Neue"/>
              <a:cs typeface="Helvetica Neue"/>
              <a:sym typeface="Helvetica Neue"/>
            </a:endParaRPr>
          </a:p>
          <a:p>
            <a:pPr algn="ctr"/>
            <a:r>
              <a:rPr lang="en-US">
                <a:solidFill>
                  <a:schemeClr val="dk1"/>
                </a:solidFill>
                <a:latin typeface="Helvetica Neue"/>
                <a:ea typeface="Helvetica Neue"/>
                <a:cs typeface="Helvetica Neue"/>
                <a:sym typeface="Helvetica Neue"/>
              </a:rPr>
              <a:t>900</a:t>
            </a:r>
            <a:endParaRPr>
              <a:solidFill>
                <a:schemeClr val="dk1"/>
              </a:solidFill>
              <a:latin typeface="Helvetica Neue"/>
              <a:ea typeface="Helvetica Neue"/>
              <a:cs typeface="Helvetica Neue"/>
              <a:sym typeface="Helvetica Neue"/>
            </a:endParaRPr>
          </a:p>
          <a:p>
            <a:pPr algn="ctr"/>
            <a:r>
              <a:rPr lang="en-US">
                <a:solidFill>
                  <a:schemeClr val="dk1"/>
                </a:solidFill>
                <a:latin typeface="Helvetica Neue"/>
                <a:ea typeface="Helvetica Neue"/>
                <a:cs typeface="Helvetica Neue"/>
                <a:sym typeface="Helvetica Neue"/>
              </a:rPr>
              <a:t>750</a:t>
            </a:r>
            <a:endParaRPr>
              <a:solidFill>
                <a:schemeClr val="dk1"/>
              </a:solidFill>
              <a:latin typeface="Helvetica Neue"/>
              <a:ea typeface="Helvetica Neue"/>
              <a:cs typeface="Helvetica Neue"/>
              <a:sym typeface="Helvetica Neue"/>
            </a:endParaRPr>
          </a:p>
          <a:p>
            <a:pPr algn="ctr"/>
            <a:r>
              <a:rPr lang="en-US">
                <a:solidFill>
                  <a:schemeClr val="dk1"/>
                </a:solidFill>
                <a:latin typeface="Helvetica Neue"/>
                <a:ea typeface="Helvetica Neue"/>
                <a:cs typeface="Helvetica Neue"/>
                <a:sym typeface="Helvetica Neue"/>
              </a:rPr>
              <a:t>750</a:t>
            </a:r>
            <a:endParaRPr>
              <a:solidFill>
                <a:schemeClr val="dk1"/>
              </a:solidFill>
              <a:latin typeface="Helvetica Neue"/>
              <a:ea typeface="Helvetica Neue"/>
              <a:cs typeface="Helvetica Neue"/>
              <a:sym typeface="Helvetica Neue"/>
            </a:endParaRPr>
          </a:p>
          <a:p>
            <a:pPr algn="ctr"/>
            <a:r>
              <a:rPr lang="en-US">
                <a:solidFill>
                  <a:schemeClr val="dk1"/>
                </a:solidFill>
                <a:latin typeface="Helvetica Neue"/>
                <a:ea typeface="Helvetica Neue"/>
                <a:cs typeface="Helvetica Neue"/>
                <a:sym typeface="Helvetica Neue"/>
              </a:rPr>
              <a:t>700</a:t>
            </a:r>
            <a:endParaRPr i="1">
              <a:solidFill>
                <a:schemeClr val="dk1"/>
              </a:solidFill>
              <a:latin typeface="Helvetica Neue"/>
              <a:ea typeface="Helvetica Neue"/>
              <a:cs typeface="Helvetica Neue"/>
              <a:sym typeface="Helvetica Neue"/>
            </a:endParaRPr>
          </a:p>
        </p:txBody>
      </p:sp>
      <p:sp>
        <p:nvSpPr>
          <p:cNvPr id="736" name="Google Shape;736;p63"/>
          <p:cNvSpPr/>
          <p:nvPr/>
        </p:nvSpPr>
        <p:spPr>
          <a:xfrm>
            <a:off x="5105400" y="5105400"/>
            <a:ext cx="1600200" cy="3048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branch-name</a:t>
            </a:r>
            <a:endParaRPr i="1">
              <a:solidFill>
                <a:schemeClr val="dk1"/>
              </a:solidFill>
              <a:latin typeface="Helvetica Neue"/>
              <a:ea typeface="Helvetica Neue"/>
              <a:cs typeface="Helvetica Neue"/>
              <a:sym typeface="Helvetica Neue"/>
            </a:endParaRPr>
          </a:p>
        </p:txBody>
      </p:sp>
      <p:sp>
        <p:nvSpPr>
          <p:cNvPr id="737" name="Google Shape;737;p63"/>
          <p:cNvSpPr/>
          <p:nvPr/>
        </p:nvSpPr>
        <p:spPr>
          <a:xfrm>
            <a:off x="6705600" y="5105400"/>
            <a:ext cx="1676400" cy="3048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balance</a:t>
            </a:r>
            <a:endParaRPr i="1">
              <a:solidFill>
                <a:schemeClr val="dk1"/>
              </a:solidFill>
              <a:latin typeface="Helvetica Neue"/>
              <a:ea typeface="Helvetica Neue"/>
              <a:cs typeface="Helvetica Neue"/>
              <a:sym typeface="Helvetica Neue"/>
            </a:endParaRPr>
          </a:p>
        </p:txBody>
      </p:sp>
      <p:sp>
        <p:nvSpPr>
          <p:cNvPr id="738" name="Google Shape;738;p63"/>
          <p:cNvSpPr/>
          <p:nvPr/>
        </p:nvSpPr>
        <p:spPr>
          <a:xfrm>
            <a:off x="5105400" y="5486400"/>
            <a:ext cx="1600200" cy="8382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r>
              <a:rPr lang="en-US">
                <a:solidFill>
                  <a:schemeClr val="dk1"/>
                </a:solidFill>
                <a:latin typeface="Helvetica Neue"/>
                <a:ea typeface="Helvetica Neue"/>
                <a:cs typeface="Helvetica Neue"/>
                <a:sym typeface="Helvetica Neue"/>
              </a:rPr>
              <a:t>Perryridge</a:t>
            </a:r>
            <a:endParaRPr>
              <a:solidFill>
                <a:schemeClr val="dk1"/>
              </a:solidFill>
              <a:latin typeface="Helvetica Neue"/>
              <a:ea typeface="Helvetica Neue"/>
              <a:cs typeface="Helvetica Neue"/>
              <a:sym typeface="Helvetica Neue"/>
            </a:endParaRPr>
          </a:p>
          <a:p>
            <a:r>
              <a:rPr lang="en-US">
                <a:solidFill>
                  <a:schemeClr val="dk1"/>
                </a:solidFill>
                <a:latin typeface="Helvetica Neue"/>
                <a:ea typeface="Helvetica Neue"/>
                <a:cs typeface="Helvetica Neue"/>
                <a:sym typeface="Helvetica Neue"/>
              </a:rPr>
              <a:t>Brighton</a:t>
            </a:r>
            <a:endParaRPr>
              <a:solidFill>
                <a:schemeClr val="dk1"/>
              </a:solidFill>
              <a:latin typeface="Helvetica Neue"/>
              <a:ea typeface="Helvetica Neue"/>
              <a:cs typeface="Helvetica Neue"/>
              <a:sym typeface="Helvetica Neue"/>
            </a:endParaRPr>
          </a:p>
          <a:p>
            <a:r>
              <a:rPr lang="en-US">
                <a:solidFill>
                  <a:schemeClr val="dk1"/>
                </a:solidFill>
                <a:latin typeface="Helvetica Neue"/>
                <a:ea typeface="Helvetica Neue"/>
                <a:cs typeface="Helvetica Neue"/>
                <a:sym typeface="Helvetica Neue"/>
              </a:rPr>
              <a:t>Redwood</a:t>
            </a:r>
            <a:endParaRPr>
              <a:solidFill>
                <a:schemeClr val="dk1"/>
              </a:solidFill>
              <a:latin typeface="Helvetica Neue"/>
              <a:ea typeface="Helvetica Neue"/>
              <a:cs typeface="Helvetica Neue"/>
              <a:sym typeface="Helvetica Neue"/>
            </a:endParaRPr>
          </a:p>
        </p:txBody>
      </p:sp>
      <p:sp>
        <p:nvSpPr>
          <p:cNvPr id="739" name="Google Shape;739;p63"/>
          <p:cNvSpPr/>
          <p:nvPr/>
        </p:nvSpPr>
        <p:spPr>
          <a:xfrm>
            <a:off x="6705600" y="5486400"/>
            <a:ext cx="1676400" cy="8382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a:solidFill>
                  <a:schemeClr val="dk1"/>
                </a:solidFill>
                <a:latin typeface="Helvetica Neue"/>
                <a:ea typeface="Helvetica Neue"/>
                <a:cs typeface="Helvetica Neue"/>
                <a:sym typeface="Helvetica Neue"/>
              </a:rPr>
              <a:t>1300</a:t>
            </a:r>
            <a:endParaRPr>
              <a:solidFill>
                <a:schemeClr val="dk1"/>
              </a:solidFill>
              <a:latin typeface="Helvetica Neue"/>
              <a:ea typeface="Helvetica Neue"/>
              <a:cs typeface="Helvetica Neue"/>
              <a:sym typeface="Helvetica Neue"/>
            </a:endParaRPr>
          </a:p>
          <a:p>
            <a:pPr algn="ctr"/>
            <a:r>
              <a:rPr lang="en-US">
                <a:solidFill>
                  <a:schemeClr val="dk1"/>
                </a:solidFill>
                <a:latin typeface="Helvetica Neue"/>
                <a:ea typeface="Helvetica Neue"/>
                <a:cs typeface="Helvetica Neue"/>
                <a:sym typeface="Helvetica Neue"/>
              </a:rPr>
              <a:t>1500</a:t>
            </a:r>
            <a:endParaRPr>
              <a:solidFill>
                <a:schemeClr val="dk1"/>
              </a:solidFill>
              <a:latin typeface="Helvetica Neue"/>
              <a:ea typeface="Helvetica Neue"/>
              <a:cs typeface="Helvetica Neue"/>
              <a:sym typeface="Helvetica Neue"/>
            </a:endParaRPr>
          </a:p>
          <a:p>
            <a:pPr algn="ctr"/>
            <a:r>
              <a:rPr lang="en-US">
                <a:solidFill>
                  <a:schemeClr val="dk1"/>
                </a:solidFill>
                <a:latin typeface="Helvetica Neue"/>
                <a:ea typeface="Helvetica Neue"/>
                <a:cs typeface="Helvetica Neue"/>
                <a:sym typeface="Helvetica Neue"/>
              </a:rPr>
              <a:t>700</a:t>
            </a:r>
            <a:endParaRPr i="1">
              <a:solidFill>
                <a:schemeClr val="dk1"/>
              </a:solidFill>
              <a:latin typeface="Helvetica Neue"/>
              <a:ea typeface="Helvetica Neue"/>
              <a:cs typeface="Helvetica Neue"/>
              <a:sym typeface="Helvetica Neue"/>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743"/>
        <p:cNvGrpSpPr/>
        <p:nvPr/>
      </p:nvGrpSpPr>
      <p:grpSpPr>
        <a:xfrm>
          <a:off x="0" y="0"/>
          <a:ext cx="0" cy="0"/>
          <a:chOff x="0" y="0"/>
          <a:chExt cx="0" cy="0"/>
        </a:xfrm>
      </p:grpSpPr>
      <p:sp>
        <p:nvSpPr>
          <p:cNvPr id="744" name="Google Shape;744;p64"/>
          <p:cNvSpPr txBox="1">
            <a:spLocks noGrp="1"/>
          </p:cNvSpPr>
          <p:nvPr>
            <p:ph type="title"/>
          </p:nvPr>
        </p:nvSpPr>
        <p:spPr>
          <a:xfrm>
            <a:off x="2209800" y="143510"/>
            <a:ext cx="7772400" cy="999490"/>
          </a:xfrm>
          <a:prstGeom prst="rect">
            <a:avLst/>
          </a:prstGeom>
          <a:noFill/>
          <a:ln>
            <a:noFill/>
          </a:ln>
        </p:spPr>
        <p:txBody>
          <a:bodyPr spcFirstLastPara="1" vert="horz" wrap="square" lIns="91425" tIns="45700" rIns="91425" bIns="45700" rtlCol="0" anchor="ctr" anchorCtr="0">
            <a:noAutofit/>
          </a:bodyPr>
          <a:lstStyle/>
          <a:p>
            <a:pPr algn="ctr">
              <a:lnSpc>
                <a:spcPct val="100000"/>
              </a:lnSpc>
              <a:spcBef>
                <a:spcPts val="0"/>
              </a:spcBef>
              <a:buClr>
                <a:schemeClr val="dk2"/>
              </a:buClr>
              <a:buSzPts val="2800"/>
            </a:pPr>
            <a:r>
              <a:rPr lang="en-US" sz="2800" b="1"/>
              <a:t>Aggregate Functions..</a:t>
            </a:r>
            <a:r>
              <a:rPr lang="en-US" b="1"/>
              <a:t> </a:t>
            </a:r>
            <a:endParaRPr b="1"/>
          </a:p>
        </p:txBody>
      </p:sp>
      <p:sp>
        <p:nvSpPr>
          <p:cNvPr id="745" name="Google Shape;745;p64"/>
          <p:cNvSpPr txBox="1">
            <a:spLocks noGrp="1"/>
          </p:cNvSpPr>
          <p:nvPr>
            <p:ph type="body" idx="1"/>
          </p:nvPr>
        </p:nvSpPr>
        <p:spPr>
          <a:xfrm>
            <a:off x="2209800" y="1143000"/>
            <a:ext cx="7772400" cy="4114800"/>
          </a:xfrm>
          <a:prstGeom prst="rect">
            <a:avLst/>
          </a:prstGeom>
          <a:noFill/>
          <a:ln>
            <a:noFill/>
          </a:ln>
        </p:spPr>
        <p:txBody>
          <a:bodyPr spcFirstLastPara="1" vert="horz" wrap="square" lIns="91425" tIns="45700" rIns="91425" bIns="45700" rtlCol="0" anchor="t" anchorCtr="0">
            <a:noAutofit/>
          </a:bodyPr>
          <a:lstStyle/>
          <a:p>
            <a:pPr marL="342900" indent="-342900">
              <a:lnSpc>
                <a:spcPct val="100000"/>
              </a:lnSpc>
              <a:spcBef>
                <a:spcPts val="0"/>
              </a:spcBef>
              <a:buClr>
                <a:schemeClr val="dk1"/>
              </a:buClr>
              <a:buSzPts val="2400"/>
              <a:buFont typeface="Arial"/>
              <a:buChar char="•"/>
            </a:pPr>
            <a:r>
              <a:rPr lang="en-US" sz="2400"/>
              <a:t>Result of aggregation does not have a name</a:t>
            </a:r>
            <a:endParaRPr sz="2400"/>
          </a:p>
          <a:p>
            <a:pPr marL="742950" lvl="1" indent="-285750">
              <a:lnSpc>
                <a:spcPct val="100000"/>
              </a:lnSpc>
              <a:spcBef>
                <a:spcPts val="480"/>
              </a:spcBef>
              <a:buClr>
                <a:schemeClr val="dk1"/>
              </a:buClr>
              <a:buSzPts val="2400"/>
              <a:buFont typeface="Arial"/>
              <a:buChar char="–"/>
            </a:pPr>
            <a:r>
              <a:rPr lang="en-US"/>
              <a:t>Can use rename operation to give it a name</a:t>
            </a:r>
            <a:endParaRPr/>
          </a:p>
          <a:p>
            <a:pPr marL="742950" lvl="1" indent="-285750">
              <a:lnSpc>
                <a:spcPct val="100000"/>
              </a:lnSpc>
              <a:spcBef>
                <a:spcPts val="560"/>
              </a:spcBef>
              <a:buClr>
                <a:schemeClr val="dk1"/>
              </a:buClr>
              <a:buSzPts val="2400"/>
              <a:buFont typeface="Arial"/>
              <a:buChar char="–"/>
            </a:pPr>
            <a:r>
              <a:rPr lang="en-US"/>
              <a:t>For convenience, we permit renaming as part of aggregate operation</a:t>
            </a:r>
            <a:br>
              <a:rPr lang="en-US"/>
            </a:br>
            <a:endParaRPr/>
          </a:p>
          <a:p>
            <a:pPr marL="742950" lvl="1" indent="-107950">
              <a:lnSpc>
                <a:spcPct val="100000"/>
              </a:lnSpc>
              <a:spcBef>
                <a:spcPts val="560"/>
              </a:spcBef>
              <a:buClr>
                <a:schemeClr val="dk1"/>
              </a:buClr>
              <a:buSzPts val="2800"/>
              <a:buNone/>
            </a:pPr>
            <a:endParaRPr/>
          </a:p>
        </p:txBody>
      </p:sp>
      <p:sp>
        <p:nvSpPr>
          <p:cNvPr id="746" name="Google Shape;746;p64"/>
          <p:cNvSpPr/>
          <p:nvPr/>
        </p:nvSpPr>
        <p:spPr>
          <a:xfrm>
            <a:off x="2898775" y="3224214"/>
            <a:ext cx="6394450" cy="409575"/>
          </a:xfrm>
          <a:prstGeom prst="rect">
            <a:avLst/>
          </a:prstGeom>
          <a:noFill/>
          <a:ln>
            <a:noFill/>
          </a:ln>
        </p:spPr>
        <p:txBody>
          <a:bodyPr spcFirstLastPara="1" wrap="square" lIns="91425" tIns="45700" rIns="91425" bIns="45700" anchor="t" anchorCtr="0">
            <a:noAutofit/>
          </a:bodyPr>
          <a:lstStyle/>
          <a:p>
            <a:r>
              <a:rPr lang="en-US" sz="2800" i="1" baseline="-25000">
                <a:solidFill>
                  <a:schemeClr val="dk1"/>
                </a:solidFill>
                <a:latin typeface="Times New Roman"/>
                <a:ea typeface="Times New Roman"/>
                <a:cs typeface="Times New Roman"/>
                <a:sym typeface="Times New Roman"/>
              </a:rPr>
              <a:t>branch-name</a:t>
            </a:r>
            <a:r>
              <a:rPr lang="en-US" sz="2800">
                <a:solidFill>
                  <a:schemeClr val="dk1"/>
                </a:solidFill>
                <a:latin typeface="Times New Roman"/>
                <a:ea typeface="Times New Roman"/>
                <a:cs typeface="Times New Roman"/>
                <a:sym typeface="Times New Roman"/>
              </a:rPr>
              <a:t> </a:t>
            </a:r>
            <a:r>
              <a:rPr lang="en-US" sz="2800" i="1">
                <a:solidFill>
                  <a:schemeClr val="dk1"/>
                </a:solidFill>
                <a:latin typeface="Lucida Sans"/>
                <a:ea typeface="Lucida Sans"/>
                <a:cs typeface="Lucida Sans"/>
                <a:sym typeface="Lucida Sans"/>
              </a:rPr>
              <a:t>g </a:t>
            </a:r>
            <a:r>
              <a:rPr lang="en-US" sz="2800" b="1" i="1" baseline="-25000">
                <a:solidFill>
                  <a:schemeClr val="dk1"/>
                </a:solidFill>
                <a:latin typeface="Times New Roman"/>
                <a:ea typeface="Times New Roman"/>
                <a:cs typeface="Times New Roman"/>
                <a:sym typeface="Times New Roman"/>
              </a:rPr>
              <a:t>sum</a:t>
            </a:r>
            <a:r>
              <a:rPr lang="en-US" sz="2800" i="1" baseline="-25000">
                <a:solidFill>
                  <a:schemeClr val="dk1"/>
                </a:solidFill>
                <a:latin typeface="Times New Roman"/>
                <a:ea typeface="Times New Roman"/>
                <a:cs typeface="Times New Roman"/>
                <a:sym typeface="Times New Roman"/>
              </a:rPr>
              <a:t>(balance) </a:t>
            </a:r>
            <a:r>
              <a:rPr lang="en-US" sz="2800" b="1" i="1" baseline="-25000">
                <a:solidFill>
                  <a:schemeClr val="dk1"/>
                </a:solidFill>
                <a:latin typeface="Times New Roman"/>
                <a:ea typeface="Times New Roman"/>
                <a:cs typeface="Times New Roman"/>
                <a:sym typeface="Times New Roman"/>
              </a:rPr>
              <a:t>as</a:t>
            </a:r>
            <a:r>
              <a:rPr lang="en-US" sz="2800" i="1" baseline="-25000">
                <a:solidFill>
                  <a:schemeClr val="dk1"/>
                </a:solidFill>
                <a:latin typeface="Times New Roman"/>
                <a:ea typeface="Times New Roman"/>
                <a:cs typeface="Times New Roman"/>
                <a:sym typeface="Times New Roman"/>
              </a:rPr>
              <a:t> sum-balance </a:t>
            </a:r>
            <a:r>
              <a:rPr lang="en-US" sz="2800">
                <a:solidFill>
                  <a:schemeClr val="dk1"/>
                </a:solidFill>
                <a:latin typeface="Times New Roman"/>
                <a:ea typeface="Times New Roman"/>
                <a:cs typeface="Times New Roman"/>
                <a:sym typeface="Times New Roman"/>
              </a:rPr>
              <a:t>(</a:t>
            </a:r>
            <a:r>
              <a:rPr lang="en-US" sz="2800" i="1">
                <a:solidFill>
                  <a:schemeClr val="dk1"/>
                </a:solidFill>
                <a:latin typeface="Times New Roman"/>
                <a:ea typeface="Times New Roman"/>
                <a:cs typeface="Times New Roman"/>
                <a:sym typeface="Times New Roman"/>
              </a:rPr>
              <a:t>account</a:t>
            </a:r>
            <a:r>
              <a:rPr lang="en-US" sz="2800">
                <a:solidFill>
                  <a:schemeClr val="dk1"/>
                </a:solidFill>
                <a:latin typeface="Times New Roman"/>
                <a:ea typeface="Times New Roman"/>
                <a:cs typeface="Times New Roman"/>
                <a:sym typeface="Times New Roman"/>
              </a:rPr>
              <a:t>)</a:t>
            </a:r>
            <a:endParaRPr sz="2800">
              <a:solidFill>
                <a:schemeClr val="dk1"/>
              </a:solidFill>
              <a:latin typeface="Times New Roman"/>
              <a:ea typeface="Times New Roman"/>
              <a:cs typeface="Times New Roman"/>
              <a:sym typeface="Times New Roman"/>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750"/>
        <p:cNvGrpSpPr/>
        <p:nvPr/>
      </p:nvGrpSpPr>
      <p:grpSpPr>
        <a:xfrm>
          <a:off x="0" y="0"/>
          <a:ext cx="0" cy="0"/>
          <a:chOff x="0" y="0"/>
          <a:chExt cx="0" cy="0"/>
        </a:xfrm>
      </p:grpSpPr>
      <p:sp>
        <p:nvSpPr>
          <p:cNvPr id="751" name="Google Shape;751;p65"/>
          <p:cNvSpPr txBox="1">
            <a:spLocks noGrp="1"/>
          </p:cNvSpPr>
          <p:nvPr>
            <p:ph type="title"/>
          </p:nvPr>
        </p:nvSpPr>
        <p:spPr>
          <a:xfrm>
            <a:off x="2438400" y="0"/>
            <a:ext cx="7772400" cy="1143000"/>
          </a:xfrm>
          <a:prstGeom prst="rect">
            <a:avLst/>
          </a:prstGeom>
          <a:noFill/>
          <a:ln>
            <a:noFill/>
          </a:ln>
        </p:spPr>
        <p:txBody>
          <a:bodyPr spcFirstLastPara="1" vert="horz" wrap="square" lIns="91425" tIns="45700" rIns="91425" bIns="45700" rtlCol="0" anchor="ctr" anchorCtr="0">
            <a:noAutofit/>
          </a:bodyPr>
          <a:lstStyle/>
          <a:p>
            <a:pPr algn="ctr">
              <a:lnSpc>
                <a:spcPct val="100000"/>
              </a:lnSpc>
              <a:spcBef>
                <a:spcPts val="0"/>
              </a:spcBef>
              <a:buClr>
                <a:schemeClr val="dk2"/>
              </a:buClr>
              <a:buSzPts val="4000"/>
            </a:pPr>
            <a:r>
              <a:rPr lang="en-US" sz="4000" b="1"/>
              <a:t>Outer Join</a:t>
            </a:r>
            <a:endParaRPr sz="4000" b="1"/>
          </a:p>
        </p:txBody>
      </p:sp>
      <p:sp>
        <p:nvSpPr>
          <p:cNvPr id="752" name="Google Shape;752;p65"/>
          <p:cNvSpPr txBox="1">
            <a:spLocks noGrp="1"/>
          </p:cNvSpPr>
          <p:nvPr>
            <p:ph type="body" idx="1"/>
          </p:nvPr>
        </p:nvSpPr>
        <p:spPr>
          <a:xfrm>
            <a:off x="2209800" y="1066800"/>
            <a:ext cx="7848600" cy="4876800"/>
          </a:xfrm>
          <a:prstGeom prst="rect">
            <a:avLst/>
          </a:prstGeom>
          <a:noFill/>
          <a:ln>
            <a:noFill/>
          </a:ln>
        </p:spPr>
        <p:txBody>
          <a:bodyPr spcFirstLastPara="1" vert="horz" wrap="square" lIns="91425" tIns="45700" rIns="91425" bIns="45700" rtlCol="0" anchor="t" anchorCtr="0">
            <a:noAutofit/>
          </a:bodyPr>
          <a:lstStyle/>
          <a:p>
            <a:pPr marL="342900" indent="-342900">
              <a:lnSpc>
                <a:spcPct val="100000"/>
              </a:lnSpc>
              <a:spcBef>
                <a:spcPts val="0"/>
              </a:spcBef>
              <a:buClr>
                <a:schemeClr val="dk1"/>
              </a:buClr>
              <a:buSzPts val="2400"/>
              <a:buFont typeface="Arial"/>
              <a:buChar char="•"/>
            </a:pPr>
            <a:r>
              <a:rPr lang="en-US" sz="2400"/>
              <a:t>An extension of the join operation that avoids loss of information.</a:t>
            </a:r>
            <a:endParaRPr sz="2400"/>
          </a:p>
          <a:p>
            <a:pPr marL="342900" indent="-342900">
              <a:lnSpc>
                <a:spcPct val="100000"/>
              </a:lnSpc>
              <a:spcBef>
                <a:spcPts val="480"/>
              </a:spcBef>
              <a:buClr>
                <a:schemeClr val="dk1"/>
              </a:buClr>
              <a:buSzPts val="2400"/>
              <a:buFont typeface="Arial"/>
              <a:buChar char="•"/>
            </a:pPr>
            <a:r>
              <a:rPr lang="en-US" sz="2400"/>
              <a:t>Computes the join and then adds tuples form one relation that does not match tuples in the other relation to the result of the join. </a:t>
            </a:r>
            <a:endParaRPr sz="2400"/>
          </a:p>
          <a:p>
            <a:pPr marL="342900" indent="-342900">
              <a:lnSpc>
                <a:spcPct val="100000"/>
              </a:lnSpc>
              <a:spcBef>
                <a:spcPts val="480"/>
              </a:spcBef>
              <a:buClr>
                <a:schemeClr val="dk1"/>
              </a:buClr>
              <a:buSzPts val="2400"/>
              <a:buFont typeface="Arial"/>
              <a:buChar char="•"/>
            </a:pPr>
            <a:r>
              <a:rPr lang="en-US" sz="2400"/>
              <a:t>Uses </a:t>
            </a:r>
            <a:r>
              <a:rPr lang="en-US" sz="2400" i="1"/>
              <a:t>null</a:t>
            </a:r>
            <a:r>
              <a:rPr lang="en-US" sz="2400"/>
              <a:t> values:</a:t>
            </a:r>
            <a:endParaRPr sz="2400"/>
          </a:p>
          <a:p>
            <a:pPr marL="742950" lvl="1" indent="-285750">
              <a:lnSpc>
                <a:spcPct val="100000"/>
              </a:lnSpc>
              <a:spcBef>
                <a:spcPts val="480"/>
              </a:spcBef>
              <a:buClr>
                <a:schemeClr val="dk1"/>
              </a:buClr>
              <a:buSzPts val="2400"/>
              <a:buFont typeface="Arial"/>
              <a:buChar char="–"/>
            </a:pPr>
            <a:r>
              <a:rPr lang="en-US" i="1"/>
              <a:t>null </a:t>
            </a:r>
            <a:r>
              <a:rPr lang="en-US"/>
              <a:t>signifies that the value is unknown or does not exist </a:t>
            </a:r>
            <a:endParaRPr/>
          </a:p>
          <a:p>
            <a:pPr marL="742950" lvl="1" indent="-285750">
              <a:lnSpc>
                <a:spcPct val="100000"/>
              </a:lnSpc>
              <a:spcBef>
                <a:spcPts val="480"/>
              </a:spcBef>
              <a:buClr>
                <a:schemeClr val="dk1"/>
              </a:buClr>
              <a:buSzPts val="2400"/>
              <a:buFont typeface="Arial"/>
              <a:buChar char="–"/>
            </a:pPr>
            <a:r>
              <a:rPr lang="en-US"/>
              <a:t>All comparisons involving </a:t>
            </a:r>
            <a:r>
              <a:rPr lang="en-US" i="1"/>
              <a:t>null</a:t>
            </a:r>
            <a:r>
              <a:rPr lang="en-US"/>
              <a:t> are (roughly speaking) </a:t>
            </a:r>
            <a:r>
              <a:rPr lang="en-US" b="1"/>
              <a:t>false</a:t>
            </a:r>
            <a:r>
              <a:rPr lang="en-US"/>
              <a:t> by definition.</a:t>
            </a:r>
            <a:endParaRPr/>
          </a:p>
          <a:p>
            <a:pPr lvl="2">
              <a:lnSpc>
                <a:spcPct val="100000"/>
              </a:lnSpc>
              <a:spcBef>
                <a:spcPts val="480"/>
              </a:spcBef>
              <a:buClr>
                <a:schemeClr val="dk1"/>
              </a:buClr>
              <a:buSzPts val="2400"/>
              <a:buFont typeface="Arial"/>
              <a:buChar char="•"/>
            </a:pPr>
            <a:r>
              <a:rPr lang="en-US"/>
              <a:t>We shall study precise meaning of comparisons with nulls later</a:t>
            </a:r>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756"/>
        <p:cNvGrpSpPr/>
        <p:nvPr/>
      </p:nvGrpSpPr>
      <p:grpSpPr>
        <a:xfrm>
          <a:off x="0" y="0"/>
          <a:ext cx="0" cy="0"/>
          <a:chOff x="0" y="0"/>
          <a:chExt cx="0" cy="0"/>
        </a:xfrm>
      </p:grpSpPr>
      <p:sp>
        <p:nvSpPr>
          <p:cNvPr id="757" name="Google Shape;757;p66"/>
          <p:cNvSpPr txBox="1">
            <a:spLocks noGrp="1"/>
          </p:cNvSpPr>
          <p:nvPr>
            <p:ph type="title"/>
          </p:nvPr>
        </p:nvSpPr>
        <p:spPr>
          <a:xfrm>
            <a:off x="1981200" y="274956"/>
            <a:ext cx="8229600" cy="682625"/>
          </a:xfrm>
          <a:prstGeom prst="rect">
            <a:avLst/>
          </a:prstGeom>
          <a:noFill/>
          <a:ln>
            <a:noFill/>
          </a:ln>
        </p:spPr>
        <p:txBody>
          <a:bodyPr spcFirstLastPara="1" vert="horz" wrap="square" lIns="91425" tIns="45700" rIns="91425" bIns="45700" rtlCol="0" anchor="ctr" anchorCtr="0">
            <a:noAutofit/>
          </a:bodyPr>
          <a:lstStyle/>
          <a:p>
            <a:pPr algn="ctr">
              <a:lnSpc>
                <a:spcPct val="100000"/>
              </a:lnSpc>
              <a:spcBef>
                <a:spcPts val="0"/>
              </a:spcBef>
              <a:buClr>
                <a:schemeClr val="dk2"/>
              </a:buClr>
              <a:buSzPts val="4400"/>
            </a:pPr>
            <a:r>
              <a:rPr lang="en-US" b="1">
                <a:latin typeface="Times New Roman"/>
                <a:ea typeface="Times New Roman"/>
                <a:cs typeface="Times New Roman"/>
                <a:sym typeface="Times New Roman"/>
              </a:rPr>
              <a:t>Outer Join.....</a:t>
            </a:r>
            <a:endParaRPr b="1">
              <a:latin typeface="Times New Roman"/>
              <a:ea typeface="Times New Roman"/>
              <a:cs typeface="Times New Roman"/>
              <a:sym typeface="Times New Roman"/>
            </a:endParaRPr>
          </a:p>
        </p:txBody>
      </p:sp>
      <p:sp>
        <p:nvSpPr>
          <p:cNvPr id="758" name="Google Shape;758;p66"/>
          <p:cNvSpPr txBox="1">
            <a:spLocks noGrp="1"/>
          </p:cNvSpPr>
          <p:nvPr>
            <p:ph type="body" idx="1"/>
          </p:nvPr>
        </p:nvSpPr>
        <p:spPr>
          <a:xfrm>
            <a:off x="1828800" y="1066800"/>
            <a:ext cx="8539480" cy="5605780"/>
          </a:xfrm>
          <a:prstGeom prst="rect">
            <a:avLst/>
          </a:prstGeom>
          <a:noFill/>
          <a:ln>
            <a:noFill/>
          </a:ln>
        </p:spPr>
        <p:txBody>
          <a:bodyPr spcFirstLastPara="1" vert="horz" wrap="square" lIns="91425" tIns="45700" rIns="91425" bIns="45700" rtlCol="0" anchor="t" anchorCtr="0">
            <a:normAutofit/>
          </a:bodyPr>
          <a:lstStyle/>
          <a:p>
            <a:pPr marL="342900" indent="-342900" algn="just">
              <a:lnSpc>
                <a:spcPct val="100000"/>
              </a:lnSpc>
              <a:spcBef>
                <a:spcPts val="0"/>
              </a:spcBef>
              <a:buClr>
                <a:schemeClr val="dk1"/>
              </a:buClr>
              <a:buSzPts val="2800"/>
              <a:buFont typeface="Times New Roman"/>
              <a:buChar char="•"/>
            </a:pPr>
            <a:r>
              <a:rPr lang="en-US">
                <a:latin typeface="Times New Roman"/>
                <a:ea typeface="Times New Roman"/>
                <a:cs typeface="Times New Roman"/>
                <a:sym typeface="Times New Roman"/>
              </a:rPr>
              <a:t>The outer-join operation is an extension of the join operation to deal with missing information. </a:t>
            </a:r>
            <a:endParaRPr>
              <a:latin typeface="Times New Roman"/>
              <a:ea typeface="Times New Roman"/>
              <a:cs typeface="Times New Roman"/>
              <a:sym typeface="Times New Roman"/>
            </a:endParaRPr>
          </a:p>
          <a:p>
            <a:pPr marL="342900" indent="-342900" algn="just">
              <a:lnSpc>
                <a:spcPct val="100000"/>
              </a:lnSpc>
              <a:spcBef>
                <a:spcPts val="560"/>
              </a:spcBef>
              <a:buClr>
                <a:schemeClr val="dk1"/>
              </a:buClr>
              <a:buSzPts val="2800"/>
              <a:buFont typeface="Times New Roman"/>
              <a:buChar char="•"/>
            </a:pPr>
            <a:r>
              <a:rPr lang="en-US">
                <a:latin typeface="Times New Roman"/>
                <a:ea typeface="Times New Roman"/>
                <a:cs typeface="Times New Roman"/>
                <a:sym typeface="Times New Roman"/>
              </a:rPr>
              <a:t>Suppose that we have the relations with the following schemas, which contain data on full-time employees:</a:t>
            </a:r>
            <a:endParaRPr>
              <a:latin typeface="Times New Roman"/>
              <a:ea typeface="Times New Roman"/>
              <a:cs typeface="Times New Roman"/>
              <a:sym typeface="Times New Roman"/>
            </a:endParaRPr>
          </a:p>
          <a:p>
            <a:pPr marL="342900" indent="-165100" algn="just">
              <a:lnSpc>
                <a:spcPct val="100000"/>
              </a:lnSpc>
              <a:spcBef>
                <a:spcPts val="560"/>
              </a:spcBef>
              <a:buClr>
                <a:schemeClr val="dk1"/>
              </a:buClr>
              <a:buSzPts val="2800"/>
              <a:buNone/>
            </a:pPr>
            <a:endParaRPr>
              <a:latin typeface="Times New Roman"/>
              <a:ea typeface="Times New Roman"/>
              <a:cs typeface="Times New Roman"/>
              <a:sym typeface="Times New Roman"/>
            </a:endParaRPr>
          </a:p>
          <a:p>
            <a:pPr marL="342900" indent="-342900" algn="just">
              <a:lnSpc>
                <a:spcPct val="100000"/>
              </a:lnSpc>
              <a:spcBef>
                <a:spcPts val="560"/>
              </a:spcBef>
              <a:buClr>
                <a:schemeClr val="dk1"/>
              </a:buClr>
              <a:buSzPts val="2800"/>
              <a:buNone/>
            </a:pPr>
            <a:r>
              <a:rPr lang="en-US">
                <a:latin typeface="Times New Roman"/>
                <a:ea typeface="Times New Roman"/>
                <a:cs typeface="Times New Roman"/>
                <a:sym typeface="Times New Roman"/>
              </a:rPr>
              <a:t>employee (employee-name, street, city)</a:t>
            </a:r>
            <a:endParaRPr>
              <a:latin typeface="Times New Roman"/>
              <a:ea typeface="Times New Roman"/>
              <a:cs typeface="Times New Roman"/>
              <a:sym typeface="Times New Roman"/>
            </a:endParaRPr>
          </a:p>
          <a:p>
            <a:pPr marL="342900" indent="-342900" algn="just">
              <a:lnSpc>
                <a:spcPct val="100000"/>
              </a:lnSpc>
              <a:spcBef>
                <a:spcPts val="560"/>
              </a:spcBef>
              <a:buClr>
                <a:schemeClr val="dk1"/>
              </a:buClr>
              <a:buSzPts val="2800"/>
              <a:buNone/>
            </a:pPr>
            <a:r>
              <a:rPr lang="en-US">
                <a:latin typeface="Times New Roman"/>
                <a:ea typeface="Times New Roman"/>
                <a:cs typeface="Times New Roman"/>
                <a:sym typeface="Times New Roman"/>
              </a:rPr>
              <a:t>ft-works (employee-name, branch-name, salary)</a:t>
            </a:r>
            <a:endParaRPr>
              <a:latin typeface="Times New Roman"/>
              <a:ea typeface="Times New Roman"/>
              <a:cs typeface="Times New Roman"/>
              <a:sym typeface="Times New Roman"/>
            </a:endParaRPr>
          </a:p>
          <a:p>
            <a:pPr marL="342900" indent="-165100" algn="just">
              <a:lnSpc>
                <a:spcPct val="100000"/>
              </a:lnSpc>
              <a:spcBef>
                <a:spcPts val="560"/>
              </a:spcBef>
              <a:buClr>
                <a:schemeClr val="dk1"/>
              </a:buClr>
              <a:buSzPts val="2800"/>
              <a:buNone/>
            </a:pPr>
            <a:endParaRPr>
              <a:latin typeface="Times New Roman"/>
              <a:ea typeface="Times New Roman"/>
              <a:cs typeface="Times New Roman"/>
              <a:sym typeface="Times New Roman"/>
            </a:endParaRPr>
          </a:p>
          <a:p>
            <a:pPr marL="342900" indent="-342900" algn="just">
              <a:lnSpc>
                <a:spcPct val="100000"/>
              </a:lnSpc>
              <a:spcBef>
                <a:spcPts val="560"/>
              </a:spcBef>
              <a:buClr>
                <a:schemeClr val="dk1"/>
              </a:buClr>
              <a:buSzPts val="2800"/>
              <a:buFont typeface="Times New Roman"/>
              <a:buChar char="•"/>
            </a:pPr>
            <a:r>
              <a:rPr lang="en-US">
                <a:latin typeface="Times New Roman"/>
                <a:ea typeface="Times New Roman"/>
                <a:cs typeface="Times New Roman"/>
                <a:sym typeface="Times New Roman"/>
              </a:rPr>
              <a:t>Consider the employee and ft-works relations in Figure(next slide).</a:t>
            </a:r>
            <a:endParaRPr>
              <a:latin typeface="Times New Roman"/>
              <a:ea typeface="Times New Roman"/>
              <a:cs typeface="Times New Roman"/>
              <a:sym typeface="Times New Roman"/>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762"/>
        <p:cNvGrpSpPr/>
        <p:nvPr/>
      </p:nvGrpSpPr>
      <p:grpSpPr>
        <a:xfrm>
          <a:off x="0" y="0"/>
          <a:ext cx="0" cy="0"/>
          <a:chOff x="0" y="0"/>
          <a:chExt cx="0" cy="0"/>
        </a:xfrm>
      </p:grpSpPr>
      <p:sp>
        <p:nvSpPr>
          <p:cNvPr id="763" name="Google Shape;763;p67"/>
          <p:cNvSpPr txBox="1">
            <a:spLocks noGrp="1"/>
          </p:cNvSpPr>
          <p:nvPr>
            <p:ph type="title"/>
          </p:nvPr>
        </p:nvSpPr>
        <p:spPr>
          <a:xfrm>
            <a:off x="1981200" y="274638"/>
            <a:ext cx="8229600" cy="639762"/>
          </a:xfrm>
          <a:prstGeom prst="rect">
            <a:avLst/>
          </a:prstGeom>
          <a:noFill/>
          <a:ln>
            <a:noFill/>
          </a:ln>
        </p:spPr>
        <p:txBody>
          <a:bodyPr spcFirstLastPara="1" vert="horz" wrap="square" lIns="91425" tIns="45700" rIns="91425" bIns="45700" rtlCol="0" anchor="ctr" anchorCtr="0">
            <a:normAutofit fontScale="90000"/>
          </a:bodyPr>
          <a:lstStyle/>
          <a:p>
            <a:pPr algn="ctr">
              <a:lnSpc>
                <a:spcPct val="100000"/>
              </a:lnSpc>
              <a:spcBef>
                <a:spcPts val="0"/>
              </a:spcBef>
              <a:buClr>
                <a:schemeClr val="dk2"/>
              </a:buClr>
              <a:buSzPct val="100000"/>
            </a:pPr>
            <a:r>
              <a:rPr lang="en-US" b="1">
                <a:latin typeface="Times New Roman"/>
                <a:ea typeface="Times New Roman"/>
                <a:cs typeface="Times New Roman"/>
                <a:sym typeface="Times New Roman"/>
              </a:rPr>
              <a:t>Outer Join....</a:t>
            </a:r>
            <a:endParaRPr b="1">
              <a:latin typeface="Times New Roman"/>
              <a:ea typeface="Times New Roman"/>
              <a:cs typeface="Times New Roman"/>
              <a:sym typeface="Times New Roman"/>
            </a:endParaRPr>
          </a:p>
        </p:txBody>
      </p:sp>
      <p:pic>
        <p:nvPicPr>
          <p:cNvPr id="764" name="Google Shape;764;p67"/>
          <p:cNvPicPr preferRelativeResize="0">
            <a:picLocks noGrp="1"/>
          </p:cNvPicPr>
          <p:nvPr>
            <p:ph type="body" idx="1"/>
          </p:nvPr>
        </p:nvPicPr>
        <p:blipFill rotWithShape="1">
          <a:blip r:embed="rId3">
            <a:alphaModFix/>
          </a:blip>
          <a:srcRect/>
          <a:stretch/>
        </p:blipFill>
        <p:spPr>
          <a:xfrm>
            <a:off x="4191000" y="1066801"/>
            <a:ext cx="3905250" cy="1419225"/>
          </a:xfrm>
          <a:prstGeom prst="rect">
            <a:avLst/>
          </a:prstGeom>
          <a:noFill/>
          <a:ln>
            <a:noFill/>
          </a:ln>
        </p:spPr>
      </p:pic>
      <p:pic>
        <p:nvPicPr>
          <p:cNvPr id="765" name="Google Shape;765;p67"/>
          <p:cNvPicPr preferRelativeResize="0"/>
          <p:nvPr/>
        </p:nvPicPr>
        <p:blipFill rotWithShape="1">
          <a:blip r:embed="rId4">
            <a:alphaModFix/>
          </a:blip>
          <a:srcRect/>
          <a:stretch/>
        </p:blipFill>
        <p:spPr>
          <a:xfrm>
            <a:off x="4419601" y="2514600"/>
            <a:ext cx="3495675" cy="1371600"/>
          </a:xfrm>
          <a:prstGeom prst="rect">
            <a:avLst/>
          </a:prstGeom>
          <a:noFill/>
          <a:ln>
            <a:noFill/>
          </a:ln>
        </p:spPr>
      </p:pic>
      <p:sp>
        <p:nvSpPr>
          <p:cNvPr id="766" name="Google Shape;766;p67"/>
          <p:cNvSpPr/>
          <p:nvPr/>
        </p:nvSpPr>
        <p:spPr>
          <a:xfrm>
            <a:off x="1905000" y="4038600"/>
            <a:ext cx="8382000" cy="2308324"/>
          </a:xfrm>
          <a:prstGeom prst="rect">
            <a:avLst/>
          </a:prstGeom>
          <a:noFill/>
          <a:ln>
            <a:noFill/>
          </a:ln>
        </p:spPr>
        <p:txBody>
          <a:bodyPr spcFirstLastPara="1" wrap="square" lIns="91425" tIns="45700" rIns="91425" bIns="45700" anchor="t" anchorCtr="0">
            <a:spAutoFit/>
          </a:bodyPr>
          <a:lstStyle/>
          <a:p>
            <a:pPr algn="just"/>
            <a:r>
              <a:rPr lang="en-US" sz="2400">
                <a:solidFill>
                  <a:schemeClr val="dk1"/>
                </a:solidFill>
                <a:latin typeface="Times New Roman"/>
                <a:ea typeface="Times New Roman"/>
                <a:cs typeface="Times New Roman"/>
                <a:sym typeface="Times New Roman"/>
              </a:rPr>
              <a:t>Suppose that we want to generate a single relation with all the information (street, city, branch name, and salary) about full-time employees. </a:t>
            </a:r>
            <a:endParaRPr sz="2400">
              <a:solidFill>
                <a:schemeClr val="dk1"/>
              </a:solidFill>
              <a:latin typeface="Times New Roman"/>
              <a:ea typeface="Times New Roman"/>
              <a:cs typeface="Times New Roman"/>
              <a:sym typeface="Times New Roman"/>
            </a:endParaRPr>
          </a:p>
          <a:p>
            <a:pPr algn="just"/>
            <a:r>
              <a:rPr lang="en-US" sz="2400">
                <a:solidFill>
                  <a:schemeClr val="dk1"/>
                </a:solidFill>
                <a:latin typeface="Times New Roman"/>
                <a:ea typeface="Times New Roman"/>
                <a:cs typeface="Times New Roman"/>
                <a:sym typeface="Times New Roman"/>
              </a:rPr>
              <a:t>A possible approach would be to use the n</a:t>
            </a:r>
            <a:r>
              <a:rPr lang="en-US" sz="2400" b="1">
                <a:solidFill>
                  <a:schemeClr val="dk1"/>
                </a:solidFill>
                <a:latin typeface="Times New Roman"/>
                <a:ea typeface="Times New Roman"/>
                <a:cs typeface="Times New Roman"/>
                <a:sym typeface="Times New Roman"/>
              </a:rPr>
              <a:t>atural join operation as follows:</a:t>
            </a:r>
            <a:endParaRPr sz="2400" b="1">
              <a:solidFill>
                <a:schemeClr val="dk1"/>
              </a:solidFill>
              <a:latin typeface="Times New Roman"/>
              <a:ea typeface="Times New Roman"/>
              <a:cs typeface="Times New Roman"/>
              <a:sym typeface="Times New Roman"/>
            </a:endParaRPr>
          </a:p>
          <a:p>
            <a:endParaRPr sz="2400">
              <a:solidFill>
                <a:schemeClr val="dk1"/>
              </a:solidFill>
              <a:latin typeface="Times New Roman"/>
              <a:ea typeface="Times New Roman"/>
              <a:cs typeface="Times New Roman"/>
              <a:sym typeface="Times New Roman"/>
            </a:endParaRPr>
          </a:p>
        </p:txBody>
      </p:sp>
      <p:sp>
        <p:nvSpPr>
          <p:cNvPr id="767" name="Google Shape;767;p67"/>
          <p:cNvSpPr/>
          <p:nvPr/>
        </p:nvSpPr>
        <p:spPr>
          <a:xfrm>
            <a:off x="4038600" y="5791201"/>
            <a:ext cx="1378904" cy="461665"/>
          </a:xfrm>
          <a:prstGeom prst="rect">
            <a:avLst/>
          </a:prstGeom>
          <a:noFill/>
          <a:ln>
            <a:noFill/>
          </a:ln>
        </p:spPr>
        <p:txBody>
          <a:bodyPr spcFirstLastPara="1" wrap="square" lIns="91425" tIns="45700" rIns="91425" bIns="45700" anchor="t" anchorCtr="0">
            <a:spAutoFit/>
          </a:bodyPr>
          <a:lstStyle/>
          <a:p>
            <a:r>
              <a:rPr lang="en-US" sz="2400">
                <a:solidFill>
                  <a:schemeClr val="dk1"/>
                </a:solidFill>
                <a:latin typeface="Times New Roman"/>
                <a:ea typeface="Times New Roman"/>
                <a:cs typeface="Times New Roman"/>
                <a:sym typeface="Times New Roman"/>
              </a:rPr>
              <a:t>employee</a:t>
            </a:r>
            <a:endParaRPr sz="2400">
              <a:solidFill>
                <a:schemeClr val="dk1"/>
              </a:solidFill>
              <a:latin typeface="Times New Roman"/>
              <a:ea typeface="Times New Roman"/>
              <a:cs typeface="Times New Roman"/>
              <a:sym typeface="Times New Roman"/>
            </a:endParaRPr>
          </a:p>
        </p:txBody>
      </p:sp>
      <p:sp>
        <p:nvSpPr>
          <p:cNvPr id="768" name="Google Shape;768;p67"/>
          <p:cNvSpPr/>
          <p:nvPr/>
        </p:nvSpPr>
        <p:spPr>
          <a:xfrm>
            <a:off x="5867401" y="5791201"/>
            <a:ext cx="1228221" cy="461665"/>
          </a:xfrm>
          <a:prstGeom prst="rect">
            <a:avLst/>
          </a:prstGeom>
          <a:noFill/>
          <a:ln>
            <a:noFill/>
          </a:ln>
        </p:spPr>
        <p:txBody>
          <a:bodyPr spcFirstLastPara="1" wrap="square" lIns="91425" tIns="45700" rIns="91425" bIns="45700" anchor="t" anchorCtr="0">
            <a:spAutoFit/>
          </a:bodyPr>
          <a:lstStyle/>
          <a:p>
            <a:r>
              <a:rPr lang="en-US" sz="2400">
                <a:solidFill>
                  <a:schemeClr val="dk1"/>
                </a:solidFill>
                <a:latin typeface="Times New Roman"/>
                <a:ea typeface="Times New Roman"/>
                <a:cs typeface="Times New Roman"/>
                <a:sym typeface="Times New Roman"/>
              </a:rPr>
              <a:t>ft-works</a:t>
            </a:r>
            <a:endParaRPr sz="2400">
              <a:solidFill>
                <a:schemeClr val="dk1"/>
              </a:solidFill>
              <a:latin typeface="Times New Roman"/>
              <a:ea typeface="Times New Roman"/>
              <a:cs typeface="Times New Roman"/>
              <a:sym typeface="Times New Roman"/>
            </a:endParaRPr>
          </a:p>
        </p:txBody>
      </p:sp>
      <p:pic>
        <p:nvPicPr>
          <p:cNvPr id="769" name="Google Shape;769;p67"/>
          <p:cNvPicPr preferRelativeResize="0"/>
          <p:nvPr/>
        </p:nvPicPr>
        <p:blipFill rotWithShape="1">
          <a:blip r:embed="rId5">
            <a:alphaModFix/>
          </a:blip>
          <a:srcRect/>
          <a:stretch/>
        </p:blipFill>
        <p:spPr>
          <a:xfrm>
            <a:off x="5486400" y="5867400"/>
            <a:ext cx="294862" cy="260838"/>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773"/>
        <p:cNvGrpSpPr/>
        <p:nvPr/>
      </p:nvGrpSpPr>
      <p:grpSpPr>
        <a:xfrm>
          <a:off x="0" y="0"/>
          <a:ext cx="0" cy="0"/>
          <a:chOff x="0" y="0"/>
          <a:chExt cx="0" cy="0"/>
        </a:xfrm>
      </p:grpSpPr>
      <p:pic>
        <p:nvPicPr>
          <p:cNvPr id="774" name="Google Shape;774;p68"/>
          <p:cNvPicPr preferRelativeResize="0">
            <a:picLocks noGrp="1"/>
          </p:cNvPicPr>
          <p:nvPr>
            <p:ph type="body" idx="1"/>
          </p:nvPr>
        </p:nvPicPr>
        <p:blipFill rotWithShape="1">
          <a:blip r:embed="rId3">
            <a:alphaModFix/>
          </a:blip>
          <a:srcRect/>
          <a:stretch/>
        </p:blipFill>
        <p:spPr>
          <a:xfrm>
            <a:off x="2971800" y="1143000"/>
            <a:ext cx="6477000" cy="1251009"/>
          </a:xfrm>
          <a:prstGeom prst="rect">
            <a:avLst/>
          </a:prstGeom>
          <a:noFill/>
          <a:ln>
            <a:noFill/>
          </a:ln>
        </p:spPr>
      </p:pic>
      <p:sp>
        <p:nvSpPr>
          <p:cNvPr id="775" name="Google Shape;775;p68"/>
          <p:cNvSpPr/>
          <p:nvPr/>
        </p:nvSpPr>
        <p:spPr>
          <a:xfrm>
            <a:off x="1981200" y="2971800"/>
            <a:ext cx="8229600" cy="2677656"/>
          </a:xfrm>
          <a:prstGeom prst="rect">
            <a:avLst/>
          </a:prstGeom>
          <a:noFill/>
          <a:ln>
            <a:noFill/>
          </a:ln>
        </p:spPr>
        <p:txBody>
          <a:bodyPr spcFirstLastPara="1" wrap="square" lIns="91425" tIns="45700" rIns="91425" bIns="45700" anchor="t" anchorCtr="0">
            <a:spAutoFit/>
          </a:bodyPr>
          <a:lstStyle/>
          <a:p>
            <a:pPr algn="just"/>
            <a:r>
              <a:rPr lang="en-US" sz="2400">
                <a:solidFill>
                  <a:schemeClr val="dk1"/>
                </a:solidFill>
                <a:latin typeface="Times New Roman"/>
                <a:ea typeface="Times New Roman"/>
                <a:cs typeface="Times New Roman"/>
                <a:sym typeface="Times New Roman"/>
              </a:rPr>
              <a:t>Notice that we have lost the street and city information about Smith, since the tuple describing Smith is absent from the ft-works relation; </a:t>
            </a:r>
            <a:endParaRPr sz="2400">
              <a:solidFill>
                <a:schemeClr val="dk1"/>
              </a:solidFill>
              <a:latin typeface="Times New Roman"/>
              <a:ea typeface="Times New Roman"/>
              <a:cs typeface="Times New Roman"/>
              <a:sym typeface="Times New Roman"/>
            </a:endParaRPr>
          </a:p>
          <a:p>
            <a:pPr algn="just"/>
            <a:endParaRPr sz="2400">
              <a:solidFill>
                <a:schemeClr val="dk1"/>
              </a:solidFill>
              <a:latin typeface="Times New Roman"/>
              <a:ea typeface="Times New Roman"/>
              <a:cs typeface="Times New Roman"/>
              <a:sym typeface="Times New Roman"/>
            </a:endParaRPr>
          </a:p>
          <a:p>
            <a:pPr algn="just"/>
            <a:r>
              <a:rPr lang="en-US" sz="2400">
                <a:solidFill>
                  <a:schemeClr val="dk1"/>
                </a:solidFill>
                <a:latin typeface="Times New Roman"/>
                <a:ea typeface="Times New Roman"/>
                <a:cs typeface="Times New Roman"/>
                <a:sym typeface="Times New Roman"/>
              </a:rPr>
              <a:t>similarly, we have lost the branch name and salary information about Gates, since the tuple describing Gates is absent from the employee relation.</a:t>
            </a:r>
            <a:endParaRPr sz="2400">
              <a:solidFill>
                <a:schemeClr val="dk1"/>
              </a:solidFill>
              <a:latin typeface="Times New Roman"/>
              <a:ea typeface="Times New Roman"/>
              <a:cs typeface="Times New Roman"/>
              <a:sym typeface="Times New Roman"/>
            </a:endParaRPr>
          </a:p>
        </p:txBody>
      </p:sp>
      <p:sp>
        <p:nvSpPr>
          <p:cNvPr id="776" name="Google Shape;776;p68"/>
          <p:cNvSpPr txBox="1">
            <a:spLocks noGrp="1"/>
          </p:cNvSpPr>
          <p:nvPr>
            <p:ph type="title"/>
          </p:nvPr>
        </p:nvSpPr>
        <p:spPr>
          <a:xfrm>
            <a:off x="1981200" y="274638"/>
            <a:ext cx="8229600" cy="639762"/>
          </a:xfrm>
          <a:prstGeom prst="rect">
            <a:avLst/>
          </a:prstGeom>
          <a:noFill/>
          <a:ln>
            <a:noFill/>
          </a:ln>
        </p:spPr>
        <p:txBody>
          <a:bodyPr spcFirstLastPara="1" vert="horz" wrap="square" lIns="91425" tIns="45700" rIns="91425" bIns="45700" rtlCol="0" anchor="ctr" anchorCtr="0">
            <a:normAutofit fontScale="90000"/>
          </a:bodyPr>
          <a:lstStyle/>
          <a:p>
            <a:pPr algn="ctr">
              <a:lnSpc>
                <a:spcPct val="100000"/>
              </a:lnSpc>
              <a:spcBef>
                <a:spcPts val="0"/>
              </a:spcBef>
              <a:buClr>
                <a:schemeClr val="dk2"/>
              </a:buClr>
              <a:buSzPct val="100000"/>
            </a:pPr>
            <a:r>
              <a:rPr lang="en-US" b="1">
                <a:latin typeface="Times New Roman"/>
                <a:ea typeface="Times New Roman"/>
                <a:cs typeface="Times New Roman"/>
                <a:sym typeface="Times New Roman"/>
              </a:rPr>
              <a:t>Outer Join....</a:t>
            </a:r>
            <a:endParaRPr b="1">
              <a:latin typeface="Times New Roman"/>
              <a:ea typeface="Times New Roman"/>
              <a:cs typeface="Times New Roman"/>
              <a:sym typeface="Times New Roman"/>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780"/>
        <p:cNvGrpSpPr/>
        <p:nvPr/>
      </p:nvGrpSpPr>
      <p:grpSpPr>
        <a:xfrm>
          <a:off x="0" y="0"/>
          <a:ext cx="0" cy="0"/>
          <a:chOff x="0" y="0"/>
          <a:chExt cx="0" cy="0"/>
        </a:xfrm>
      </p:grpSpPr>
      <p:sp>
        <p:nvSpPr>
          <p:cNvPr id="781" name="Google Shape;781;p69"/>
          <p:cNvSpPr txBox="1">
            <a:spLocks noGrp="1"/>
          </p:cNvSpPr>
          <p:nvPr>
            <p:ph type="title"/>
          </p:nvPr>
        </p:nvSpPr>
        <p:spPr>
          <a:xfrm>
            <a:off x="1981200" y="274638"/>
            <a:ext cx="8229600" cy="715962"/>
          </a:xfrm>
          <a:prstGeom prst="rect">
            <a:avLst/>
          </a:prstGeom>
          <a:noFill/>
          <a:ln>
            <a:noFill/>
          </a:ln>
        </p:spPr>
        <p:txBody>
          <a:bodyPr spcFirstLastPara="1" vert="horz" wrap="square" lIns="91425" tIns="45700" rIns="91425" bIns="45700" rtlCol="0" anchor="ctr" anchorCtr="0">
            <a:normAutofit fontScale="90000"/>
          </a:bodyPr>
          <a:lstStyle/>
          <a:p>
            <a:pPr algn="ctr">
              <a:lnSpc>
                <a:spcPct val="100000"/>
              </a:lnSpc>
              <a:spcBef>
                <a:spcPts val="0"/>
              </a:spcBef>
              <a:buClr>
                <a:schemeClr val="dk2"/>
              </a:buClr>
              <a:buSzPct val="100000"/>
            </a:pPr>
            <a:r>
              <a:rPr lang="en-US" b="1">
                <a:latin typeface="Times New Roman"/>
                <a:ea typeface="Times New Roman"/>
                <a:cs typeface="Times New Roman"/>
                <a:sym typeface="Times New Roman"/>
              </a:rPr>
              <a:t>Outer Join....</a:t>
            </a:r>
            <a:endParaRPr b="1">
              <a:latin typeface="Times New Roman"/>
              <a:ea typeface="Times New Roman"/>
              <a:cs typeface="Times New Roman"/>
              <a:sym typeface="Times New Roman"/>
            </a:endParaRPr>
          </a:p>
        </p:txBody>
      </p:sp>
      <p:sp>
        <p:nvSpPr>
          <p:cNvPr id="782" name="Google Shape;782;p69"/>
          <p:cNvSpPr txBox="1">
            <a:spLocks noGrp="1"/>
          </p:cNvSpPr>
          <p:nvPr>
            <p:ph type="body" idx="1"/>
          </p:nvPr>
        </p:nvSpPr>
        <p:spPr>
          <a:xfrm>
            <a:off x="1981200" y="1066801"/>
            <a:ext cx="8229600" cy="5059363"/>
          </a:xfrm>
          <a:prstGeom prst="rect">
            <a:avLst/>
          </a:prstGeom>
          <a:noFill/>
          <a:ln>
            <a:noFill/>
          </a:ln>
        </p:spPr>
        <p:txBody>
          <a:bodyPr spcFirstLastPara="1" vert="horz" wrap="square" lIns="91425" tIns="45700" rIns="91425" bIns="45700" rtlCol="0" anchor="t" anchorCtr="0">
            <a:normAutofit/>
          </a:bodyPr>
          <a:lstStyle/>
          <a:p>
            <a:pPr marL="342900" indent="-342900" algn="just">
              <a:lnSpc>
                <a:spcPct val="100000"/>
              </a:lnSpc>
              <a:spcBef>
                <a:spcPts val="0"/>
              </a:spcBef>
              <a:buClr>
                <a:schemeClr val="dk1"/>
              </a:buClr>
              <a:buSzPts val="2400"/>
              <a:buFont typeface="Times New Roman"/>
              <a:buChar char="•"/>
            </a:pPr>
            <a:r>
              <a:rPr lang="en-US" sz="2400">
                <a:latin typeface="Times New Roman"/>
                <a:ea typeface="Times New Roman"/>
                <a:cs typeface="Times New Roman"/>
                <a:sym typeface="Times New Roman"/>
              </a:rPr>
              <a:t>We can use the outer-join operation to avoid this loss of information. </a:t>
            </a:r>
            <a:endParaRPr sz="2400">
              <a:latin typeface="Times New Roman"/>
              <a:ea typeface="Times New Roman"/>
              <a:cs typeface="Times New Roman"/>
              <a:sym typeface="Times New Roman"/>
            </a:endParaRPr>
          </a:p>
          <a:p>
            <a:pPr marL="342900" indent="-190500" algn="just">
              <a:lnSpc>
                <a:spcPct val="100000"/>
              </a:lnSpc>
              <a:spcBef>
                <a:spcPts val="480"/>
              </a:spcBef>
              <a:buClr>
                <a:schemeClr val="dk1"/>
              </a:buClr>
              <a:buSzPts val="2400"/>
              <a:buNone/>
            </a:pPr>
            <a:endParaRPr sz="2400">
              <a:latin typeface="Times New Roman"/>
              <a:ea typeface="Times New Roman"/>
              <a:cs typeface="Times New Roman"/>
              <a:sym typeface="Times New Roman"/>
            </a:endParaRPr>
          </a:p>
          <a:p>
            <a:pPr marL="342900" indent="-342900" algn="just">
              <a:lnSpc>
                <a:spcPct val="100000"/>
              </a:lnSpc>
              <a:spcBef>
                <a:spcPts val="480"/>
              </a:spcBef>
              <a:buClr>
                <a:schemeClr val="dk1"/>
              </a:buClr>
              <a:buSzPts val="2400"/>
              <a:buFont typeface="Times New Roman"/>
              <a:buChar char="•"/>
            </a:pPr>
            <a:r>
              <a:rPr lang="en-US" sz="2400">
                <a:latin typeface="Times New Roman"/>
                <a:ea typeface="Times New Roman"/>
                <a:cs typeface="Times New Roman"/>
                <a:sym typeface="Times New Roman"/>
              </a:rPr>
              <a:t>There are actually three forms of the operation: left outer join, denoted by     , right outer join denoted by     and full outer join, denoted by </a:t>
            </a:r>
            <a:endParaRPr sz="2400">
              <a:latin typeface="Times New Roman"/>
              <a:ea typeface="Times New Roman"/>
              <a:cs typeface="Times New Roman"/>
              <a:sym typeface="Times New Roman"/>
            </a:endParaRPr>
          </a:p>
          <a:p>
            <a:pPr marL="342900" indent="-190500" algn="just">
              <a:lnSpc>
                <a:spcPct val="100000"/>
              </a:lnSpc>
              <a:spcBef>
                <a:spcPts val="480"/>
              </a:spcBef>
              <a:buClr>
                <a:schemeClr val="dk1"/>
              </a:buClr>
              <a:buSzPts val="2400"/>
              <a:buNone/>
            </a:pPr>
            <a:endParaRPr sz="2400">
              <a:latin typeface="Times New Roman"/>
              <a:ea typeface="Times New Roman"/>
              <a:cs typeface="Times New Roman"/>
              <a:sym typeface="Times New Roman"/>
            </a:endParaRPr>
          </a:p>
          <a:p>
            <a:pPr marL="342900" indent="-342900" algn="just">
              <a:lnSpc>
                <a:spcPct val="100000"/>
              </a:lnSpc>
              <a:spcBef>
                <a:spcPts val="480"/>
              </a:spcBef>
              <a:buClr>
                <a:schemeClr val="dk1"/>
              </a:buClr>
              <a:buSzPts val="2400"/>
              <a:buFont typeface="Times New Roman"/>
              <a:buChar char="•"/>
            </a:pPr>
            <a:r>
              <a:rPr lang="en-US" sz="2400">
                <a:latin typeface="Times New Roman"/>
                <a:ea typeface="Times New Roman"/>
                <a:cs typeface="Times New Roman"/>
                <a:sym typeface="Times New Roman"/>
              </a:rPr>
              <a:t>All three forms of outer join compute the join, and add extra tuples to the result of the join.</a:t>
            </a:r>
            <a:endParaRPr sz="2400">
              <a:latin typeface="Times New Roman"/>
              <a:ea typeface="Times New Roman"/>
              <a:cs typeface="Times New Roman"/>
              <a:sym typeface="Times New Roman"/>
            </a:endParaRPr>
          </a:p>
        </p:txBody>
      </p:sp>
      <p:pic>
        <p:nvPicPr>
          <p:cNvPr id="783" name="Google Shape;783;p69"/>
          <p:cNvPicPr preferRelativeResize="0"/>
          <p:nvPr/>
        </p:nvPicPr>
        <p:blipFill rotWithShape="1">
          <a:blip r:embed="rId3">
            <a:alphaModFix/>
          </a:blip>
          <a:srcRect/>
          <a:stretch/>
        </p:blipFill>
        <p:spPr>
          <a:xfrm>
            <a:off x="4419600" y="3124200"/>
            <a:ext cx="533400" cy="341923"/>
          </a:xfrm>
          <a:prstGeom prst="rect">
            <a:avLst/>
          </a:prstGeom>
          <a:noFill/>
          <a:ln>
            <a:noFill/>
          </a:ln>
        </p:spPr>
      </p:pic>
      <p:pic>
        <p:nvPicPr>
          <p:cNvPr id="784" name="Google Shape;784;p69"/>
          <p:cNvPicPr preferRelativeResize="0"/>
          <p:nvPr/>
        </p:nvPicPr>
        <p:blipFill rotWithShape="1">
          <a:blip r:embed="rId4">
            <a:alphaModFix/>
          </a:blip>
          <a:srcRect/>
          <a:stretch/>
        </p:blipFill>
        <p:spPr>
          <a:xfrm>
            <a:off x="3886200" y="2764156"/>
            <a:ext cx="381000" cy="350520"/>
          </a:xfrm>
          <a:prstGeom prst="rect">
            <a:avLst/>
          </a:prstGeom>
          <a:noFill/>
          <a:ln>
            <a:noFill/>
          </a:ln>
        </p:spPr>
      </p:pic>
      <p:pic>
        <p:nvPicPr>
          <p:cNvPr id="785" name="Google Shape;785;p69"/>
          <p:cNvPicPr preferRelativeResize="0"/>
          <p:nvPr/>
        </p:nvPicPr>
        <p:blipFill rotWithShape="1">
          <a:blip r:embed="rId5">
            <a:alphaModFix/>
          </a:blip>
          <a:srcRect/>
          <a:stretch/>
        </p:blipFill>
        <p:spPr>
          <a:xfrm>
            <a:off x="7924801" y="2819400"/>
            <a:ext cx="405063" cy="307848"/>
          </a:xfrm>
          <a:prstGeom prst="rect">
            <a:avLst/>
          </a:prstGeom>
          <a:noFill/>
          <a:ln>
            <a:noFill/>
          </a:ln>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789"/>
        <p:cNvGrpSpPr/>
        <p:nvPr/>
      </p:nvGrpSpPr>
      <p:grpSpPr>
        <a:xfrm>
          <a:off x="0" y="0"/>
          <a:ext cx="0" cy="0"/>
          <a:chOff x="0" y="0"/>
          <a:chExt cx="0" cy="0"/>
        </a:xfrm>
      </p:grpSpPr>
      <p:sp>
        <p:nvSpPr>
          <p:cNvPr id="790" name="Google Shape;790;p70"/>
          <p:cNvSpPr txBox="1">
            <a:spLocks noGrp="1"/>
          </p:cNvSpPr>
          <p:nvPr>
            <p:ph type="title"/>
          </p:nvPr>
        </p:nvSpPr>
        <p:spPr>
          <a:xfrm>
            <a:off x="1981200" y="274638"/>
            <a:ext cx="8229600" cy="1143000"/>
          </a:xfrm>
          <a:prstGeom prst="rect">
            <a:avLst/>
          </a:prstGeom>
          <a:noFill/>
          <a:ln>
            <a:noFill/>
          </a:ln>
        </p:spPr>
        <p:txBody>
          <a:bodyPr spcFirstLastPara="1" vert="horz" wrap="square" lIns="91425" tIns="45700" rIns="91425" bIns="45700" rtlCol="0" anchor="ctr" anchorCtr="0">
            <a:noAutofit/>
          </a:bodyPr>
          <a:lstStyle/>
          <a:p>
            <a:pPr algn="ctr">
              <a:lnSpc>
                <a:spcPct val="100000"/>
              </a:lnSpc>
              <a:spcBef>
                <a:spcPts val="0"/>
              </a:spcBef>
              <a:buClr>
                <a:schemeClr val="dk2"/>
              </a:buClr>
              <a:buSzPts val="4400"/>
            </a:pPr>
            <a:r>
              <a:rPr lang="en-US" b="1">
                <a:latin typeface="Times New Roman"/>
                <a:ea typeface="Times New Roman"/>
                <a:cs typeface="Times New Roman"/>
                <a:sym typeface="Times New Roman"/>
              </a:rPr>
              <a:t>Left Outer Join</a:t>
            </a:r>
            <a:endParaRPr b="1"/>
          </a:p>
        </p:txBody>
      </p:sp>
      <p:sp>
        <p:nvSpPr>
          <p:cNvPr id="791" name="Google Shape;791;p70"/>
          <p:cNvSpPr txBox="1">
            <a:spLocks noGrp="1"/>
          </p:cNvSpPr>
          <p:nvPr>
            <p:ph type="body" idx="1"/>
          </p:nvPr>
        </p:nvSpPr>
        <p:spPr>
          <a:xfrm>
            <a:off x="1981200" y="1600201"/>
            <a:ext cx="8229600" cy="4525963"/>
          </a:xfrm>
          <a:prstGeom prst="rect">
            <a:avLst/>
          </a:prstGeom>
          <a:noFill/>
          <a:ln>
            <a:noFill/>
          </a:ln>
        </p:spPr>
        <p:txBody>
          <a:bodyPr spcFirstLastPara="1" vert="horz" wrap="square" lIns="91425" tIns="45700" rIns="91425" bIns="45700" rtlCol="0" anchor="t" anchorCtr="0">
            <a:normAutofit/>
          </a:bodyPr>
          <a:lstStyle/>
          <a:p>
            <a:pPr marL="342900" indent="-342900" algn="just">
              <a:lnSpc>
                <a:spcPct val="100000"/>
              </a:lnSpc>
              <a:spcBef>
                <a:spcPts val="0"/>
              </a:spcBef>
              <a:buClr>
                <a:schemeClr val="dk1"/>
              </a:buClr>
              <a:buSzPts val="2400"/>
              <a:buFont typeface="Times New Roman"/>
              <a:buChar char="•"/>
            </a:pPr>
            <a:r>
              <a:rPr lang="en-US" sz="2400">
                <a:latin typeface="Times New Roman"/>
                <a:ea typeface="Times New Roman"/>
                <a:cs typeface="Times New Roman"/>
                <a:sym typeface="Times New Roman"/>
              </a:rPr>
              <a:t>The left outer join      takes all tuples in the left relation that did not match with any tuple in the right relation, pads the tuples with null values for all other attributes from the right relation, and adds them to the result of the natural join. </a:t>
            </a:r>
            <a:endParaRPr sz="2400">
              <a:latin typeface="Times New Roman"/>
              <a:ea typeface="Times New Roman"/>
              <a:cs typeface="Times New Roman"/>
              <a:sym typeface="Times New Roman"/>
            </a:endParaRPr>
          </a:p>
          <a:p>
            <a:pPr marL="342900" indent="-342900" algn="just">
              <a:lnSpc>
                <a:spcPct val="100000"/>
              </a:lnSpc>
              <a:spcBef>
                <a:spcPts val="480"/>
              </a:spcBef>
              <a:buClr>
                <a:schemeClr val="dk1"/>
              </a:buClr>
              <a:buSzPts val="2400"/>
              <a:buFont typeface="Times New Roman"/>
              <a:buChar char="•"/>
            </a:pPr>
            <a:r>
              <a:rPr lang="en-US" sz="2400">
                <a:latin typeface="Times New Roman"/>
                <a:ea typeface="Times New Roman"/>
                <a:cs typeface="Times New Roman"/>
                <a:sym typeface="Times New Roman"/>
              </a:rPr>
              <a:t>All information from the left relation is present in the result of the left outer join.</a:t>
            </a:r>
            <a:endParaRPr sz="2400">
              <a:latin typeface="Times New Roman"/>
              <a:ea typeface="Times New Roman"/>
              <a:cs typeface="Times New Roman"/>
              <a:sym typeface="Times New Roman"/>
            </a:endParaRPr>
          </a:p>
        </p:txBody>
      </p:sp>
      <p:pic>
        <p:nvPicPr>
          <p:cNvPr id="792" name="Google Shape;792;p70"/>
          <p:cNvPicPr preferRelativeResize="0"/>
          <p:nvPr/>
        </p:nvPicPr>
        <p:blipFill rotWithShape="1">
          <a:blip r:embed="rId3">
            <a:alphaModFix/>
          </a:blip>
          <a:srcRect/>
          <a:stretch/>
        </p:blipFill>
        <p:spPr>
          <a:xfrm>
            <a:off x="2895601" y="3962401"/>
            <a:ext cx="6200775" cy="1381125"/>
          </a:xfrm>
          <a:prstGeom prst="rect">
            <a:avLst/>
          </a:prstGeom>
          <a:noFill/>
          <a:ln>
            <a:noFill/>
          </a:ln>
        </p:spPr>
      </p:pic>
      <p:pic>
        <p:nvPicPr>
          <p:cNvPr id="793" name="Google Shape;793;p70"/>
          <p:cNvPicPr preferRelativeResize="0"/>
          <p:nvPr/>
        </p:nvPicPr>
        <p:blipFill rotWithShape="1">
          <a:blip r:embed="rId4">
            <a:alphaModFix/>
          </a:blip>
          <a:srcRect/>
          <a:stretch/>
        </p:blipFill>
        <p:spPr>
          <a:xfrm>
            <a:off x="4419600" y="5410200"/>
            <a:ext cx="2686050" cy="342900"/>
          </a:xfrm>
          <a:prstGeom prst="rect">
            <a:avLst/>
          </a:prstGeom>
          <a:noFill/>
          <a:ln>
            <a:noFill/>
          </a:ln>
        </p:spPr>
      </p:pic>
      <p:pic>
        <p:nvPicPr>
          <p:cNvPr id="794" name="Google Shape;794;p70"/>
          <p:cNvPicPr preferRelativeResize="0"/>
          <p:nvPr/>
        </p:nvPicPr>
        <p:blipFill rotWithShape="1">
          <a:blip r:embed="rId5">
            <a:alphaModFix/>
          </a:blip>
          <a:srcRect/>
          <a:stretch/>
        </p:blipFill>
        <p:spPr>
          <a:xfrm>
            <a:off x="4800600" y="1676400"/>
            <a:ext cx="381000" cy="350520"/>
          </a:xfrm>
          <a:prstGeom prst="rect">
            <a:avLst/>
          </a:prstGeom>
          <a:noFill/>
          <a:ln>
            <a:noFill/>
          </a:ln>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798"/>
        <p:cNvGrpSpPr/>
        <p:nvPr/>
      </p:nvGrpSpPr>
      <p:grpSpPr>
        <a:xfrm>
          <a:off x="0" y="0"/>
          <a:ext cx="0" cy="0"/>
          <a:chOff x="0" y="0"/>
          <a:chExt cx="0" cy="0"/>
        </a:xfrm>
      </p:grpSpPr>
      <p:sp>
        <p:nvSpPr>
          <p:cNvPr id="799" name="Google Shape;799;p71"/>
          <p:cNvSpPr txBox="1">
            <a:spLocks noGrp="1"/>
          </p:cNvSpPr>
          <p:nvPr>
            <p:ph type="title"/>
          </p:nvPr>
        </p:nvSpPr>
        <p:spPr>
          <a:xfrm>
            <a:off x="2209800" y="0"/>
            <a:ext cx="7772400" cy="1143000"/>
          </a:xfrm>
          <a:prstGeom prst="rect">
            <a:avLst/>
          </a:prstGeom>
          <a:noFill/>
          <a:ln>
            <a:noFill/>
          </a:ln>
        </p:spPr>
        <p:txBody>
          <a:bodyPr spcFirstLastPara="1" vert="horz" wrap="square" lIns="91425" tIns="45700" rIns="91425" bIns="45700" rtlCol="0" anchor="ctr" anchorCtr="0">
            <a:noAutofit/>
          </a:bodyPr>
          <a:lstStyle/>
          <a:p>
            <a:pPr algn="ctr">
              <a:lnSpc>
                <a:spcPct val="100000"/>
              </a:lnSpc>
              <a:spcBef>
                <a:spcPts val="0"/>
              </a:spcBef>
              <a:buClr>
                <a:schemeClr val="dk2"/>
              </a:buClr>
              <a:buSzPts val="3600"/>
            </a:pPr>
            <a:r>
              <a:rPr lang="en-US" sz="3600" b="1"/>
              <a:t>Left Outer Join Example2...</a:t>
            </a:r>
            <a:endParaRPr sz="3600" b="1"/>
          </a:p>
        </p:txBody>
      </p:sp>
      <p:sp>
        <p:nvSpPr>
          <p:cNvPr id="800" name="Google Shape;800;p71"/>
          <p:cNvSpPr txBox="1">
            <a:spLocks noGrp="1"/>
          </p:cNvSpPr>
          <p:nvPr>
            <p:ph type="body" idx="1"/>
          </p:nvPr>
        </p:nvSpPr>
        <p:spPr>
          <a:xfrm>
            <a:off x="2286001" y="990601"/>
            <a:ext cx="7091363" cy="676275"/>
          </a:xfrm>
          <a:prstGeom prst="rect">
            <a:avLst/>
          </a:prstGeom>
          <a:noFill/>
          <a:ln>
            <a:noFill/>
          </a:ln>
        </p:spPr>
        <p:txBody>
          <a:bodyPr spcFirstLastPara="1" vert="horz" wrap="square" lIns="91425" tIns="45700" rIns="91425" bIns="45700" rtlCol="0" anchor="t" anchorCtr="0">
            <a:noAutofit/>
          </a:bodyPr>
          <a:lstStyle/>
          <a:p>
            <a:pPr marL="342900" indent="-342900">
              <a:spcBef>
                <a:spcPts val="0"/>
              </a:spcBef>
              <a:buClr>
                <a:schemeClr val="dk1"/>
              </a:buClr>
              <a:buSzPts val="2400"/>
              <a:buFont typeface="Arial"/>
              <a:buChar char="•"/>
            </a:pPr>
            <a:r>
              <a:rPr lang="en-US" sz="2400" b="1"/>
              <a:t>Join</a:t>
            </a:r>
            <a:br>
              <a:rPr lang="en-US" sz="2400" b="1"/>
            </a:br>
            <a:br>
              <a:rPr lang="en-US" sz="2400" b="1"/>
            </a:br>
            <a:r>
              <a:rPr lang="en-US" sz="2400" i="1"/>
              <a:t>loan     Borrower</a:t>
            </a:r>
            <a:endParaRPr sz="2400" i="1"/>
          </a:p>
        </p:txBody>
      </p:sp>
      <p:sp>
        <p:nvSpPr>
          <p:cNvPr id="801" name="Google Shape;801;p71"/>
          <p:cNvSpPr/>
          <p:nvPr/>
        </p:nvSpPr>
        <p:spPr>
          <a:xfrm rot="5400000" flipH="1">
            <a:off x="3325813" y="1833563"/>
            <a:ext cx="152400" cy="152400"/>
          </a:xfrm>
          <a:prstGeom prst="flowChartCollate">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endParaRPr>
              <a:solidFill>
                <a:schemeClr val="dk1"/>
              </a:solidFill>
              <a:latin typeface="Times New Roman"/>
              <a:ea typeface="Times New Roman"/>
              <a:cs typeface="Times New Roman"/>
              <a:sym typeface="Times New Roman"/>
            </a:endParaRPr>
          </a:p>
        </p:txBody>
      </p:sp>
      <p:grpSp>
        <p:nvGrpSpPr>
          <p:cNvPr id="802" name="Google Shape;802;p71"/>
          <p:cNvGrpSpPr/>
          <p:nvPr/>
        </p:nvGrpSpPr>
        <p:grpSpPr>
          <a:xfrm>
            <a:off x="3048000" y="2209800"/>
            <a:ext cx="6019800" cy="990600"/>
            <a:chOff x="960" y="1392"/>
            <a:chExt cx="3792" cy="624"/>
          </a:xfrm>
        </p:grpSpPr>
        <p:sp>
          <p:nvSpPr>
            <p:cNvPr id="803" name="Google Shape;803;p71"/>
            <p:cNvSpPr/>
            <p:nvPr/>
          </p:nvSpPr>
          <p:spPr>
            <a:xfrm>
              <a:off x="960" y="1392"/>
              <a:ext cx="1008" cy="192"/>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loan-number</a:t>
              </a:r>
              <a:endParaRPr>
                <a:solidFill>
                  <a:schemeClr val="dk1"/>
                </a:solidFill>
                <a:latin typeface="Helvetica Neue"/>
                <a:ea typeface="Helvetica Neue"/>
                <a:cs typeface="Helvetica Neue"/>
                <a:sym typeface="Helvetica Neue"/>
              </a:endParaRPr>
            </a:p>
          </p:txBody>
        </p:sp>
        <p:sp>
          <p:nvSpPr>
            <p:cNvPr id="804" name="Google Shape;804;p71"/>
            <p:cNvSpPr/>
            <p:nvPr/>
          </p:nvSpPr>
          <p:spPr>
            <a:xfrm>
              <a:off x="2976" y="1392"/>
              <a:ext cx="720" cy="192"/>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amount</a:t>
              </a:r>
              <a:endParaRPr>
                <a:solidFill>
                  <a:schemeClr val="dk1"/>
                </a:solidFill>
                <a:latin typeface="Helvetica Neue"/>
                <a:ea typeface="Helvetica Neue"/>
                <a:cs typeface="Helvetica Neue"/>
                <a:sym typeface="Helvetica Neue"/>
              </a:endParaRPr>
            </a:p>
          </p:txBody>
        </p:sp>
        <p:sp>
          <p:nvSpPr>
            <p:cNvPr id="805" name="Google Shape;805;p71"/>
            <p:cNvSpPr/>
            <p:nvPr/>
          </p:nvSpPr>
          <p:spPr>
            <a:xfrm>
              <a:off x="960" y="1632"/>
              <a:ext cx="1008" cy="384"/>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r>
                <a:rPr lang="en-US">
                  <a:solidFill>
                    <a:schemeClr val="dk1"/>
                  </a:solidFill>
                  <a:latin typeface="Helvetica Neue"/>
                  <a:ea typeface="Helvetica Neue"/>
                  <a:cs typeface="Helvetica Neue"/>
                  <a:sym typeface="Helvetica Neue"/>
                </a:rPr>
                <a:t>L-170</a:t>
              </a:r>
              <a:endParaRPr>
                <a:solidFill>
                  <a:schemeClr val="dk1"/>
                </a:solidFill>
                <a:latin typeface="Helvetica Neue"/>
                <a:ea typeface="Helvetica Neue"/>
                <a:cs typeface="Helvetica Neue"/>
                <a:sym typeface="Helvetica Neue"/>
              </a:endParaRPr>
            </a:p>
            <a:p>
              <a:r>
                <a:rPr lang="en-US">
                  <a:solidFill>
                    <a:schemeClr val="dk1"/>
                  </a:solidFill>
                  <a:latin typeface="Helvetica Neue"/>
                  <a:ea typeface="Helvetica Neue"/>
                  <a:cs typeface="Helvetica Neue"/>
                  <a:sym typeface="Helvetica Neue"/>
                </a:rPr>
                <a:t>L-230</a:t>
              </a:r>
              <a:endParaRPr>
                <a:solidFill>
                  <a:schemeClr val="dk1"/>
                </a:solidFill>
                <a:latin typeface="Helvetica Neue"/>
                <a:ea typeface="Helvetica Neue"/>
                <a:cs typeface="Helvetica Neue"/>
                <a:sym typeface="Helvetica Neue"/>
              </a:endParaRPr>
            </a:p>
          </p:txBody>
        </p:sp>
        <p:sp>
          <p:nvSpPr>
            <p:cNvPr id="806" name="Google Shape;806;p71"/>
            <p:cNvSpPr/>
            <p:nvPr/>
          </p:nvSpPr>
          <p:spPr>
            <a:xfrm>
              <a:off x="2976" y="1632"/>
              <a:ext cx="720" cy="384"/>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a:solidFill>
                    <a:schemeClr val="dk1"/>
                  </a:solidFill>
                  <a:latin typeface="Helvetica Neue"/>
                  <a:ea typeface="Helvetica Neue"/>
                  <a:cs typeface="Helvetica Neue"/>
                  <a:sym typeface="Helvetica Neue"/>
                </a:rPr>
                <a:t>3000</a:t>
              </a:r>
              <a:endParaRPr>
                <a:solidFill>
                  <a:schemeClr val="dk1"/>
                </a:solidFill>
                <a:latin typeface="Helvetica Neue"/>
                <a:ea typeface="Helvetica Neue"/>
                <a:cs typeface="Helvetica Neue"/>
                <a:sym typeface="Helvetica Neue"/>
              </a:endParaRPr>
            </a:p>
            <a:p>
              <a:pPr algn="ctr"/>
              <a:r>
                <a:rPr lang="en-US">
                  <a:solidFill>
                    <a:schemeClr val="dk1"/>
                  </a:solidFill>
                  <a:latin typeface="Helvetica Neue"/>
                  <a:ea typeface="Helvetica Neue"/>
                  <a:cs typeface="Helvetica Neue"/>
                  <a:sym typeface="Helvetica Neue"/>
                </a:rPr>
                <a:t>4000</a:t>
              </a:r>
              <a:endParaRPr>
                <a:solidFill>
                  <a:schemeClr val="dk1"/>
                </a:solidFill>
                <a:latin typeface="Helvetica Neue"/>
                <a:ea typeface="Helvetica Neue"/>
                <a:cs typeface="Helvetica Neue"/>
                <a:sym typeface="Helvetica Neue"/>
              </a:endParaRPr>
            </a:p>
          </p:txBody>
        </p:sp>
        <p:sp>
          <p:nvSpPr>
            <p:cNvPr id="807" name="Google Shape;807;p71"/>
            <p:cNvSpPr/>
            <p:nvPr/>
          </p:nvSpPr>
          <p:spPr>
            <a:xfrm>
              <a:off x="3696" y="1392"/>
              <a:ext cx="1056" cy="192"/>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customer-name</a:t>
              </a:r>
              <a:endParaRPr>
                <a:solidFill>
                  <a:schemeClr val="dk1"/>
                </a:solidFill>
                <a:latin typeface="Helvetica Neue"/>
                <a:ea typeface="Helvetica Neue"/>
                <a:cs typeface="Helvetica Neue"/>
                <a:sym typeface="Helvetica Neue"/>
              </a:endParaRPr>
            </a:p>
          </p:txBody>
        </p:sp>
        <p:sp>
          <p:nvSpPr>
            <p:cNvPr id="808" name="Google Shape;808;p71"/>
            <p:cNvSpPr/>
            <p:nvPr/>
          </p:nvSpPr>
          <p:spPr>
            <a:xfrm>
              <a:off x="3696" y="1632"/>
              <a:ext cx="1056" cy="384"/>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r>
                <a:rPr lang="en-US">
                  <a:solidFill>
                    <a:schemeClr val="dk1"/>
                  </a:solidFill>
                  <a:latin typeface="Helvetica Neue"/>
                  <a:ea typeface="Helvetica Neue"/>
                  <a:cs typeface="Helvetica Neue"/>
                  <a:sym typeface="Helvetica Neue"/>
                </a:rPr>
                <a:t>Jones</a:t>
              </a:r>
              <a:endParaRPr>
                <a:solidFill>
                  <a:schemeClr val="dk1"/>
                </a:solidFill>
                <a:latin typeface="Helvetica Neue"/>
                <a:ea typeface="Helvetica Neue"/>
                <a:cs typeface="Helvetica Neue"/>
                <a:sym typeface="Helvetica Neue"/>
              </a:endParaRPr>
            </a:p>
            <a:p>
              <a:r>
                <a:rPr lang="en-US">
                  <a:solidFill>
                    <a:schemeClr val="dk1"/>
                  </a:solidFill>
                  <a:latin typeface="Helvetica Neue"/>
                  <a:ea typeface="Helvetica Neue"/>
                  <a:cs typeface="Helvetica Neue"/>
                  <a:sym typeface="Helvetica Neue"/>
                </a:rPr>
                <a:t>Smith</a:t>
              </a:r>
              <a:endParaRPr>
                <a:solidFill>
                  <a:schemeClr val="dk1"/>
                </a:solidFill>
                <a:latin typeface="Helvetica Neue"/>
                <a:ea typeface="Helvetica Neue"/>
                <a:cs typeface="Helvetica Neue"/>
                <a:sym typeface="Helvetica Neue"/>
              </a:endParaRPr>
            </a:p>
          </p:txBody>
        </p:sp>
        <p:sp>
          <p:nvSpPr>
            <p:cNvPr id="809" name="Google Shape;809;p71"/>
            <p:cNvSpPr/>
            <p:nvPr/>
          </p:nvSpPr>
          <p:spPr>
            <a:xfrm>
              <a:off x="1968" y="1392"/>
              <a:ext cx="1008" cy="192"/>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branch-name</a:t>
              </a:r>
              <a:endParaRPr>
                <a:solidFill>
                  <a:schemeClr val="dk1"/>
                </a:solidFill>
                <a:latin typeface="Helvetica Neue"/>
                <a:ea typeface="Helvetica Neue"/>
                <a:cs typeface="Helvetica Neue"/>
                <a:sym typeface="Helvetica Neue"/>
              </a:endParaRPr>
            </a:p>
          </p:txBody>
        </p:sp>
        <p:sp>
          <p:nvSpPr>
            <p:cNvPr id="810" name="Google Shape;810;p71"/>
            <p:cNvSpPr/>
            <p:nvPr/>
          </p:nvSpPr>
          <p:spPr>
            <a:xfrm>
              <a:off x="1968" y="1632"/>
              <a:ext cx="1008" cy="384"/>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r>
                <a:rPr lang="en-US">
                  <a:solidFill>
                    <a:schemeClr val="dk1"/>
                  </a:solidFill>
                  <a:latin typeface="Helvetica Neue"/>
                  <a:ea typeface="Helvetica Neue"/>
                  <a:cs typeface="Helvetica Neue"/>
                  <a:sym typeface="Helvetica Neue"/>
                </a:rPr>
                <a:t>Downtown</a:t>
              </a:r>
              <a:endParaRPr>
                <a:solidFill>
                  <a:schemeClr val="dk1"/>
                </a:solidFill>
                <a:latin typeface="Helvetica Neue"/>
                <a:ea typeface="Helvetica Neue"/>
                <a:cs typeface="Helvetica Neue"/>
                <a:sym typeface="Helvetica Neue"/>
              </a:endParaRPr>
            </a:p>
            <a:p>
              <a:r>
                <a:rPr lang="en-US">
                  <a:solidFill>
                    <a:schemeClr val="dk1"/>
                  </a:solidFill>
                  <a:latin typeface="Helvetica Neue"/>
                  <a:ea typeface="Helvetica Neue"/>
                  <a:cs typeface="Helvetica Neue"/>
                  <a:sym typeface="Helvetica Neue"/>
                </a:rPr>
                <a:t>Redwood</a:t>
              </a:r>
              <a:endParaRPr>
                <a:solidFill>
                  <a:schemeClr val="dk1"/>
                </a:solidFill>
                <a:latin typeface="Helvetica Neue"/>
                <a:ea typeface="Helvetica Neue"/>
                <a:cs typeface="Helvetica Neue"/>
                <a:sym typeface="Helvetica Neue"/>
              </a:endParaRPr>
            </a:p>
          </p:txBody>
        </p:sp>
      </p:grpSp>
      <p:grpSp>
        <p:nvGrpSpPr>
          <p:cNvPr id="811" name="Google Shape;811;p71"/>
          <p:cNvGrpSpPr/>
          <p:nvPr/>
        </p:nvGrpSpPr>
        <p:grpSpPr>
          <a:xfrm>
            <a:off x="3113088" y="4254500"/>
            <a:ext cx="6032500" cy="1219200"/>
            <a:chOff x="1001" y="2680"/>
            <a:chExt cx="3800" cy="768"/>
          </a:xfrm>
        </p:grpSpPr>
        <p:sp>
          <p:nvSpPr>
            <p:cNvPr id="812" name="Google Shape;812;p71"/>
            <p:cNvSpPr/>
            <p:nvPr/>
          </p:nvSpPr>
          <p:spPr>
            <a:xfrm>
              <a:off x="3728" y="2920"/>
              <a:ext cx="1056" cy="528"/>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r>
                <a:rPr lang="en-US">
                  <a:solidFill>
                    <a:schemeClr val="dk1"/>
                  </a:solidFill>
                  <a:latin typeface="Helvetica Neue"/>
                  <a:ea typeface="Helvetica Neue"/>
                  <a:cs typeface="Helvetica Neue"/>
                  <a:sym typeface="Helvetica Neue"/>
                </a:rPr>
                <a:t>Jones</a:t>
              </a:r>
              <a:endParaRPr>
                <a:solidFill>
                  <a:schemeClr val="dk1"/>
                </a:solidFill>
                <a:latin typeface="Helvetica Neue"/>
                <a:ea typeface="Helvetica Neue"/>
                <a:cs typeface="Helvetica Neue"/>
                <a:sym typeface="Helvetica Neue"/>
              </a:endParaRPr>
            </a:p>
            <a:p>
              <a:r>
                <a:rPr lang="en-US">
                  <a:solidFill>
                    <a:schemeClr val="dk1"/>
                  </a:solidFill>
                  <a:latin typeface="Helvetica Neue"/>
                  <a:ea typeface="Helvetica Neue"/>
                  <a:cs typeface="Helvetica Neue"/>
                  <a:sym typeface="Helvetica Neue"/>
                </a:rPr>
                <a:t>Smith</a:t>
              </a:r>
              <a:endParaRPr>
                <a:solidFill>
                  <a:schemeClr val="dk1"/>
                </a:solidFill>
                <a:latin typeface="Helvetica Neue"/>
                <a:ea typeface="Helvetica Neue"/>
                <a:cs typeface="Helvetica Neue"/>
                <a:sym typeface="Helvetica Neue"/>
              </a:endParaRPr>
            </a:p>
            <a:p>
              <a:r>
                <a:rPr lang="en-US" i="1">
                  <a:solidFill>
                    <a:schemeClr val="dk1"/>
                  </a:solidFill>
                  <a:latin typeface="Helvetica Neue"/>
                  <a:ea typeface="Helvetica Neue"/>
                  <a:cs typeface="Helvetica Neue"/>
                  <a:sym typeface="Helvetica Neue"/>
                </a:rPr>
                <a:t>null</a:t>
              </a:r>
              <a:endParaRPr>
                <a:solidFill>
                  <a:schemeClr val="dk1"/>
                </a:solidFill>
                <a:latin typeface="Helvetica Neue"/>
                <a:ea typeface="Helvetica Neue"/>
                <a:cs typeface="Helvetica Neue"/>
                <a:sym typeface="Helvetica Neue"/>
              </a:endParaRPr>
            </a:p>
          </p:txBody>
        </p:sp>
        <p:sp>
          <p:nvSpPr>
            <p:cNvPr id="813" name="Google Shape;813;p71"/>
            <p:cNvSpPr/>
            <p:nvPr/>
          </p:nvSpPr>
          <p:spPr>
            <a:xfrm>
              <a:off x="1010" y="2680"/>
              <a:ext cx="1008" cy="192"/>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loan-number</a:t>
              </a:r>
              <a:endParaRPr>
                <a:solidFill>
                  <a:schemeClr val="dk1"/>
                </a:solidFill>
                <a:latin typeface="Helvetica Neue"/>
                <a:ea typeface="Helvetica Neue"/>
                <a:cs typeface="Helvetica Neue"/>
                <a:sym typeface="Helvetica Neue"/>
              </a:endParaRPr>
            </a:p>
          </p:txBody>
        </p:sp>
        <p:sp>
          <p:nvSpPr>
            <p:cNvPr id="814" name="Google Shape;814;p71"/>
            <p:cNvSpPr/>
            <p:nvPr/>
          </p:nvSpPr>
          <p:spPr>
            <a:xfrm>
              <a:off x="3026" y="2680"/>
              <a:ext cx="720" cy="192"/>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amount</a:t>
              </a:r>
              <a:endParaRPr>
                <a:solidFill>
                  <a:schemeClr val="dk1"/>
                </a:solidFill>
                <a:latin typeface="Helvetica Neue"/>
                <a:ea typeface="Helvetica Neue"/>
                <a:cs typeface="Helvetica Neue"/>
                <a:sym typeface="Helvetica Neue"/>
              </a:endParaRPr>
            </a:p>
          </p:txBody>
        </p:sp>
        <p:sp>
          <p:nvSpPr>
            <p:cNvPr id="815" name="Google Shape;815;p71"/>
            <p:cNvSpPr/>
            <p:nvPr/>
          </p:nvSpPr>
          <p:spPr>
            <a:xfrm>
              <a:off x="1001" y="2920"/>
              <a:ext cx="1008" cy="528"/>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r>
                <a:rPr lang="en-US">
                  <a:solidFill>
                    <a:schemeClr val="dk1"/>
                  </a:solidFill>
                  <a:latin typeface="Helvetica Neue"/>
                  <a:ea typeface="Helvetica Neue"/>
                  <a:cs typeface="Helvetica Neue"/>
                  <a:sym typeface="Helvetica Neue"/>
                </a:rPr>
                <a:t>L-170</a:t>
              </a:r>
              <a:endParaRPr>
                <a:solidFill>
                  <a:schemeClr val="dk1"/>
                </a:solidFill>
                <a:latin typeface="Helvetica Neue"/>
                <a:ea typeface="Helvetica Neue"/>
                <a:cs typeface="Helvetica Neue"/>
                <a:sym typeface="Helvetica Neue"/>
              </a:endParaRPr>
            </a:p>
            <a:p>
              <a:r>
                <a:rPr lang="en-US">
                  <a:solidFill>
                    <a:schemeClr val="dk1"/>
                  </a:solidFill>
                  <a:latin typeface="Helvetica Neue"/>
                  <a:ea typeface="Helvetica Neue"/>
                  <a:cs typeface="Helvetica Neue"/>
                  <a:sym typeface="Helvetica Neue"/>
                </a:rPr>
                <a:t>L-230</a:t>
              </a:r>
              <a:endParaRPr>
                <a:solidFill>
                  <a:schemeClr val="dk1"/>
                </a:solidFill>
                <a:latin typeface="Helvetica Neue"/>
                <a:ea typeface="Helvetica Neue"/>
                <a:cs typeface="Helvetica Neue"/>
                <a:sym typeface="Helvetica Neue"/>
              </a:endParaRPr>
            </a:p>
            <a:p>
              <a:r>
                <a:rPr lang="en-US">
                  <a:solidFill>
                    <a:schemeClr val="dk1"/>
                  </a:solidFill>
                  <a:latin typeface="Helvetica Neue"/>
                  <a:ea typeface="Helvetica Neue"/>
                  <a:cs typeface="Helvetica Neue"/>
                  <a:sym typeface="Helvetica Neue"/>
                </a:rPr>
                <a:t>L-260</a:t>
              </a:r>
              <a:endParaRPr>
                <a:solidFill>
                  <a:schemeClr val="dk1"/>
                </a:solidFill>
                <a:latin typeface="Helvetica Neue"/>
                <a:ea typeface="Helvetica Neue"/>
                <a:cs typeface="Helvetica Neue"/>
                <a:sym typeface="Helvetica Neue"/>
              </a:endParaRPr>
            </a:p>
          </p:txBody>
        </p:sp>
        <p:sp>
          <p:nvSpPr>
            <p:cNvPr id="816" name="Google Shape;816;p71"/>
            <p:cNvSpPr/>
            <p:nvPr/>
          </p:nvSpPr>
          <p:spPr>
            <a:xfrm>
              <a:off x="3008" y="2920"/>
              <a:ext cx="720" cy="528"/>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a:solidFill>
                    <a:schemeClr val="dk1"/>
                  </a:solidFill>
                  <a:latin typeface="Helvetica Neue"/>
                  <a:ea typeface="Helvetica Neue"/>
                  <a:cs typeface="Helvetica Neue"/>
                  <a:sym typeface="Helvetica Neue"/>
                </a:rPr>
                <a:t>3000</a:t>
              </a:r>
              <a:endParaRPr>
                <a:solidFill>
                  <a:schemeClr val="dk1"/>
                </a:solidFill>
                <a:latin typeface="Helvetica Neue"/>
                <a:ea typeface="Helvetica Neue"/>
                <a:cs typeface="Helvetica Neue"/>
                <a:sym typeface="Helvetica Neue"/>
              </a:endParaRPr>
            </a:p>
            <a:p>
              <a:pPr algn="ctr"/>
              <a:r>
                <a:rPr lang="en-US">
                  <a:solidFill>
                    <a:schemeClr val="dk1"/>
                  </a:solidFill>
                  <a:latin typeface="Helvetica Neue"/>
                  <a:ea typeface="Helvetica Neue"/>
                  <a:cs typeface="Helvetica Neue"/>
                  <a:sym typeface="Helvetica Neue"/>
                </a:rPr>
                <a:t>4000</a:t>
              </a:r>
              <a:endParaRPr>
                <a:solidFill>
                  <a:schemeClr val="dk1"/>
                </a:solidFill>
                <a:latin typeface="Helvetica Neue"/>
                <a:ea typeface="Helvetica Neue"/>
                <a:cs typeface="Helvetica Neue"/>
                <a:sym typeface="Helvetica Neue"/>
              </a:endParaRPr>
            </a:p>
            <a:p>
              <a:pPr algn="ctr"/>
              <a:r>
                <a:rPr lang="en-US">
                  <a:solidFill>
                    <a:schemeClr val="dk1"/>
                  </a:solidFill>
                  <a:latin typeface="Helvetica Neue"/>
                  <a:ea typeface="Helvetica Neue"/>
                  <a:cs typeface="Helvetica Neue"/>
                  <a:sym typeface="Helvetica Neue"/>
                </a:rPr>
                <a:t>1700</a:t>
              </a:r>
              <a:endParaRPr>
                <a:solidFill>
                  <a:schemeClr val="dk1"/>
                </a:solidFill>
                <a:latin typeface="Helvetica Neue"/>
                <a:ea typeface="Helvetica Neue"/>
                <a:cs typeface="Helvetica Neue"/>
                <a:sym typeface="Helvetica Neue"/>
              </a:endParaRPr>
            </a:p>
          </p:txBody>
        </p:sp>
        <p:sp>
          <p:nvSpPr>
            <p:cNvPr id="817" name="Google Shape;817;p71"/>
            <p:cNvSpPr/>
            <p:nvPr/>
          </p:nvSpPr>
          <p:spPr>
            <a:xfrm>
              <a:off x="3745" y="2680"/>
              <a:ext cx="1056" cy="192"/>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customer-name</a:t>
              </a:r>
              <a:endParaRPr>
                <a:solidFill>
                  <a:schemeClr val="dk1"/>
                </a:solidFill>
                <a:latin typeface="Helvetica Neue"/>
                <a:ea typeface="Helvetica Neue"/>
                <a:cs typeface="Helvetica Neue"/>
                <a:sym typeface="Helvetica Neue"/>
              </a:endParaRPr>
            </a:p>
          </p:txBody>
        </p:sp>
        <p:sp>
          <p:nvSpPr>
            <p:cNvPr id="818" name="Google Shape;818;p71"/>
            <p:cNvSpPr/>
            <p:nvPr/>
          </p:nvSpPr>
          <p:spPr>
            <a:xfrm>
              <a:off x="2018" y="2680"/>
              <a:ext cx="1008" cy="192"/>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branch-name</a:t>
              </a:r>
              <a:endParaRPr>
                <a:solidFill>
                  <a:schemeClr val="dk1"/>
                </a:solidFill>
                <a:latin typeface="Helvetica Neue"/>
                <a:ea typeface="Helvetica Neue"/>
                <a:cs typeface="Helvetica Neue"/>
                <a:sym typeface="Helvetica Neue"/>
              </a:endParaRPr>
            </a:p>
          </p:txBody>
        </p:sp>
        <p:sp>
          <p:nvSpPr>
            <p:cNvPr id="819" name="Google Shape;819;p71"/>
            <p:cNvSpPr/>
            <p:nvPr/>
          </p:nvSpPr>
          <p:spPr>
            <a:xfrm>
              <a:off x="2000" y="2920"/>
              <a:ext cx="1008" cy="528"/>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r>
                <a:rPr lang="en-US">
                  <a:solidFill>
                    <a:schemeClr val="dk1"/>
                  </a:solidFill>
                  <a:latin typeface="Helvetica Neue"/>
                  <a:ea typeface="Helvetica Neue"/>
                  <a:cs typeface="Helvetica Neue"/>
                  <a:sym typeface="Helvetica Neue"/>
                </a:rPr>
                <a:t>Downtown</a:t>
              </a:r>
              <a:endParaRPr>
                <a:solidFill>
                  <a:schemeClr val="dk1"/>
                </a:solidFill>
                <a:latin typeface="Helvetica Neue"/>
                <a:ea typeface="Helvetica Neue"/>
                <a:cs typeface="Helvetica Neue"/>
                <a:sym typeface="Helvetica Neue"/>
              </a:endParaRPr>
            </a:p>
            <a:p>
              <a:r>
                <a:rPr lang="en-US">
                  <a:solidFill>
                    <a:schemeClr val="dk1"/>
                  </a:solidFill>
                  <a:latin typeface="Helvetica Neue"/>
                  <a:ea typeface="Helvetica Neue"/>
                  <a:cs typeface="Helvetica Neue"/>
                  <a:sym typeface="Helvetica Neue"/>
                </a:rPr>
                <a:t>Redwood</a:t>
              </a:r>
              <a:endParaRPr>
                <a:solidFill>
                  <a:schemeClr val="dk1"/>
                </a:solidFill>
                <a:latin typeface="Helvetica Neue"/>
                <a:ea typeface="Helvetica Neue"/>
                <a:cs typeface="Helvetica Neue"/>
                <a:sym typeface="Helvetica Neue"/>
              </a:endParaRPr>
            </a:p>
            <a:p>
              <a:r>
                <a:rPr lang="en-US">
                  <a:solidFill>
                    <a:schemeClr val="dk1"/>
                  </a:solidFill>
                  <a:latin typeface="Helvetica Neue"/>
                  <a:ea typeface="Helvetica Neue"/>
                  <a:cs typeface="Helvetica Neue"/>
                  <a:sym typeface="Helvetica Neue"/>
                </a:rPr>
                <a:t>Perryridge</a:t>
              </a:r>
              <a:endParaRPr>
                <a:solidFill>
                  <a:schemeClr val="dk1"/>
                </a:solidFill>
                <a:latin typeface="Helvetica Neue"/>
                <a:ea typeface="Helvetica Neue"/>
                <a:cs typeface="Helvetica Neue"/>
                <a:sym typeface="Helvetica Neue"/>
              </a:endParaRPr>
            </a:p>
          </p:txBody>
        </p:sp>
      </p:grpSp>
      <p:grpSp>
        <p:nvGrpSpPr>
          <p:cNvPr id="820" name="Google Shape;820;p71"/>
          <p:cNvGrpSpPr/>
          <p:nvPr/>
        </p:nvGrpSpPr>
        <p:grpSpPr>
          <a:xfrm>
            <a:off x="2657475" y="3422650"/>
            <a:ext cx="4235450" cy="768350"/>
            <a:chOff x="714" y="2156"/>
            <a:chExt cx="2668" cy="484"/>
          </a:xfrm>
        </p:grpSpPr>
        <p:sp>
          <p:nvSpPr>
            <p:cNvPr id="821" name="Google Shape;821;p71"/>
            <p:cNvSpPr/>
            <p:nvPr/>
          </p:nvSpPr>
          <p:spPr>
            <a:xfrm>
              <a:off x="714" y="2156"/>
              <a:ext cx="2668" cy="484"/>
            </a:xfrm>
            <a:prstGeom prst="rect">
              <a:avLst/>
            </a:prstGeom>
            <a:noFill/>
            <a:ln>
              <a:noFill/>
            </a:ln>
          </p:spPr>
          <p:txBody>
            <a:bodyPr spcFirstLastPara="1" wrap="square" lIns="91425" tIns="45700" rIns="91425" bIns="45700" anchor="t" anchorCtr="0">
              <a:spAutoFit/>
            </a:bodyPr>
            <a:lstStyle/>
            <a:p>
              <a:pPr indent="-114300">
                <a:buClr>
                  <a:schemeClr val="dk2"/>
                </a:buClr>
                <a:buSzPts val="1800"/>
                <a:buFont typeface="Arial"/>
                <a:buChar char="●"/>
              </a:pPr>
              <a:r>
                <a:rPr lang="en-US" sz="2000" b="1">
                  <a:solidFill>
                    <a:schemeClr val="dk1"/>
                  </a:solidFill>
                  <a:latin typeface="Helvetica Neue"/>
                  <a:ea typeface="Helvetica Neue"/>
                  <a:cs typeface="Helvetica Neue"/>
                  <a:sym typeface="Helvetica Neue"/>
                </a:rPr>
                <a:t> Left Outer Join</a:t>
              </a:r>
              <a:endParaRPr sz="2000" b="1">
                <a:solidFill>
                  <a:schemeClr val="dk1"/>
                </a:solidFill>
                <a:latin typeface="Helvetica Neue"/>
                <a:ea typeface="Helvetica Neue"/>
                <a:cs typeface="Helvetica Neue"/>
                <a:sym typeface="Helvetica Neue"/>
              </a:endParaRPr>
            </a:p>
            <a:p>
              <a:pPr>
                <a:spcBef>
                  <a:spcPts val="630"/>
                </a:spcBef>
              </a:pPr>
              <a:r>
                <a:rPr lang="en-US" i="1">
                  <a:solidFill>
                    <a:schemeClr val="dk1"/>
                  </a:solidFill>
                  <a:latin typeface="Helvetica Neue"/>
                  <a:ea typeface="Helvetica Neue"/>
                  <a:cs typeface="Helvetica Neue"/>
                  <a:sym typeface="Helvetica Neue"/>
                </a:rPr>
                <a:t>    loan          Borrower</a:t>
              </a:r>
              <a:endParaRPr sz="2000" b="1">
                <a:solidFill>
                  <a:schemeClr val="dk1"/>
                </a:solidFill>
                <a:latin typeface="Helvetica Neue"/>
                <a:ea typeface="Helvetica Neue"/>
                <a:cs typeface="Helvetica Neue"/>
                <a:sym typeface="Helvetica Neue"/>
              </a:endParaRPr>
            </a:p>
          </p:txBody>
        </p:sp>
        <p:grpSp>
          <p:nvGrpSpPr>
            <p:cNvPr id="822" name="Google Shape;822;p71"/>
            <p:cNvGrpSpPr/>
            <p:nvPr/>
          </p:nvGrpSpPr>
          <p:grpSpPr>
            <a:xfrm>
              <a:off x="1248" y="2465"/>
              <a:ext cx="261" cy="132"/>
              <a:chOff x="1225" y="2417"/>
              <a:chExt cx="261" cy="132"/>
            </a:xfrm>
          </p:grpSpPr>
          <p:sp>
            <p:nvSpPr>
              <p:cNvPr id="823" name="Google Shape;823;p71"/>
              <p:cNvSpPr/>
              <p:nvPr/>
            </p:nvSpPr>
            <p:spPr>
              <a:xfrm rot="5400000" flipH="1">
                <a:off x="1354" y="2417"/>
                <a:ext cx="132" cy="132"/>
              </a:xfrm>
              <a:prstGeom prst="flowChartCollate">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endParaRPr>
                  <a:solidFill>
                    <a:schemeClr val="dk1"/>
                  </a:solidFill>
                  <a:latin typeface="Times New Roman"/>
                  <a:ea typeface="Times New Roman"/>
                  <a:cs typeface="Times New Roman"/>
                  <a:sym typeface="Times New Roman"/>
                </a:endParaRPr>
              </a:p>
            </p:txBody>
          </p:sp>
          <p:cxnSp>
            <p:nvCxnSpPr>
              <p:cNvPr id="824" name="Google Shape;824;p71"/>
              <p:cNvCxnSpPr/>
              <p:nvPr/>
            </p:nvCxnSpPr>
            <p:spPr>
              <a:xfrm rot="10800000">
                <a:off x="1228" y="2419"/>
                <a:ext cx="128" cy="0"/>
              </a:xfrm>
              <a:prstGeom prst="straightConnector1">
                <a:avLst/>
              </a:prstGeom>
              <a:noFill/>
              <a:ln w="9525" cap="flat" cmpd="sng">
                <a:solidFill>
                  <a:schemeClr val="dk1"/>
                </a:solidFill>
                <a:prstDash val="solid"/>
                <a:round/>
                <a:headEnd type="none" w="sm" len="sm"/>
                <a:tailEnd type="none" w="sm" len="sm"/>
              </a:ln>
            </p:spPr>
          </p:cxnSp>
          <p:cxnSp>
            <p:nvCxnSpPr>
              <p:cNvPr id="825" name="Google Shape;825;p71"/>
              <p:cNvCxnSpPr/>
              <p:nvPr/>
            </p:nvCxnSpPr>
            <p:spPr>
              <a:xfrm rot="10800000">
                <a:off x="1225" y="2542"/>
                <a:ext cx="128" cy="0"/>
              </a:xfrm>
              <a:prstGeom prst="straightConnector1">
                <a:avLst/>
              </a:prstGeom>
              <a:noFill/>
              <a:ln w="9525" cap="flat" cmpd="sng">
                <a:solidFill>
                  <a:schemeClr val="dk1"/>
                </a:solidFill>
                <a:prstDash val="solid"/>
                <a:round/>
                <a:headEnd type="none" w="sm" len="sm"/>
                <a:tailEnd type="none" w="sm" len="sm"/>
              </a:ln>
            </p:spPr>
          </p:cxn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0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829"/>
        <p:cNvGrpSpPr/>
        <p:nvPr/>
      </p:nvGrpSpPr>
      <p:grpSpPr>
        <a:xfrm>
          <a:off x="0" y="0"/>
          <a:ext cx="0" cy="0"/>
          <a:chOff x="0" y="0"/>
          <a:chExt cx="0" cy="0"/>
        </a:xfrm>
      </p:grpSpPr>
      <p:sp>
        <p:nvSpPr>
          <p:cNvPr id="830" name="Google Shape;830;p72"/>
          <p:cNvSpPr txBox="1">
            <a:spLocks noGrp="1"/>
          </p:cNvSpPr>
          <p:nvPr>
            <p:ph type="title"/>
          </p:nvPr>
        </p:nvSpPr>
        <p:spPr>
          <a:xfrm>
            <a:off x="1981200" y="274638"/>
            <a:ext cx="8229600" cy="1143000"/>
          </a:xfrm>
          <a:prstGeom prst="rect">
            <a:avLst/>
          </a:prstGeom>
          <a:noFill/>
          <a:ln>
            <a:noFill/>
          </a:ln>
        </p:spPr>
        <p:txBody>
          <a:bodyPr spcFirstLastPara="1" vert="horz" wrap="square" lIns="91425" tIns="45700" rIns="91425" bIns="45700" rtlCol="0" anchor="ctr" anchorCtr="0">
            <a:noAutofit/>
          </a:bodyPr>
          <a:lstStyle/>
          <a:p>
            <a:pPr algn="ctr">
              <a:lnSpc>
                <a:spcPct val="100000"/>
              </a:lnSpc>
              <a:spcBef>
                <a:spcPts val="0"/>
              </a:spcBef>
              <a:buClr>
                <a:schemeClr val="dk2"/>
              </a:buClr>
              <a:buSzPts val="4400"/>
            </a:pPr>
            <a:r>
              <a:rPr lang="en-US" b="1">
                <a:latin typeface="Times New Roman"/>
                <a:ea typeface="Times New Roman"/>
                <a:cs typeface="Times New Roman"/>
                <a:sym typeface="Times New Roman"/>
              </a:rPr>
              <a:t>Right Outer Join</a:t>
            </a:r>
            <a:endParaRPr>
              <a:latin typeface="Times New Roman"/>
              <a:ea typeface="Times New Roman"/>
              <a:cs typeface="Times New Roman"/>
              <a:sym typeface="Times New Roman"/>
            </a:endParaRPr>
          </a:p>
        </p:txBody>
      </p:sp>
      <p:sp>
        <p:nvSpPr>
          <p:cNvPr id="831" name="Google Shape;831;p72"/>
          <p:cNvSpPr txBox="1">
            <a:spLocks noGrp="1"/>
          </p:cNvSpPr>
          <p:nvPr>
            <p:ph type="body" idx="1"/>
          </p:nvPr>
        </p:nvSpPr>
        <p:spPr>
          <a:xfrm>
            <a:off x="1981200" y="1600201"/>
            <a:ext cx="8229600" cy="4525963"/>
          </a:xfrm>
          <a:prstGeom prst="rect">
            <a:avLst/>
          </a:prstGeom>
          <a:noFill/>
          <a:ln>
            <a:noFill/>
          </a:ln>
        </p:spPr>
        <p:txBody>
          <a:bodyPr spcFirstLastPara="1" vert="horz" wrap="square" lIns="91425" tIns="45700" rIns="91425" bIns="45700" rtlCol="0" anchor="t" anchorCtr="0">
            <a:normAutofit/>
          </a:bodyPr>
          <a:lstStyle/>
          <a:p>
            <a:pPr marL="342900" indent="-342900" algn="just">
              <a:lnSpc>
                <a:spcPct val="100000"/>
              </a:lnSpc>
              <a:spcBef>
                <a:spcPts val="0"/>
              </a:spcBef>
              <a:buClr>
                <a:schemeClr val="dk1"/>
              </a:buClr>
              <a:buSzPts val="2400"/>
              <a:buFont typeface="Times New Roman"/>
              <a:buChar char="•"/>
            </a:pPr>
            <a:r>
              <a:rPr lang="en-US" sz="2400">
                <a:latin typeface="Times New Roman"/>
                <a:ea typeface="Times New Roman"/>
                <a:cs typeface="Times New Roman"/>
                <a:sym typeface="Times New Roman"/>
              </a:rPr>
              <a:t>The right outer join       is symmetric with the left outer join: It pads tuples from the right relation that did not match any from the left relation with nulls and adds them to the result of the natural join.</a:t>
            </a:r>
            <a:endParaRPr sz="2400">
              <a:latin typeface="Times New Roman"/>
              <a:ea typeface="Times New Roman"/>
              <a:cs typeface="Times New Roman"/>
              <a:sym typeface="Times New Roman"/>
            </a:endParaRPr>
          </a:p>
          <a:p>
            <a:pPr marL="342900" indent="-342900" algn="just">
              <a:lnSpc>
                <a:spcPct val="100000"/>
              </a:lnSpc>
              <a:spcBef>
                <a:spcPts val="480"/>
              </a:spcBef>
              <a:buClr>
                <a:schemeClr val="dk1"/>
              </a:buClr>
              <a:buSzPts val="2400"/>
              <a:buFont typeface="Times New Roman"/>
              <a:buChar char="•"/>
            </a:pPr>
            <a:r>
              <a:rPr lang="en-US" sz="2400">
                <a:latin typeface="Times New Roman"/>
                <a:ea typeface="Times New Roman"/>
                <a:cs typeface="Times New Roman"/>
                <a:sym typeface="Times New Roman"/>
              </a:rPr>
              <a:t>All information from the right relation is present in the result of the right outer join.</a:t>
            </a:r>
            <a:endParaRPr sz="2400">
              <a:latin typeface="Times New Roman"/>
              <a:ea typeface="Times New Roman"/>
              <a:cs typeface="Times New Roman"/>
              <a:sym typeface="Times New Roman"/>
            </a:endParaRPr>
          </a:p>
        </p:txBody>
      </p:sp>
      <p:pic>
        <p:nvPicPr>
          <p:cNvPr id="832" name="Google Shape;832;p72"/>
          <p:cNvPicPr preferRelativeResize="0"/>
          <p:nvPr/>
        </p:nvPicPr>
        <p:blipFill rotWithShape="1">
          <a:blip r:embed="rId3">
            <a:alphaModFix/>
          </a:blip>
          <a:srcRect/>
          <a:stretch/>
        </p:blipFill>
        <p:spPr>
          <a:xfrm>
            <a:off x="3276600" y="3886200"/>
            <a:ext cx="6324600" cy="1447800"/>
          </a:xfrm>
          <a:prstGeom prst="rect">
            <a:avLst/>
          </a:prstGeom>
          <a:noFill/>
          <a:ln>
            <a:noFill/>
          </a:ln>
        </p:spPr>
      </p:pic>
      <p:pic>
        <p:nvPicPr>
          <p:cNvPr id="833" name="Google Shape;833;p72"/>
          <p:cNvPicPr preferRelativeResize="0"/>
          <p:nvPr/>
        </p:nvPicPr>
        <p:blipFill rotWithShape="1">
          <a:blip r:embed="rId4">
            <a:alphaModFix/>
          </a:blip>
          <a:srcRect/>
          <a:stretch/>
        </p:blipFill>
        <p:spPr>
          <a:xfrm>
            <a:off x="4876800" y="5410200"/>
            <a:ext cx="2705100" cy="323850"/>
          </a:xfrm>
          <a:prstGeom prst="rect">
            <a:avLst/>
          </a:prstGeom>
          <a:noFill/>
          <a:ln>
            <a:noFill/>
          </a:ln>
        </p:spPr>
      </p:pic>
      <p:pic>
        <p:nvPicPr>
          <p:cNvPr id="834" name="Google Shape;834;p72"/>
          <p:cNvPicPr preferRelativeResize="0"/>
          <p:nvPr/>
        </p:nvPicPr>
        <p:blipFill rotWithShape="1">
          <a:blip r:embed="rId5">
            <a:alphaModFix/>
          </a:blip>
          <a:srcRect/>
          <a:stretch/>
        </p:blipFill>
        <p:spPr>
          <a:xfrm>
            <a:off x="4800601" y="1752600"/>
            <a:ext cx="405063" cy="307848"/>
          </a:xfrm>
          <a:prstGeom prst="rect">
            <a:avLst/>
          </a:prstGeom>
          <a:noFill/>
          <a:ln>
            <a:noFill/>
          </a:ln>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838"/>
        <p:cNvGrpSpPr/>
        <p:nvPr/>
      </p:nvGrpSpPr>
      <p:grpSpPr>
        <a:xfrm>
          <a:off x="0" y="0"/>
          <a:ext cx="0" cy="0"/>
          <a:chOff x="0" y="0"/>
          <a:chExt cx="0" cy="0"/>
        </a:xfrm>
      </p:grpSpPr>
      <p:sp>
        <p:nvSpPr>
          <p:cNvPr id="839" name="Google Shape;839;p73"/>
          <p:cNvSpPr txBox="1">
            <a:spLocks noGrp="1"/>
          </p:cNvSpPr>
          <p:nvPr>
            <p:ph type="title"/>
          </p:nvPr>
        </p:nvSpPr>
        <p:spPr>
          <a:xfrm>
            <a:off x="2209800" y="0"/>
            <a:ext cx="7772400" cy="1143000"/>
          </a:xfrm>
          <a:prstGeom prst="rect">
            <a:avLst/>
          </a:prstGeom>
          <a:noFill/>
          <a:ln>
            <a:noFill/>
          </a:ln>
        </p:spPr>
        <p:txBody>
          <a:bodyPr spcFirstLastPara="1" vert="horz" wrap="square" lIns="91425" tIns="45700" rIns="91425" bIns="45700" rtlCol="0" anchor="ctr" anchorCtr="0">
            <a:noAutofit/>
          </a:bodyPr>
          <a:lstStyle/>
          <a:p>
            <a:pPr algn="ctr">
              <a:lnSpc>
                <a:spcPct val="100000"/>
              </a:lnSpc>
              <a:spcBef>
                <a:spcPts val="0"/>
              </a:spcBef>
              <a:buClr>
                <a:schemeClr val="dk2"/>
              </a:buClr>
              <a:buSzPts val="2800"/>
            </a:pPr>
            <a:r>
              <a:rPr lang="en-US" sz="2800"/>
              <a:t>Right Outer Join, Full Outer Join</a:t>
            </a:r>
            <a:endParaRPr sz="2800"/>
          </a:p>
        </p:txBody>
      </p:sp>
      <p:sp>
        <p:nvSpPr>
          <p:cNvPr id="840" name="Google Shape;840;p73"/>
          <p:cNvSpPr txBox="1">
            <a:spLocks noGrp="1"/>
          </p:cNvSpPr>
          <p:nvPr>
            <p:ph type="body" idx="1"/>
          </p:nvPr>
        </p:nvSpPr>
        <p:spPr>
          <a:xfrm>
            <a:off x="2057400" y="990600"/>
            <a:ext cx="7037388" cy="623888"/>
          </a:xfrm>
          <a:prstGeom prst="rect">
            <a:avLst/>
          </a:prstGeom>
          <a:noFill/>
          <a:ln>
            <a:noFill/>
          </a:ln>
        </p:spPr>
        <p:txBody>
          <a:bodyPr spcFirstLastPara="1" vert="horz" wrap="square" lIns="91425" tIns="45700" rIns="91425" bIns="45700" rtlCol="0" anchor="t" anchorCtr="0">
            <a:noAutofit/>
          </a:bodyPr>
          <a:lstStyle/>
          <a:p>
            <a:pPr marL="342900" indent="-342900">
              <a:spcBef>
                <a:spcPts val="0"/>
              </a:spcBef>
              <a:buClr>
                <a:schemeClr val="dk1"/>
              </a:buClr>
              <a:buSzPts val="2400"/>
              <a:buFont typeface="Arial"/>
              <a:buChar char="•"/>
            </a:pPr>
            <a:r>
              <a:rPr lang="en-US" sz="2400" b="1"/>
              <a:t>Right Outer Join</a:t>
            </a:r>
            <a:endParaRPr sz="2400" b="1"/>
          </a:p>
          <a:p>
            <a:pPr marL="342900" indent="-342900">
              <a:spcBef>
                <a:spcPts val="560"/>
              </a:spcBef>
              <a:buClr>
                <a:schemeClr val="dk1"/>
              </a:buClr>
              <a:buSzPts val="2800"/>
              <a:buNone/>
            </a:pPr>
            <a:r>
              <a:rPr lang="en-US" i="1"/>
              <a:t>       loan</a:t>
            </a:r>
            <a:r>
              <a:rPr lang="en-US"/>
              <a:t>          </a:t>
            </a:r>
            <a:r>
              <a:rPr lang="en-US" i="1"/>
              <a:t>borrower</a:t>
            </a:r>
            <a:endParaRPr i="1"/>
          </a:p>
        </p:txBody>
      </p:sp>
      <p:sp>
        <p:nvSpPr>
          <p:cNvPr id="841" name="Google Shape;841;p73"/>
          <p:cNvSpPr/>
          <p:nvPr/>
        </p:nvSpPr>
        <p:spPr>
          <a:xfrm>
            <a:off x="2705100" y="3748089"/>
            <a:ext cx="3168650" cy="333375"/>
          </a:xfrm>
          <a:prstGeom prst="rect">
            <a:avLst/>
          </a:prstGeom>
          <a:noFill/>
          <a:ln>
            <a:noFill/>
          </a:ln>
        </p:spPr>
        <p:txBody>
          <a:bodyPr spcFirstLastPara="1" wrap="square" lIns="91425" tIns="45700" rIns="91425" bIns="45700" anchor="t" anchorCtr="0">
            <a:noAutofit/>
          </a:bodyPr>
          <a:lstStyle/>
          <a:p>
            <a:pPr marL="342900" indent="-342900"/>
            <a:r>
              <a:rPr lang="en-US" sz="2000" i="1">
                <a:solidFill>
                  <a:schemeClr val="dk1"/>
                </a:solidFill>
                <a:latin typeface="Times New Roman"/>
                <a:ea typeface="Times New Roman"/>
                <a:cs typeface="Times New Roman"/>
                <a:sym typeface="Times New Roman"/>
              </a:rPr>
              <a:t>loan </a:t>
            </a:r>
            <a:r>
              <a:rPr lang="en-US" sz="2000">
                <a:solidFill>
                  <a:schemeClr val="dk1"/>
                </a:solidFill>
                <a:latin typeface="Times New Roman"/>
                <a:ea typeface="Times New Roman"/>
                <a:cs typeface="Times New Roman"/>
                <a:sym typeface="Times New Roman"/>
              </a:rPr>
              <a:t> </a:t>
            </a:r>
            <a:r>
              <a:rPr lang="en-US" sz="2000" i="1">
                <a:solidFill>
                  <a:schemeClr val="dk1"/>
                </a:solidFill>
                <a:latin typeface="Times New Roman"/>
                <a:ea typeface="Times New Roman"/>
                <a:cs typeface="Times New Roman"/>
                <a:sym typeface="Times New Roman"/>
              </a:rPr>
              <a:t>      borrower</a:t>
            </a:r>
            <a:endParaRPr sz="2000" i="1">
              <a:solidFill>
                <a:schemeClr val="dk1"/>
              </a:solidFill>
              <a:latin typeface="Times New Roman"/>
              <a:ea typeface="Times New Roman"/>
              <a:cs typeface="Times New Roman"/>
              <a:sym typeface="Times New Roman"/>
            </a:endParaRPr>
          </a:p>
        </p:txBody>
      </p:sp>
      <p:sp>
        <p:nvSpPr>
          <p:cNvPr id="842" name="Google Shape;842;p73"/>
          <p:cNvSpPr/>
          <p:nvPr/>
        </p:nvSpPr>
        <p:spPr>
          <a:xfrm>
            <a:off x="1752601" y="3429000"/>
            <a:ext cx="2505075" cy="457200"/>
          </a:xfrm>
          <a:prstGeom prst="rect">
            <a:avLst/>
          </a:prstGeom>
          <a:noFill/>
          <a:ln>
            <a:noFill/>
          </a:ln>
        </p:spPr>
        <p:txBody>
          <a:bodyPr spcFirstLastPara="1" wrap="square" lIns="91425" tIns="45700" rIns="91425" bIns="45700" anchor="t" anchorCtr="0">
            <a:spAutoFit/>
          </a:bodyPr>
          <a:lstStyle/>
          <a:p>
            <a:pPr lvl="2"/>
            <a:r>
              <a:rPr lang="en-US" sz="2400">
                <a:solidFill>
                  <a:schemeClr val="dk1"/>
                </a:solidFill>
                <a:latin typeface="Helvetica Neue"/>
                <a:ea typeface="Helvetica Neue"/>
                <a:cs typeface="Helvetica Neue"/>
                <a:sym typeface="Helvetica Neue"/>
              </a:rPr>
              <a:t>Outer Join</a:t>
            </a:r>
            <a:endParaRPr sz="2400">
              <a:solidFill>
                <a:schemeClr val="dk1"/>
              </a:solidFill>
              <a:latin typeface="Helvetica Neue"/>
              <a:ea typeface="Helvetica Neue"/>
              <a:cs typeface="Helvetica Neue"/>
              <a:sym typeface="Helvetica Neue"/>
            </a:endParaRPr>
          </a:p>
        </p:txBody>
      </p:sp>
      <p:grpSp>
        <p:nvGrpSpPr>
          <p:cNvPr id="843" name="Google Shape;843;p73"/>
          <p:cNvGrpSpPr/>
          <p:nvPr/>
        </p:nvGrpSpPr>
        <p:grpSpPr>
          <a:xfrm>
            <a:off x="2819400" y="2062163"/>
            <a:ext cx="6019800" cy="1219200"/>
            <a:chOff x="816" y="1299"/>
            <a:chExt cx="3792" cy="768"/>
          </a:xfrm>
        </p:grpSpPr>
        <p:sp>
          <p:nvSpPr>
            <p:cNvPr id="844" name="Google Shape;844;p73"/>
            <p:cNvSpPr/>
            <p:nvPr/>
          </p:nvSpPr>
          <p:spPr>
            <a:xfrm>
              <a:off x="816" y="1299"/>
              <a:ext cx="1008" cy="192"/>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loan-number</a:t>
              </a:r>
              <a:endParaRPr>
                <a:solidFill>
                  <a:schemeClr val="dk1"/>
                </a:solidFill>
                <a:latin typeface="Helvetica Neue"/>
                <a:ea typeface="Helvetica Neue"/>
                <a:cs typeface="Helvetica Neue"/>
                <a:sym typeface="Helvetica Neue"/>
              </a:endParaRPr>
            </a:p>
          </p:txBody>
        </p:sp>
        <p:sp>
          <p:nvSpPr>
            <p:cNvPr id="845" name="Google Shape;845;p73"/>
            <p:cNvSpPr/>
            <p:nvPr/>
          </p:nvSpPr>
          <p:spPr>
            <a:xfrm>
              <a:off x="2832" y="1299"/>
              <a:ext cx="720" cy="192"/>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amount</a:t>
              </a:r>
              <a:endParaRPr>
                <a:solidFill>
                  <a:schemeClr val="dk1"/>
                </a:solidFill>
                <a:latin typeface="Helvetica Neue"/>
                <a:ea typeface="Helvetica Neue"/>
                <a:cs typeface="Helvetica Neue"/>
                <a:sym typeface="Helvetica Neue"/>
              </a:endParaRPr>
            </a:p>
          </p:txBody>
        </p:sp>
        <p:sp>
          <p:nvSpPr>
            <p:cNvPr id="846" name="Google Shape;846;p73"/>
            <p:cNvSpPr/>
            <p:nvPr/>
          </p:nvSpPr>
          <p:spPr>
            <a:xfrm>
              <a:off x="816" y="1539"/>
              <a:ext cx="1008" cy="528"/>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r>
                <a:rPr lang="en-US">
                  <a:solidFill>
                    <a:schemeClr val="dk1"/>
                  </a:solidFill>
                  <a:latin typeface="Helvetica Neue"/>
                  <a:ea typeface="Helvetica Neue"/>
                  <a:cs typeface="Helvetica Neue"/>
                  <a:sym typeface="Helvetica Neue"/>
                </a:rPr>
                <a:t>L-170</a:t>
              </a:r>
              <a:endParaRPr>
                <a:solidFill>
                  <a:schemeClr val="dk1"/>
                </a:solidFill>
                <a:latin typeface="Helvetica Neue"/>
                <a:ea typeface="Helvetica Neue"/>
                <a:cs typeface="Helvetica Neue"/>
                <a:sym typeface="Helvetica Neue"/>
              </a:endParaRPr>
            </a:p>
            <a:p>
              <a:r>
                <a:rPr lang="en-US">
                  <a:solidFill>
                    <a:schemeClr val="dk1"/>
                  </a:solidFill>
                  <a:latin typeface="Helvetica Neue"/>
                  <a:ea typeface="Helvetica Neue"/>
                  <a:cs typeface="Helvetica Neue"/>
                  <a:sym typeface="Helvetica Neue"/>
                </a:rPr>
                <a:t>L-230</a:t>
              </a:r>
              <a:endParaRPr>
                <a:solidFill>
                  <a:schemeClr val="dk1"/>
                </a:solidFill>
                <a:latin typeface="Helvetica Neue"/>
                <a:ea typeface="Helvetica Neue"/>
                <a:cs typeface="Helvetica Neue"/>
                <a:sym typeface="Helvetica Neue"/>
              </a:endParaRPr>
            </a:p>
            <a:p>
              <a:r>
                <a:rPr lang="en-US">
                  <a:solidFill>
                    <a:schemeClr val="dk1"/>
                  </a:solidFill>
                  <a:latin typeface="Helvetica Neue"/>
                  <a:ea typeface="Helvetica Neue"/>
                  <a:cs typeface="Helvetica Neue"/>
                  <a:sym typeface="Helvetica Neue"/>
                </a:rPr>
                <a:t>L-155</a:t>
              </a:r>
              <a:endParaRPr>
                <a:solidFill>
                  <a:schemeClr val="dk1"/>
                </a:solidFill>
                <a:latin typeface="Helvetica Neue"/>
                <a:ea typeface="Helvetica Neue"/>
                <a:cs typeface="Helvetica Neue"/>
                <a:sym typeface="Helvetica Neue"/>
              </a:endParaRPr>
            </a:p>
          </p:txBody>
        </p:sp>
        <p:sp>
          <p:nvSpPr>
            <p:cNvPr id="847" name="Google Shape;847;p73"/>
            <p:cNvSpPr/>
            <p:nvPr/>
          </p:nvSpPr>
          <p:spPr>
            <a:xfrm>
              <a:off x="2832" y="1539"/>
              <a:ext cx="720" cy="528"/>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a:solidFill>
                    <a:schemeClr val="dk1"/>
                  </a:solidFill>
                  <a:latin typeface="Helvetica Neue"/>
                  <a:ea typeface="Helvetica Neue"/>
                  <a:cs typeface="Helvetica Neue"/>
                  <a:sym typeface="Helvetica Neue"/>
                </a:rPr>
                <a:t>3000</a:t>
              </a:r>
              <a:endParaRPr>
                <a:solidFill>
                  <a:schemeClr val="dk1"/>
                </a:solidFill>
                <a:latin typeface="Helvetica Neue"/>
                <a:ea typeface="Helvetica Neue"/>
                <a:cs typeface="Helvetica Neue"/>
                <a:sym typeface="Helvetica Neue"/>
              </a:endParaRPr>
            </a:p>
            <a:p>
              <a:pPr algn="ctr"/>
              <a:r>
                <a:rPr lang="en-US">
                  <a:solidFill>
                    <a:schemeClr val="dk1"/>
                  </a:solidFill>
                  <a:latin typeface="Helvetica Neue"/>
                  <a:ea typeface="Helvetica Neue"/>
                  <a:cs typeface="Helvetica Neue"/>
                  <a:sym typeface="Helvetica Neue"/>
                </a:rPr>
                <a:t>4000</a:t>
              </a:r>
              <a:endParaRPr>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null</a:t>
              </a:r>
              <a:endParaRPr i="1">
                <a:solidFill>
                  <a:schemeClr val="dk1"/>
                </a:solidFill>
                <a:latin typeface="Helvetica Neue"/>
                <a:ea typeface="Helvetica Neue"/>
                <a:cs typeface="Helvetica Neue"/>
                <a:sym typeface="Helvetica Neue"/>
              </a:endParaRPr>
            </a:p>
          </p:txBody>
        </p:sp>
        <p:sp>
          <p:nvSpPr>
            <p:cNvPr id="848" name="Google Shape;848;p73"/>
            <p:cNvSpPr/>
            <p:nvPr/>
          </p:nvSpPr>
          <p:spPr>
            <a:xfrm>
              <a:off x="3552" y="1299"/>
              <a:ext cx="1056" cy="192"/>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customer-name</a:t>
              </a:r>
              <a:endParaRPr>
                <a:solidFill>
                  <a:schemeClr val="dk1"/>
                </a:solidFill>
                <a:latin typeface="Helvetica Neue"/>
                <a:ea typeface="Helvetica Neue"/>
                <a:cs typeface="Helvetica Neue"/>
                <a:sym typeface="Helvetica Neue"/>
              </a:endParaRPr>
            </a:p>
          </p:txBody>
        </p:sp>
        <p:sp>
          <p:nvSpPr>
            <p:cNvPr id="849" name="Google Shape;849;p73"/>
            <p:cNvSpPr/>
            <p:nvPr/>
          </p:nvSpPr>
          <p:spPr>
            <a:xfrm>
              <a:off x="3552" y="1539"/>
              <a:ext cx="1056" cy="528"/>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r>
                <a:rPr lang="en-US">
                  <a:solidFill>
                    <a:schemeClr val="dk1"/>
                  </a:solidFill>
                  <a:latin typeface="Helvetica Neue"/>
                  <a:ea typeface="Helvetica Neue"/>
                  <a:cs typeface="Helvetica Neue"/>
                  <a:sym typeface="Helvetica Neue"/>
                </a:rPr>
                <a:t>Jones</a:t>
              </a:r>
              <a:endParaRPr>
                <a:solidFill>
                  <a:schemeClr val="dk1"/>
                </a:solidFill>
                <a:latin typeface="Helvetica Neue"/>
                <a:ea typeface="Helvetica Neue"/>
                <a:cs typeface="Helvetica Neue"/>
                <a:sym typeface="Helvetica Neue"/>
              </a:endParaRPr>
            </a:p>
            <a:p>
              <a:r>
                <a:rPr lang="en-US">
                  <a:solidFill>
                    <a:schemeClr val="dk1"/>
                  </a:solidFill>
                  <a:latin typeface="Helvetica Neue"/>
                  <a:ea typeface="Helvetica Neue"/>
                  <a:cs typeface="Helvetica Neue"/>
                  <a:sym typeface="Helvetica Neue"/>
                </a:rPr>
                <a:t>Smith</a:t>
              </a:r>
              <a:endParaRPr>
                <a:solidFill>
                  <a:schemeClr val="dk1"/>
                </a:solidFill>
                <a:latin typeface="Helvetica Neue"/>
                <a:ea typeface="Helvetica Neue"/>
                <a:cs typeface="Helvetica Neue"/>
                <a:sym typeface="Helvetica Neue"/>
              </a:endParaRPr>
            </a:p>
            <a:p>
              <a:r>
                <a:rPr lang="en-US">
                  <a:solidFill>
                    <a:schemeClr val="dk1"/>
                  </a:solidFill>
                  <a:latin typeface="Helvetica Neue"/>
                  <a:ea typeface="Helvetica Neue"/>
                  <a:cs typeface="Helvetica Neue"/>
                  <a:sym typeface="Helvetica Neue"/>
                </a:rPr>
                <a:t>Hayes</a:t>
              </a:r>
              <a:endParaRPr>
                <a:solidFill>
                  <a:schemeClr val="dk1"/>
                </a:solidFill>
                <a:latin typeface="Helvetica Neue"/>
                <a:ea typeface="Helvetica Neue"/>
                <a:cs typeface="Helvetica Neue"/>
                <a:sym typeface="Helvetica Neue"/>
              </a:endParaRPr>
            </a:p>
          </p:txBody>
        </p:sp>
        <p:sp>
          <p:nvSpPr>
            <p:cNvPr id="850" name="Google Shape;850;p73"/>
            <p:cNvSpPr/>
            <p:nvPr/>
          </p:nvSpPr>
          <p:spPr>
            <a:xfrm>
              <a:off x="1824" y="1299"/>
              <a:ext cx="1008" cy="192"/>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branch-name</a:t>
              </a:r>
              <a:endParaRPr>
                <a:solidFill>
                  <a:schemeClr val="dk1"/>
                </a:solidFill>
                <a:latin typeface="Helvetica Neue"/>
                <a:ea typeface="Helvetica Neue"/>
                <a:cs typeface="Helvetica Neue"/>
                <a:sym typeface="Helvetica Neue"/>
              </a:endParaRPr>
            </a:p>
          </p:txBody>
        </p:sp>
        <p:sp>
          <p:nvSpPr>
            <p:cNvPr id="851" name="Google Shape;851;p73"/>
            <p:cNvSpPr/>
            <p:nvPr/>
          </p:nvSpPr>
          <p:spPr>
            <a:xfrm>
              <a:off x="1824" y="1539"/>
              <a:ext cx="1008" cy="528"/>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r>
                <a:rPr lang="en-US">
                  <a:solidFill>
                    <a:schemeClr val="dk1"/>
                  </a:solidFill>
                  <a:latin typeface="Helvetica Neue"/>
                  <a:ea typeface="Helvetica Neue"/>
                  <a:cs typeface="Helvetica Neue"/>
                  <a:sym typeface="Helvetica Neue"/>
                </a:rPr>
                <a:t>Downtown</a:t>
              </a:r>
              <a:endParaRPr>
                <a:solidFill>
                  <a:schemeClr val="dk1"/>
                </a:solidFill>
                <a:latin typeface="Helvetica Neue"/>
                <a:ea typeface="Helvetica Neue"/>
                <a:cs typeface="Helvetica Neue"/>
                <a:sym typeface="Helvetica Neue"/>
              </a:endParaRPr>
            </a:p>
            <a:p>
              <a:r>
                <a:rPr lang="en-US">
                  <a:solidFill>
                    <a:schemeClr val="dk1"/>
                  </a:solidFill>
                  <a:latin typeface="Helvetica Neue"/>
                  <a:ea typeface="Helvetica Neue"/>
                  <a:cs typeface="Helvetica Neue"/>
                  <a:sym typeface="Helvetica Neue"/>
                </a:rPr>
                <a:t>Redwood</a:t>
              </a:r>
              <a:endParaRPr>
                <a:solidFill>
                  <a:schemeClr val="dk1"/>
                </a:solidFill>
                <a:latin typeface="Helvetica Neue"/>
                <a:ea typeface="Helvetica Neue"/>
                <a:cs typeface="Helvetica Neue"/>
                <a:sym typeface="Helvetica Neue"/>
              </a:endParaRPr>
            </a:p>
            <a:p>
              <a:r>
                <a:rPr lang="en-US" i="1">
                  <a:solidFill>
                    <a:schemeClr val="dk1"/>
                  </a:solidFill>
                  <a:latin typeface="Helvetica Neue"/>
                  <a:ea typeface="Helvetica Neue"/>
                  <a:cs typeface="Helvetica Neue"/>
                  <a:sym typeface="Helvetica Neue"/>
                </a:rPr>
                <a:t>null</a:t>
              </a:r>
              <a:endParaRPr>
                <a:solidFill>
                  <a:schemeClr val="dk1"/>
                </a:solidFill>
                <a:latin typeface="Helvetica Neue"/>
                <a:ea typeface="Helvetica Neue"/>
                <a:cs typeface="Helvetica Neue"/>
                <a:sym typeface="Helvetica Neue"/>
              </a:endParaRPr>
            </a:p>
          </p:txBody>
        </p:sp>
      </p:grpSp>
      <p:grpSp>
        <p:nvGrpSpPr>
          <p:cNvPr id="852" name="Google Shape;852;p73"/>
          <p:cNvGrpSpPr/>
          <p:nvPr/>
        </p:nvGrpSpPr>
        <p:grpSpPr>
          <a:xfrm>
            <a:off x="2743200" y="4267200"/>
            <a:ext cx="6019800" cy="1524000"/>
            <a:chOff x="768" y="2688"/>
            <a:chExt cx="3792" cy="960"/>
          </a:xfrm>
        </p:grpSpPr>
        <p:sp>
          <p:nvSpPr>
            <p:cNvPr id="853" name="Google Shape;853;p73"/>
            <p:cNvSpPr/>
            <p:nvPr/>
          </p:nvSpPr>
          <p:spPr>
            <a:xfrm>
              <a:off x="768" y="2688"/>
              <a:ext cx="1008" cy="192"/>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loan-number</a:t>
              </a:r>
              <a:endParaRPr>
                <a:solidFill>
                  <a:schemeClr val="dk1"/>
                </a:solidFill>
                <a:latin typeface="Helvetica Neue"/>
                <a:ea typeface="Helvetica Neue"/>
                <a:cs typeface="Helvetica Neue"/>
                <a:sym typeface="Helvetica Neue"/>
              </a:endParaRPr>
            </a:p>
          </p:txBody>
        </p:sp>
        <p:sp>
          <p:nvSpPr>
            <p:cNvPr id="854" name="Google Shape;854;p73"/>
            <p:cNvSpPr/>
            <p:nvPr/>
          </p:nvSpPr>
          <p:spPr>
            <a:xfrm>
              <a:off x="2784" y="2688"/>
              <a:ext cx="720" cy="192"/>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amount</a:t>
              </a:r>
              <a:endParaRPr>
                <a:solidFill>
                  <a:schemeClr val="dk1"/>
                </a:solidFill>
                <a:latin typeface="Helvetica Neue"/>
                <a:ea typeface="Helvetica Neue"/>
                <a:cs typeface="Helvetica Neue"/>
                <a:sym typeface="Helvetica Neue"/>
              </a:endParaRPr>
            </a:p>
          </p:txBody>
        </p:sp>
        <p:sp>
          <p:nvSpPr>
            <p:cNvPr id="855" name="Google Shape;855;p73"/>
            <p:cNvSpPr/>
            <p:nvPr/>
          </p:nvSpPr>
          <p:spPr>
            <a:xfrm>
              <a:off x="768" y="2928"/>
              <a:ext cx="1008" cy="72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r>
                <a:rPr lang="en-US">
                  <a:solidFill>
                    <a:schemeClr val="dk1"/>
                  </a:solidFill>
                  <a:latin typeface="Helvetica Neue"/>
                  <a:ea typeface="Helvetica Neue"/>
                  <a:cs typeface="Helvetica Neue"/>
                  <a:sym typeface="Helvetica Neue"/>
                </a:rPr>
                <a:t>L-170</a:t>
              </a:r>
              <a:endParaRPr>
                <a:solidFill>
                  <a:schemeClr val="dk1"/>
                </a:solidFill>
                <a:latin typeface="Helvetica Neue"/>
                <a:ea typeface="Helvetica Neue"/>
                <a:cs typeface="Helvetica Neue"/>
                <a:sym typeface="Helvetica Neue"/>
              </a:endParaRPr>
            </a:p>
            <a:p>
              <a:r>
                <a:rPr lang="en-US">
                  <a:solidFill>
                    <a:schemeClr val="dk1"/>
                  </a:solidFill>
                  <a:latin typeface="Helvetica Neue"/>
                  <a:ea typeface="Helvetica Neue"/>
                  <a:cs typeface="Helvetica Neue"/>
                  <a:sym typeface="Helvetica Neue"/>
                </a:rPr>
                <a:t>L-230</a:t>
              </a:r>
              <a:endParaRPr>
                <a:solidFill>
                  <a:schemeClr val="dk1"/>
                </a:solidFill>
                <a:latin typeface="Helvetica Neue"/>
                <a:ea typeface="Helvetica Neue"/>
                <a:cs typeface="Helvetica Neue"/>
                <a:sym typeface="Helvetica Neue"/>
              </a:endParaRPr>
            </a:p>
            <a:p>
              <a:r>
                <a:rPr lang="en-US">
                  <a:solidFill>
                    <a:schemeClr val="dk1"/>
                  </a:solidFill>
                  <a:latin typeface="Helvetica Neue"/>
                  <a:ea typeface="Helvetica Neue"/>
                  <a:cs typeface="Helvetica Neue"/>
                  <a:sym typeface="Helvetica Neue"/>
                </a:rPr>
                <a:t>L-260</a:t>
              </a:r>
              <a:endParaRPr>
                <a:solidFill>
                  <a:schemeClr val="dk1"/>
                </a:solidFill>
                <a:latin typeface="Helvetica Neue"/>
                <a:ea typeface="Helvetica Neue"/>
                <a:cs typeface="Helvetica Neue"/>
                <a:sym typeface="Helvetica Neue"/>
              </a:endParaRPr>
            </a:p>
            <a:p>
              <a:r>
                <a:rPr lang="en-US">
                  <a:solidFill>
                    <a:schemeClr val="dk1"/>
                  </a:solidFill>
                  <a:latin typeface="Helvetica Neue"/>
                  <a:ea typeface="Helvetica Neue"/>
                  <a:cs typeface="Helvetica Neue"/>
                  <a:sym typeface="Helvetica Neue"/>
                </a:rPr>
                <a:t>L-155</a:t>
              </a:r>
              <a:endParaRPr>
                <a:solidFill>
                  <a:schemeClr val="dk1"/>
                </a:solidFill>
                <a:latin typeface="Helvetica Neue"/>
                <a:ea typeface="Helvetica Neue"/>
                <a:cs typeface="Helvetica Neue"/>
                <a:sym typeface="Helvetica Neue"/>
              </a:endParaRPr>
            </a:p>
          </p:txBody>
        </p:sp>
        <p:sp>
          <p:nvSpPr>
            <p:cNvPr id="856" name="Google Shape;856;p73"/>
            <p:cNvSpPr/>
            <p:nvPr/>
          </p:nvSpPr>
          <p:spPr>
            <a:xfrm>
              <a:off x="2784" y="2928"/>
              <a:ext cx="720" cy="72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a:solidFill>
                    <a:schemeClr val="dk1"/>
                  </a:solidFill>
                  <a:latin typeface="Helvetica Neue"/>
                  <a:ea typeface="Helvetica Neue"/>
                  <a:cs typeface="Helvetica Neue"/>
                  <a:sym typeface="Helvetica Neue"/>
                </a:rPr>
                <a:t>3000</a:t>
              </a:r>
              <a:endParaRPr>
                <a:solidFill>
                  <a:schemeClr val="dk1"/>
                </a:solidFill>
                <a:latin typeface="Helvetica Neue"/>
                <a:ea typeface="Helvetica Neue"/>
                <a:cs typeface="Helvetica Neue"/>
                <a:sym typeface="Helvetica Neue"/>
              </a:endParaRPr>
            </a:p>
            <a:p>
              <a:pPr algn="ctr"/>
              <a:r>
                <a:rPr lang="en-US">
                  <a:solidFill>
                    <a:schemeClr val="dk1"/>
                  </a:solidFill>
                  <a:latin typeface="Helvetica Neue"/>
                  <a:ea typeface="Helvetica Neue"/>
                  <a:cs typeface="Helvetica Neue"/>
                  <a:sym typeface="Helvetica Neue"/>
                </a:rPr>
                <a:t>4000</a:t>
              </a:r>
              <a:endParaRPr>
                <a:solidFill>
                  <a:schemeClr val="dk1"/>
                </a:solidFill>
                <a:latin typeface="Helvetica Neue"/>
                <a:ea typeface="Helvetica Neue"/>
                <a:cs typeface="Helvetica Neue"/>
                <a:sym typeface="Helvetica Neue"/>
              </a:endParaRPr>
            </a:p>
            <a:p>
              <a:pPr algn="ctr"/>
              <a:r>
                <a:rPr lang="en-US">
                  <a:solidFill>
                    <a:schemeClr val="dk1"/>
                  </a:solidFill>
                  <a:latin typeface="Helvetica Neue"/>
                  <a:ea typeface="Helvetica Neue"/>
                  <a:cs typeface="Helvetica Neue"/>
                  <a:sym typeface="Helvetica Neue"/>
                </a:rPr>
                <a:t>1700</a:t>
              </a:r>
              <a:endParaRPr>
                <a:solidFill>
                  <a:schemeClr val="dk1"/>
                </a:solidFill>
                <a:latin typeface="Helvetica Neue"/>
                <a:ea typeface="Helvetica Neue"/>
                <a:cs typeface="Helvetica Neue"/>
                <a:sym typeface="Helvetica Neue"/>
              </a:endParaRPr>
            </a:p>
            <a:p>
              <a:pPr algn="ctr"/>
              <a:r>
                <a:rPr lang="en-US" i="1">
                  <a:solidFill>
                    <a:schemeClr val="dk1"/>
                  </a:solidFill>
                  <a:latin typeface="Helvetica Neue"/>
                  <a:ea typeface="Helvetica Neue"/>
                  <a:cs typeface="Helvetica Neue"/>
                  <a:sym typeface="Helvetica Neue"/>
                </a:rPr>
                <a:t>null</a:t>
              </a:r>
              <a:endParaRPr i="1">
                <a:solidFill>
                  <a:schemeClr val="dk1"/>
                </a:solidFill>
                <a:latin typeface="Helvetica Neue"/>
                <a:ea typeface="Helvetica Neue"/>
                <a:cs typeface="Helvetica Neue"/>
                <a:sym typeface="Helvetica Neue"/>
              </a:endParaRPr>
            </a:p>
          </p:txBody>
        </p:sp>
        <p:sp>
          <p:nvSpPr>
            <p:cNvPr id="857" name="Google Shape;857;p73"/>
            <p:cNvSpPr/>
            <p:nvPr/>
          </p:nvSpPr>
          <p:spPr>
            <a:xfrm>
              <a:off x="3504" y="2688"/>
              <a:ext cx="1056" cy="192"/>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customer-name</a:t>
              </a:r>
              <a:endParaRPr>
                <a:solidFill>
                  <a:schemeClr val="dk1"/>
                </a:solidFill>
                <a:latin typeface="Helvetica Neue"/>
                <a:ea typeface="Helvetica Neue"/>
                <a:cs typeface="Helvetica Neue"/>
                <a:sym typeface="Helvetica Neue"/>
              </a:endParaRPr>
            </a:p>
          </p:txBody>
        </p:sp>
        <p:sp>
          <p:nvSpPr>
            <p:cNvPr id="858" name="Google Shape;858;p73"/>
            <p:cNvSpPr/>
            <p:nvPr/>
          </p:nvSpPr>
          <p:spPr>
            <a:xfrm>
              <a:off x="3504" y="2928"/>
              <a:ext cx="1056" cy="72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r>
                <a:rPr lang="en-US">
                  <a:solidFill>
                    <a:schemeClr val="dk1"/>
                  </a:solidFill>
                  <a:latin typeface="Helvetica Neue"/>
                  <a:ea typeface="Helvetica Neue"/>
                  <a:cs typeface="Helvetica Neue"/>
                  <a:sym typeface="Helvetica Neue"/>
                </a:rPr>
                <a:t>Jones</a:t>
              </a:r>
              <a:endParaRPr>
                <a:solidFill>
                  <a:schemeClr val="dk1"/>
                </a:solidFill>
                <a:latin typeface="Helvetica Neue"/>
                <a:ea typeface="Helvetica Neue"/>
                <a:cs typeface="Helvetica Neue"/>
                <a:sym typeface="Helvetica Neue"/>
              </a:endParaRPr>
            </a:p>
            <a:p>
              <a:r>
                <a:rPr lang="en-US">
                  <a:solidFill>
                    <a:schemeClr val="dk1"/>
                  </a:solidFill>
                  <a:latin typeface="Helvetica Neue"/>
                  <a:ea typeface="Helvetica Neue"/>
                  <a:cs typeface="Helvetica Neue"/>
                  <a:sym typeface="Helvetica Neue"/>
                </a:rPr>
                <a:t>Smith</a:t>
              </a:r>
              <a:endParaRPr>
                <a:solidFill>
                  <a:schemeClr val="dk1"/>
                </a:solidFill>
                <a:latin typeface="Helvetica Neue"/>
                <a:ea typeface="Helvetica Neue"/>
                <a:cs typeface="Helvetica Neue"/>
                <a:sym typeface="Helvetica Neue"/>
              </a:endParaRPr>
            </a:p>
            <a:p>
              <a:r>
                <a:rPr lang="en-US" i="1">
                  <a:solidFill>
                    <a:schemeClr val="dk1"/>
                  </a:solidFill>
                  <a:latin typeface="Helvetica Neue"/>
                  <a:ea typeface="Helvetica Neue"/>
                  <a:cs typeface="Helvetica Neue"/>
                  <a:sym typeface="Helvetica Neue"/>
                </a:rPr>
                <a:t>null</a:t>
              </a:r>
              <a:endParaRPr>
                <a:solidFill>
                  <a:schemeClr val="dk1"/>
                </a:solidFill>
                <a:latin typeface="Helvetica Neue"/>
                <a:ea typeface="Helvetica Neue"/>
                <a:cs typeface="Helvetica Neue"/>
                <a:sym typeface="Helvetica Neue"/>
              </a:endParaRPr>
            </a:p>
            <a:p>
              <a:r>
                <a:rPr lang="en-US">
                  <a:solidFill>
                    <a:schemeClr val="dk1"/>
                  </a:solidFill>
                  <a:latin typeface="Helvetica Neue"/>
                  <a:ea typeface="Helvetica Neue"/>
                  <a:cs typeface="Helvetica Neue"/>
                  <a:sym typeface="Helvetica Neue"/>
                </a:rPr>
                <a:t>Hayes</a:t>
              </a:r>
              <a:endParaRPr>
                <a:solidFill>
                  <a:schemeClr val="dk1"/>
                </a:solidFill>
                <a:latin typeface="Helvetica Neue"/>
                <a:ea typeface="Helvetica Neue"/>
                <a:cs typeface="Helvetica Neue"/>
                <a:sym typeface="Helvetica Neue"/>
              </a:endParaRPr>
            </a:p>
          </p:txBody>
        </p:sp>
        <p:sp>
          <p:nvSpPr>
            <p:cNvPr id="859" name="Google Shape;859;p73"/>
            <p:cNvSpPr/>
            <p:nvPr/>
          </p:nvSpPr>
          <p:spPr>
            <a:xfrm>
              <a:off x="1776" y="2688"/>
              <a:ext cx="1008" cy="192"/>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i="1">
                  <a:solidFill>
                    <a:schemeClr val="dk1"/>
                  </a:solidFill>
                  <a:latin typeface="Helvetica Neue"/>
                  <a:ea typeface="Helvetica Neue"/>
                  <a:cs typeface="Helvetica Neue"/>
                  <a:sym typeface="Helvetica Neue"/>
                </a:rPr>
                <a:t>branch-name</a:t>
              </a:r>
              <a:endParaRPr>
                <a:solidFill>
                  <a:schemeClr val="dk1"/>
                </a:solidFill>
                <a:latin typeface="Helvetica Neue"/>
                <a:ea typeface="Helvetica Neue"/>
                <a:cs typeface="Helvetica Neue"/>
                <a:sym typeface="Helvetica Neue"/>
              </a:endParaRPr>
            </a:p>
          </p:txBody>
        </p:sp>
        <p:sp>
          <p:nvSpPr>
            <p:cNvPr id="860" name="Google Shape;860;p73"/>
            <p:cNvSpPr/>
            <p:nvPr/>
          </p:nvSpPr>
          <p:spPr>
            <a:xfrm>
              <a:off x="1776" y="2928"/>
              <a:ext cx="1008" cy="72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r>
                <a:rPr lang="en-US">
                  <a:solidFill>
                    <a:schemeClr val="dk1"/>
                  </a:solidFill>
                  <a:latin typeface="Helvetica Neue"/>
                  <a:ea typeface="Helvetica Neue"/>
                  <a:cs typeface="Helvetica Neue"/>
                  <a:sym typeface="Helvetica Neue"/>
                </a:rPr>
                <a:t>Downtown</a:t>
              </a:r>
              <a:endParaRPr>
                <a:solidFill>
                  <a:schemeClr val="dk1"/>
                </a:solidFill>
                <a:latin typeface="Helvetica Neue"/>
                <a:ea typeface="Helvetica Neue"/>
                <a:cs typeface="Helvetica Neue"/>
                <a:sym typeface="Helvetica Neue"/>
              </a:endParaRPr>
            </a:p>
            <a:p>
              <a:r>
                <a:rPr lang="en-US">
                  <a:solidFill>
                    <a:schemeClr val="dk1"/>
                  </a:solidFill>
                  <a:latin typeface="Helvetica Neue"/>
                  <a:ea typeface="Helvetica Neue"/>
                  <a:cs typeface="Helvetica Neue"/>
                  <a:sym typeface="Helvetica Neue"/>
                </a:rPr>
                <a:t>Redwood</a:t>
              </a:r>
              <a:endParaRPr>
                <a:solidFill>
                  <a:schemeClr val="dk1"/>
                </a:solidFill>
                <a:latin typeface="Helvetica Neue"/>
                <a:ea typeface="Helvetica Neue"/>
                <a:cs typeface="Helvetica Neue"/>
                <a:sym typeface="Helvetica Neue"/>
              </a:endParaRPr>
            </a:p>
            <a:p>
              <a:r>
                <a:rPr lang="en-US">
                  <a:solidFill>
                    <a:schemeClr val="dk1"/>
                  </a:solidFill>
                  <a:latin typeface="Helvetica Neue"/>
                  <a:ea typeface="Helvetica Neue"/>
                  <a:cs typeface="Helvetica Neue"/>
                  <a:sym typeface="Helvetica Neue"/>
                </a:rPr>
                <a:t>Perryridge</a:t>
              </a:r>
              <a:endParaRPr>
                <a:solidFill>
                  <a:schemeClr val="dk1"/>
                </a:solidFill>
                <a:latin typeface="Helvetica Neue"/>
                <a:ea typeface="Helvetica Neue"/>
                <a:cs typeface="Helvetica Neue"/>
                <a:sym typeface="Helvetica Neue"/>
              </a:endParaRPr>
            </a:p>
            <a:p>
              <a:r>
                <a:rPr lang="en-US" i="1">
                  <a:solidFill>
                    <a:schemeClr val="dk1"/>
                  </a:solidFill>
                  <a:latin typeface="Helvetica Neue"/>
                  <a:ea typeface="Helvetica Neue"/>
                  <a:cs typeface="Helvetica Neue"/>
                  <a:sym typeface="Helvetica Neue"/>
                </a:rPr>
                <a:t>null</a:t>
              </a:r>
              <a:endParaRPr>
                <a:solidFill>
                  <a:schemeClr val="dk1"/>
                </a:solidFill>
                <a:latin typeface="Helvetica Neue"/>
                <a:ea typeface="Helvetica Neue"/>
                <a:cs typeface="Helvetica Neue"/>
                <a:sym typeface="Helvetica Neue"/>
              </a:endParaRPr>
            </a:p>
          </p:txBody>
        </p:sp>
      </p:grpSp>
      <p:grpSp>
        <p:nvGrpSpPr>
          <p:cNvPr id="861" name="Google Shape;861;p73"/>
          <p:cNvGrpSpPr/>
          <p:nvPr/>
        </p:nvGrpSpPr>
        <p:grpSpPr>
          <a:xfrm>
            <a:off x="3657601" y="1600201"/>
            <a:ext cx="265113" cy="157163"/>
            <a:chOff x="1146" y="1007"/>
            <a:chExt cx="167" cy="99"/>
          </a:xfrm>
        </p:grpSpPr>
        <p:sp>
          <p:nvSpPr>
            <p:cNvPr id="862" name="Google Shape;862;p73"/>
            <p:cNvSpPr/>
            <p:nvPr/>
          </p:nvSpPr>
          <p:spPr>
            <a:xfrm rot="5400000" flipH="1">
              <a:off x="1146" y="1008"/>
              <a:ext cx="96" cy="96"/>
            </a:xfrm>
            <a:prstGeom prst="flowChartCollate">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endParaRPr>
                <a:solidFill>
                  <a:schemeClr val="dk1"/>
                </a:solidFill>
                <a:latin typeface="Times New Roman"/>
                <a:ea typeface="Times New Roman"/>
                <a:cs typeface="Times New Roman"/>
                <a:sym typeface="Times New Roman"/>
              </a:endParaRPr>
            </a:p>
          </p:txBody>
        </p:sp>
        <p:cxnSp>
          <p:nvCxnSpPr>
            <p:cNvPr id="863" name="Google Shape;863;p73"/>
            <p:cNvCxnSpPr/>
            <p:nvPr/>
          </p:nvCxnSpPr>
          <p:spPr>
            <a:xfrm rot="10800000">
              <a:off x="1249" y="1007"/>
              <a:ext cx="64" cy="0"/>
            </a:xfrm>
            <a:prstGeom prst="straightConnector1">
              <a:avLst/>
            </a:prstGeom>
            <a:noFill/>
            <a:ln w="9525" cap="flat" cmpd="sng">
              <a:solidFill>
                <a:schemeClr val="dk1"/>
              </a:solidFill>
              <a:prstDash val="solid"/>
              <a:round/>
              <a:headEnd type="none" w="sm" len="sm"/>
              <a:tailEnd type="none" w="sm" len="sm"/>
            </a:ln>
          </p:spPr>
        </p:cxnSp>
        <p:cxnSp>
          <p:nvCxnSpPr>
            <p:cNvPr id="864" name="Google Shape;864;p73"/>
            <p:cNvCxnSpPr/>
            <p:nvPr/>
          </p:nvCxnSpPr>
          <p:spPr>
            <a:xfrm rot="10800000">
              <a:off x="1249" y="1106"/>
              <a:ext cx="64" cy="0"/>
            </a:xfrm>
            <a:prstGeom prst="straightConnector1">
              <a:avLst/>
            </a:prstGeom>
            <a:noFill/>
            <a:ln w="9525" cap="flat" cmpd="sng">
              <a:solidFill>
                <a:schemeClr val="dk1"/>
              </a:solidFill>
              <a:prstDash val="solid"/>
              <a:round/>
              <a:headEnd type="none" w="sm" len="sm"/>
              <a:tailEnd type="none" w="sm" len="sm"/>
            </a:ln>
          </p:spPr>
        </p:cxnSp>
      </p:grpSp>
      <p:grpSp>
        <p:nvGrpSpPr>
          <p:cNvPr id="865" name="Google Shape;865;p73"/>
          <p:cNvGrpSpPr/>
          <p:nvPr/>
        </p:nvGrpSpPr>
        <p:grpSpPr>
          <a:xfrm>
            <a:off x="3335338" y="3879850"/>
            <a:ext cx="387350" cy="152400"/>
            <a:chOff x="1141" y="2444"/>
            <a:chExt cx="244" cy="96"/>
          </a:xfrm>
        </p:grpSpPr>
        <p:sp>
          <p:nvSpPr>
            <p:cNvPr id="866" name="Google Shape;866;p73"/>
            <p:cNvSpPr/>
            <p:nvPr/>
          </p:nvSpPr>
          <p:spPr>
            <a:xfrm rot="5400000" flipH="1">
              <a:off x="1213" y="2444"/>
              <a:ext cx="96" cy="96"/>
            </a:xfrm>
            <a:prstGeom prst="flowChartCollate">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endParaRPr>
                <a:solidFill>
                  <a:schemeClr val="dk1"/>
                </a:solidFill>
                <a:latin typeface="Times New Roman"/>
                <a:ea typeface="Times New Roman"/>
                <a:cs typeface="Times New Roman"/>
                <a:sym typeface="Times New Roman"/>
              </a:endParaRPr>
            </a:p>
          </p:txBody>
        </p:sp>
        <p:cxnSp>
          <p:nvCxnSpPr>
            <p:cNvPr id="867" name="Google Shape;867;p73"/>
            <p:cNvCxnSpPr/>
            <p:nvPr/>
          </p:nvCxnSpPr>
          <p:spPr>
            <a:xfrm rot="10800000">
              <a:off x="1144" y="2450"/>
              <a:ext cx="64" cy="0"/>
            </a:xfrm>
            <a:prstGeom prst="straightConnector1">
              <a:avLst/>
            </a:prstGeom>
            <a:noFill/>
            <a:ln w="9525" cap="flat" cmpd="sng">
              <a:solidFill>
                <a:schemeClr val="dk1"/>
              </a:solidFill>
              <a:prstDash val="solid"/>
              <a:round/>
              <a:headEnd type="none" w="sm" len="sm"/>
              <a:tailEnd type="none" w="sm" len="sm"/>
            </a:ln>
          </p:spPr>
        </p:cxnSp>
        <p:cxnSp>
          <p:nvCxnSpPr>
            <p:cNvPr id="868" name="Google Shape;868;p73"/>
            <p:cNvCxnSpPr/>
            <p:nvPr/>
          </p:nvCxnSpPr>
          <p:spPr>
            <a:xfrm rot="10800000">
              <a:off x="1141" y="2537"/>
              <a:ext cx="64" cy="0"/>
            </a:xfrm>
            <a:prstGeom prst="straightConnector1">
              <a:avLst/>
            </a:prstGeom>
            <a:noFill/>
            <a:ln w="9525" cap="flat" cmpd="sng">
              <a:solidFill>
                <a:schemeClr val="dk1"/>
              </a:solidFill>
              <a:prstDash val="solid"/>
              <a:round/>
              <a:headEnd type="none" w="sm" len="sm"/>
              <a:tailEnd type="none" w="sm" len="sm"/>
            </a:ln>
          </p:spPr>
        </p:cxnSp>
        <p:cxnSp>
          <p:nvCxnSpPr>
            <p:cNvPr id="869" name="Google Shape;869;p73"/>
            <p:cNvCxnSpPr/>
            <p:nvPr/>
          </p:nvCxnSpPr>
          <p:spPr>
            <a:xfrm rot="10800000">
              <a:off x="1321" y="2537"/>
              <a:ext cx="64" cy="0"/>
            </a:xfrm>
            <a:prstGeom prst="straightConnector1">
              <a:avLst/>
            </a:prstGeom>
            <a:noFill/>
            <a:ln w="9525" cap="flat" cmpd="sng">
              <a:solidFill>
                <a:schemeClr val="dk1"/>
              </a:solidFill>
              <a:prstDash val="solid"/>
              <a:round/>
              <a:headEnd type="none" w="sm" len="sm"/>
              <a:tailEnd type="none" w="sm" len="sm"/>
            </a:ln>
          </p:spPr>
        </p:cxnSp>
        <p:cxnSp>
          <p:nvCxnSpPr>
            <p:cNvPr id="870" name="Google Shape;870;p73"/>
            <p:cNvCxnSpPr/>
            <p:nvPr/>
          </p:nvCxnSpPr>
          <p:spPr>
            <a:xfrm rot="10800000">
              <a:off x="1309" y="2444"/>
              <a:ext cx="64" cy="0"/>
            </a:xfrm>
            <a:prstGeom prst="straightConnector1">
              <a:avLst/>
            </a:prstGeom>
            <a:noFill/>
            <a:ln w="9525" cap="flat" cmpd="sng">
              <a:solidFill>
                <a:schemeClr val="dk1"/>
              </a:solidFill>
              <a:prstDash val="solid"/>
              <a:round/>
              <a:headEnd type="none" w="sm" len="sm"/>
              <a:tailEnd type="none" w="sm" len="sm"/>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4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874"/>
        <p:cNvGrpSpPr/>
        <p:nvPr/>
      </p:nvGrpSpPr>
      <p:grpSpPr>
        <a:xfrm>
          <a:off x="0" y="0"/>
          <a:ext cx="0" cy="0"/>
          <a:chOff x="0" y="0"/>
          <a:chExt cx="0" cy="0"/>
        </a:xfrm>
      </p:grpSpPr>
      <p:sp>
        <p:nvSpPr>
          <p:cNvPr id="875" name="Google Shape;875;p74"/>
          <p:cNvSpPr txBox="1">
            <a:spLocks noGrp="1"/>
          </p:cNvSpPr>
          <p:nvPr>
            <p:ph type="title"/>
          </p:nvPr>
        </p:nvSpPr>
        <p:spPr>
          <a:xfrm>
            <a:off x="1981200" y="274638"/>
            <a:ext cx="8229600" cy="1143000"/>
          </a:xfrm>
          <a:prstGeom prst="rect">
            <a:avLst/>
          </a:prstGeom>
          <a:noFill/>
          <a:ln>
            <a:noFill/>
          </a:ln>
        </p:spPr>
        <p:txBody>
          <a:bodyPr spcFirstLastPara="1" vert="horz" wrap="square" lIns="91425" tIns="45700" rIns="91425" bIns="45700" rtlCol="0" anchor="ctr" anchorCtr="0">
            <a:noAutofit/>
          </a:bodyPr>
          <a:lstStyle/>
          <a:p>
            <a:pPr algn="ctr">
              <a:lnSpc>
                <a:spcPct val="100000"/>
              </a:lnSpc>
              <a:spcBef>
                <a:spcPts val="0"/>
              </a:spcBef>
              <a:buClr>
                <a:schemeClr val="dk2"/>
              </a:buClr>
              <a:buSzPts val="4400"/>
            </a:pPr>
            <a:r>
              <a:rPr lang="en-US" b="1">
                <a:latin typeface="Times New Roman"/>
                <a:ea typeface="Times New Roman"/>
                <a:cs typeface="Times New Roman"/>
                <a:sym typeface="Times New Roman"/>
              </a:rPr>
              <a:t>Full Outer Join</a:t>
            </a:r>
            <a:endParaRPr/>
          </a:p>
        </p:txBody>
      </p:sp>
      <p:sp>
        <p:nvSpPr>
          <p:cNvPr id="876" name="Google Shape;876;p74"/>
          <p:cNvSpPr txBox="1">
            <a:spLocks noGrp="1"/>
          </p:cNvSpPr>
          <p:nvPr>
            <p:ph type="body" idx="1"/>
          </p:nvPr>
        </p:nvSpPr>
        <p:spPr>
          <a:xfrm>
            <a:off x="1981200" y="1600201"/>
            <a:ext cx="8229600" cy="4525963"/>
          </a:xfrm>
          <a:prstGeom prst="rect">
            <a:avLst/>
          </a:prstGeom>
          <a:noFill/>
          <a:ln>
            <a:noFill/>
          </a:ln>
        </p:spPr>
        <p:txBody>
          <a:bodyPr spcFirstLastPara="1" vert="horz" wrap="square" lIns="91425" tIns="45700" rIns="91425" bIns="45700" rtlCol="0" anchor="t" anchorCtr="0">
            <a:normAutofit/>
          </a:bodyPr>
          <a:lstStyle/>
          <a:p>
            <a:pPr marL="342900" indent="-342900" algn="just">
              <a:lnSpc>
                <a:spcPct val="100000"/>
              </a:lnSpc>
              <a:spcBef>
                <a:spcPts val="0"/>
              </a:spcBef>
              <a:buClr>
                <a:schemeClr val="dk1"/>
              </a:buClr>
              <a:buSzPts val="2400"/>
              <a:buFont typeface="Times New Roman"/>
              <a:buChar char="•"/>
            </a:pPr>
            <a:r>
              <a:rPr lang="en-US" sz="2400">
                <a:latin typeface="Times New Roman"/>
                <a:ea typeface="Times New Roman"/>
                <a:cs typeface="Times New Roman"/>
                <a:sym typeface="Times New Roman"/>
              </a:rPr>
              <a:t>The full outer join       does both of those operations, padding tuples from the left relation that did not match any from the right relation, as well as tuples from the right relation that did not match any from the left relation, and adding them to the result of the join.</a:t>
            </a:r>
            <a:endParaRPr sz="2400">
              <a:latin typeface="Times New Roman"/>
              <a:ea typeface="Times New Roman"/>
              <a:cs typeface="Times New Roman"/>
              <a:sym typeface="Times New Roman"/>
            </a:endParaRPr>
          </a:p>
        </p:txBody>
      </p:sp>
      <p:pic>
        <p:nvPicPr>
          <p:cNvPr id="877" name="Google Shape;877;p74"/>
          <p:cNvPicPr preferRelativeResize="0"/>
          <p:nvPr/>
        </p:nvPicPr>
        <p:blipFill rotWithShape="1">
          <a:blip r:embed="rId3">
            <a:alphaModFix/>
          </a:blip>
          <a:srcRect/>
          <a:stretch/>
        </p:blipFill>
        <p:spPr>
          <a:xfrm>
            <a:off x="2819400" y="3581401"/>
            <a:ext cx="6400800" cy="1609725"/>
          </a:xfrm>
          <a:prstGeom prst="rect">
            <a:avLst/>
          </a:prstGeom>
          <a:noFill/>
          <a:ln>
            <a:noFill/>
          </a:ln>
        </p:spPr>
      </p:pic>
      <p:pic>
        <p:nvPicPr>
          <p:cNvPr id="878" name="Google Shape;878;p74"/>
          <p:cNvPicPr preferRelativeResize="0"/>
          <p:nvPr/>
        </p:nvPicPr>
        <p:blipFill rotWithShape="1">
          <a:blip r:embed="rId4">
            <a:alphaModFix/>
          </a:blip>
          <a:srcRect/>
          <a:stretch/>
        </p:blipFill>
        <p:spPr>
          <a:xfrm>
            <a:off x="4572001" y="5334001"/>
            <a:ext cx="2771775" cy="314325"/>
          </a:xfrm>
          <a:prstGeom prst="rect">
            <a:avLst/>
          </a:prstGeom>
          <a:noFill/>
          <a:ln>
            <a:noFill/>
          </a:ln>
        </p:spPr>
      </p:pic>
      <p:pic>
        <p:nvPicPr>
          <p:cNvPr id="879" name="Google Shape;879;p74"/>
          <p:cNvPicPr preferRelativeResize="0"/>
          <p:nvPr/>
        </p:nvPicPr>
        <p:blipFill rotWithShape="1">
          <a:blip r:embed="rId5">
            <a:alphaModFix/>
          </a:blip>
          <a:srcRect/>
          <a:stretch/>
        </p:blipFill>
        <p:spPr>
          <a:xfrm>
            <a:off x="4724400" y="1676401"/>
            <a:ext cx="533400" cy="341923"/>
          </a:xfrm>
          <a:prstGeom prst="rect">
            <a:avLst/>
          </a:prstGeom>
          <a:noFill/>
          <a:ln>
            <a:noFill/>
          </a:ln>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883"/>
        <p:cNvGrpSpPr/>
        <p:nvPr/>
      </p:nvGrpSpPr>
      <p:grpSpPr>
        <a:xfrm>
          <a:off x="0" y="0"/>
          <a:ext cx="0" cy="0"/>
          <a:chOff x="0" y="0"/>
          <a:chExt cx="0" cy="0"/>
        </a:xfrm>
      </p:grpSpPr>
      <p:sp>
        <p:nvSpPr>
          <p:cNvPr id="884" name="Google Shape;884;p75"/>
          <p:cNvSpPr txBox="1">
            <a:spLocks noGrp="1"/>
          </p:cNvSpPr>
          <p:nvPr>
            <p:ph type="title"/>
          </p:nvPr>
        </p:nvSpPr>
        <p:spPr>
          <a:xfrm>
            <a:off x="2209800" y="0"/>
            <a:ext cx="7772400" cy="1143000"/>
          </a:xfrm>
          <a:prstGeom prst="rect">
            <a:avLst/>
          </a:prstGeom>
          <a:noFill/>
          <a:ln>
            <a:noFill/>
          </a:ln>
        </p:spPr>
        <p:txBody>
          <a:bodyPr spcFirstLastPara="1" vert="horz" wrap="square" lIns="91425" tIns="45700" rIns="91425" bIns="45700" rtlCol="0" anchor="ctr" anchorCtr="0">
            <a:noAutofit/>
          </a:bodyPr>
          <a:lstStyle/>
          <a:p>
            <a:pPr algn="ctr">
              <a:lnSpc>
                <a:spcPct val="100000"/>
              </a:lnSpc>
              <a:spcBef>
                <a:spcPts val="0"/>
              </a:spcBef>
              <a:buClr>
                <a:schemeClr val="dk2"/>
              </a:buClr>
              <a:buSzPts val="3600"/>
            </a:pPr>
            <a:r>
              <a:rPr lang="en-US" sz="3600" b="1"/>
              <a:t>Full Outer Join Example2  ...</a:t>
            </a:r>
            <a:endParaRPr sz="3600" b="1"/>
          </a:p>
        </p:txBody>
      </p:sp>
      <p:sp>
        <p:nvSpPr>
          <p:cNvPr id="885" name="Google Shape;885;p75"/>
          <p:cNvSpPr/>
          <p:nvPr/>
        </p:nvSpPr>
        <p:spPr>
          <a:xfrm>
            <a:off x="4419600" y="2057084"/>
            <a:ext cx="3168650" cy="333375"/>
          </a:xfrm>
          <a:prstGeom prst="rect">
            <a:avLst/>
          </a:prstGeom>
          <a:noFill/>
          <a:ln>
            <a:noFill/>
          </a:ln>
        </p:spPr>
        <p:txBody>
          <a:bodyPr spcFirstLastPara="1" wrap="square" lIns="91425" tIns="45700" rIns="91425" bIns="45700" anchor="t" anchorCtr="0">
            <a:noAutofit/>
          </a:bodyPr>
          <a:lstStyle/>
          <a:p>
            <a:pPr marL="342900" indent="-342900"/>
            <a:r>
              <a:rPr lang="en-US" sz="2800" b="1" i="1">
                <a:solidFill>
                  <a:schemeClr val="dk1"/>
                </a:solidFill>
                <a:latin typeface="Times New Roman"/>
                <a:ea typeface="Times New Roman"/>
                <a:cs typeface="Times New Roman"/>
                <a:sym typeface="Times New Roman"/>
              </a:rPr>
              <a:t>loan </a:t>
            </a:r>
            <a:r>
              <a:rPr lang="en-US" sz="2800" b="1">
                <a:solidFill>
                  <a:schemeClr val="dk1"/>
                </a:solidFill>
                <a:latin typeface="Times New Roman"/>
                <a:ea typeface="Times New Roman"/>
                <a:cs typeface="Times New Roman"/>
                <a:sym typeface="Times New Roman"/>
              </a:rPr>
              <a:t> </a:t>
            </a:r>
            <a:r>
              <a:rPr lang="en-US" sz="2800" b="1" i="1">
                <a:solidFill>
                  <a:schemeClr val="dk1"/>
                </a:solidFill>
                <a:latin typeface="Times New Roman"/>
                <a:ea typeface="Times New Roman"/>
                <a:cs typeface="Times New Roman"/>
                <a:sym typeface="Times New Roman"/>
              </a:rPr>
              <a:t>      borrower</a:t>
            </a:r>
            <a:endParaRPr sz="2800" b="1" i="1">
              <a:solidFill>
                <a:schemeClr val="dk1"/>
              </a:solidFill>
              <a:latin typeface="Times New Roman"/>
              <a:ea typeface="Times New Roman"/>
              <a:cs typeface="Times New Roman"/>
              <a:sym typeface="Times New Roman"/>
            </a:endParaRPr>
          </a:p>
        </p:txBody>
      </p:sp>
      <p:grpSp>
        <p:nvGrpSpPr>
          <p:cNvPr id="886" name="Google Shape;886;p75"/>
          <p:cNvGrpSpPr/>
          <p:nvPr/>
        </p:nvGrpSpPr>
        <p:grpSpPr>
          <a:xfrm>
            <a:off x="2291715" y="2667001"/>
            <a:ext cx="7340600" cy="2515235"/>
            <a:chOff x="768" y="2688"/>
            <a:chExt cx="3792" cy="960"/>
          </a:xfrm>
        </p:grpSpPr>
        <p:sp>
          <p:nvSpPr>
            <p:cNvPr id="887" name="Google Shape;887;p75"/>
            <p:cNvSpPr/>
            <p:nvPr/>
          </p:nvSpPr>
          <p:spPr>
            <a:xfrm>
              <a:off x="768" y="2688"/>
              <a:ext cx="1008" cy="192"/>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sz="2400" i="1">
                  <a:solidFill>
                    <a:schemeClr val="dk1"/>
                  </a:solidFill>
                  <a:latin typeface="Helvetica Neue"/>
                  <a:ea typeface="Helvetica Neue"/>
                  <a:cs typeface="Helvetica Neue"/>
                  <a:sym typeface="Helvetica Neue"/>
                </a:rPr>
                <a:t>loan-number</a:t>
              </a:r>
              <a:endParaRPr sz="2400" i="1">
                <a:solidFill>
                  <a:schemeClr val="dk1"/>
                </a:solidFill>
                <a:latin typeface="Helvetica Neue"/>
                <a:ea typeface="Helvetica Neue"/>
                <a:cs typeface="Helvetica Neue"/>
                <a:sym typeface="Helvetica Neue"/>
              </a:endParaRPr>
            </a:p>
          </p:txBody>
        </p:sp>
        <p:sp>
          <p:nvSpPr>
            <p:cNvPr id="888" name="Google Shape;888;p75"/>
            <p:cNvSpPr/>
            <p:nvPr/>
          </p:nvSpPr>
          <p:spPr>
            <a:xfrm>
              <a:off x="2784" y="2688"/>
              <a:ext cx="720" cy="192"/>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sz="2400" i="1">
                  <a:solidFill>
                    <a:schemeClr val="dk1"/>
                  </a:solidFill>
                  <a:latin typeface="Helvetica Neue"/>
                  <a:ea typeface="Helvetica Neue"/>
                  <a:cs typeface="Helvetica Neue"/>
                  <a:sym typeface="Helvetica Neue"/>
                </a:rPr>
                <a:t>amount</a:t>
              </a:r>
              <a:endParaRPr sz="2400" i="1">
                <a:solidFill>
                  <a:schemeClr val="dk1"/>
                </a:solidFill>
                <a:latin typeface="Helvetica Neue"/>
                <a:ea typeface="Helvetica Neue"/>
                <a:cs typeface="Helvetica Neue"/>
                <a:sym typeface="Helvetica Neue"/>
              </a:endParaRPr>
            </a:p>
          </p:txBody>
        </p:sp>
        <p:sp>
          <p:nvSpPr>
            <p:cNvPr id="889" name="Google Shape;889;p75"/>
            <p:cNvSpPr/>
            <p:nvPr/>
          </p:nvSpPr>
          <p:spPr>
            <a:xfrm>
              <a:off x="768" y="2928"/>
              <a:ext cx="1008" cy="72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r>
                <a:rPr lang="en-US" sz="2400">
                  <a:solidFill>
                    <a:schemeClr val="dk1"/>
                  </a:solidFill>
                  <a:latin typeface="Helvetica Neue"/>
                  <a:ea typeface="Helvetica Neue"/>
                  <a:cs typeface="Helvetica Neue"/>
                  <a:sym typeface="Helvetica Neue"/>
                </a:rPr>
                <a:t>L-170</a:t>
              </a:r>
              <a:endParaRPr sz="2400">
                <a:solidFill>
                  <a:schemeClr val="dk1"/>
                </a:solidFill>
                <a:latin typeface="Helvetica Neue"/>
                <a:ea typeface="Helvetica Neue"/>
                <a:cs typeface="Helvetica Neue"/>
                <a:sym typeface="Helvetica Neue"/>
              </a:endParaRPr>
            </a:p>
            <a:p>
              <a:r>
                <a:rPr lang="en-US" sz="2400">
                  <a:solidFill>
                    <a:schemeClr val="dk1"/>
                  </a:solidFill>
                  <a:latin typeface="Helvetica Neue"/>
                  <a:ea typeface="Helvetica Neue"/>
                  <a:cs typeface="Helvetica Neue"/>
                  <a:sym typeface="Helvetica Neue"/>
                </a:rPr>
                <a:t>L-230</a:t>
              </a:r>
              <a:endParaRPr sz="2400">
                <a:solidFill>
                  <a:schemeClr val="dk1"/>
                </a:solidFill>
                <a:latin typeface="Helvetica Neue"/>
                <a:ea typeface="Helvetica Neue"/>
                <a:cs typeface="Helvetica Neue"/>
                <a:sym typeface="Helvetica Neue"/>
              </a:endParaRPr>
            </a:p>
            <a:p>
              <a:r>
                <a:rPr lang="en-US" sz="2400">
                  <a:solidFill>
                    <a:schemeClr val="dk1"/>
                  </a:solidFill>
                  <a:latin typeface="Helvetica Neue"/>
                  <a:ea typeface="Helvetica Neue"/>
                  <a:cs typeface="Helvetica Neue"/>
                  <a:sym typeface="Helvetica Neue"/>
                </a:rPr>
                <a:t>L-260</a:t>
              </a:r>
              <a:endParaRPr sz="2400">
                <a:solidFill>
                  <a:schemeClr val="dk1"/>
                </a:solidFill>
                <a:latin typeface="Helvetica Neue"/>
                <a:ea typeface="Helvetica Neue"/>
                <a:cs typeface="Helvetica Neue"/>
                <a:sym typeface="Helvetica Neue"/>
              </a:endParaRPr>
            </a:p>
            <a:p>
              <a:r>
                <a:rPr lang="en-US" sz="2400">
                  <a:solidFill>
                    <a:schemeClr val="dk1"/>
                  </a:solidFill>
                  <a:latin typeface="Helvetica Neue"/>
                  <a:ea typeface="Helvetica Neue"/>
                  <a:cs typeface="Helvetica Neue"/>
                  <a:sym typeface="Helvetica Neue"/>
                </a:rPr>
                <a:t>L-155</a:t>
              </a:r>
              <a:endParaRPr sz="2400">
                <a:solidFill>
                  <a:schemeClr val="dk1"/>
                </a:solidFill>
                <a:latin typeface="Helvetica Neue"/>
                <a:ea typeface="Helvetica Neue"/>
                <a:cs typeface="Helvetica Neue"/>
                <a:sym typeface="Helvetica Neue"/>
              </a:endParaRPr>
            </a:p>
          </p:txBody>
        </p:sp>
        <p:sp>
          <p:nvSpPr>
            <p:cNvPr id="890" name="Google Shape;890;p75"/>
            <p:cNvSpPr/>
            <p:nvPr/>
          </p:nvSpPr>
          <p:spPr>
            <a:xfrm>
              <a:off x="2784" y="2928"/>
              <a:ext cx="720" cy="72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sz="2400">
                  <a:solidFill>
                    <a:schemeClr val="dk1"/>
                  </a:solidFill>
                  <a:latin typeface="Helvetica Neue"/>
                  <a:ea typeface="Helvetica Neue"/>
                  <a:cs typeface="Helvetica Neue"/>
                  <a:sym typeface="Helvetica Neue"/>
                </a:rPr>
                <a:t>3000</a:t>
              </a:r>
              <a:endParaRPr sz="2400">
                <a:solidFill>
                  <a:schemeClr val="dk1"/>
                </a:solidFill>
                <a:latin typeface="Helvetica Neue"/>
                <a:ea typeface="Helvetica Neue"/>
                <a:cs typeface="Helvetica Neue"/>
                <a:sym typeface="Helvetica Neue"/>
              </a:endParaRPr>
            </a:p>
            <a:p>
              <a:pPr algn="ctr"/>
              <a:r>
                <a:rPr lang="en-US" sz="2400">
                  <a:solidFill>
                    <a:schemeClr val="dk1"/>
                  </a:solidFill>
                  <a:latin typeface="Helvetica Neue"/>
                  <a:ea typeface="Helvetica Neue"/>
                  <a:cs typeface="Helvetica Neue"/>
                  <a:sym typeface="Helvetica Neue"/>
                </a:rPr>
                <a:t>4000</a:t>
              </a:r>
              <a:endParaRPr sz="2400">
                <a:solidFill>
                  <a:schemeClr val="dk1"/>
                </a:solidFill>
                <a:latin typeface="Helvetica Neue"/>
                <a:ea typeface="Helvetica Neue"/>
                <a:cs typeface="Helvetica Neue"/>
                <a:sym typeface="Helvetica Neue"/>
              </a:endParaRPr>
            </a:p>
            <a:p>
              <a:pPr algn="ctr"/>
              <a:r>
                <a:rPr lang="en-US" sz="2400">
                  <a:solidFill>
                    <a:schemeClr val="dk1"/>
                  </a:solidFill>
                  <a:latin typeface="Helvetica Neue"/>
                  <a:ea typeface="Helvetica Neue"/>
                  <a:cs typeface="Helvetica Neue"/>
                  <a:sym typeface="Helvetica Neue"/>
                </a:rPr>
                <a:t>1700</a:t>
              </a:r>
              <a:endParaRPr sz="2400">
                <a:solidFill>
                  <a:schemeClr val="dk1"/>
                </a:solidFill>
                <a:latin typeface="Helvetica Neue"/>
                <a:ea typeface="Helvetica Neue"/>
                <a:cs typeface="Helvetica Neue"/>
                <a:sym typeface="Helvetica Neue"/>
              </a:endParaRPr>
            </a:p>
            <a:p>
              <a:pPr algn="ctr"/>
              <a:r>
                <a:rPr lang="en-US" sz="2400" i="1">
                  <a:solidFill>
                    <a:schemeClr val="dk1"/>
                  </a:solidFill>
                  <a:latin typeface="Helvetica Neue"/>
                  <a:ea typeface="Helvetica Neue"/>
                  <a:cs typeface="Helvetica Neue"/>
                  <a:sym typeface="Helvetica Neue"/>
                </a:rPr>
                <a:t>null</a:t>
              </a:r>
              <a:endParaRPr sz="2400" i="1">
                <a:solidFill>
                  <a:schemeClr val="dk1"/>
                </a:solidFill>
                <a:latin typeface="Helvetica Neue"/>
                <a:ea typeface="Helvetica Neue"/>
                <a:cs typeface="Helvetica Neue"/>
                <a:sym typeface="Helvetica Neue"/>
              </a:endParaRPr>
            </a:p>
          </p:txBody>
        </p:sp>
        <p:sp>
          <p:nvSpPr>
            <p:cNvPr id="891" name="Google Shape;891;p75"/>
            <p:cNvSpPr/>
            <p:nvPr/>
          </p:nvSpPr>
          <p:spPr>
            <a:xfrm>
              <a:off x="3504" y="2688"/>
              <a:ext cx="1056" cy="192"/>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sz="2400" i="1">
                  <a:solidFill>
                    <a:schemeClr val="dk1"/>
                  </a:solidFill>
                  <a:latin typeface="Helvetica Neue"/>
                  <a:ea typeface="Helvetica Neue"/>
                  <a:cs typeface="Helvetica Neue"/>
                  <a:sym typeface="Helvetica Neue"/>
                </a:rPr>
                <a:t>customer-name</a:t>
              </a:r>
              <a:endParaRPr sz="2400" i="1">
                <a:solidFill>
                  <a:schemeClr val="dk1"/>
                </a:solidFill>
                <a:latin typeface="Helvetica Neue"/>
                <a:ea typeface="Helvetica Neue"/>
                <a:cs typeface="Helvetica Neue"/>
                <a:sym typeface="Helvetica Neue"/>
              </a:endParaRPr>
            </a:p>
          </p:txBody>
        </p:sp>
        <p:sp>
          <p:nvSpPr>
            <p:cNvPr id="892" name="Google Shape;892;p75"/>
            <p:cNvSpPr/>
            <p:nvPr/>
          </p:nvSpPr>
          <p:spPr>
            <a:xfrm>
              <a:off x="3504" y="2928"/>
              <a:ext cx="1056" cy="72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r>
                <a:rPr lang="en-US" sz="2400">
                  <a:solidFill>
                    <a:schemeClr val="dk1"/>
                  </a:solidFill>
                  <a:latin typeface="Helvetica Neue"/>
                  <a:ea typeface="Helvetica Neue"/>
                  <a:cs typeface="Helvetica Neue"/>
                  <a:sym typeface="Helvetica Neue"/>
                </a:rPr>
                <a:t>Jones</a:t>
              </a:r>
              <a:endParaRPr sz="2400">
                <a:solidFill>
                  <a:schemeClr val="dk1"/>
                </a:solidFill>
                <a:latin typeface="Helvetica Neue"/>
                <a:ea typeface="Helvetica Neue"/>
                <a:cs typeface="Helvetica Neue"/>
                <a:sym typeface="Helvetica Neue"/>
              </a:endParaRPr>
            </a:p>
            <a:p>
              <a:r>
                <a:rPr lang="en-US" sz="2400">
                  <a:solidFill>
                    <a:schemeClr val="dk1"/>
                  </a:solidFill>
                  <a:latin typeface="Helvetica Neue"/>
                  <a:ea typeface="Helvetica Neue"/>
                  <a:cs typeface="Helvetica Neue"/>
                  <a:sym typeface="Helvetica Neue"/>
                </a:rPr>
                <a:t>Smith</a:t>
              </a:r>
              <a:endParaRPr sz="2400">
                <a:solidFill>
                  <a:schemeClr val="dk1"/>
                </a:solidFill>
                <a:latin typeface="Helvetica Neue"/>
                <a:ea typeface="Helvetica Neue"/>
                <a:cs typeface="Helvetica Neue"/>
                <a:sym typeface="Helvetica Neue"/>
              </a:endParaRPr>
            </a:p>
            <a:p>
              <a:r>
                <a:rPr lang="en-US" sz="2400" i="1">
                  <a:solidFill>
                    <a:schemeClr val="dk1"/>
                  </a:solidFill>
                  <a:latin typeface="Helvetica Neue"/>
                  <a:ea typeface="Helvetica Neue"/>
                  <a:cs typeface="Helvetica Neue"/>
                  <a:sym typeface="Helvetica Neue"/>
                </a:rPr>
                <a:t>null</a:t>
              </a:r>
              <a:endParaRPr sz="2400">
                <a:solidFill>
                  <a:schemeClr val="dk1"/>
                </a:solidFill>
                <a:latin typeface="Helvetica Neue"/>
                <a:ea typeface="Helvetica Neue"/>
                <a:cs typeface="Helvetica Neue"/>
                <a:sym typeface="Helvetica Neue"/>
              </a:endParaRPr>
            </a:p>
            <a:p>
              <a:r>
                <a:rPr lang="en-US" sz="2400">
                  <a:solidFill>
                    <a:schemeClr val="dk1"/>
                  </a:solidFill>
                  <a:latin typeface="Helvetica Neue"/>
                  <a:ea typeface="Helvetica Neue"/>
                  <a:cs typeface="Helvetica Neue"/>
                  <a:sym typeface="Helvetica Neue"/>
                </a:rPr>
                <a:t>Hayes</a:t>
              </a:r>
              <a:endParaRPr sz="2400">
                <a:solidFill>
                  <a:schemeClr val="dk1"/>
                </a:solidFill>
                <a:latin typeface="Helvetica Neue"/>
                <a:ea typeface="Helvetica Neue"/>
                <a:cs typeface="Helvetica Neue"/>
                <a:sym typeface="Helvetica Neue"/>
              </a:endParaRPr>
            </a:p>
          </p:txBody>
        </p:sp>
        <p:sp>
          <p:nvSpPr>
            <p:cNvPr id="893" name="Google Shape;893;p75"/>
            <p:cNvSpPr/>
            <p:nvPr/>
          </p:nvSpPr>
          <p:spPr>
            <a:xfrm>
              <a:off x="1776" y="2688"/>
              <a:ext cx="1008" cy="192"/>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algn="ctr"/>
              <a:r>
                <a:rPr lang="en-US" sz="2400" i="1">
                  <a:solidFill>
                    <a:schemeClr val="dk1"/>
                  </a:solidFill>
                  <a:latin typeface="Helvetica Neue"/>
                  <a:ea typeface="Helvetica Neue"/>
                  <a:cs typeface="Helvetica Neue"/>
                  <a:sym typeface="Helvetica Neue"/>
                </a:rPr>
                <a:t>branch-name</a:t>
              </a:r>
              <a:endParaRPr sz="2400" i="1">
                <a:solidFill>
                  <a:schemeClr val="dk1"/>
                </a:solidFill>
                <a:latin typeface="Helvetica Neue"/>
                <a:ea typeface="Helvetica Neue"/>
                <a:cs typeface="Helvetica Neue"/>
                <a:sym typeface="Helvetica Neue"/>
              </a:endParaRPr>
            </a:p>
          </p:txBody>
        </p:sp>
        <p:sp>
          <p:nvSpPr>
            <p:cNvPr id="894" name="Google Shape;894;p75"/>
            <p:cNvSpPr/>
            <p:nvPr/>
          </p:nvSpPr>
          <p:spPr>
            <a:xfrm>
              <a:off x="1776" y="2928"/>
              <a:ext cx="1008" cy="72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r>
                <a:rPr lang="en-US" sz="2400">
                  <a:solidFill>
                    <a:schemeClr val="dk1"/>
                  </a:solidFill>
                  <a:latin typeface="Helvetica Neue"/>
                  <a:ea typeface="Helvetica Neue"/>
                  <a:cs typeface="Helvetica Neue"/>
                  <a:sym typeface="Helvetica Neue"/>
                </a:rPr>
                <a:t>Downtown</a:t>
              </a:r>
              <a:endParaRPr sz="2400">
                <a:solidFill>
                  <a:schemeClr val="dk1"/>
                </a:solidFill>
                <a:latin typeface="Helvetica Neue"/>
                <a:ea typeface="Helvetica Neue"/>
                <a:cs typeface="Helvetica Neue"/>
                <a:sym typeface="Helvetica Neue"/>
              </a:endParaRPr>
            </a:p>
            <a:p>
              <a:r>
                <a:rPr lang="en-US" sz="2400">
                  <a:solidFill>
                    <a:schemeClr val="dk1"/>
                  </a:solidFill>
                  <a:latin typeface="Helvetica Neue"/>
                  <a:ea typeface="Helvetica Neue"/>
                  <a:cs typeface="Helvetica Neue"/>
                  <a:sym typeface="Helvetica Neue"/>
                </a:rPr>
                <a:t>Redwood</a:t>
              </a:r>
              <a:endParaRPr sz="2400">
                <a:solidFill>
                  <a:schemeClr val="dk1"/>
                </a:solidFill>
                <a:latin typeface="Helvetica Neue"/>
                <a:ea typeface="Helvetica Neue"/>
                <a:cs typeface="Helvetica Neue"/>
                <a:sym typeface="Helvetica Neue"/>
              </a:endParaRPr>
            </a:p>
            <a:p>
              <a:r>
                <a:rPr lang="en-US" sz="2400">
                  <a:solidFill>
                    <a:schemeClr val="dk1"/>
                  </a:solidFill>
                  <a:latin typeface="Helvetica Neue"/>
                  <a:ea typeface="Helvetica Neue"/>
                  <a:cs typeface="Helvetica Neue"/>
                  <a:sym typeface="Helvetica Neue"/>
                </a:rPr>
                <a:t>Perryridge</a:t>
              </a:r>
              <a:endParaRPr sz="2400">
                <a:solidFill>
                  <a:schemeClr val="dk1"/>
                </a:solidFill>
                <a:latin typeface="Helvetica Neue"/>
                <a:ea typeface="Helvetica Neue"/>
                <a:cs typeface="Helvetica Neue"/>
                <a:sym typeface="Helvetica Neue"/>
              </a:endParaRPr>
            </a:p>
            <a:p>
              <a:r>
                <a:rPr lang="en-US" sz="2400" i="1">
                  <a:solidFill>
                    <a:schemeClr val="dk1"/>
                  </a:solidFill>
                  <a:latin typeface="Helvetica Neue"/>
                  <a:ea typeface="Helvetica Neue"/>
                  <a:cs typeface="Helvetica Neue"/>
                  <a:sym typeface="Helvetica Neue"/>
                </a:rPr>
                <a:t>null</a:t>
              </a:r>
              <a:endParaRPr sz="2400" i="1">
                <a:solidFill>
                  <a:schemeClr val="dk1"/>
                </a:solidFill>
                <a:latin typeface="Helvetica Neue"/>
                <a:ea typeface="Helvetica Neue"/>
                <a:cs typeface="Helvetica Neue"/>
                <a:sym typeface="Helvetica Neue"/>
              </a:endParaRPr>
            </a:p>
          </p:txBody>
        </p:sp>
      </p:grpSp>
      <p:grpSp>
        <p:nvGrpSpPr>
          <p:cNvPr id="895" name="Google Shape;895;p75"/>
          <p:cNvGrpSpPr/>
          <p:nvPr/>
        </p:nvGrpSpPr>
        <p:grpSpPr>
          <a:xfrm>
            <a:off x="5295583" y="2286000"/>
            <a:ext cx="387350" cy="152400"/>
            <a:chOff x="1141" y="2444"/>
            <a:chExt cx="244" cy="96"/>
          </a:xfrm>
        </p:grpSpPr>
        <p:sp>
          <p:nvSpPr>
            <p:cNvPr id="896" name="Google Shape;896;p75"/>
            <p:cNvSpPr/>
            <p:nvPr/>
          </p:nvSpPr>
          <p:spPr>
            <a:xfrm rot="5400000" flipH="1">
              <a:off x="1213" y="2444"/>
              <a:ext cx="96" cy="96"/>
            </a:xfrm>
            <a:prstGeom prst="flowChartCollate">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endParaRPr sz="2400" b="1">
                <a:solidFill>
                  <a:schemeClr val="dk1"/>
                </a:solidFill>
                <a:latin typeface="Times New Roman"/>
                <a:ea typeface="Times New Roman"/>
                <a:cs typeface="Times New Roman"/>
                <a:sym typeface="Times New Roman"/>
              </a:endParaRPr>
            </a:p>
          </p:txBody>
        </p:sp>
        <p:cxnSp>
          <p:nvCxnSpPr>
            <p:cNvPr id="897" name="Google Shape;897;p75"/>
            <p:cNvCxnSpPr/>
            <p:nvPr/>
          </p:nvCxnSpPr>
          <p:spPr>
            <a:xfrm rot="10800000">
              <a:off x="1144" y="2450"/>
              <a:ext cx="64" cy="0"/>
            </a:xfrm>
            <a:prstGeom prst="straightConnector1">
              <a:avLst/>
            </a:prstGeom>
            <a:noFill/>
            <a:ln w="9525" cap="flat" cmpd="sng">
              <a:solidFill>
                <a:schemeClr val="dk1"/>
              </a:solidFill>
              <a:prstDash val="solid"/>
              <a:round/>
              <a:headEnd type="none" w="sm" len="sm"/>
              <a:tailEnd type="none" w="sm" len="sm"/>
            </a:ln>
          </p:spPr>
        </p:cxnSp>
        <p:cxnSp>
          <p:nvCxnSpPr>
            <p:cNvPr id="898" name="Google Shape;898;p75"/>
            <p:cNvCxnSpPr/>
            <p:nvPr/>
          </p:nvCxnSpPr>
          <p:spPr>
            <a:xfrm rot="10800000">
              <a:off x="1141" y="2537"/>
              <a:ext cx="64" cy="0"/>
            </a:xfrm>
            <a:prstGeom prst="straightConnector1">
              <a:avLst/>
            </a:prstGeom>
            <a:noFill/>
            <a:ln w="9525" cap="flat" cmpd="sng">
              <a:solidFill>
                <a:schemeClr val="dk1"/>
              </a:solidFill>
              <a:prstDash val="solid"/>
              <a:round/>
              <a:headEnd type="none" w="sm" len="sm"/>
              <a:tailEnd type="none" w="sm" len="sm"/>
            </a:ln>
          </p:spPr>
        </p:cxnSp>
        <p:cxnSp>
          <p:nvCxnSpPr>
            <p:cNvPr id="899" name="Google Shape;899;p75"/>
            <p:cNvCxnSpPr/>
            <p:nvPr/>
          </p:nvCxnSpPr>
          <p:spPr>
            <a:xfrm rot="10800000">
              <a:off x="1321" y="2537"/>
              <a:ext cx="64" cy="0"/>
            </a:xfrm>
            <a:prstGeom prst="straightConnector1">
              <a:avLst/>
            </a:prstGeom>
            <a:noFill/>
            <a:ln w="9525" cap="flat" cmpd="sng">
              <a:solidFill>
                <a:schemeClr val="dk1"/>
              </a:solidFill>
              <a:prstDash val="solid"/>
              <a:round/>
              <a:headEnd type="none" w="sm" len="sm"/>
              <a:tailEnd type="none" w="sm" len="sm"/>
            </a:ln>
          </p:spPr>
        </p:cxnSp>
        <p:cxnSp>
          <p:nvCxnSpPr>
            <p:cNvPr id="900" name="Google Shape;900;p75"/>
            <p:cNvCxnSpPr/>
            <p:nvPr/>
          </p:nvCxnSpPr>
          <p:spPr>
            <a:xfrm rot="10800000">
              <a:off x="1309" y="2444"/>
              <a:ext cx="64" cy="0"/>
            </a:xfrm>
            <a:prstGeom prst="straightConnector1">
              <a:avLst/>
            </a:prstGeom>
            <a:noFill/>
            <a:ln w="9525" cap="flat" cmpd="sng">
              <a:solidFill>
                <a:schemeClr val="dk1"/>
              </a:solidFill>
              <a:prstDash val="solid"/>
              <a:round/>
              <a:headEnd type="none" w="sm" len="sm"/>
              <a:tailEnd type="none" w="sm" len="sm"/>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904"/>
        <p:cNvGrpSpPr/>
        <p:nvPr/>
      </p:nvGrpSpPr>
      <p:grpSpPr>
        <a:xfrm>
          <a:off x="0" y="0"/>
          <a:ext cx="0" cy="0"/>
          <a:chOff x="0" y="0"/>
          <a:chExt cx="0" cy="0"/>
        </a:xfrm>
      </p:grpSpPr>
      <p:sp>
        <p:nvSpPr>
          <p:cNvPr id="905" name="Google Shape;905;p76"/>
          <p:cNvSpPr txBox="1">
            <a:spLocks noGrp="1"/>
          </p:cNvSpPr>
          <p:nvPr>
            <p:ph type="title"/>
          </p:nvPr>
        </p:nvSpPr>
        <p:spPr>
          <a:xfrm>
            <a:off x="2209800" y="0"/>
            <a:ext cx="7772400" cy="1143000"/>
          </a:xfrm>
          <a:prstGeom prst="rect">
            <a:avLst/>
          </a:prstGeom>
          <a:noFill/>
          <a:ln>
            <a:noFill/>
          </a:ln>
        </p:spPr>
        <p:txBody>
          <a:bodyPr spcFirstLastPara="1" vert="horz" wrap="square" lIns="91425" tIns="45700" rIns="91425" bIns="45700" rtlCol="0" anchor="ctr" anchorCtr="0">
            <a:noAutofit/>
          </a:bodyPr>
          <a:lstStyle/>
          <a:p>
            <a:pPr algn="ctr">
              <a:lnSpc>
                <a:spcPct val="100000"/>
              </a:lnSpc>
              <a:spcBef>
                <a:spcPts val="0"/>
              </a:spcBef>
              <a:buClr>
                <a:schemeClr val="dk2"/>
              </a:buClr>
              <a:buSzPts val="2800"/>
            </a:pPr>
            <a:r>
              <a:rPr lang="en-US" sz="2800"/>
              <a:t>Null Values</a:t>
            </a:r>
            <a:endParaRPr sz="2800"/>
          </a:p>
        </p:txBody>
      </p:sp>
      <p:sp>
        <p:nvSpPr>
          <p:cNvPr id="906" name="Google Shape;906;p76"/>
          <p:cNvSpPr txBox="1">
            <a:spLocks noGrp="1"/>
          </p:cNvSpPr>
          <p:nvPr>
            <p:ph type="body" idx="1"/>
          </p:nvPr>
        </p:nvSpPr>
        <p:spPr>
          <a:xfrm>
            <a:off x="2209800" y="1066800"/>
            <a:ext cx="7772400" cy="4114800"/>
          </a:xfrm>
          <a:prstGeom prst="rect">
            <a:avLst/>
          </a:prstGeom>
          <a:noFill/>
          <a:ln>
            <a:noFill/>
          </a:ln>
        </p:spPr>
        <p:txBody>
          <a:bodyPr spcFirstLastPara="1" vert="horz" wrap="square" lIns="91425" tIns="45700" rIns="91425" bIns="45700" rtlCol="0" anchor="t" anchorCtr="0">
            <a:noAutofit/>
          </a:bodyPr>
          <a:lstStyle/>
          <a:p>
            <a:pPr marL="342900" indent="-342900">
              <a:lnSpc>
                <a:spcPct val="100000"/>
              </a:lnSpc>
              <a:spcBef>
                <a:spcPts val="0"/>
              </a:spcBef>
              <a:buClr>
                <a:schemeClr val="dk1"/>
              </a:buClr>
              <a:buSzPts val="2400"/>
              <a:buFont typeface="Arial"/>
              <a:buChar char="•"/>
            </a:pPr>
            <a:r>
              <a:rPr lang="en-US" sz="2400"/>
              <a:t>It is possible for tuples to have a null value, denoted by </a:t>
            </a:r>
            <a:r>
              <a:rPr lang="en-US" sz="2400" i="1"/>
              <a:t>null</a:t>
            </a:r>
            <a:r>
              <a:rPr lang="en-US" sz="2400"/>
              <a:t>, for some of their attributes</a:t>
            </a:r>
            <a:endParaRPr sz="2400"/>
          </a:p>
          <a:p>
            <a:pPr marL="342900" indent="-342900">
              <a:lnSpc>
                <a:spcPct val="100000"/>
              </a:lnSpc>
              <a:spcBef>
                <a:spcPts val="480"/>
              </a:spcBef>
              <a:buClr>
                <a:schemeClr val="dk1"/>
              </a:buClr>
              <a:buSzPts val="2400"/>
              <a:buFont typeface="Arial"/>
              <a:buChar char="•"/>
            </a:pPr>
            <a:r>
              <a:rPr lang="en-US" sz="2400" i="1"/>
              <a:t>null</a:t>
            </a:r>
            <a:r>
              <a:rPr lang="en-US" sz="2400"/>
              <a:t> signifies an unknown value or that a value does not exist.</a:t>
            </a:r>
            <a:endParaRPr sz="2400"/>
          </a:p>
          <a:p>
            <a:pPr marL="342900" indent="-342900">
              <a:lnSpc>
                <a:spcPct val="100000"/>
              </a:lnSpc>
              <a:spcBef>
                <a:spcPts val="480"/>
              </a:spcBef>
              <a:buClr>
                <a:schemeClr val="dk1"/>
              </a:buClr>
              <a:buSzPts val="2400"/>
              <a:buFont typeface="Arial"/>
              <a:buChar char="•"/>
            </a:pPr>
            <a:r>
              <a:rPr lang="en-US" sz="2400"/>
              <a:t>The result of any arithmetic expression involving </a:t>
            </a:r>
            <a:r>
              <a:rPr lang="en-US" sz="2400" i="1"/>
              <a:t>null</a:t>
            </a:r>
            <a:r>
              <a:rPr lang="en-US" sz="2400"/>
              <a:t> is </a:t>
            </a:r>
            <a:r>
              <a:rPr lang="en-US" sz="2400" i="1"/>
              <a:t>null.</a:t>
            </a:r>
            <a:endParaRPr sz="2400" i="1"/>
          </a:p>
          <a:p>
            <a:pPr marL="342900" indent="-342900">
              <a:lnSpc>
                <a:spcPct val="100000"/>
              </a:lnSpc>
              <a:spcBef>
                <a:spcPts val="480"/>
              </a:spcBef>
              <a:buClr>
                <a:schemeClr val="dk1"/>
              </a:buClr>
              <a:buSzPts val="2400"/>
              <a:buFont typeface="Arial"/>
              <a:buChar char="•"/>
            </a:pPr>
            <a:r>
              <a:rPr lang="en-US" sz="2400"/>
              <a:t>Aggregate functions simply ignore null values</a:t>
            </a:r>
            <a:endParaRPr/>
          </a:p>
          <a:p>
            <a:pPr marL="342900" indent="-342900">
              <a:lnSpc>
                <a:spcPct val="100000"/>
              </a:lnSpc>
              <a:spcBef>
                <a:spcPts val="480"/>
              </a:spcBef>
              <a:buClr>
                <a:schemeClr val="dk1"/>
              </a:buClr>
              <a:buSzPts val="2400"/>
              <a:buFont typeface="Arial"/>
              <a:buChar char="•"/>
            </a:pPr>
            <a:r>
              <a:rPr lang="en-US" sz="2400"/>
              <a:t>For duplicate elimination and grouping, null is treated like any other value, and two nulls are assumed to be  the same</a:t>
            </a:r>
            <a:endParaRPr sz="240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911"/>
        <p:cNvGrpSpPr/>
        <p:nvPr/>
      </p:nvGrpSpPr>
      <p:grpSpPr>
        <a:xfrm>
          <a:off x="0" y="0"/>
          <a:ext cx="0" cy="0"/>
          <a:chOff x="0" y="0"/>
          <a:chExt cx="0" cy="0"/>
        </a:xfrm>
      </p:grpSpPr>
      <p:sp>
        <p:nvSpPr>
          <p:cNvPr id="912" name="Google Shape;912;p77"/>
          <p:cNvSpPr txBox="1">
            <a:spLocks noGrp="1"/>
          </p:cNvSpPr>
          <p:nvPr>
            <p:ph type="title"/>
          </p:nvPr>
        </p:nvSpPr>
        <p:spPr>
          <a:xfrm>
            <a:off x="2209800" y="0"/>
            <a:ext cx="7772400" cy="1143000"/>
          </a:xfrm>
          <a:prstGeom prst="rect">
            <a:avLst/>
          </a:prstGeom>
          <a:noFill/>
          <a:ln>
            <a:noFill/>
          </a:ln>
        </p:spPr>
        <p:txBody>
          <a:bodyPr spcFirstLastPara="1" vert="horz" wrap="square" lIns="91425" tIns="45700" rIns="91425" bIns="45700" rtlCol="0" anchor="ctr" anchorCtr="0">
            <a:noAutofit/>
          </a:bodyPr>
          <a:lstStyle/>
          <a:p>
            <a:pPr algn="ctr">
              <a:lnSpc>
                <a:spcPct val="100000"/>
              </a:lnSpc>
              <a:spcBef>
                <a:spcPts val="0"/>
              </a:spcBef>
              <a:buClr>
                <a:schemeClr val="dk2"/>
              </a:buClr>
              <a:buSzPts val="2800"/>
            </a:pPr>
            <a:r>
              <a:rPr lang="en-US" sz="2800"/>
              <a:t>Null Values</a:t>
            </a:r>
            <a:endParaRPr sz="2800"/>
          </a:p>
        </p:txBody>
      </p:sp>
      <p:sp>
        <p:nvSpPr>
          <p:cNvPr id="913" name="Google Shape;913;p77"/>
          <p:cNvSpPr txBox="1">
            <a:spLocks noGrp="1"/>
          </p:cNvSpPr>
          <p:nvPr>
            <p:ph type="body" idx="1"/>
          </p:nvPr>
        </p:nvSpPr>
        <p:spPr>
          <a:xfrm>
            <a:off x="2247900" y="1104901"/>
            <a:ext cx="7791450" cy="4930775"/>
          </a:xfrm>
          <a:prstGeom prst="rect">
            <a:avLst/>
          </a:prstGeom>
          <a:noFill/>
          <a:ln>
            <a:noFill/>
          </a:ln>
        </p:spPr>
        <p:txBody>
          <a:bodyPr spcFirstLastPara="1" vert="horz" wrap="square" lIns="91425" tIns="45700" rIns="91425" bIns="45700" rtlCol="0" anchor="t" anchorCtr="0">
            <a:noAutofit/>
          </a:bodyPr>
          <a:lstStyle/>
          <a:p>
            <a:pPr marL="342900" indent="-342900">
              <a:spcBef>
                <a:spcPts val="0"/>
              </a:spcBef>
              <a:buClr>
                <a:schemeClr val="dk1"/>
              </a:buClr>
              <a:buSzPts val="2400"/>
              <a:buFont typeface="Arial"/>
              <a:buChar char="•"/>
            </a:pPr>
            <a:r>
              <a:rPr lang="en-US" sz="2400"/>
              <a:t>Comparisons with null values return the special truth value </a:t>
            </a:r>
            <a:r>
              <a:rPr lang="en-US" sz="2400" i="1"/>
              <a:t>unknown</a:t>
            </a:r>
            <a:endParaRPr sz="2400" i="1"/>
          </a:p>
          <a:p>
            <a:pPr marL="742950" lvl="1" indent="-285750">
              <a:spcBef>
                <a:spcPts val="480"/>
              </a:spcBef>
              <a:buClr>
                <a:schemeClr val="dk1"/>
              </a:buClr>
              <a:buSzPts val="2400"/>
              <a:buFont typeface="Arial"/>
              <a:buChar char="–"/>
            </a:pPr>
            <a:r>
              <a:rPr lang="en-US"/>
              <a:t>If </a:t>
            </a:r>
            <a:r>
              <a:rPr lang="en-US" i="1"/>
              <a:t>false</a:t>
            </a:r>
            <a:r>
              <a:rPr lang="en-US"/>
              <a:t> was used instead of </a:t>
            </a:r>
            <a:r>
              <a:rPr lang="en-US" i="1"/>
              <a:t>unknown</a:t>
            </a:r>
            <a:r>
              <a:rPr lang="en-US"/>
              <a:t>, then    </a:t>
            </a:r>
            <a:r>
              <a:rPr lang="en-US" i="1"/>
              <a:t>not (A &lt; 5)</a:t>
            </a:r>
            <a:r>
              <a:rPr lang="en-US"/>
              <a:t> </a:t>
            </a:r>
            <a:br>
              <a:rPr lang="en-US"/>
            </a:br>
            <a:r>
              <a:rPr lang="en-US"/>
              <a:t>  would not be equivalent to   </a:t>
            </a:r>
            <a:r>
              <a:rPr lang="en-US" i="1"/>
              <a:t>A &gt;= 5</a:t>
            </a:r>
            <a:endParaRPr i="1"/>
          </a:p>
          <a:p>
            <a:pPr marL="342900" indent="-342900">
              <a:spcBef>
                <a:spcPts val="480"/>
              </a:spcBef>
              <a:buClr>
                <a:schemeClr val="dk1"/>
              </a:buClr>
              <a:buSzPts val="2400"/>
              <a:buFont typeface="Arial"/>
              <a:buChar char="•"/>
            </a:pPr>
            <a:r>
              <a:rPr lang="en-US" sz="2400"/>
              <a:t>Three-valued logic using the truth value </a:t>
            </a:r>
            <a:r>
              <a:rPr lang="en-US" sz="2400" i="1"/>
              <a:t>unknown</a:t>
            </a:r>
            <a:r>
              <a:rPr lang="en-US" sz="2400"/>
              <a:t>:</a:t>
            </a:r>
            <a:endParaRPr sz="2400"/>
          </a:p>
          <a:p>
            <a:pPr marL="742950" lvl="1" indent="-285750">
              <a:spcBef>
                <a:spcPts val="480"/>
              </a:spcBef>
              <a:buClr>
                <a:schemeClr val="dk1"/>
              </a:buClr>
              <a:buSzPts val="2400"/>
              <a:buFont typeface="Arial"/>
              <a:buChar char="–"/>
            </a:pPr>
            <a:r>
              <a:rPr lang="en-US"/>
              <a:t>OR: (</a:t>
            </a:r>
            <a:r>
              <a:rPr lang="en-US" i="1"/>
              <a:t>unknown</a:t>
            </a:r>
            <a:r>
              <a:rPr lang="en-US"/>
              <a:t> </a:t>
            </a:r>
            <a:r>
              <a:rPr lang="en-US" b="1"/>
              <a:t>or</a:t>
            </a:r>
            <a:r>
              <a:rPr lang="en-US"/>
              <a:t> </a:t>
            </a:r>
            <a:r>
              <a:rPr lang="en-US" i="1"/>
              <a:t>true</a:t>
            </a:r>
            <a:r>
              <a:rPr lang="en-US"/>
              <a:t>)         = </a:t>
            </a:r>
            <a:r>
              <a:rPr lang="en-US" i="1"/>
              <a:t>true</a:t>
            </a:r>
            <a:r>
              <a:rPr lang="en-US"/>
              <a:t>, </a:t>
            </a:r>
            <a:br>
              <a:rPr lang="en-US"/>
            </a:br>
            <a:r>
              <a:rPr lang="en-US"/>
              <a:t>       (</a:t>
            </a:r>
            <a:r>
              <a:rPr lang="en-US" i="1"/>
              <a:t>unknown</a:t>
            </a:r>
            <a:r>
              <a:rPr lang="en-US"/>
              <a:t> </a:t>
            </a:r>
            <a:r>
              <a:rPr lang="en-US" b="1"/>
              <a:t>or</a:t>
            </a:r>
            <a:r>
              <a:rPr lang="en-US"/>
              <a:t> </a:t>
            </a:r>
            <a:r>
              <a:rPr lang="en-US" i="1"/>
              <a:t>false</a:t>
            </a:r>
            <a:r>
              <a:rPr lang="en-US"/>
              <a:t>)        = </a:t>
            </a:r>
            <a:r>
              <a:rPr lang="en-US" i="1"/>
              <a:t>unknown</a:t>
            </a:r>
            <a:br>
              <a:rPr lang="en-US"/>
            </a:br>
            <a:r>
              <a:rPr lang="en-US"/>
              <a:t>       (</a:t>
            </a:r>
            <a:r>
              <a:rPr lang="en-US" i="1"/>
              <a:t>unknown </a:t>
            </a:r>
            <a:r>
              <a:rPr lang="en-US" b="1"/>
              <a:t>or</a:t>
            </a:r>
            <a:r>
              <a:rPr lang="en-US" i="1"/>
              <a:t> unknown) = unknown</a:t>
            </a:r>
            <a:endParaRPr i="1"/>
          </a:p>
          <a:p>
            <a:pPr marL="742950" lvl="1" indent="-285750">
              <a:spcBef>
                <a:spcPts val="480"/>
              </a:spcBef>
              <a:buClr>
                <a:schemeClr val="dk1"/>
              </a:buClr>
              <a:buSzPts val="2400"/>
              <a:buFont typeface="Arial"/>
              <a:buChar char="–"/>
            </a:pPr>
            <a:r>
              <a:rPr lang="en-US"/>
              <a:t>AND:</a:t>
            </a:r>
            <a:r>
              <a:rPr lang="en-US" i="1"/>
              <a:t>   (true</a:t>
            </a:r>
            <a:r>
              <a:rPr lang="en-US" b="1"/>
              <a:t> and </a:t>
            </a:r>
            <a:r>
              <a:rPr lang="en-US" i="1"/>
              <a:t>unknown)         = unknown,   </a:t>
            </a:r>
            <a:br>
              <a:rPr lang="en-US" i="1"/>
            </a:br>
            <a:r>
              <a:rPr lang="en-US" i="1"/>
              <a:t>           (false</a:t>
            </a:r>
            <a:r>
              <a:rPr lang="en-US" b="1"/>
              <a:t> and </a:t>
            </a:r>
            <a:r>
              <a:rPr lang="en-US" i="1"/>
              <a:t>unknown)        = false,</a:t>
            </a:r>
            <a:br>
              <a:rPr lang="en-US" i="1"/>
            </a:br>
            <a:r>
              <a:rPr lang="en-US" i="1"/>
              <a:t>           (unknown </a:t>
            </a:r>
            <a:r>
              <a:rPr lang="en-US" b="1"/>
              <a:t>and</a:t>
            </a:r>
            <a:r>
              <a:rPr lang="en-US" i="1"/>
              <a:t> unknown) = unknown</a:t>
            </a:r>
            <a:endParaRPr i="1"/>
          </a:p>
          <a:p>
            <a:pPr marL="742950" lvl="1" indent="-285750">
              <a:spcBef>
                <a:spcPts val="480"/>
              </a:spcBef>
              <a:buClr>
                <a:schemeClr val="dk1"/>
              </a:buClr>
              <a:buSzPts val="2400"/>
              <a:buFont typeface="Arial"/>
              <a:buChar char="–"/>
            </a:pPr>
            <a:r>
              <a:rPr lang="en-US"/>
              <a:t>NOT</a:t>
            </a:r>
            <a:r>
              <a:rPr lang="en-US" i="1"/>
              <a:t>:  (</a:t>
            </a:r>
            <a:r>
              <a:rPr lang="en-US" b="1"/>
              <a:t>not</a:t>
            </a:r>
            <a:r>
              <a:rPr lang="en-US" i="1"/>
              <a:t> unknown) = unknown</a:t>
            </a:r>
            <a:endParaRPr i="1"/>
          </a:p>
          <a:p>
            <a:pPr marL="342900" indent="-342900">
              <a:spcBef>
                <a:spcPts val="480"/>
              </a:spcBef>
              <a:buClr>
                <a:schemeClr val="dk1"/>
              </a:buClr>
              <a:buSzPts val="2400"/>
              <a:buFont typeface="Arial"/>
              <a:buChar char="•"/>
            </a:pPr>
            <a:r>
              <a:rPr lang="en-US" sz="2400"/>
              <a:t>Result of select</a:t>
            </a:r>
            <a:r>
              <a:rPr lang="en-US" sz="2400" b="1"/>
              <a:t> </a:t>
            </a:r>
            <a:r>
              <a:rPr lang="en-US" sz="2400"/>
              <a:t> predicate is treated as </a:t>
            </a:r>
            <a:r>
              <a:rPr lang="en-US" sz="2400" i="1"/>
              <a:t>false </a:t>
            </a:r>
            <a:r>
              <a:rPr lang="en-US" sz="2400"/>
              <a:t>if it evaluates to </a:t>
            </a:r>
            <a:r>
              <a:rPr lang="en-US" sz="2400" i="1"/>
              <a:t>unknown</a:t>
            </a:r>
            <a:endParaRPr sz="2400" i="1"/>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917"/>
        <p:cNvGrpSpPr/>
        <p:nvPr/>
      </p:nvGrpSpPr>
      <p:grpSpPr>
        <a:xfrm>
          <a:off x="0" y="0"/>
          <a:ext cx="0" cy="0"/>
          <a:chOff x="0" y="0"/>
          <a:chExt cx="0" cy="0"/>
        </a:xfrm>
      </p:grpSpPr>
      <p:sp>
        <p:nvSpPr>
          <p:cNvPr id="918" name="Google Shape;918;p78"/>
          <p:cNvSpPr txBox="1">
            <a:spLocks noGrp="1"/>
          </p:cNvSpPr>
          <p:nvPr>
            <p:ph type="title"/>
          </p:nvPr>
        </p:nvSpPr>
        <p:spPr>
          <a:xfrm>
            <a:off x="1981200" y="152400"/>
            <a:ext cx="8229600" cy="425450"/>
          </a:xfrm>
          <a:prstGeom prst="rect">
            <a:avLst/>
          </a:prstGeom>
          <a:noFill/>
          <a:ln>
            <a:noFill/>
          </a:ln>
        </p:spPr>
        <p:txBody>
          <a:bodyPr spcFirstLastPara="1" vert="horz" wrap="square" lIns="91425" tIns="45700" rIns="91425" bIns="45700" rtlCol="0" anchor="ctr" anchorCtr="0">
            <a:noAutofit/>
          </a:bodyPr>
          <a:lstStyle/>
          <a:p>
            <a:pPr algn="ctr">
              <a:lnSpc>
                <a:spcPct val="100000"/>
              </a:lnSpc>
              <a:spcBef>
                <a:spcPts val="0"/>
              </a:spcBef>
              <a:buClr>
                <a:schemeClr val="dk2"/>
              </a:buClr>
              <a:buSzPts val="3600"/>
            </a:pPr>
            <a:r>
              <a:rPr lang="en-US" sz="3600" b="1"/>
              <a:t>Relational Calculus</a:t>
            </a:r>
            <a:endParaRPr sz="3600" b="1"/>
          </a:p>
        </p:txBody>
      </p:sp>
      <p:sp>
        <p:nvSpPr>
          <p:cNvPr id="919" name="Google Shape;919;p78"/>
          <p:cNvSpPr txBox="1">
            <a:spLocks noGrp="1"/>
          </p:cNvSpPr>
          <p:nvPr>
            <p:ph type="body" idx="1"/>
          </p:nvPr>
        </p:nvSpPr>
        <p:spPr>
          <a:xfrm>
            <a:off x="1752600" y="838200"/>
            <a:ext cx="8757920" cy="5570220"/>
          </a:xfrm>
          <a:prstGeom prst="rect">
            <a:avLst/>
          </a:prstGeom>
          <a:noFill/>
          <a:ln>
            <a:noFill/>
          </a:ln>
        </p:spPr>
        <p:txBody>
          <a:bodyPr spcFirstLastPara="1" vert="horz" wrap="square" lIns="91425" tIns="45700" rIns="91425" bIns="45700" rtlCol="0" anchor="t" anchorCtr="0">
            <a:noAutofit/>
          </a:bodyPr>
          <a:lstStyle/>
          <a:p>
            <a:pPr marL="342900" indent="-342900" algn="just">
              <a:lnSpc>
                <a:spcPct val="100000"/>
              </a:lnSpc>
              <a:spcBef>
                <a:spcPts val="0"/>
              </a:spcBef>
              <a:buClr>
                <a:schemeClr val="dk1"/>
              </a:buClr>
              <a:buSzPts val="2000"/>
              <a:buFont typeface="Arial"/>
              <a:buChar char="•"/>
            </a:pPr>
            <a:r>
              <a:rPr lang="en-US" sz="2000"/>
              <a:t>There is an alternate way of formulating queries known as Relational Calculus. </a:t>
            </a:r>
            <a:endParaRPr sz="2000"/>
          </a:p>
          <a:p>
            <a:pPr marL="342900" indent="-342900" algn="just">
              <a:lnSpc>
                <a:spcPct val="100000"/>
              </a:lnSpc>
              <a:spcBef>
                <a:spcPts val="400"/>
              </a:spcBef>
              <a:buClr>
                <a:schemeClr val="dk1"/>
              </a:buClr>
              <a:buSzPts val="2000"/>
              <a:buFont typeface="Arial"/>
              <a:buChar char="•"/>
            </a:pPr>
            <a:r>
              <a:rPr lang="en-US" sz="2000"/>
              <a:t>Relational calculus is a non-procedural query language. </a:t>
            </a:r>
            <a:endParaRPr sz="2000"/>
          </a:p>
          <a:p>
            <a:pPr marL="342900" indent="-342900" algn="just">
              <a:lnSpc>
                <a:spcPct val="100000"/>
              </a:lnSpc>
              <a:spcBef>
                <a:spcPts val="400"/>
              </a:spcBef>
              <a:buClr>
                <a:schemeClr val="dk1"/>
              </a:buClr>
              <a:buSzPts val="2000"/>
              <a:buFont typeface="Arial"/>
              <a:buChar char="•"/>
            </a:pPr>
            <a:r>
              <a:rPr lang="en-US" sz="2000"/>
              <a:t>In the non-procedural query language, the user is concerned with the details of how to obtain the end results. </a:t>
            </a:r>
            <a:endParaRPr sz="2000"/>
          </a:p>
          <a:p>
            <a:pPr marL="342900" indent="-342900" algn="just">
              <a:lnSpc>
                <a:spcPct val="100000"/>
              </a:lnSpc>
              <a:spcBef>
                <a:spcPts val="400"/>
              </a:spcBef>
              <a:buClr>
                <a:schemeClr val="dk1"/>
              </a:buClr>
              <a:buSzPts val="2000"/>
              <a:buFont typeface="Arial"/>
              <a:buChar char="•"/>
            </a:pPr>
            <a:r>
              <a:rPr lang="en-US" sz="2000"/>
              <a:t>The relational calculus tells </a:t>
            </a:r>
            <a:r>
              <a:rPr lang="en-US" sz="2000" b="1"/>
              <a:t>what to do but never explains how to do</a:t>
            </a:r>
            <a:r>
              <a:rPr lang="en-US" sz="2000"/>
              <a:t>. </a:t>
            </a:r>
            <a:endParaRPr sz="2000"/>
          </a:p>
          <a:p>
            <a:pPr marL="342900" indent="-342900" algn="just">
              <a:lnSpc>
                <a:spcPct val="100000"/>
              </a:lnSpc>
              <a:spcBef>
                <a:spcPts val="400"/>
              </a:spcBef>
              <a:buClr>
                <a:schemeClr val="dk1"/>
              </a:buClr>
              <a:buSzPts val="2000"/>
              <a:buFont typeface="Arial"/>
              <a:buChar char="•"/>
            </a:pPr>
            <a:r>
              <a:rPr lang="en-US" sz="2000"/>
              <a:t>Most commercial relational languages are based on aspects of relational calculus including SQL-QBE and QUEL.</a:t>
            </a:r>
            <a:endParaRPr sz="2000"/>
          </a:p>
          <a:p>
            <a:pPr marL="342900" indent="-342900" algn="just">
              <a:lnSpc>
                <a:spcPct val="100000"/>
              </a:lnSpc>
              <a:spcBef>
                <a:spcPts val="400"/>
              </a:spcBef>
              <a:buClr>
                <a:schemeClr val="dk1"/>
              </a:buClr>
              <a:buSzPts val="2000"/>
              <a:buFont typeface="Arial"/>
              <a:buChar char="•"/>
            </a:pPr>
            <a:r>
              <a:rPr lang="en-US" sz="2000"/>
              <a:t>It is based on Predicate calculus, a name derived from branch of symbolic language. </a:t>
            </a:r>
            <a:endParaRPr sz="2000"/>
          </a:p>
          <a:p>
            <a:pPr marL="342900" indent="-342900" algn="just">
              <a:lnSpc>
                <a:spcPct val="100000"/>
              </a:lnSpc>
              <a:spcBef>
                <a:spcPts val="400"/>
              </a:spcBef>
              <a:buClr>
                <a:schemeClr val="dk1"/>
              </a:buClr>
              <a:buSzPts val="2000"/>
              <a:buFont typeface="Arial"/>
              <a:buChar char="•"/>
            </a:pPr>
            <a:r>
              <a:rPr lang="en-US" sz="2000"/>
              <a:t>A predicate is a truth-valued function with arguments. On substituting values for the arguments, the function result in an expression called a proposition. It can be either true or false. </a:t>
            </a:r>
            <a:endParaRPr sz="2000"/>
          </a:p>
          <a:p>
            <a:pPr marL="342900" indent="-342900" algn="just">
              <a:lnSpc>
                <a:spcPct val="100000"/>
              </a:lnSpc>
              <a:spcBef>
                <a:spcPts val="400"/>
              </a:spcBef>
              <a:buClr>
                <a:schemeClr val="dk1"/>
              </a:buClr>
              <a:buSzPts val="2000"/>
              <a:buFont typeface="Arial"/>
              <a:buChar char="•"/>
            </a:pPr>
            <a:r>
              <a:rPr lang="en-US" sz="2000"/>
              <a:t>It is a tailored version of a subset of the Predicate Calculus to communicate with the relational database.</a:t>
            </a:r>
            <a:endParaRPr sz="200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923"/>
        <p:cNvGrpSpPr/>
        <p:nvPr/>
      </p:nvGrpSpPr>
      <p:grpSpPr>
        <a:xfrm>
          <a:off x="0" y="0"/>
          <a:ext cx="0" cy="0"/>
          <a:chOff x="0" y="0"/>
          <a:chExt cx="0" cy="0"/>
        </a:xfrm>
      </p:grpSpPr>
      <p:sp>
        <p:nvSpPr>
          <p:cNvPr id="924" name="Google Shape;924;p79"/>
          <p:cNvSpPr txBox="1">
            <a:spLocks noGrp="1"/>
          </p:cNvSpPr>
          <p:nvPr>
            <p:ph type="title"/>
          </p:nvPr>
        </p:nvSpPr>
        <p:spPr>
          <a:xfrm>
            <a:off x="1981200" y="274956"/>
            <a:ext cx="8229600" cy="445135"/>
          </a:xfrm>
          <a:prstGeom prst="rect">
            <a:avLst/>
          </a:prstGeom>
          <a:noFill/>
          <a:ln>
            <a:noFill/>
          </a:ln>
        </p:spPr>
        <p:txBody>
          <a:bodyPr spcFirstLastPara="1" vert="horz" wrap="square" lIns="91425" tIns="45700" rIns="91425" bIns="45700" rtlCol="0" anchor="ctr" anchorCtr="0">
            <a:noAutofit/>
          </a:bodyPr>
          <a:lstStyle/>
          <a:p>
            <a:pPr algn="ctr">
              <a:lnSpc>
                <a:spcPct val="100000"/>
              </a:lnSpc>
              <a:spcBef>
                <a:spcPts val="0"/>
              </a:spcBef>
              <a:buClr>
                <a:schemeClr val="dk2"/>
              </a:buClr>
              <a:buSzPts val="4400"/>
            </a:pPr>
            <a:r>
              <a:rPr lang="en-US" b="1"/>
              <a:t>Relational Calculus</a:t>
            </a:r>
            <a:endParaRPr/>
          </a:p>
        </p:txBody>
      </p:sp>
      <p:sp>
        <p:nvSpPr>
          <p:cNvPr id="925" name="Google Shape;925;p79"/>
          <p:cNvSpPr txBox="1">
            <a:spLocks noGrp="1"/>
          </p:cNvSpPr>
          <p:nvPr>
            <p:ph type="body" idx="1"/>
          </p:nvPr>
        </p:nvSpPr>
        <p:spPr>
          <a:xfrm>
            <a:off x="1752601" y="1143000"/>
            <a:ext cx="8529955" cy="5309870"/>
          </a:xfrm>
          <a:prstGeom prst="rect">
            <a:avLst/>
          </a:prstGeom>
          <a:noFill/>
          <a:ln>
            <a:noFill/>
          </a:ln>
        </p:spPr>
        <p:txBody>
          <a:bodyPr spcFirstLastPara="1" vert="horz" wrap="square" lIns="91425" tIns="45700" rIns="91425" bIns="45700" rtlCol="0" anchor="t" anchorCtr="0">
            <a:noAutofit/>
          </a:bodyPr>
          <a:lstStyle/>
          <a:p>
            <a:pPr marL="342900" indent="-342900" algn="just">
              <a:lnSpc>
                <a:spcPct val="100000"/>
              </a:lnSpc>
              <a:spcBef>
                <a:spcPts val="0"/>
              </a:spcBef>
              <a:buClr>
                <a:schemeClr val="dk1"/>
              </a:buClr>
              <a:buSzPts val="2400"/>
              <a:buFont typeface="Arial"/>
              <a:buChar char="•"/>
            </a:pPr>
            <a:r>
              <a:rPr lang="en-US" sz="2400"/>
              <a:t> A calculus expression specifies “what to retrieve” rather than “how to retrieve”. This makes relational calculus different from relational algebra. </a:t>
            </a:r>
            <a:endParaRPr sz="2400"/>
          </a:p>
          <a:p>
            <a:pPr marL="342900" indent="-342900" algn="just">
              <a:lnSpc>
                <a:spcPct val="100000"/>
              </a:lnSpc>
              <a:spcBef>
                <a:spcPts val="480"/>
              </a:spcBef>
              <a:buClr>
                <a:schemeClr val="dk1"/>
              </a:buClr>
              <a:buSzPts val="2400"/>
              <a:buFont typeface="Arial"/>
              <a:buChar char="•"/>
            </a:pPr>
            <a:r>
              <a:rPr lang="en-US" sz="2400"/>
              <a:t> A calculus expression may be written in different ways, but the way it is written has no bearing on how a query should be evaluated. </a:t>
            </a:r>
            <a:endParaRPr sz="2400"/>
          </a:p>
          <a:p>
            <a:pPr marL="342900" indent="-342900" algn="just">
              <a:lnSpc>
                <a:spcPct val="100000"/>
              </a:lnSpc>
              <a:spcBef>
                <a:spcPts val="480"/>
              </a:spcBef>
              <a:buClr>
                <a:schemeClr val="dk1"/>
              </a:buClr>
              <a:buSzPts val="2400"/>
              <a:buFont typeface="Arial"/>
              <a:buChar char="•"/>
            </a:pPr>
            <a:r>
              <a:rPr lang="en-US" sz="2400"/>
              <a:t>In relational calculus, a query is solved by defining a solution relation in a single step.</a:t>
            </a:r>
            <a:endParaRPr sz="2400"/>
          </a:p>
          <a:p>
            <a:pPr marL="342900" indent="-342900" algn="just">
              <a:lnSpc>
                <a:spcPct val="100000"/>
              </a:lnSpc>
              <a:spcBef>
                <a:spcPts val="480"/>
              </a:spcBef>
              <a:buClr>
                <a:schemeClr val="dk1"/>
              </a:buClr>
              <a:buSzPts val="2400"/>
              <a:buFont typeface="Arial"/>
              <a:buChar char="•"/>
            </a:pPr>
            <a:r>
              <a:rPr lang="en-US" sz="2400"/>
              <a:t> Relational calculus is mainly based on the well-known propositional calculus, which is a method of calculating with sentences or declarations. That's why it is also known as declarative language </a:t>
            </a:r>
            <a:endParaRPr sz="240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929"/>
        <p:cNvGrpSpPr/>
        <p:nvPr/>
      </p:nvGrpSpPr>
      <p:grpSpPr>
        <a:xfrm>
          <a:off x="0" y="0"/>
          <a:ext cx="0" cy="0"/>
          <a:chOff x="0" y="0"/>
          <a:chExt cx="0" cy="0"/>
        </a:xfrm>
      </p:grpSpPr>
      <p:sp>
        <p:nvSpPr>
          <p:cNvPr id="930" name="Google Shape;930;p80"/>
          <p:cNvSpPr txBox="1">
            <a:spLocks noGrp="1"/>
          </p:cNvSpPr>
          <p:nvPr>
            <p:ph type="body" idx="1"/>
          </p:nvPr>
        </p:nvSpPr>
        <p:spPr>
          <a:xfrm>
            <a:off x="1828800" y="838201"/>
            <a:ext cx="8229600" cy="4525963"/>
          </a:xfrm>
          <a:prstGeom prst="rect">
            <a:avLst/>
          </a:prstGeom>
          <a:noFill/>
          <a:ln>
            <a:noFill/>
          </a:ln>
        </p:spPr>
        <p:txBody>
          <a:bodyPr spcFirstLastPara="1" vert="horz" wrap="square" lIns="91425" tIns="45700" rIns="91425" bIns="45700" rtlCol="0" anchor="t" anchorCtr="0">
            <a:noAutofit/>
          </a:bodyPr>
          <a:lstStyle/>
          <a:p>
            <a:pPr marL="342900" indent="-342900">
              <a:lnSpc>
                <a:spcPct val="100000"/>
              </a:lnSpc>
              <a:spcBef>
                <a:spcPts val="0"/>
              </a:spcBef>
              <a:buClr>
                <a:schemeClr val="dk1"/>
              </a:buClr>
              <a:buSzPts val="2400"/>
              <a:buFont typeface="Arial"/>
              <a:buChar char="•"/>
            </a:pPr>
            <a:r>
              <a:rPr lang="en-US" sz="2400"/>
              <a:t>Many of the calculus expressions involves the use of Quantifiers. There are two types of quantifiers:</a:t>
            </a:r>
            <a:endParaRPr sz="2400"/>
          </a:p>
          <a:p>
            <a:pPr marL="342900" indent="-190500">
              <a:lnSpc>
                <a:spcPct val="100000"/>
              </a:lnSpc>
              <a:spcBef>
                <a:spcPts val="480"/>
              </a:spcBef>
              <a:buClr>
                <a:schemeClr val="dk1"/>
              </a:buClr>
              <a:buSzPts val="2400"/>
              <a:buNone/>
            </a:pPr>
            <a:endParaRPr sz="2400"/>
          </a:p>
          <a:p>
            <a:pPr marL="342900" indent="-342900">
              <a:lnSpc>
                <a:spcPct val="100000"/>
              </a:lnSpc>
              <a:spcBef>
                <a:spcPts val="480"/>
              </a:spcBef>
              <a:buClr>
                <a:schemeClr val="dk1"/>
              </a:buClr>
              <a:buSzPts val="2400"/>
              <a:buFont typeface="Arial"/>
              <a:buChar char="•"/>
            </a:pPr>
            <a:r>
              <a:rPr lang="en-US" sz="2400" b="1"/>
              <a:t>Universal Quantifiers:</a:t>
            </a:r>
            <a:r>
              <a:rPr lang="en-US" sz="2400"/>
              <a:t> The universal quantifier denoted by ∀ is read as for all which means that in a given set of tuples exactly all tuples satisfy a given condition.</a:t>
            </a:r>
            <a:endParaRPr sz="2400"/>
          </a:p>
          <a:p>
            <a:pPr marL="342900" indent="-190500">
              <a:lnSpc>
                <a:spcPct val="100000"/>
              </a:lnSpc>
              <a:spcBef>
                <a:spcPts val="480"/>
              </a:spcBef>
              <a:buClr>
                <a:schemeClr val="dk1"/>
              </a:buClr>
              <a:buSzPts val="2400"/>
              <a:buNone/>
            </a:pPr>
            <a:endParaRPr sz="2400"/>
          </a:p>
          <a:p>
            <a:pPr marL="342900" indent="-342900">
              <a:lnSpc>
                <a:spcPct val="100000"/>
              </a:lnSpc>
              <a:spcBef>
                <a:spcPts val="480"/>
              </a:spcBef>
              <a:buClr>
                <a:schemeClr val="dk1"/>
              </a:buClr>
              <a:buSzPts val="2400"/>
              <a:buFont typeface="Arial"/>
              <a:buChar char="•"/>
            </a:pPr>
            <a:r>
              <a:rPr lang="en-US" sz="2400" b="1"/>
              <a:t>Existential Quantifiers: </a:t>
            </a:r>
            <a:r>
              <a:rPr lang="en-US" sz="2400"/>
              <a:t>The existential quantifier denoted by ∃ is read as for all which means that in a given set of tuples there is at least one occurrences whose value satisfy a given condition.</a:t>
            </a:r>
            <a:endParaRPr sz="2400"/>
          </a:p>
        </p:txBody>
      </p:sp>
      <p:sp>
        <p:nvSpPr>
          <p:cNvPr id="931" name="Google Shape;931;p80"/>
          <p:cNvSpPr txBox="1">
            <a:spLocks noGrp="1"/>
          </p:cNvSpPr>
          <p:nvPr>
            <p:ph type="title"/>
          </p:nvPr>
        </p:nvSpPr>
        <p:spPr>
          <a:xfrm>
            <a:off x="1981200" y="152400"/>
            <a:ext cx="8229600" cy="425450"/>
          </a:xfrm>
          <a:prstGeom prst="rect">
            <a:avLst/>
          </a:prstGeom>
          <a:noFill/>
          <a:ln>
            <a:noFill/>
          </a:ln>
        </p:spPr>
        <p:txBody>
          <a:bodyPr spcFirstLastPara="1" vert="horz" wrap="square" lIns="91425" tIns="45700" rIns="91425" bIns="45700" rtlCol="0" anchor="ctr" anchorCtr="0">
            <a:noAutofit/>
          </a:bodyPr>
          <a:lstStyle/>
          <a:p>
            <a:pPr algn="ctr">
              <a:lnSpc>
                <a:spcPct val="100000"/>
              </a:lnSpc>
              <a:spcBef>
                <a:spcPts val="0"/>
              </a:spcBef>
              <a:buClr>
                <a:schemeClr val="dk2"/>
              </a:buClr>
              <a:buSzPts val="3600"/>
            </a:pPr>
            <a:r>
              <a:rPr lang="en-US" sz="3600" b="1"/>
              <a:t>Relational Calculus.....</a:t>
            </a:r>
            <a:endParaRPr sz="3600" b="1"/>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935"/>
        <p:cNvGrpSpPr/>
        <p:nvPr/>
      </p:nvGrpSpPr>
      <p:grpSpPr>
        <a:xfrm>
          <a:off x="0" y="0"/>
          <a:ext cx="0" cy="0"/>
          <a:chOff x="0" y="0"/>
          <a:chExt cx="0" cy="0"/>
        </a:xfrm>
      </p:grpSpPr>
      <p:pic>
        <p:nvPicPr>
          <p:cNvPr id="936" name="Google Shape;936;p81"/>
          <p:cNvPicPr preferRelativeResize="0">
            <a:picLocks noGrp="1"/>
          </p:cNvPicPr>
          <p:nvPr>
            <p:ph type="body" idx="1"/>
          </p:nvPr>
        </p:nvPicPr>
        <p:blipFill rotWithShape="1">
          <a:blip r:embed="rId3">
            <a:alphaModFix/>
          </a:blip>
          <a:srcRect/>
          <a:stretch/>
        </p:blipFill>
        <p:spPr>
          <a:xfrm>
            <a:off x="1828800" y="304800"/>
            <a:ext cx="8496300" cy="6059170"/>
          </a:xfrm>
          <a:prstGeom prst="rect">
            <a:avLst/>
          </a:prstGeom>
          <a:noFill/>
          <a:ln>
            <a:noFill/>
          </a:ln>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940"/>
        <p:cNvGrpSpPr/>
        <p:nvPr/>
      </p:nvGrpSpPr>
      <p:grpSpPr>
        <a:xfrm>
          <a:off x="0" y="0"/>
          <a:ext cx="0" cy="0"/>
          <a:chOff x="0" y="0"/>
          <a:chExt cx="0" cy="0"/>
        </a:xfrm>
      </p:grpSpPr>
      <p:sp>
        <p:nvSpPr>
          <p:cNvPr id="941" name="Google Shape;941;p82"/>
          <p:cNvSpPr txBox="1">
            <a:spLocks noGrp="1"/>
          </p:cNvSpPr>
          <p:nvPr>
            <p:ph type="title"/>
          </p:nvPr>
        </p:nvSpPr>
        <p:spPr>
          <a:xfrm>
            <a:off x="2133600" y="685801"/>
            <a:ext cx="8229600" cy="611505"/>
          </a:xfrm>
          <a:prstGeom prst="rect">
            <a:avLst/>
          </a:prstGeom>
          <a:noFill/>
          <a:ln>
            <a:noFill/>
          </a:ln>
        </p:spPr>
        <p:txBody>
          <a:bodyPr spcFirstLastPara="1" vert="horz" wrap="square" lIns="91425" tIns="45700" rIns="91425" bIns="45700" rtlCol="0" anchor="ctr" anchorCtr="0">
            <a:noAutofit/>
          </a:bodyPr>
          <a:lstStyle/>
          <a:p>
            <a:pPr algn="ctr">
              <a:lnSpc>
                <a:spcPct val="100000"/>
              </a:lnSpc>
              <a:spcBef>
                <a:spcPts val="0"/>
              </a:spcBef>
              <a:buClr>
                <a:schemeClr val="dk2"/>
              </a:buClr>
              <a:buSzPts val="4400"/>
            </a:pPr>
            <a:r>
              <a:rPr lang="en-US" b="1"/>
              <a:t>Types of Relational calculus:</a:t>
            </a:r>
            <a:br>
              <a:rPr lang="en-US" b="1"/>
            </a:br>
            <a:endParaRPr b="1"/>
          </a:p>
        </p:txBody>
      </p:sp>
      <p:pic>
        <p:nvPicPr>
          <p:cNvPr id="942" name="Google Shape;942;p82"/>
          <p:cNvPicPr preferRelativeResize="0"/>
          <p:nvPr/>
        </p:nvPicPr>
        <p:blipFill rotWithShape="1">
          <a:blip r:embed="rId3">
            <a:alphaModFix/>
          </a:blip>
          <a:srcRect/>
          <a:stretch/>
        </p:blipFill>
        <p:spPr>
          <a:xfrm>
            <a:off x="2057401" y="1600201"/>
            <a:ext cx="7968615" cy="5191125"/>
          </a:xfrm>
          <a:prstGeom prst="rect">
            <a:avLst/>
          </a:prstGeom>
          <a:noFill/>
          <a:ln>
            <a:noFill/>
          </a:ln>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946"/>
        <p:cNvGrpSpPr/>
        <p:nvPr/>
      </p:nvGrpSpPr>
      <p:grpSpPr>
        <a:xfrm>
          <a:off x="0" y="0"/>
          <a:ext cx="0" cy="0"/>
          <a:chOff x="0" y="0"/>
          <a:chExt cx="0" cy="0"/>
        </a:xfrm>
      </p:grpSpPr>
      <p:sp>
        <p:nvSpPr>
          <p:cNvPr id="947" name="Google Shape;947;p83"/>
          <p:cNvSpPr txBox="1">
            <a:spLocks noGrp="1"/>
          </p:cNvSpPr>
          <p:nvPr>
            <p:ph type="title"/>
          </p:nvPr>
        </p:nvSpPr>
        <p:spPr>
          <a:xfrm>
            <a:off x="1981200" y="274955"/>
            <a:ext cx="8229600" cy="511810"/>
          </a:xfrm>
          <a:prstGeom prst="rect">
            <a:avLst/>
          </a:prstGeom>
          <a:noFill/>
          <a:ln>
            <a:noFill/>
          </a:ln>
        </p:spPr>
        <p:txBody>
          <a:bodyPr spcFirstLastPara="1" vert="horz" wrap="square" lIns="91425" tIns="45700" rIns="91425" bIns="45700" rtlCol="0" anchor="ctr" anchorCtr="0">
            <a:noAutofit/>
          </a:bodyPr>
          <a:lstStyle/>
          <a:p>
            <a:pPr algn="ctr">
              <a:lnSpc>
                <a:spcPct val="100000"/>
              </a:lnSpc>
              <a:spcBef>
                <a:spcPts val="0"/>
              </a:spcBef>
              <a:buClr>
                <a:schemeClr val="dk2"/>
              </a:buClr>
              <a:buSzPts val="3200"/>
            </a:pPr>
            <a:r>
              <a:rPr lang="en-US" sz="3200" b="1"/>
              <a:t>1. Tuple Relational Calculus (TRC)</a:t>
            </a:r>
            <a:endParaRPr sz="3200" b="1"/>
          </a:p>
        </p:txBody>
      </p:sp>
      <p:sp>
        <p:nvSpPr>
          <p:cNvPr id="948" name="Google Shape;948;p83"/>
          <p:cNvSpPr txBox="1">
            <a:spLocks noGrp="1"/>
          </p:cNvSpPr>
          <p:nvPr>
            <p:ph type="body" idx="1"/>
          </p:nvPr>
        </p:nvSpPr>
        <p:spPr>
          <a:xfrm>
            <a:off x="1752600" y="685801"/>
            <a:ext cx="8797290" cy="6009005"/>
          </a:xfrm>
          <a:prstGeom prst="rect">
            <a:avLst/>
          </a:prstGeom>
          <a:noFill/>
          <a:ln>
            <a:noFill/>
          </a:ln>
        </p:spPr>
        <p:txBody>
          <a:bodyPr spcFirstLastPara="1" vert="horz" wrap="square" lIns="91425" tIns="45700" rIns="91425" bIns="45700" rtlCol="0" anchor="t" anchorCtr="0">
            <a:noAutofit/>
          </a:bodyPr>
          <a:lstStyle/>
          <a:p>
            <a:pPr marL="342900" indent="-342900" algn="just">
              <a:lnSpc>
                <a:spcPct val="100000"/>
              </a:lnSpc>
              <a:spcBef>
                <a:spcPts val="0"/>
              </a:spcBef>
              <a:buClr>
                <a:schemeClr val="dk1"/>
              </a:buClr>
              <a:buSzPts val="2400"/>
              <a:buFont typeface="Arial"/>
              <a:buChar char="•"/>
            </a:pPr>
            <a:r>
              <a:rPr lang="en-US" sz="2400"/>
              <a:t>It is a non-procedural query language which is </a:t>
            </a:r>
            <a:r>
              <a:rPr lang="en-US" sz="2400" b="1"/>
              <a:t>based on finding a number of tuple variables</a:t>
            </a:r>
            <a:r>
              <a:rPr lang="en-US" sz="2400"/>
              <a:t> also known as range variable for which predicate holds true.</a:t>
            </a:r>
            <a:endParaRPr sz="2400"/>
          </a:p>
          <a:p>
            <a:pPr marL="342900" indent="-342900" algn="just">
              <a:lnSpc>
                <a:spcPct val="100000"/>
              </a:lnSpc>
              <a:spcBef>
                <a:spcPts val="480"/>
              </a:spcBef>
              <a:buClr>
                <a:schemeClr val="dk1"/>
              </a:buClr>
              <a:buSzPts val="2400"/>
              <a:buFont typeface="Arial"/>
              <a:buChar char="•"/>
            </a:pPr>
            <a:r>
              <a:rPr lang="en-US" sz="2400"/>
              <a:t>It describes the desired information without giving a specific procedure for obtaining that information. </a:t>
            </a:r>
            <a:endParaRPr sz="2400"/>
          </a:p>
          <a:p>
            <a:pPr marL="342900" indent="-342900" algn="just">
              <a:lnSpc>
                <a:spcPct val="100000"/>
              </a:lnSpc>
              <a:spcBef>
                <a:spcPts val="480"/>
              </a:spcBef>
              <a:buClr>
                <a:schemeClr val="dk1"/>
              </a:buClr>
              <a:buSzPts val="2400"/>
              <a:buFont typeface="Arial"/>
              <a:buChar char="•"/>
            </a:pPr>
            <a:r>
              <a:rPr lang="en-US" sz="2400"/>
              <a:t>The tuple relational calculus is specified to select the tuples in a relation.</a:t>
            </a:r>
            <a:endParaRPr sz="2400"/>
          </a:p>
          <a:p>
            <a:pPr marL="342900" indent="-342900" algn="just">
              <a:lnSpc>
                <a:spcPct val="100000"/>
              </a:lnSpc>
              <a:spcBef>
                <a:spcPts val="480"/>
              </a:spcBef>
              <a:buClr>
                <a:schemeClr val="dk1"/>
              </a:buClr>
              <a:buSzPts val="2400"/>
              <a:buFont typeface="Arial"/>
              <a:buChar char="•"/>
            </a:pPr>
            <a:r>
              <a:rPr lang="en-US" sz="2400"/>
              <a:t> In TRC, filtering variable uses the tuples of a relation. </a:t>
            </a:r>
            <a:endParaRPr sz="2400"/>
          </a:p>
          <a:p>
            <a:pPr marL="342900" indent="-342900" algn="just">
              <a:lnSpc>
                <a:spcPct val="100000"/>
              </a:lnSpc>
              <a:spcBef>
                <a:spcPts val="480"/>
              </a:spcBef>
              <a:buClr>
                <a:schemeClr val="dk1"/>
              </a:buClr>
              <a:buSzPts val="2400"/>
              <a:buFont typeface="Arial"/>
              <a:buChar char="•"/>
            </a:pPr>
            <a:r>
              <a:rPr lang="en-US" sz="2400"/>
              <a:t>The result of the relation can have one or more tuples.</a:t>
            </a:r>
            <a:endParaRPr sz="2400"/>
          </a:p>
          <a:p>
            <a:pPr marL="342900" indent="-342900" algn="just">
              <a:lnSpc>
                <a:spcPct val="100000"/>
              </a:lnSpc>
              <a:spcBef>
                <a:spcPts val="480"/>
              </a:spcBef>
              <a:buClr>
                <a:schemeClr val="dk1"/>
              </a:buClr>
              <a:buSzPts val="2400"/>
              <a:buFont typeface="Arial"/>
              <a:buChar char="•"/>
            </a:pPr>
            <a:r>
              <a:rPr lang="en-US" sz="2400"/>
              <a:t>Each tuple variable usually ranges over a particular database relation i.e. the variable may take as its value any individual tuple from that relation. </a:t>
            </a:r>
            <a:endParaRPr sz="2400"/>
          </a:p>
          <a:p>
            <a:pPr marL="342900" indent="-190500" algn="just">
              <a:lnSpc>
                <a:spcPct val="100000"/>
              </a:lnSpc>
              <a:spcBef>
                <a:spcPts val="480"/>
              </a:spcBef>
              <a:buClr>
                <a:schemeClr val="dk1"/>
              </a:buClr>
              <a:buSzPts val="2400"/>
              <a:buNone/>
            </a:pPr>
            <a:endParaRPr sz="2400"/>
          </a:p>
          <a:p>
            <a:pPr marL="342900" indent="-190500" algn="just">
              <a:lnSpc>
                <a:spcPct val="100000"/>
              </a:lnSpc>
              <a:spcBef>
                <a:spcPts val="480"/>
              </a:spcBef>
              <a:buClr>
                <a:schemeClr val="dk1"/>
              </a:buClr>
              <a:buSzPts val="2400"/>
              <a:buNone/>
            </a:pPr>
            <a:endParaRPr sz="240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Shape 952"/>
        <p:cNvGrpSpPr/>
        <p:nvPr/>
      </p:nvGrpSpPr>
      <p:grpSpPr>
        <a:xfrm>
          <a:off x="0" y="0"/>
          <a:ext cx="0" cy="0"/>
          <a:chOff x="0" y="0"/>
          <a:chExt cx="0" cy="0"/>
        </a:xfrm>
      </p:grpSpPr>
      <p:sp>
        <p:nvSpPr>
          <p:cNvPr id="953" name="Google Shape;953;p84"/>
          <p:cNvSpPr txBox="1">
            <a:spLocks noGrp="1"/>
          </p:cNvSpPr>
          <p:nvPr>
            <p:ph type="title"/>
          </p:nvPr>
        </p:nvSpPr>
        <p:spPr>
          <a:xfrm>
            <a:off x="1981200" y="274955"/>
            <a:ext cx="8229600" cy="511810"/>
          </a:xfrm>
          <a:prstGeom prst="rect">
            <a:avLst/>
          </a:prstGeom>
          <a:noFill/>
          <a:ln>
            <a:noFill/>
          </a:ln>
        </p:spPr>
        <p:txBody>
          <a:bodyPr spcFirstLastPara="1" vert="horz" wrap="square" lIns="91425" tIns="45700" rIns="91425" bIns="45700" rtlCol="0" anchor="ctr" anchorCtr="0">
            <a:noAutofit/>
          </a:bodyPr>
          <a:lstStyle/>
          <a:p>
            <a:pPr algn="ctr">
              <a:lnSpc>
                <a:spcPct val="100000"/>
              </a:lnSpc>
              <a:spcBef>
                <a:spcPts val="0"/>
              </a:spcBef>
              <a:buClr>
                <a:schemeClr val="dk2"/>
              </a:buClr>
              <a:buSzPts val="3200"/>
            </a:pPr>
            <a:r>
              <a:rPr lang="en-US" sz="3200" b="1"/>
              <a:t>Tuple Relational Calculus (TRC)...</a:t>
            </a:r>
            <a:endParaRPr sz="3200" b="1"/>
          </a:p>
        </p:txBody>
      </p:sp>
      <p:sp>
        <p:nvSpPr>
          <p:cNvPr id="954" name="Google Shape;954;p84"/>
          <p:cNvSpPr txBox="1">
            <a:spLocks noGrp="1"/>
          </p:cNvSpPr>
          <p:nvPr>
            <p:ph type="body" idx="1"/>
          </p:nvPr>
        </p:nvSpPr>
        <p:spPr>
          <a:xfrm>
            <a:off x="1752600" y="685801"/>
            <a:ext cx="8797290" cy="6009005"/>
          </a:xfrm>
          <a:prstGeom prst="rect">
            <a:avLst/>
          </a:prstGeom>
          <a:noFill/>
          <a:ln>
            <a:noFill/>
          </a:ln>
        </p:spPr>
        <p:txBody>
          <a:bodyPr spcFirstLastPara="1" vert="horz" wrap="square" lIns="91425" tIns="45700" rIns="91425" bIns="45700" rtlCol="0" anchor="t" anchorCtr="0">
            <a:noAutofit/>
          </a:bodyPr>
          <a:lstStyle/>
          <a:p>
            <a:pPr marL="342900" indent="-342900" algn="just">
              <a:lnSpc>
                <a:spcPct val="100000"/>
              </a:lnSpc>
              <a:spcBef>
                <a:spcPts val="0"/>
              </a:spcBef>
              <a:buClr>
                <a:schemeClr val="dk1"/>
              </a:buClr>
              <a:buSzPts val="2400"/>
              <a:buFont typeface="Arial"/>
              <a:buChar char="•"/>
            </a:pPr>
            <a:r>
              <a:rPr lang="en-US" sz="2400" b="1"/>
              <a:t>Notation:</a:t>
            </a:r>
            <a:endParaRPr sz="2400" b="1"/>
          </a:p>
          <a:p>
            <a:pPr marL="342900" indent="-342900" algn="just">
              <a:lnSpc>
                <a:spcPct val="100000"/>
              </a:lnSpc>
              <a:spcBef>
                <a:spcPts val="480"/>
              </a:spcBef>
              <a:buClr>
                <a:schemeClr val="dk1"/>
              </a:buClr>
              <a:buSzPts val="2400"/>
              <a:buFont typeface="Arial"/>
              <a:buChar char="•"/>
            </a:pPr>
            <a:r>
              <a:rPr lang="en-US" sz="2400"/>
              <a:t>A Query in the tuple relational calculus is expressed as following notation</a:t>
            </a:r>
            <a:endParaRPr sz="2400"/>
          </a:p>
          <a:p>
            <a:pPr marL="342900" indent="-342900" algn="just">
              <a:lnSpc>
                <a:spcPct val="100000"/>
              </a:lnSpc>
              <a:spcBef>
                <a:spcPts val="800"/>
              </a:spcBef>
              <a:buClr>
                <a:schemeClr val="dk1"/>
              </a:buClr>
              <a:buSzPts val="4000"/>
              <a:buFont typeface="Arial"/>
              <a:buChar char="•"/>
            </a:pPr>
            <a:r>
              <a:rPr lang="en-US" sz="4000" b="1"/>
              <a:t>{T | P (T)}   or {T | Condition (T)}  </a:t>
            </a:r>
            <a:r>
              <a:rPr lang="en-US" sz="4000"/>
              <a:t> </a:t>
            </a:r>
            <a:r>
              <a:rPr lang="en-US" sz="2400"/>
              <a:t>  </a:t>
            </a:r>
            <a:endParaRPr sz="2400"/>
          </a:p>
          <a:p>
            <a:pPr marL="342900" indent="-342900" algn="just">
              <a:lnSpc>
                <a:spcPct val="100000"/>
              </a:lnSpc>
              <a:spcBef>
                <a:spcPts val="480"/>
              </a:spcBef>
              <a:buClr>
                <a:schemeClr val="dk1"/>
              </a:buClr>
              <a:buSzPts val="2400"/>
              <a:buFont typeface="Arial"/>
              <a:buChar char="•"/>
            </a:pPr>
            <a:r>
              <a:rPr lang="en-US" sz="2400"/>
              <a:t>Where</a:t>
            </a:r>
            <a:endParaRPr sz="2400"/>
          </a:p>
          <a:p>
            <a:pPr marL="342900" indent="-342900" algn="just">
              <a:lnSpc>
                <a:spcPct val="100000"/>
              </a:lnSpc>
              <a:spcBef>
                <a:spcPts val="480"/>
              </a:spcBef>
              <a:buClr>
                <a:schemeClr val="dk1"/>
              </a:buClr>
              <a:buSzPts val="2400"/>
              <a:buFont typeface="Arial"/>
              <a:buChar char="•"/>
            </a:pPr>
            <a:r>
              <a:rPr lang="en-US" sz="2400"/>
              <a:t>T is the resulting tuples</a:t>
            </a:r>
            <a:endParaRPr sz="2400"/>
          </a:p>
          <a:p>
            <a:pPr marL="342900" indent="-342900" algn="just">
              <a:lnSpc>
                <a:spcPct val="100000"/>
              </a:lnSpc>
              <a:spcBef>
                <a:spcPts val="480"/>
              </a:spcBef>
              <a:buClr>
                <a:schemeClr val="dk1"/>
              </a:buClr>
              <a:buSzPts val="2400"/>
              <a:buFont typeface="Arial"/>
              <a:buChar char="•"/>
            </a:pPr>
            <a:r>
              <a:rPr lang="en-US" sz="2400"/>
              <a:t>P(T) is the condition used to fetch T.P(t) is a condition (Boolean) expression involving t that evaluates to either TRUE or FALSE for different assignments of tuples to the variable t. </a:t>
            </a:r>
            <a:endParaRPr sz="2400"/>
          </a:p>
          <a:p>
            <a:pPr marL="342900" indent="-342900" algn="just">
              <a:lnSpc>
                <a:spcPct val="100000"/>
              </a:lnSpc>
              <a:spcBef>
                <a:spcPts val="480"/>
              </a:spcBef>
              <a:buClr>
                <a:schemeClr val="dk1"/>
              </a:buClr>
              <a:buSzPts val="2400"/>
              <a:buFont typeface="Arial"/>
              <a:buChar char="•"/>
            </a:pPr>
            <a:r>
              <a:rPr lang="en-US" sz="2400"/>
              <a:t> The result of such a query is the set of all tuples t that evaluate P(t) to TRUE i.e. these tuples t satisfy the condition.</a:t>
            </a:r>
            <a:endParaRPr sz="2400"/>
          </a:p>
          <a:p>
            <a:pPr marL="342900" indent="-190500" algn="just">
              <a:lnSpc>
                <a:spcPct val="100000"/>
              </a:lnSpc>
              <a:spcBef>
                <a:spcPts val="480"/>
              </a:spcBef>
              <a:buClr>
                <a:schemeClr val="dk1"/>
              </a:buClr>
              <a:buSzPts val="2400"/>
              <a:buNone/>
            </a:pPr>
            <a:endParaRPr sz="240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Shape 958"/>
        <p:cNvGrpSpPr/>
        <p:nvPr/>
      </p:nvGrpSpPr>
      <p:grpSpPr>
        <a:xfrm>
          <a:off x="0" y="0"/>
          <a:ext cx="0" cy="0"/>
          <a:chOff x="0" y="0"/>
          <a:chExt cx="0" cy="0"/>
        </a:xfrm>
      </p:grpSpPr>
      <p:sp>
        <p:nvSpPr>
          <p:cNvPr id="959" name="Google Shape;959;p85"/>
          <p:cNvSpPr txBox="1">
            <a:spLocks noGrp="1"/>
          </p:cNvSpPr>
          <p:nvPr>
            <p:ph type="body" idx="1"/>
          </p:nvPr>
        </p:nvSpPr>
        <p:spPr>
          <a:xfrm>
            <a:off x="1630046" y="304801"/>
            <a:ext cx="8940165" cy="6327775"/>
          </a:xfrm>
          <a:prstGeom prst="rect">
            <a:avLst/>
          </a:prstGeom>
          <a:noFill/>
          <a:ln>
            <a:noFill/>
          </a:ln>
        </p:spPr>
        <p:txBody>
          <a:bodyPr spcFirstLastPara="1" vert="horz" wrap="square" lIns="91425" tIns="45700" rIns="91425" bIns="45700" rtlCol="0" anchor="t" anchorCtr="0">
            <a:noAutofit/>
          </a:bodyPr>
          <a:lstStyle/>
          <a:p>
            <a:pPr marL="342900" indent="-342900">
              <a:lnSpc>
                <a:spcPct val="100000"/>
              </a:lnSpc>
              <a:spcBef>
                <a:spcPts val="0"/>
              </a:spcBef>
              <a:buClr>
                <a:schemeClr val="dk1"/>
              </a:buClr>
              <a:buSzPts val="2400"/>
              <a:buFont typeface="Arial"/>
              <a:buChar char="•"/>
            </a:pPr>
            <a:r>
              <a:rPr lang="en-US" sz="2400" b="1"/>
              <a:t>For example:</a:t>
            </a:r>
            <a:endParaRPr sz="2400" b="1"/>
          </a:p>
          <a:p>
            <a:pPr marL="342900" indent="-342900">
              <a:lnSpc>
                <a:spcPct val="100000"/>
              </a:lnSpc>
              <a:spcBef>
                <a:spcPts val="480"/>
              </a:spcBef>
              <a:buClr>
                <a:schemeClr val="dk1"/>
              </a:buClr>
              <a:buSzPts val="2400"/>
              <a:buFont typeface="Arial"/>
              <a:buChar char="•"/>
            </a:pPr>
            <a:r>
              <a:rPr lang="en-US" sz="2400"/>
              <a:t>{ T.name | Author(T) AND T.article = 'database' }    </a:t>
            </a:r>
            <a:endParaRPr sz="2400"/>
          </a:p>
          <a:p>
            <a:pPr marL="342900" indent="-342900">
              <a:lnSpc>
                <a:spcPct val="100000"/>
              </a:lnSpc>
              <a:spcBef>
                <a:spcPts val="480"/>
              </a:spcBef>
              <a:buClr>
                <a:schemeClr val="dk1"/>
              </a:buClr>
              <a:buSzPts val="2400"/>
              <a:buFont typeface="Arial"/>
              <a:buChar char="•"/>
            </a:pPr>
            <a:r>
              <a:rPr lang="en-US" sz="2400"/>
              <a:t>Output: This query selects the tuples from the AUTHOR relation. It returns a tuple with 'name' from Author who has written an article on 'database'.</a:t>
            </a:r>
            <a:endParaRPr sz="2400"/>
          </a:p>
          <a:p>
            <a:pPr marL="342900" indent="-342900">
              <a:lnSpc>
                <a:spcPct val="100000"/>
              </a:lnSpc>
              <a:spcBef>
                <a:spcPts val="480"/>
              </a:spcBef>
              <a:buClr>
                <a:schemeClr val="dk1"/>
              </a:buClr>
              <a:buSzPts val="2400"/>
              <a:buFont typeface="Arial"/>
              <a:buChar char="•"/>
            </a:pPr>
            <a:r>
              <a:rPr lang="en-US" sz="2400"/>
              <a:t>TRC (tuple relation calculus) can be quantified.</a:t>
            </a:r>
            <a:endParaRPr sz="2400"/>
          </a:p>
          <a:p>
            <a:pPr marL="342900" indent="-342900">
              <a:lnSpc>
                <a:spcPct val="100000"/>
              </a:lnSpc>
              <a:spcBef>
                <a:spcPts val="480"/>
              </a:spcBef>
              <a:buClr>
                <a:schemeClr val="dk1"/>
              </a:buClr>
              <a:buSzPts val="2400"/>
              <a:buFont typeface="Arial"/>
              <a:buChar char="•"/>
            </a:pPr>
            <a:r>
              <a:rPr lang="en-US" sz="2400"/>
              <a:t> In TRC, we can use Existential (∃) and Universal Quantifiers (∀).</a:t>
            </a:r>
            <a:endParaRPr sz="2400"/>
          </a:p>
          <a:p>
            <a:pPr marL="342900" indent="-190500">
              <a:lnSpc>
                <a:spcPct val="100000"/>
              </a:lnSpc>
              <a:spcBef>
                <a:spcPts val="480"/>
              </a:spcBef>
              <a:buClr>
                <a:schemeClr val="dk1"/>
              </a:buClr>
              <a:buSzPts val="2400"/>
              <a:buNone/>
            </a:pPr>
            <a:endParaRPr sz="2400"/>
          </a:p>
          <a:p>
            <a:pPr marL="342900" indent="-342900">
              <a:lnSpc>
                <a:spcPct val="100000"/>
              </a:lnSpc>
              <a:spcBef>
                <a:spcPts val="480"/>
              </a:spcBef>
              <a:buClr>
                <a:schemeClr val="dk1"/>
              </a:buClr>
              <a:buSzPts val="2400"/>
              <a:buFont typeface="Arial"/>
              <a:buChar char="•"/>
            </a:pPr>
            <a:r>
              <a:rPr lang="en-US" sz="2400" b="1"/>
              <a:t>For example:</a:t>
            </a:r>
            <a:endParaRPr sz="2400" b="1"/>
          </a:p>
          <a:p>
            <a:pPr marL="342900" indent="-190500">
              <a:lnSpc>
                <a:spcPct val="100000"/>
              </a:lnSpc>
              <a:spcBef>
                <a:spcPts val="480"/>
              </a:spcBef>
              <a:buClr>
                <a:schemeClr val="dk1"/>
              </a:buClr>
              <a:buSzPts val="2400"/>
              <a:buNone/>
            </a:pPr>
            <a:endParaRPr sz="2400"/>
          </a:p>
          <a:p>
            <a:pPr marL="342900" indent="-342900">
              <a:lnSpc>
                <a:spcPct val="100000"/>
              </a:lnSpc>
              <a:spcBef>
                <a:spcPts val="480"/>
              </a:spcBef>
              <a:buClr>
                <a:schemeClr val="dk1"/>
              </a:buClr>
              <a:buSzPts val="2400"/>
              <a:buFont typeface="Arial"/>
              <a:buChar char="•"/>
            </a:pPr>
            <a:r>
              <a:rPr lang="en-US" sz="2400"/>
              <a:t>{ R| ∃T ∈ Authors(T.article='database' AND R.name=T.name)}  </a:t>
            </a:r>
            <a:endParaRPr sz="2400"/>
          </a:p>
          <a:p>
            <a:pPr marL="342900" indent="-342900">
              <a:lnSpc>
                <a:spcPct val="100000"/>
              </a:lnSpc>
              <a:spcBef>
                <a:spcPts val="480"/>
              </a:spcBef>
              <a:buClr>
                <a:schemeClr val="dk1"/>
              </a:buClr>
              <a:buSzPts val="2400"/>
              <a:buFont typeface="Arial"/>
              <a:buChar char="•"/>
            </a:pPr>
            <a:r>
              <a:rPr lang="en-US" sz="2400"/>
              <a:t>Output: This query will yield the same result as the previous one.</a:t>
            </a:r>
            <a:endParaRPr sz="240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Shape 963"/>
        <p:cNvGrpSpPr/>
        <p:nvPr/>
      </p:nvGrpSpPr>
      <p:grpSpPr>
        <a:xfrm>
          <a:off x="0" y="0"/>
          <a:ext cx="0" cy="0"/>
          <a:chOff x="0" y="0"/>
          <a:chExt cx="0" cy="0"/>
        </a:xfrm>
      </p:grpSpPr>
      <p:sp>
        <p:nvSpPr>
          <p:cNvPr id="964" name="Google Shape;964;p86"/>
          <p:cNvSpPr txBox="1">
            <a:spLocks noGrp="1"/>
          </p:cNvSpPr>
          <p:nvPr>
            <p:ph type="title"/>
          </p:nvPr>
        </p:nvSpPr>
        <p:spPr>
          <a:xfrm>
            <a:off x="1981200" y="274956"/>
            <a:ext cx="8229600" cy="577215"/>
          </a:xfrm>
          <a:prstGeom prst="rect">
            <a:avLst/>
          </a:prstGeom>
          <a:noFill/>
          <a:ln>
            <a:noFill/>
          </a:ln>
        </p:spPr>
        <p:txBody>
          <a:bodyPr spcFirstLastPara="1" vert="horz" wrap="square" lIns="91425" tIns="45700" rIns="91425" bIns="45700" rtlCol="0" anchor="ctr" anchorCtr="0">
            <a:noAutofit/>
          </a:bodyPr>
          <a:lstStyle/>
          <a:p>
            <a:pPr algn="ctr">
              <a:lnSpc>
                <a:spcPct val="100000"/>
              </a:lnSpc>
              <a:spcBef>
                <a:spcPts val="0"/>
              </a:spcBef>
              <a:buClr>
                <a:schemeClr val="dk2"/>
              </a:buClr>
              <a:buSzPts val="4000"/>
            </a:pPr>
            <a:r>
              <a:rPr lang="en-US" sz="4000" b="1"/>
              <a:t> Expression and Formula in TRC </a:t>
            </a:r>
            <a:endParaRPr sz="4000" b="1"/>
          </a:p>
        </p:txBody>
      </p:sp>
      <p:sp>
        <p:nvSpPr>
          <p:cNvPr id="965" name="Google Shape;965;p86"/>
          <p:cNvSpPr txBox="1">
            <a:spLocks noGrp="1"/>
          </p:cNvSpPr>
          <p:nvPr>
            <p:ph type="body" idx="1"/>
          </p:nvPr>
        </p:nvSpPr>
        <p:spPr>
          <a:xfrm>
            <a:off x="1600201" y="990600"/>
            <a:ext cx="8893175" cy="4526280"/>
          </a:xfrm>
          <a:prstGeom prst="rect">
            <a:avLst/>
          </a:prstGeom>
          <a:noFill/>
          <a:ln>
            <a:noFill/>
          </a:ln>
        </p:spPr>
        <p:txBody>
          <a:bodyPr spcFirstLastPara="1" vert="horz" wrap="square" lIns="91425" tIns="45700" rIns="91425" bIns="45700" rtlCol="0" anchor="t" anchorCtr="0">
            <a:noAutofit/>
          </a:bodyPr>
          <a:lstStyle/>
          <a:p>
            <a:pPr marL="342900" indent="-342900">
              <a:lnSpc>
                <a:spcPct val="100000"/>
              </a:lnSpc>
              <a:spcBef>
                <a:spcPts val="0"/>
              </a:spcBef>
              <a:buClr>
                <a:schemeClr val="dk1"/>
              </a:buClr>
              <a:buSzPts val="2800"/>
              <a:buFont typeface="Arial"/>
              <a:buChar char="•"/>
            </a:pPr>
            <a:r>
              <a:rPr lang="en-US"/>
              <a:t>Let Rel → be a relation name; R, S → be the tuple variables; a → an attribute of R, b → an attribute of S; op → operator in the set {&lt;, ≤,&gt;, ≥,=, != }. </a:t>
            </a:r>
            <a:endParaRPr/>
          </a:p>
          <a:p>
            <a:pPr marL="342900" indent="-342900">
              <a:lnSpc>
                <a:spcPct val="100000"/>
              </a:lnSpc>
              <a:spcBef>
                <a:spcPts val="560"/>
              </a:spcBef>
              <a:buClr>
                <a:schemeClr val="dk1"/>
              </a:buClr>
              <a:buSzPts val="2800"/>
              <a:buFont typeface="Arial"/>
              <a:buChar char="•"/>
            </a:pPr>
            <a:r>
              <a:rPr lang="en-US"/>
              <a:t> </a:t>
            </a:r>
            <a:r>
              <a:rPr lang="en-US" b="1"/>
              <a:t>Rule 1:</a:t>
            </a:r>
            <a:r>
              <a:rPr lang="en-US"/>
              <a:t> An Atomic formula is one of the following: </a:t>
            </a:r>
            <a:endParaRPr/>
          </a:p>
          <a:p>
            <a:pPr marL="342900" indent="-342900">
              <a:lnSpc>
                <a:spcPct val="100000"/>
              </a:lnSpc>
              <a:spcBef>
                <a:spcPts val="560"/>
              </a:spcBef>
              <a:buClr>
                <a:schemeClr val="dk1"/>
              </a:buClr>
              <a:buSzPts val="2800"/>
              <a:buFont typeface="Arial"/>
              <a:buChar char="•"/>
            </a:pPr>
            <a:r>
              <a:rPr lang="en-US"/>
              <a:t>R ∈Rel </a:t>
            </a:r>
            <a:endParaRPr/>
          </a:p>
          <a:p>
            <a:pPr marL="342900" indent="-342900">
              <a:lnSpc>
                <a:spcPct val="100000"/>
              </a:lnSpc>
              <a:spcBef>
                <a:spcPts val="560"/>
              </a:spcBef>
              <a:buClr>
                <a:schemeClr val="dk1"/>
              </a:buClr>
              <a:buSzPts val="2800"/>
              <a:buFont typeface="Arial"/>
              <a:buChar char="•"/>
            </a:pPr>
            <a:r>
              <a:rPr lang="en-US"/>
              <a:t>R.a op S.b •R.a op Constant or Constant op R.a.</a:t>
            </a:r>
            <a:endParaRPr/>
          </a:p>
          <a:p>
            <a:pPr marL="342900" indent="-342900">
              <a:lnSpc>
                <a:spcPct val="100000"/>
              </a:lnSpc>
              <a:spcBef>
                <a:spcPts val="560"/>
              </a:spcBef>
              <a:buClr>
                <a:schemeClr val="dk1"/>
              </a:buClr>
              <a:buSzPts val="2800"/>
              <a:buFont typeface="Arial"/>
              <a:buChar char="•"/>
            </a:pPr>
            <a:r>
              <a:rPr lang="en-US" b="1"/>
              <a:t>Rule 2:</a:t>
            </a:r>
            <a:r>
              <a:rPr lang="en-US"/>
              <a:t> A formula or boolean condition is made up of one or more atoms connected via the logical operators AND, OR, and NOT i.e. If F1 and F2 are formulas, then so are F1 AND F2, F1 OR F2, NOT(F1) or NOT(F2). </a:t>
            </a:r>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Shape 969"/>
        <p:cNvGrpSpPr/>
        <p:nvPr/>
      </p:nvGrpSpPr>
      <p:grpSpPr>
        <a:xfrm>
          <a:off x="0" y="0"/>
          <a:ext cx="0" cy="0"/>
          <a:chOff x="0" y="0"/>
          <a:chExt cx="0" cy="0"/>
        </a:xfrm>
      </p:grpSpPr>
      <p:sp>
        <p:nvSpPr>
          <p:cNvPr id="970" name="Google Shape;970;p87"/>
          <p:cNvSpPr txBox="1">
            <a:spLocks noGrp="1"/>
          </p:cNvSpPr>
          <p:nvPr>
            <p:ph type="body" idx="1"/>
          </p:nvPr>
        </p:nvSpPr>
        <p:spPr>
          <a:xfrm>
            <a:off x="1828800" y="838200"/>
            <a:ext cx="8662670" cy="4526280"/>
          </a:xfrm>
          <a:prstGeom prst="rect">
            <a:avLst/>
          </a:prstGeom>
          <a:noFill/>
          <a:ln>
            <a:noFill/>
          </a:ln>
        </p:spPr>
        <p:txBody>
          <a:bodyPr spcFirstLastPara="1" vert="horz" wrap="square" lIns="91425" tIns="45700" rIns="91425" bIns="45700" rtlCol="0" anchor="t" anchorCtr="0">
            <a:noAutofit/>
          </a:bodyPr>
          <a:lstStyle/>
          <a:p>
            <a:pPr marL="342900" indent="-342900">
              <a:lnSpc>
                <a:spcPct val="100000"/>
              </a:lnSpc>
              <a:spcBef>
                <a:spcPts val="0"/>
              </a:spcBef>
              <a:buClr>
                <a:schemeClr val="dk1"/>
              </a:buClr>
              <a:buSzPts val="2400"/>
              <a:buFont typeface="Arial"/>
              <a:buChar char="•"/>
            </a:pPr>
            <a:r>
              <a:rPr lang="en-US" sz="2400"/>
              <a:t> • To represent the join and division operation of relational algebra by relational calculus, we need quantifiers such like Existential quantifier (∃) for join and Universal quantifier(∀) for division. </a:t>
            </a:r>
            <a:endParaRPr sz="2400"/>
          </a:p>
          <a:p>
            <a:pPr marL="342900" indent="-342900">
              <a:lnSpc>
                <a:spcPct val="100000"/>
              </a:lnSpc>
              <a:spcBef>
                <a:spcPts val="480"/>
              </a:spcBef>
              <a:buClr>
                <a:schemeClr val="dk1"/>
              </a:buClr>
              <a:buSzPts val="2400"/>
              <a:buFont typeface="Arial"/>
              <a:buChar char="•"/>
            </a:pPr>
            <a:r>
              <a:rPr lang="en-US" sz="2400"/>
              <a:t>A tuple variable t is bound if it is quantified i.e. the tuple t appears in an (∃t)or(∀t) clause; otherwise it is free. </a:t>
            </a:r>
            <a:endParaRPr sz="2400"/>
          </a:p>
          <a:p>
            <a:pPr marL="342900" indent="-342900">
              <a:lnSpc>
                <a:spcPct val="100000"/>
              </a:lnSpc>
              <a:spcBef>
                <a:spcPts val="480"/>
              </a:spcBef>
              <a:buClr>
                <a:schemeClr val="dk1"/>
              </a:buClr>
              <a:buSzPts val="2400"/>
              <a:buFont typeface="Arial"/>
              <a:buChar char="•"/>
            </a:pPr>
            <a:r>
              <a:rPr lang="en-US" sz="2400"/>
              <a:t> </a:t>
            </a:r>
            <a:r>
              <a:rPr lang="en-US" sz="2400" b="1"/>
              <a:t>Rule 3:</a:t>
            </a:r>
            <a:r>
              <a:rPr lang="en-US" sz="2400"/>
              <a:t> If F is a formula, then so is (∃t)(F), where t is a tuple variable. The formula (∃t)(F) is TRUE if F evaluates to TRUE for at least one tuple assigned to free occurences of t in F; otherise the formula (∃t)(F)is FALSE. </a:t>
            </a:r>
            <a:endParaRPr sz="2400"/>
          </a:p>
          <a:p>
            <a:pPr marL="342900" indent="-342900">
              <a:lnSpc>
                <a:spcPct val="100000"/>
              </a:lnSpc>
              <a:spcBef>
                <a:spcPts val="480"/>
              </a:spcBef>
              <a:buClr>
                <a:schemeClr val="dk1"/>
              </a:buClr>
              <a:buSzPts val="2400"/>
              <a:buFont typeface="Arial"/>
              <a:buChar char="•"/>
            </a:pPr>
            <a:r>
              <a:rPr lang="en-US" sz="2400" b="1"/>
              <a:t>Rule 4:</a:t>
            </a:r>
            <a:r>
              <a:rPr lang="en-US" sz="2400"/>
              <a:t> If F is a formula then so is (∀t)(F), where t is a tuple variable. This formula (∀t)(F) is TRUE if F evaluates to TRUE for ALL the tuples assigned to free occurences of t in F; otherise the formula (∀t)(F)is FALSE.</a:t>
            </a:r>
            <a:endParaRPr sz="2400"/>
          </a:p>
        </p:txBody>
      </p:sp>
      <p:sp>
        <p:nvSpPr>
          <p:cNvPr id="971" name="Google Shape;971;p87"/>
          <p:cNvSpPr txBox="1"/>
          <p:nvPr/>
        </p:nvSpPr>
        <p:spPr>
          <a:xfrm>
            <a:off x="1983740" y="304801"/>
            <a:ext cx="8224520" cy="583565"/>
          </a:xfrm>
          <a:prstGeom prst="rect">
            <a:avLst/>
          </a:prstGeom>
          <a:noFill/>
          <a:ln>
            <a:noFill/>
          </a:ln>
        </p:spPr>
        <p:txBody>
          <a:bodyPr spcFirstLastPara="1" wrap="square" lIns="91425" tIns="45700" rIns="91425" bIns="45700" anchor="t" anchorCtr="0">
            <a:spAutoFit/>
          </a:bodyPr>
          <a:lstStyle/>
          <a:p>
            <a:r>
              <a:rPr lang="en-US" sz="3200" b="1">
                <a:solidFill>
                  <a:schemeClr val="dk1"/>
                </a:solidFill>
                <a:latin typeface="Arial"/>
                <a:ea typeface="Arial"/>
                <a:cs typeface="Arial"/>
                <a:sym typeface="Arial"/>
              </a:rPr>
              <a:t> The Existential and Universal Quantifiers</a:t>
            </a:r>
            <a:endParaRPr sz="3200" b="1">
              <a:solidFill>
                <a:schemeClr val="dk1"/>
              </a:solidFill>
              <a:latin typeface="Arial"/>
              <a:ea typeface="Arial"/>
              <a:cs typeface="Arial"/>
              <a:sym typeface="Arial"/>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Shape 975"/>
        <p:cNvGrpSpPr/>
        <p:nvPr/>
      </p:nvGrpSpPr>
      <p:grpSpPr>
        <a:xfrm>
          <a:off x="0" y="0"/>
          <a:ext cx="0" cy="0"/>
          <a:chOff x="0" y="0"/>
          <a:chExt cx="0" cy="0"/>
        </a:xfrm>
      </p:grpSpPr>
      <p:sp>
        <p:nvSpPr>
          <p:cNvPr id="976" name="Google Shape;976;p88"/>
          <p:cNvSpPr txBox="1">
            <a:spLocks noGrp="1"/>
          </p:cNvSpPr>
          <p:nvPr>
            <p:ph type="title"/>
          </p:nvPr>
        </p:nvSpPr>
        <p:spPr>
          <a:xfrm>
            <a:off x="1981200" y="274956"/>
            <a:ext cx="8229600" cy="568325"/>
          </a:xfrm>
          <a:prstGeom prst="rect">
            <a:avLst/>
          </a:prstGeom>
          <a:noFill/>
          <a:ln>
            <a:noFill/>
          </a:ln>
        </p:spPr>
        <p:txBody>
          <a:bodyPr spcFirstLastPara="1" vert="horz" wrap="square" lIns="91425" tIns="45700" rIns="91425" bIns="45700" rtlCol="0" anchor="ctr" anchorCtr="0">
            <a:noAutofit/>
          </a:bodyPr>
          <a:lstStyle/>
          <a:p>
            <a:pPr algn="ctr">
              <a:lnSpc>
                <a:spcPct val="100000"/>
              </a:lnSpc>
              <a:spcBef>
                <a:spcPts val="0"/>
              </a:spcBef>
              <a:buClr>
                <a:schemeClr val="dk2"/>
              </a:buClr>
              <a:buSzPts val="4400"/>
            </a:pPr>
            <a:r>
              <a:rPr lang="en-US" b="1"/>
              <a:t> An Example</a:t>
            </a:r>
            <a:endParaRPr b="1"/>
          </a:p>
        </p:txBody>
      </p:sp>
      <p:sp>
        <p:nvSpPr>
          <p:cNvPr id="977" name="Google Shape;977;p88"/>
          <p:cNvSpPr txBox="1">
            <a:spLocks noGrp="1"/>
          </p:cNvSpPr>
          <p:nvPr>
            <p:ph type="body" idx="1"/>
          </p:nvPr>
        </p:nvSpPr>
        <p:spPr>
          <a:xfrm>
            <a:off x="1905000" y="838201"/>
            <a:ext cx="8229600" cy="4525963"/>
          </a:xfrm>
          <a:prstGeom prst="rect">
            <a:avLst/>
          </a:prstGeom>
          <a:noFill/>
          <a:ln>
            <a:noFill/>
          </a:ln>
        </p:spPr>
        <p:txBody>
          <a:bodyPr spcFirstLastPara="1" vert="horz" wrap="square" lIns="91425" tIns="45700" rIns="91425" bIns="45700" rtlCol="0" anchor="t" anchorCtr="0">
            <a:noAutofit/>
          </a:bodyPr>
          <a:lstStyle/>
          <a:p>
            <a:pPr marL="342900" indent="-342900" algn="just">
              <a:lnSpc>
                <a:spcPct val="100000"/>
              </a:lnSpc>
              <a:spcBef>
                <a:spcPts val="0"/>
              </a:spcBef>
              <a:buClr>
                <a:schemeClr val="dk1"/>
              </a:buClr>
              <a:buSzPts val="2800"/>
              <a:buFont typeface="Arial"/>
              <a:buChar char="•"/>
            </a:pPr>
            <a:r>
              <a:rPr lang="en-US"/>
              <a:t> Sailor (sid, sname, rating, age) – </a:t>
            </a:r>
            <a:endParaRPr/>
          </a:p>
          <a:p>
            <a:pPr marL="0" indent="0" algn="just">
              <a:lnSpc>
                <a:spcPct val="100000"/>
              </a:lnSpc>
              <a:spcBef>
                <a:spcPts val="560"/>
              </a:spcBef>
              <a:buClr>
                <a:schemeClr val="dk1"/>
              </a:buClr>
              <a:buSzPts val="2800"/>
              <a:buNone/>
            </a:pPr>
            <a:r>
              <a:rPr lang="en-US" b="1"/>
              <a:t>Query 1:</a:t>
            </a:r>
            <a:r>
              <a:rPr lang="en-US"/>
              <a:t> Find all the sailors with a rating above 4 {s | SAILOR(s) AND s.rating &gt; 4}</a:t>
            </a:r>
            <a:endParaRPr/>
          </a:p>
          <a:p>
            <a:pPr marL="342900" indent="-342900" algn="just">
              <a:lnSpc>
                <a:spcPct val="100000"/>
              </a:lnSpc>
              <a:spcBef>
                <a:spcPts val="560"/>
              </a:spcBef>
              <a:buClr>
                <a:schemeClr val="dk1"/>
              </a:buClr>
              <a:buSzPts val="2800"/>
              <a:buFont typeface="Arial"/>
              <a:buChar char="•"/>
            </a:pPr>
            <a:r>
              <a:rPr lang="en-US"/>
              <a:t> Here, the condition SAILOR(s) specifies that the range relation of tuple variable s is SAILOR. </a:t>
            </a:r>
            <a:endParaRPr/>
          </a:p>
          <a:p>
            <a:pPr marL="342900" indent="-342900" algn="just">
              <a:lnSpc>
                <a:spcPct val="100000"/>
              </a:lnSpc>
              <a:spcBef>
                <a:spcPts val="560"/>
              </a:spcBef>
              <a:buClr>
                <a:schemeClr val="dk1"/>
              </a:buClr>
              <a:buSzPts val="2800"/>
              <a:buFont typeface="Arial"/>
              <a:buChar char="•"/>
            </a:pPr>
            <a:r>
              <a:rPr lang="en-US"/>
              <a:t> Each SAILOR tuple s that satisfies the condition s.rating&gt;4 will be retrieved. </a:t>
            </a:r>
            <a:endParaRPr/>
          </a:p>
          <a:p>
            <a:pPr marL="342900" indent="-342900" algn="just">
              <a:lnSpc>
                <a:spcPct val="100000"/>
              </a:lnSpc>
              <a:spcBef>
                <a:spcPts val="560"/>
              </a:spcBef>
              <a:buClr>
                <a:schemeClr val="dk1"/>
              </a:buClr>
              <a:buSzPts val="2800"/>
              <a:buFont typeface="Arial"/>
              <a:buChar char="•"/>
            </a:pPr>
            <a:r>
              <a:rPr lang="en-US"/>
              <a:t> This query will retrieve all attribute value for each selected SAILOR tuple s. To retrive only some of the attributes, we need to write the specific attribute name in the format “tuple.attribute</a:t>
            </a:r>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Shape 981"/>
        <p:cNvGrpSpPr/>
        <p:nvPr/>
      </p:nvGrpSpPr>
      <p:grpSpPr>
        <a:xfrm>
          <a:off x="0" y="0"/>
          <a:ext cx="0" cy="0"/>
          <a:chOff x="0" y="0"/>
          <a:chExt cx="0" cy="0"/>
        </a:xfrm>
      </p:grpSpPr>
      <p:sp>
        <p:nvSpPr>
          <p:cNvPr id="982" name="Google Shape;982;p89"/>
          <p:cNvSpPr txBox="1">
            <a:spLocks noGrp="1"/>
          </p:cNvSpPr>
          <p:nvPr>
            <p:ph type="title"/>
          </p:nvPr>
        </p:nvSpPr>
        <p:spPr>
          <a:xfrm>
            <a:off x="1981200" y="274956"/>
            <a:ext cx="8229600" cy="588645"/>
          </a:xfrm>
          <a:prstGeom prst="rect">
            <a:avLst/>
          </a:prstGeom>
          <a:noFill/>
          <a:ln>
            <a:noFill/>
          </a:ln>
        </p:spPr>
        <p:txBody>
          <a:bodyPr spcFirstLastPara="1" vert="horz" wrap="square" lIns="91425" tIns="45700" rIns="91425" bIns="45700" rtlCol="0" anchor="ctr" anchorCtr="0">
            <a:noAutofit/>
          </a:bodyPr>
          <a:lstStyle/>
          <a:p>
            <a:pPr algn="ctr">
              <a:lnSpc>
                <a:spcPct val="100000"/>
              </a:lnSpc>
              <a:spcBef>
                <a:spcPts val="0"/>
              </a:spcBef>
              <a:buClr>
                <a:schemeClr val="dk2"/>
              </a:buClr>
              <a:buSzPts val="4400"/>
            </a:pPr>
            <a:r>
              <a:rPr lang="en-US" b="1"/>
              <a:t> More Examples</a:t>
            </a:r>
            <a:endParaRPr b="1"/>
          </a:p>
        </p:txBody>
      </p:sp>
      <p:sp>
        <p:nvSpPr>
          <p:cNvPr id="983" name="Google Shape;983;p89"/>
          <p:cNvSpPr txBox="1">
            <a:spLocks noGrp="1"/>
          </p:cNvSpPr>
          <p:nvPr>
            <p:ph type="body" idx="1"/>
          </p:nvPr>
        </p:nvSpPr>
        <p:spPr>
          <a:xfrm>
            <a:off x="1752601" y="914400"/>
            <a:ext cx="8787765" cy="5655310"/>
          </a:xfrm>
          <a:prstGeom prst="rect">
            <a:avLst/>
          </a:prstGeom>
          <a:noFill/>
          <a:ln>
            <a:noFill/>
          </a:ln>
        </p:spPr>
        <p:txBody>
          <a:bodyPr spcFirstLastPara="1" vert="horz" wrap="square" lIns="91425" tIns="45700" rIns="91425" bIns="45700" rtlCol="0" anchor="t" anchorCtr="0">
            <a:noAutofit/>
          </a:bodyPr>
          <a:lstStyle/>
          <a:p>
            <a:pPr marL="0" indent="0">
              <a:lnSpc>
                <a:spcPct val="100000"/>
              </a:lnSpc>
              <a:spcBef>
                <a:spcPts val="0"/>
              </a:spcBef>
              <a:buClr>
                <a:schemeClr val="dk1"/>
              </a:buClr>
              <a:buSzPts val="2800"/>
              <a:buNone/>
            </a:pPr>
            <a:r>
              <a:rPr lang="en-US" b="1"/>
              <a:t> Query 2:</a:t>
            </a:r>
            <a:r>
              <a:rPr lang="en-US"/>
              <a:t> Retrieve the details of the employees whose salary is greater than 50000. </a:t>
            </a:r>
            <a:endParaRPr/>
          </a:p>
          <a:p>
            <a:pPr marL="342900" indent="-342900">
              <a:lnSpc>
                <a:spcPct val="100000"/>
              </a:lnSpc>
              <a:spcBef>
                <a:spcPts val="560"/>
              </a:spcBef>
              <a:buClr>
                <a:schemeClr val="dk1"/>
              </a:buClr>
              <a:buSzPts val="2800"/>
              <a:buFont typeface="Arial"/>
              <a:buChar char="•"/>
            </a:pPr>
            <a:r>
              <a:rPr lang="en-US"/>
              <a:t> {e | EMPLOYEE(e) AND e.salary &gt; 50000} </a:t>
            </a:r>
            <a:endParaRPr/>
          </a:p>
          <a:p>
            <a:pPr marL="0" indent="0">
              <a:lnSpc>
                <a:spcPct val="100000"/>
              </a:lnSpc>
              <a:spcBef>
                <a:spcPts val="560"/>
              </a:spcBef>
              <a:buClr>
                <a:schemeClr val="dk1"/>
              </a:buClr>
              <a:buSzPts val="2800"/>
              <a:buNone/>
            </a:pPr>
            <a:r>
              <a:rPr lang="en-US"/>
              <a:t>Here, if we need only some attributes like Emp_ID and Fname then we can write:</a:t>
            </a:r>
            <a:endParaRPr/>
          </a:p>
          <a:p>
            <a:pPr marL="342900" indent="-342900">
              <a:lnSpc>
                <a:spcPct val="100000"/>
              </a:lnSpc>
              <a:spcBef>
                <a:spcPts val="560"/>
              </a:spcBef>
              <a:buClr>
                <a:schemeClr val="dk1"/>
              </a:buClr>
              <a:buSzPts val="2800"/>
              <a:buFont typeface="Arial"/>
              <a:buChar char="•"/>
            </a:pPr>
            <a:r>
              <a:rPr lang="en-US"/>
              <a:t>{e.Emp_ID, e.Fname | EMPLOYEE(e) AND e.salary &gt; 50000} </a:t>
            </a:r>
            <a:endParaRPr/>
          </a:p>
          <a:p>
            <a:pPr marL="0" indent="0">
              <a:lnSpc>
                <a:spcPct val="100000"/>
              </a:lnSpc>
              <a:spcBef>
                <a:spcPts val="560"/>
              </a:spcBef>
              <a:buClr>
                <a:schemeClr val="dk1"/>
              </a:buClr>
              <a:buSzPts val="2800"/>
              <a:buNone/>
            </a:pPr>
            <a:r>
              <a:rPr lang="en-US" b="1"/>
              <a:t>Query 3:</a:t>
            </a:r>
            <a:r>
              <a:rPr lang="en-US"/>
              <a:t> Retrieve the birth date and address of the employee whose name is John B. Smith. </a:t>
            </a:r>
            <a:endParaRPr/>
          </a:p>
          <a:p>
            <a:pPr marL="0" indent="0">
              <a:lnSpc>
                <a:spcPct val="100000"/>
              </a:lnSpc>
              <a:spcBef>
                <a:spcPts val="560"/>
              </a:spcBef>
              <a:buClr>
                <a:schemeClr val="dk1"/>
              </a:buClr>
              <a:buSzPts val="2800"/>
              <a:buNone/>
            </a:pPr>
            <a:r>
              <a:rPr lang="en-US"/>
              <a:t> {e.dob, e.address | EMPLOYEE(e) AND e.Fname='John' AND e.Minit='B' AND e.Lname='Smith'}</a:t>
            </a:r>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Shape 987"/>
        <p:cNvGrpSpPr/>
        <p:nvPr/>
      </p:nvGrpSpPr>
      <p:grpSpPr>
        <a:xfrm>
          <a:off x="0" y="0"/>
          <a:ext cx="0" cy="0"/>
          <a:chOff x="0" y="0"/>
          <a:chExt cx="0" cy="0"/>
        </a:xfrm>
      </p:grpSpPr>
      <p:sp>
        <p:nvSpPr>
          <p:cNvPr id="988" name="Google Shape;988;p90"/>
          <p:cNvSpPr txBox="1">
            <a:spLocks noGrp="1"/>
          </p:cNvSpPr>
          <p:nvPr>
            <p:ph type="title"/>
          </p:nvPr>
        </p:nvSpPr>
        <p:spPr>
          <a:xfrm>
            <a:off x="1645286" y="274955"/>
            <a:ext cx="8825865" cy="558800"/>
          </a:xfrm>
          <a:prstGeom prst="rect">
            <a:avLst/>
          </a:prstGeom>
          <a:noFill/>
          <a:ln>
            <a:noFill/>
          </a:ln>
        </p:spPr>
        <p:txBody>
          <a:bodyPr spcFirstLastPara="1" vert="horz" wrap="square" lIns="91425" tIns="45700" rIns="91425" bIns="45700" rtlCol="0" anchor="ctr" anchorCtr="0">
            <a:noAutofit/>
          </a:bodyPr>
          <a:lstStyle/>
          <a:p>
            <a:pPr algn="ctr">
              <a:lnSpc>
                <a:spcPct val="100000"/>
              </a:lnSpc>
              <a:spcBef>
                <a:spcPts val="0"/>
              </a:spcBef>
              <a:buClr>
                <a:schemeClr val="dk2"/>
              </a:buClr>
              <a:buSzPts val="4000"/>
            </a:pPr>
            <a:r>
              <a:rPr lang="en-US" sz="4000" b="1"/>
              <a:t>. Domain Relational Calculus (DRC)</a:t>
            </a:r>
            <a:endParaRPr sz="4000" b="1"/>
          </a:p>
        </p:txBody>
      </p:sp>
      <p:sp>
        <p:nvSpPr>
          <p:cNvPr id="989" name="Google Shape;989;p90"/>
          <p:cNvSpPr txBox="1">
            <a:spLocks noGrp="1"/>
          </p:cNvSpPr>
          <p:nvPr>
            <p:ph type="body" idx="1"/>
          </p:nvPr>
        </p:nvSpPr>
        <p:spPr>
          <a:xfrm>
            <a:off x="1676400" y="990601"/>
            <a:ext cx="8674100" cy="5558155"/>
          </a:xfrm>
          <a:prstGeom prst="rect">
            <a:avLst/>
          </a:prstGeom>
          <a:noFill/>
          <a:ln>
            <a:noFill/>
          </a:ln>
        </p:spPr>
        <p:txBody>
          <a:bodyPr spcFirstLastPara="1" vert="horz" wrap="square" lIns="91425" tIns="45700" rIns="91425" bIns="45700" rtlCol="0" anchor="t" anchorCtr="0">
            <a:noAutofit/>
          </a:bodyPr>
          <a:lstStyle/>
          <a:p>
            <a:pPr marL="342900" indent="-342900">
              <a:lnSpc>
                <a:spcPct val="100000"/>
              </a:lnSpc>
              <a:spcBef>
                <a:spcPts val="0"/>
              </a:spcBef>
              <a:buClr>
                <a:schemeClr val="dk1"/>
              </a:buClr>
              <a:buSzPts val="2400"/>
              <a:buFont typeface="Arial"/>
              <a:buChar char="•"/>
            </a:pPr>
            <a:r>
              <a:rPr lang="en-US" sz="2400"/>
              <a:t> In tuple relational calculus, the variables range over the tuples whereas in domain relational calculus, the variables range over the domains. </a:t>
            </a:r>
            <a:endParaRPr sz="2400"/>
          </a:p>
          <a:p>
            <a:pPr marL="342900" indent="-342900">
              <a:lnSpc>
                <a:spcPct val="100000"/>
              </a:lnSpc>
              <a:spcBef>
                <a:spcPts val="480"/>
              </a:spcBef>
              <a:buClr>
                <a:schemeClr val="dk1"/>
              </a:buClr>
              <a:buSzPts val="2400"/>
              <a:buFont typeface="Arial"/>
              <a:buChar char="•"/>
            </a:pPr>
            <a:r>
              <a:rPr lang="en-US" sz="2400"/>
              <a:t>The domain variables are the ones which range over the underlying domains instead of over the relations .</a:t>
            </a:r>
            <a:endParaRPr sz="2400"/>
          </a:p>
          <a:p>
            <a:pPr marL="342900" indent="-342900">
              <a:lnSpc>
                <a:spcPct val="100000"/>
              </a:lnSpc>
              <a:spcBef>
                <a:spcPts val="480"/>
              </a:spcBef>
              <a:buClr>
                <a:schemeClr val="dk1"/>
              </a:buClr>
              <a:buSzPts val="2400"/>
              <a:buFont typeface="Arial"/>
              <a:buChar char="•"/>
            </a:pPr>
            <a:r>
              <a:rPr lang="en-US" sz="2400"/>
              <a:t>The domain relational calculus query has the form: {&lt;x1, x2, ... xn &gt; | P(x1, x2, ... xn )} – where xi is either a domain variable or a constant and P(x1, x2,xn ) is the domain relational calculus formula whose only free variables are the variables among the xi, 1 ≤ i ≤ n .</a:t>
            </a:r>
            <a:endParaRPr sz="2400"/>
          </a:p>
          <a:p>
            <a:pPr marL="342900" indent="-342900">
              <a:lnSpc>
                <a:spcPct val="100000"/>
              </a:lnSpc>
              <a:spcBef>
                <a:spcPts val="480"/>
              </a:spcBef>
              <a:buClr>
                <a:schemeClr val="dk1"/>
              </a:buClr>
              <a:buSzPts val="2400"/>
              <a:buFont typeface="Arial"/>
              <a:buChar char="•"/>
            </a:pPr>
            <a:r>
              <a:rPr lang="en-US" sz="2400"/>
              <a:t> The result of this query is the set of all domains &lt;x1, x2, ... xn &gt; for which the formula evaluates to TRUE</a:t>
            </a:r>
            <a:endParaRPr sz="240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Shape 993"/>
        <p:cNvGrpSpPr/>
        <p:nvPr/>
      </p:nvGrpSpPr>
      <p:grpSpPr>
        <a:xfrm>
          <a:off x="0" y="0"/>
          <a:ext cx="0" cy="0"/>
          <a:chOff x="0" y="0"/>
          <a:chExt cx="0" cy="0"/>
        </a:xfrm>
      </p:grpSpPr>
      <p:sp>
        <p:nvSpPr>
          <p:cNvPr id="994" name="Google Shape;994;p91"/>
          <p:cNvSpPr txBox="1">
            <a:spLocks noGrp="1"/>
          </p:cNvSpPr>
          <p:nvPr>
            <p:ph type="body" idx="1"/>
          </p:nvPr>
        </p:nvSpPr>
        <p:spPr>
          <a:xfrm>
            <a:off x="1828800" y="838201"/>
            <a:ext cx="8229600" cy="4525963"/>
          </a:xfrm>
          <a:prstGeom prst="rect">
            <a:avLst/>
          </a:prstGeom>
          <a:noFill/>
          <a:ln>
            <a:noFill/>
          </a:ln>
        </p:spPr>
        <p:txBody>
          <a:bodyPr spcFirstLastPara="1" vert="horz" wrap="square" lIns="91425" tIns="45700" rIns="91425" bIns="45700" rtlCol="0" anchor="t" anchorCtr="0">
            <a:noAutofit/>
          </a:bodyPr>
          <a:lstStyle/>
          <a:p>
            <a:pPr marL="342900" indent="-342900">
              <a:lnSpc>
                <a:spcPct val="100000"/>
              </a:lnSpc>
              <a:spcBef>
                <a:spcPts val="0"/>
              </a:spcBef>
              <a:buClr>
                <a:schemeClr val="dk1"/>
              </a:buClr>
              <a:buSzPts val="3200"/>
              <a:buFont typeface="Arial"/>
              <a:buChar char="•"/>
            </a:pPr>
            <a:r>
              <a:rPr lang="en-US"/>
              <a:t> Expression and Formula in DRC </a:t>
            </a:r>
            <a:endParaRPr/>
          </a:p>
          <a:p>
            <a:pPr marL="342900" indent="-342900">
              <a:lnSpc>
                <a:spcPct val="100000"/>
              </a:lnSpc>
              <a:spcBef>
                <a:spcPts val="640"/>
              </a:spcBef>
              <a:buClr>
                <a:schemeClr val="dk1"/>
              </a:buClr>
              <a:buSzPts val="3200"/>
              <a:buFont typeface="Arial"/>
              <a:buChar char="•"/>
            </a:pPr>
            <a:r>
              <a:rPr lang="en-US"/>
              <a:t> Let Rel → be a relation name; X, Y → be the domain variables; op → operator in the set {&lt;, ≤,&gt;, ≥,=, != }. </a:t>
            </a:r>
            <a:endParaRPr/>
          </a:p>
          <a:p>
            <a:pPr marL="342900" indent="-342900">
              <a:lnSpc>
                <a:spcPct val="100000"/>
              </a:lnSpc>
              <a:spcBef>
                <a:spcPts val="640"/>
              </a:spcBef>
              <a:buClr>
                <a:schemeClr val="dk1"/>
              </a:buClr>
              <a:buSzPts val="3200"/>
              <a:buFont typeface="Arial"/>
              <a:buChar char="•"/>
            </a:pPr>
            <a:r>
              <a:rPr lang="en-US" b="1"/>
              <a:t> Rule 1:</a:t>
            </a:r>
            <a:r>
              <a:rPr lang="en-US"/>
              <a:t> An Atomic formula is one of the following: </a:t>
            </a:r>
            <a:endParaRPr/>
          </a:p>
          <a:p>
            <a:pPr marL="0" indent="457200">
              <a:lnSpc>
                <a:spcPct val="100000"/>
              </a:lnSpc>
              <a:spcBef>
                <a:spcPts val="640"/>
              </a:spcBef>
              <a:buClr>
                <a:schemeClr val="dk1"/>
              </a:buClr>
              <a:buSzPts val="3200"/>
              <a:buNone/>
            </a:pPr>
            <a:r>
              <a:rPr lang="en-US"/>
              <a:t>    &lt;x1, x2, ... xn &gt; ∈Rel •X op Y •X op Constant or Constant op X </a:t>
            </a:r>
            <a:endParaRPr/>
          </a:p>
          <a:p>
            <a:pPr marL="342900" indent="-342900">
              <a:lnSpc>
                <a:spcPct val="100000"/>
              </a:lnSpc>
              <a:spcBef>
                <a:spcPts val="640"/>
              </a:spcBef>
              <a:buClr>
                <a:schemeClr val="dk1"/>
              </a:buClr>
              <a:buSzPts val="3200"/>
              <a:buFont typeface="Arial"/>
              <a:buChar char="•"/>
            </a:pPr>
            <a:r>
              <a:rPr lang="en-US"/>
              <a:t> </a:t>
            </a:r>
            <a:r>
              <a:rPr lang="en-US" b="1"/>
              <a:t>Rule 2:</a:t>
            </a:r>
            <a:r>
              <a:rPr lang="en-US"/>
              <a:t> A formula is recursively defined by using the following rules: </a:t>
            </a:r>
            <a:endParaRPr/>
          </a:p>
          <a:p>
            <a:pPr marL="0" indent="0">
              <a:lnSpc>
                <a:spcPct val="100000"/>
              </a:lnSpc>
              <a:spcBef>
                <a:spcPts val="640"/>
              </a:spcBef>
              <a:buClr>
                <a:schemeClr val="dk1"/>
              </a:buClr>
              <a:buSzPts val="3200"/>
              <a:buNone/>
            </a:pPr>
            <a:r>
              <a:rPr lang="en-US"/>
              <a:t>         Any atomic formula </a:t>
            </a:r>
            <a:endParaRPr/>
          </a:p>
        </p:txBody>
      </p:sp>
      <p:sp>
        <p:nvSpPr>
          <p:cNvPr id="995" name="Google Shape;995;p91"/>
          <p:cNvSpPr/>
          <p:nvPr/>
        </p:nvSpPr>
        <p:spPr>
          <a:xfrm>
            <a:off x="1645286" y="274955"/>
            <a:ext cx="8825865" cy="558800"/>
          </a:xfrm>
          <a:prstGeom prst="rect">
            <a:avLst/>
          </a:prstGeom>
          <a:noFill/>
          <a:ln>
            <a:noFill/>
          </a:ln>
        </p:spPr>
        <p:txBody>
          <a:bodyPr spcFirstLastPara="1" wrap="square" lIns="91425" tIns="45700" rIns="91425" bIns="45700" anchor="ctr" anchorCtr="0">
            <a:noAutofit/>
          </a:bodyPr>
          <a:lstStyle/>
          <a:p>
            <a:pPr algn="ctr">
              <a:buClr>
                <a:schemeClr val="dk2"/>
              </a:buClr>
              <a:buSzPts val="3200"/>
            </a:pPr>
            <a:r>
              <a:rPr lang="en-US" sz="3200" b="1">
                <a:solidFill>
                  <a:schemeClr val="dk2"/>
                </a:solidFill>
                <a:latin typeface="Arial"/>
                <a:ea typeface="Arial"/>
                <a:cs typeface="Arial"/>
                <a:sym typeface="Arial"/>
              </a:rPr>
              <a:t>. Domain Relational Calculus (DRC)....</a:t>
            </a:r>
            <a:endParaRPr sz="3200" b="1">
              <a:solidFill>
                <a:schemeClr val="dk2"/>
              </a:solidFill>
              <a:latin typeface="Arial"/>
              <a:ea typeface="Arial"/>
              <a:cs typeface="Arial"/>
              <a:sym typeface="Arial"/>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Shape 999"/>
        <p:cNvGrpSpPr/>
        <p:nvPr/>
      </p:nvGrpSpPr>
      <p:grpSpPr>
        <a:xfrm>
          <a:off x="0" y="0"/>
          <a:ext cx="0" cy="0"/>
          <a:chOff x="0" y="0"/>
          <a:chExt cx="0" cy="0"/>
        </a:xfrm>
      </p:grpSpPr>
      <p:sp>
        <p:nvSpPr>
          <p:cNvPr id="1000" name="Google Shape;1000;p92"/>
          <p:cNvSpPr txBox="1">
            <a:spLocks noGrp="1"/>
          </p:cNvSpPr>
          <p:nvPr>
            <p:ph type="body" idx="1"/>
          </p:nvPr>
        </p:nvSpPr>
        <p:spPr>
          <a:xfrm>
            <a:off x="1752601" y="990600"/>
            <a:ext cx="8749665" cy="5615940"/>
          </a:xfrm>
          <a:prstGeom prst="rect">
            <a:avLst/>
          </a:prstGeom>
          <a:noFill/>
          <a:ln>
            <a:noFill/>
          </a:ln>
        </p:spPr>
        <p:txBody>
          <a:bodyPr spcFirstLastPara="1" vert="horz" wrap="square" lIns="91425" tIns="45700" rIns="91425" bIns="45700" rtlCol="0" anchor="t" anchorCtr="0">
            <a:noAutofit/>
          </a:bodyPr>
          <a:lstStyle/>
          <a:p>
            <a:pPr marL="342900" indent="-342900">
              <a:lnSpc>
                <a:spcPct val="100000"/>
              </a:lnSpc>
              <a:spcBef>
                <a:spcPts val="0"/>
              </a:spcBef>
              <a:buClr>
                <a:schemeClr val="dk1"/>
              </a:buClr>
              <a:buSzPts val="3200"/>
              <a:buFont typeface="Arial"/>
              <a:buChar char="•"/>
            </a:pPr>
            <a:r>
              <a:rPr lang="en-US"/>
              <a:t>If p(x) is a formula that contains x as a free domain variable, then∃x(p(x)) and ∀x(p(x)) are also formulae. </a:t>
            </a:r>
            <a:endParaRPr/>
          </a:p>
          <a:p>
            <a:pPr marL="342900" indent="-342900">
              <a:lnSpc>
                <a:spcPct val="100000"/>
              </a:lnSpc>
              <a:spcBef>
                <a:spcPts val="640"/>
              </a:spcBef>
              <a:buClr>
                <a:schemeClr val="dk1"/>
              </a:buClr>
              <a:buSzPts val="3200"/>
              <a:buFont typeface="Arial"/>
              <a:buChar char="•"/>
            </a:pPr>
            <a:r>
              <a:rPr lang="en-US"/>
              <a:t>If p and q are formulae, then ¬p, p ∧q, p ∨q are also formulae. </a:t>
            </a:r>
            <a:endParaRPr/>
          </a:p>
          <a:p>
            <a:pPr marL="342900" indent="-342900">
              <a:lnSpc>
                <a:spcPct val="100000"/>
              </a:lnSpc>
              <a:spcBef>
                <a:spcPts val="640"/>
              </a:spcBef>
              <a:buClr>
                <a:schemeClr val="dk1"/>
              </a:buClr>
              <a:buSzPts val="3200"/>
              <a:buFont typeface="Arial"/>
              <a:buChar char="•"/>
            </a:pPr>
            <a:r>
              <a:rPr lang="en-US" b="1"/>
              <a:t>Rule 3: </a:t>
            </a:r>
            <a:r>
              <a:rPr lang="en-US"/>
              <a:t>The quantifiers ∃&amp; ∀are said to bind the domain variable X. Whereas a variable is said to be free in a formula if the formula does not contain an occurrence of a quantifier that binds it.</a:t>
            </a:r>
            <a:endParaRPr/>
          </a:p>
        </p:txBody>
      </p:sp>
      <p:sp>
        <p:nvSpPr>
          <p:cNvPr id="1001" name="Google Shape;1001;p92"/>
          <p:cNvSpPr/>
          <p:nvPr/>
        </p:nvSpPr>
        <p:spPr>
          <a:xfrm>
            <a:off x="1645286" y="274955"/>
            <a:ext cx="8825865" cy="558800"/>
          </a:xfrm>
          <a:prstGeom prst="rect">
            <a:avLst/>
          </a:prstGeom>
          <a:noFill/>
          <a:ln>
            <a:noFill/>
          </a:ln>
        </p:spPr>
        <p:txBody>
          <a:bodyPr spcFirstLastPara="1" wrap="square" lIns="91425" tIns="45700" rIns="91425" bIns="45700" anchor="ctr" anchorCtr="0">
            <a:noAutofit/>
          </a:bodyPr>
          <a:lstStyle/>
          <a:p>
            <a:pPr algn="ctr">
              <a:buClr>
                <a:schemeClr val="dk2"/>
              </a:buClr>
              <a:buSzPts val="3200"/>
            </a:pPr>
            <a:r>
              <a:rPr lang="en-US" sz="3200" b="1">
                <a:solidFill>
                  <a:schemeClr val="dk2"/>
                </a:solidFill>
                <a:latin typeface="Arial"/>
                <a:ea typeface="Arial"/>
                <a:cs typeface="Arial"/>
                <a:sym typeface="Arial"/>
              </a:rPr>
              <a:t>. Domain Relational Calculus (DRC)....</a:t>
            </a:r>
            <a:endParaRPr sz="3200" b="1">
              <a:solidFill>
                <a:schemeClr val="dk2"/>
              </a:solidFill>
              <a:latin typeface="Arial"/>
              <a:ea typeface="Arial"/>
              <a:cs typeface="Arial"/>
              <a:sym typeface="Arial"/>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Shape 1005"/>
        <p:cNvGrpSpPr/>
        <p:nvPr/>
      </p:nvGrpSpPr>
      <p:grpSpPr>
        <a:xfrm>
          <a:off x="0" y="0"/>
          <a:ext cx="0" cy="0"/>
          <a:chOff x="0" y="0"/>
          <a:chExt cx="0" cy="0"/>
        </a:xfrm>
      </p:grpSpPr>
      <p:sp>
        <p:nvSpPr>
          <p:cNvPr id="1006" name="Google Shape;1006;p93"/>
          <p:cNvSpPr txBox="1">
            <a:spLocks noGrp="1"/>
          </p:cNvSpPr>
          <p:nvPr>
            <p:ph type="title"/>
          </p:nvPr>
        </p:nvSpPr>
        <p:spPr>
          <a:xfrm>
            <a:off x="1981200" y="274956"/>
            <a:ext cx="8229600" cy="1006475"/>
          </a:xfrm>
          <a:prstGeom prst="rect">
            <a:avLst/>
          </a:prstGeom>
          <a:noFill/>
          <a:ln>
            <a:noFill/>
          </a:ln>
        </p:spPr>
        <p:txBody>
          <a:bodyPr spcFirstLastPara="1" vert="horz" wrap="square" lIns="91425" tIns="45700" rIns="91425" bIns="45700" rtlCol="0" anchor="ctr" anchorCtr="0">
            <a:noAutofit/>
          </a:bodyPr>
          <a:lstStyle/>
          <a:p>
            <a:pPr algn="ctr">
              <a:lnSpc>
                <a:spcPct val="100000"/>
              </a:lnSpc>
              <a:spcBef>
                <a:spcPts val="0"/>
              </a:spcBef>
              <a:buClr>
                <a:schemeClr val="dk2"/>
              </a:buClr>
              <a:buSzPts val="3600"/>
            </a:pPr>
            <a:r>
              <a:rPr lang="en-US" sz="3600" b="1"/>
              <a:t>Queries on DRC Consider the following relational schema:</a:t>
            </a:r>
            <a:endParaRPr sz="3600" b="1"/>
          </a:p>
        </p:txBody>
      </p:sp>
      <p:sp>
        <p:nvSpPr>
          <p:cNvPr id="1007" name="Google Shape;1007;p93"/>
          <p:cNvSpPr txBox="1">
            <a:spLocks noGrp="1"/>
          </p:cNvSpPr>
          <p:nvPr>
            <p:ph type="body" idx="1"/>
          </p:nvPr>
        </p:nvSpPr>
        <p:spPr>
          <a:xfrm>
            <a:off x="1828800" y="1295400"/>
            <a:ext cx="8539480" cy="5031740"/>
          </a:xfrm>
          <a:prstGeom prst="rect">
            <a:avLst/>
          </a:prstGeom>
          <a:noFill/>
          <a:ln>
            <a:noFill/>
          </a:ln>
        </p:spPr>
        <p:txBody>
          <a:bodyPr spcFirstLastPara="1" vert="horz" wrap="square" lIns="91425" tIns="45700" rIns="91425" bIns="45700" rtlCol="0" anchor="t" anchorCtr="0">
            <a:noAutofit/>
          </a:bodyPr>
          <a:lstStyle/>
          <a:p>
            <a:pPr marL="342900" indent="-342900">
              <a:lnSpc>
                <a:spcPct val="100000"/>
              </a:lnSpc>
              <a:spcBef>
                <a:spcPts val="0"/>
              </a:spcBef>
              <a:buClr>
                <a:schemeClr val="dk1"/>
              </a:buClr>
              <a:buSzPts val="2400"/>
              <a:buFont typeface="Arial"/>
              <a:buChar char="•"/>
            </a:pPr>
            <a:r>
              <a:rPr lang="en-US" sz="2400"/>
              <a:t>Queries on DRC Consider the following relational schema:</a:t>
            </a:r>
            <a:endParaRPr sz="2400"/>
          </a:p>
          <a:p>
            <a:pPr marL="0" indent="457200">
              <a:lnSpc>
                <a:spcPct val="100000"/>
              </a:lnSpc>
              <a:spcBef>
                <a:spcPts val="480"/>
              </a:spcBef>
              <a:buClr>
                <a:schemeClr val="dk1"/>
              </a:buClr>
              <a:buSzPts val="2400"/>
              <a:buNone/>
            </a:pPr>
            <a:r>
              <a:rPr lang="en-US" sz="2400"/>
              <a:t>     Sailor Database Sailors(sid, sname, rating, age) 	Boats(bid, bname, color) </a:t>
            </a:r>
            <a:endParaRPr sz="2400"/>
          </a:p>
          <a:p>
            <a:pPr marL="0" indent="0">
              <a:lnSpc>
                <a:spcPct val="100000"/>
              </a:lnSpc>
              <a:spcBef>
                <a:spcPts val="480"/>
              </a:spcBef>
              <a:buClr>
                <a:schemeClr val="dk1"/>
              </a:buClr>
              <a:buSzPts val="2400"/>
              <a:buNone/>
            </a:pPr>
            <a:r>
              <a:rPr lang="en-US" sz="2400"/>
              <a:t>     	Reserves(sid, bid, day) </a:t>
            </a:r>
            <a:endParaRPr sz="2400"/>
          </a:p>
          <a:p>
            <a:pPr marL="0" indent="0">
              <a:lnSpc>
                <a:spcPct val="100000"/>
              </a:lnSpc>
              <a:spcBef>
                <a:spcPts val="480"/>
              </a:spcBef>
              <a:buClr>
                <a:schemeClr val="dk1"/>
              </a:buClr>
              <a:buSzPts val="2400"/>
              <a:buNone/>
            </a:pPr>
            <a:endParaRPr sz="2400"/>
          </a:p>
          <a:p>
            <a:pPr marL="0" indent="0">
              <a:lnSpc>
                <a:spcPct val="100000"/>
              </a:lnSpc>
              <a:spcBef>
                <a:spcPts val="480"/>
              </a:spcBef>
              <a:buClr>
                <a:schemeClr val="dk1"/>
              </a:buClr>
              <a:buSzPts val="2400"/>
              <a:buNone/>
            </a:pPr>
            <a:r>
              <a:rPr lang="en-US" sz="2400" b="1"/>
              <a:t>Query 1: </a:t>
            </a:r>
            <a:r>
              <a:rPr lang="en-US" sz="2400"/>
              <a:t>Find all sailors with a rating above 7 .</a:t>
            </a:r>
            <a:endParaRPr sz="2400"/>
          </a:p>
          <a:p>
            <a:pPr marL="0" indent="0">
              <a:lnSpc>
                <a:spcPct val="100000"/>
              </a:lnSpc>
              <a:spcBef>
                <a:spcPts val="480"/>
              </a:spcBef>
              <a:buClr>
                <a:schemeClr val="dk1"/>
              </a:buClr>
              <a:buSzPts val="2400"/>
              <a:buNone/>
            </a:pPr>
            <a:r>
              <a:rPr lang="en-US" sz="2400"/>
              <a:t> {&lt;Is, N, R,A&gt; | &lt;Is, N, R, A&gt; ∈Sailors ∧R &gt;7} </a:t>
            </a:r>
            <a:endParaRPr sz="2400"/>
          </a:p>
          <a:p>
            <a:pPr marL="0" indent="0">
              <a:lnSpc>
                <a:spcPct val="100000"/>
              </a:lnSpc>
              <a:spcBef>
                <a:spcPts val="480"/>
              </a:spcBef>
              <a:buClr>
                <a:schemeClr val="dk1"/>
              </a:buClr>
              <a:buSzPts val="2400"/>
              <a:buNone/>
            </a:pPr>
            <a:endParaRPr sz="2400"/>
          </a:p>
          <a:p>
            <a:pPr marL="0" indent="0">
              <a:lnSpc>
                <a:spcPct val="100000"/>
              </a:lnSpc>
              <a:spcBef>
                <a:spcPts val="480"/>
              </a:spcBef>
              <a:buClr>
                <a:schemeClr val="dk1"/>
              </a:buClr>
              <a:buSzPts val="2400"/>
              <a:buNone/>
            </a:pPr>
            <a:r>
              <a:rPr lang="en-US" sz="2400"/>
              <a:t> </a:t>
            </a:r>
            <a:r>
              <a:rPr lang="en-US" sz="2400" b="1"/>
              <a:t>Query 2: </a:t>
            </a:r>
            <a:r>
              <a:rPr lang="en-US" sz="2400"/>
              <a:t>Find the names of sailors who reserved boat 111.</a:t>
            </a:r>
            <a:endParaRPr sz="2400"/>
          </a:p>
          <a:p>
            <a:pPr marL="0" indent="0">
              <a:lnSpc>
                <a:spcPct val="100000"/>
              </a:lnSpc>
              <a:spcBef>
                <a:spcPts val="480"/>
              </a:spcBef>
              <a:buClr>
                <a:schemeClr val="dk1"/>
              </a:buClr>
              <a:buSzPts val="2400"/>
              <a:buNone/>
            </a:pPr>
            <a:r>
              <a:rPr lang="en-US" sz="2400"/>
              <a:t> {&lt;N&gt; | ∃&lt;Is,R , A&gt; ( &lt;Is, N, R,A&gt; ∈Sailors ∧∃ &lt;Ir, Br, D&gt; ∈Reserves ( Ir=Is ∧Br=111 ))} </a:t>
            </a:r>
            <a:endParaRPr sz="240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Shape 1011"/>
        <p:cNvGrpSpPr/>
        <p:nvPr/>
      </p:nvGrpSpPr>
      <p:grpSpPr>
        <a:xfrm>
          <a:off x="0" y="0"/>
          <a:ext cx="0" cy="0"/>
          <a:chOff x="0" y="0"/>
          <a:chExt cx="0" cy="0"/>
        </a:xfrm>
      </p:grpSpPr>
      <p:sp>
        <p:nvSpPr>
          <p:cNvPr id="1012" name="Google Shape;1012;p94"/>
          <p:cNvSpPr txBox="1">
            <a:spLocks noGrp="1"/>
          </p:cNvSpPr>
          <p:nvPr>
            <p:ph type="body" idx="1"/>
          </p:nvPr>
        </p:nvSpPr>
        <p:spPr>
          <a:xfrm>
            <a:off x="1676401" y="76201"/>
            <a:ext cx="8822055" cy="6782435"/>
          </a:xfrm>
          <a:prstGeom prst="rect">
            <a:avLst/>
          </a:prstGeom>
          <a:noFill/>
          <a:ln>
            <a:noFill/>
          </a:ln>
        </p:spPr>
        <p:txBody>
          <a:bodyPr spcFirstLastPara="1" vert="horz" wrap="square" lIns="91425" tIns="45700" rIns="91425" bIns="45700" rtlCol="0" anchor="t" anchorCtr="0">
            <a:noAutofit/>
          </a:bodyPr>
          <a:lstStyle/>
          <a:p>
            <a:pPr marL="342900" indent="-342900">
              <a:lnSpc>
                <a:spcPct val="100000"/>
              </a:lnSpc>
              <a:spcBef>
                <a:spcPts val="0"/>
              </a:spcBef>
              <a:buClr>
                <a:schemeClr val="dk1"/>
              </a:buClr>
              <a:buSzPts val="2800"/>
              <a:buFont typeface="Arial"/>
              <a:buChar char="•"/>
            </a:pPr>
            <a:r>
              <a:rPr lang="en-US" b="1"/>
              <a:t>Difference between Tuple Relational Calculus (TRC) and Domain Relational Calculus (DRC) : </a:t>
            </a:r>
            <a:endParaRPr b="1"/>
          </a:p>
          <a:p>
            <a:pPr marL="342900" indent="-342900">
              <a:lnSpc>
                <a:spcPct val="100000"/>
              </a:lnSpc>
              <a:spcBef>
                <a:spcPts val="240"/>
              </a:spcBef>
              <a:buClr>
                <a:schemeClr val="dk1"/>
              </a:buClr>
              <a:buSzPts val="1200"/>
              <a:buFont typeface="Arial"/>
              <a:buChar char="•"/>
            </a:pPr>
            <a:r>
              <a:rPr lang="en-US" sz="1200"/>
              <a:t>1.	</a:t>
            </a:r>
            <a:r>
              <a:rPr lang="en-US" sz="1200" b="1"/>
              <a:t>Definition</a:t>
            </a:r>
            <a:r>
              <a:rPr lang="en-US" sz="1200"/>
              <a:t>	</a:t>
            </a:r>
            <a:endParaRPr sz="1200"/>
          </a:p>
          <a:p>
            <a:pPr marL="342900" indent="-342900">
              <a:lnSpc>
                <a:spcPct val="100000"/>
              </a:lnSpc>
              <a:spcBef>
                <a:spcPts val="240"/>
              </a:spcBef>
              <a:buClr>
                <a:schemeClr val="dk1"/>
              </a:buClr>
              <a:buSzPts val="1200"/>
              <a:buFont typeface="Arial"/>
              <a:buChar char="•"/>
            </a:pPr>
            <a:r>
              <a:rPr lang="en-US" sz="1200"/>
              <a:t>The Tuple Relational Calculus (TRC) is used to select tuples from a relation. The tuples with specific range values, tuples with certain attribute values, and so on can be selected.	</a:t>
            </a:r>
            <a:endParaRPr sz="1200"/>
          </a:p>
          <a:p>
            <a:pPr marL="342900" indent="-342900">
              <a:lnSpc>
                <a:spcPct val="100000"/>
              </a:lnSpc>
              <a:spcBef>
                <a:spcPts val="240"/>
              </a:spcBef>
              <a:buClr>
                <a:schemeClr val="dk1"/>
              </a:buClr>
              <a:buSzPts val="1200"/>
              <a:buFont typeface="Arial"/>
              <a:buChar char="•"/>
            </a:pPr>
            <a:r>
              <a:rPr lang="en-US" sz="1200"/>
              <a:t>The Domain Relational Calculus (DRC) employs a list of attributes from which to choose based on the condition. It’s similar to TRC, but instead of selecting entire tuples, it selects attributes.</a:t>
            </a:r>
            <a:endParaRPr sz="1200"/>
          </a:p>
          <a:p>
            <a:pPr marL="342900" indent="-342900">
              <a:lnSpc>
                <a:spcPct val="100000"/>
              </a:lnSpc>
              <a:spcBef>
                <a:spcPts val="240"/>
              </a:spcBef>
              <a:buClr>
                <a:schemeClr val="dk1"/>
              </a:buClr>
              <a:buSzPts val="1200"/>
              <a:buFont typeface="Arial"/>
              <a:buChar char="•"/>
            </a:pPr>
            <a:r>
              <a:rPr lang="en-US" sz="1200"/>
              <a:t>2.	</a:t>
            </a:r>
            <a:r>
              <a:rPr lang="en-US" sz="1200" b="1"/>
              <a:t>Representation of variables</a:t>
            </a:r>
            <a:r>
              <a:rPr lang="en-US" sz="1200"/>
              <a:t>	</a:t>
            </a:r>
            <a:endParaRPr sz="1200"/>
          </a:p>
          <a:p>
            <a:pPr marL="342900" indent="-342900">
              <a:lnSpc>
                <a:spcPct val="100000"/>
              </a:lnSpc>
              <a:spcBef>
                <a:spcPts val="240"/>
              </a:spcBef>
              <a:buClr>
                <a:schemeClr val="dk1"/>
              </a:buClr>
              <a:buSzPts val="1200"/>
              <a:buFont typeface="Arial"/>
              <a:buChar char="•"/>
            </a:pPr>
            <a:r>
              <a:rPr lang="en-US" sz="1200"/>
              <a:t>In TRC, the variables represent the tuples from specified relations.	</a:t>
            </a:r>
            <a:endParaRPr sz="1200"/>
          </a:p>
          <a:p>
            <a:pPr marL="342900" indent="-342900">
              <a:lnSpc>
                <a:spcPct val="100000"/>
              </a:lnSpc>
              <a:spcBef>
                <a:spcPts val="240"/>
              </a:spcBef>
              <a:buClr>
                <a:schemeClr val="dk1"/>
              </a:buClr>
              <a:buSzPts val="1200"/>
              <a:buFont typeface="Arial"/>
              <a:buChar char="•"/>
            </a:pPr>
            <a:r>
              <a:rPr lang="en-US" sz="1200"/>
              <a:t>In DRC, the variables represent the value drawn from a specified domain.</a:t>
            </a:r>
            <a:endParaRPr sz="1200"/>
          </a:p>
          <a:p>
            <a:pPr marL="342900" indent="-342900">
              <a:lnSpc>
                <a:spcPct val="100000"/>
              </a:lnSpc>
              <a:spcBef>
                <a:spcPts val="240"/>
              </a:spcBef>
              <a:buClr>
                <a:schemeClr val="dk1"/>
              </a:buClr>
              <a:buSzPts val="1200"/>
              <a:buFont typeface="Arial"/>
              <a:buChar char="•"/>
            </a:pPr>
            <a:r>
              <a:rPr lang="en-US" sz="1200"/>
              <a:t>3.	</a:t>
            </a:r>
            <a:r>
              <a:rPr lang="en-US" sz="1200" b="1"/>
              <a:t>Tuple/ Domain</a:t>
            </a:r>
            <a:r>
              <a:rPr lang="en-US" sz="1200"/>
              <a:t>	</a:t>
            </a:r>
            <a:endParaRPr sz="1200"/>
          </a:p>
          <a:p>
            <a:pPr marL="342900" indent="-342900">
              <a:lnSpc>
                <a:spcPct val="100000"/>
              </a:lnSpc>
              <a:spcBef>
                <a:spcPts val="240"/>
              </a:spcBef>
              <a:buClr>
                <a:schemeClr val="dk1"/>
              </a:buClr>
              <a:buSzPts val="1200"/>
              <a:buFont typeface="Arial"/>
              <a:buChar char="•"/>
            </a:pPr>
            <a:r>
              <a:rPr lang="en-US" sz="1200"/>
              <a:t>A tuple is a single element of relation. In database terms, it is a row.	</a:t>
            </a:r>
            <a:endParaRPr sz="1200"/>
          </a:p>
          <a:p>
            <a:pPr marL="342900" indent="-342900">
              <a:lnSpc>
                <a:spcPct val="100000"/>
              </a:lnSpc>
              <a:spcBef>
                <a:spcPts val="240"/>
              </a:spcBef>
              <a:buClr>
                <a:schemeClr val="dk1"/>
              </a:buClr>
              <a:buSzPts val="1200"/>
              <a:buFont typeface="Arial"/>
              <a:buChar char="•"/>
            </a:pPr>
            <a:r>
              <a:rPr lang="en-US" sz="1200"/>
              <a:t>A domain is equivalent to column data type and any constraints on the value of data.</a:t>
            </a:r>
            <a:endParaRPr sz="1200"/>
          </a:p>
          <a:p>
            <a:pPr marL="342900" indent="-342900">
              <a:lnSpc>
                <a:spcPct val="100000"/>
              </a:lnSpc>
              <a:spcBef>
                <a:spcPts val="240"/>
              </a:spcBef>
              <a:buClr>
                <a:schemeClr val="dk1"/>
              </a:buClr>
              <a:buSzPts val="1200"/>
              <a:buFont typeface="Arial"/>
              <a:buChar char="•"/>
            </a:pPr>
            <a:r>
              <a:rPr lang="en-US" sz="1200"/>
              <a:t>4.	</a:t>
            </a:r>
            <a:r>
              <a:rPr lang="en-US" sz="1200" b="1"/>
              <a:t>Filtering</a:t>
            </a:r>
            <a:r>
              <a:rPr lang="en-US" sz="1200"/>
              <a:t>	</a:t>
            </a:r>
            <a:endParaRPr sz="1200"/>
          </a:p>
          <a:p>
            <a:pPr marL="342900" indent="-342900">
              <a:lnSpc>
                <a:spcPct val="100000"/>
              </a:lnSpc>
              <a:spcBef>
                <a:spcPts val="240"/>
              </a:spcBef>
              <a:buClr>
                <a:schemeClr val="dk1"/>
              </a:buClr>
              <a:buSzPts val="1200"/>
              <a:buFont typeface="Arial"/>
              <a:buChar char="•"/>
            </a:pPr>
            <a:r>
              <a:rPr lang="en-US" sz="1200"/>
              <a:t>This filtering variable uses a tuple of relations.	</a:t>
            </a:r>
            <a:endParaRPr sz="1200"/>
          </a:p>
          <a:p>
            <a:pPr marL="342900" indent="-342900">
              <a:lnSpc>
                <a:spcPct val="100000"/>
              </a:lnSpc>
              <a:spcBef>
                <a:spcPts val="240"/>
              </a:spcBef>
              <a:buClr>
                <a:schemeClr val="dk1"/>
              </a:buClr>
              <a:buSzPts val="1200"/>
              <a:buFont typeface="Arial"/>
              <a:buChar char="•"/>
            </a:pPr>
            <a:r>
              <a:rPr lang="en-US" sz="1200"/>
              <a:t>This filtering is done based on the domain of attributes.</a:t>
            </a:r>
            <a:endParaRPr sz="1200"/>
          </a:p>
          <a:p>
            <a:pPr marL="342900" indent="-342900">
              <a:lnSpc>
                <a:spcPct val="100000"/>
              </a:lnSpc>
              <a:spcBef>
                <a:spcPts val="240"/>
              </a:spcBef>
              <a:buClr>
                <a:schemeClr val="dk1"/>
              </a:buClr>
              <a:buSzPts val="1200"/>
              <a:buFont typeface="Arial"/>
              <a:buChar char="•"/>
            </a:pPr>
            <a:r>
              <a:rPr lang="en-US" sz="1200"/>
              <a:t>5.	</a:t>
            </a:r>
            <a:r>
              <a:rPr lang="en-US" sz="1200" b="1"/>
              <a:t>Return Value	</a:t>
            </a:r>
            <a:endParaRPr sz="1200"/>
          </a:p>
          <a:p>
            <a:pPr marL="342900" indent="-342900">
              <a:lnSpc>
                <a:spcPct val="100000"/>
              </a:lnSpc>
              <a:spcBef>
                <a:spcPts val="240"/>
              </a:spcBef>
              <a:buClr>
                <a:schemeClr val="dk1"/>
              </a:buClr>
              <a:buSzPts val="1200"/>
              <a:buFont typeface="Arial"/>
              <a:buChar char="•"/>
            </a:pPr>
            <a:r>
              <a:rPr lang="en-US" sz="1200"/>
              <a:t>The predicate expression condition associated with the TRC is used to test every row using a tuple variable and return those tuples that met the condition.	</a:t>
            </a:r>
            <a:endParaRPr sz="1200"/>
          </a:p>
          <a:p>
            <a:pPr marL="342900" indent="-342900">
              <a:lnSpc>
                <a:spcPct val="100000"/>
              </a:lnSpc>
              <a:spcBef>
                <a:spcPts val="240"/>
              </a:spcBef>
              <a:buClr>
                <a:schemeClr val="dk1"/>
              </a:buClr>
              <a:buSzPts val="1200"/>
              <a:buFont typeface="Arial"/>
              <a:buChar char="•"/>
            </a:pPr>
            <a:r>
              <a:rPr lang="en-US" sz="1200"/>
              <a:t>DRC takes advantage of domain variables and, based on the condition set, returns the required attribute or column that satisfies the criteria of the condition.</a:t>
            </a:r>
            <a:endParaRPr sz="1200"/>
          </a:p>
          <a:p>
            <a:pPr marL="342900" indent="-342900">
              <a:lnSpc>
                <a:spcPct val="100000"/>
              </a:lnSpc>
              <a:spcBef>
                <a:spcPts val="240"/>
              </a:spcBef>
              <a:buClr>
                <a:schemeClr val="dk1"/>
              </a:buClr>
              <a:buSzPts val="1200"/>
              <a:buFont typeface="Arial"/>
              <a:buChar char="•"/>
            </a:pPr>
            <a:r>
              <a:rPr lang="en-US" sz="1200"/>
              <a:t>5.	</a:t>
            </a:r>
            <a:r>
              <a:rPr lang="en-US" sz="1200" b="1"/>
              <a:t>Membership condition</a:t>
            </a:r>
            <a:r>
              <a:rPr lang="en-US" sz="1200"/>
              <a:t>	</a:t>
            </a:r>
            <a:endParaRPr sz="1200"/>
          </a:p>
          <a:p>
            <a:pPr marL="342900" indent="-342900">
              <a:lnSpc>
                <a:spcPct val="100000"/>
              </a:lnSpc>
              <a:spcBef>
                <a:spcPts val="240"/>
              </a:spcBef>
              <a:buClr>
                <a:schemeClr val="dk1"/>
              </a:buClr>
              <a:buSzPts val="1200"/>
              <a:buFont typeface="Arial"/>
              <a:buChar char="•"/>
            </a:pPr>
            <a:r>
              <a:rPr lang="en-US" sz="1200"/>
              <a:t>The query cannot be expressed using a membership condition.	</a:t>
            </a:r>
            <a:endParaRPr sz="1200"/>
          </a:p>
          <a:p>
            <a:pPr marL="342900" indent="-342900">
              <a:lnSpc>
                <a:spcPct val="100000"/>
              </a:lnSpc>
              <a:spcBef>
                <a:spcPts val="240"/>
              </a:spcBef>
              <a:buClr>
                <a:schemeClr val="dk1"/>
              </a:buClr>
              <a:buSzPts val="1200"/>
              <a:buFont typeface="Arial"/>
              <a:buChar char="•"/>
            </a:pPr>
            <a:r>
              <a:rPr lang="en-US" sz="1200"/>
              <a:t>The query can be expressed using a membership condition.</a:t>
            </a:r>
            <a:endParaRPr sz="1200"/>
          </a:p>
          <a:p>
            <a:pPr marL="342900" indent="-342900">
              <a:lnSpc>
                <a:spcPct val="100000"/>
              </a:lnSpc>
              <a:spcBef>
                <a:spcPts val="240"/>
              </a:spcBef>
              <a:buClr>
                <a:schemeClr val="dk1"/>
              </a:buClr>
              <a:buSzPts val="1200"/>
              <a:buFont typeface="Arial"/>
              <a:buChar char="•"/>
            </a:pPr>
            <a:r>
              <a:rPr lang="en-US" sz="1200"/>
              <a:t>6.	</a:t>
            </a:r>
            <a:r>
              <a:rPr lang="en-US" sz="1200" b="1"/>
              <a:t>Query Language</a:t>
            </a:r>
            <a:r>
              <a:rPr lang="en-US" sz="1200"/>
              <a:t>	</a:t>
            </a:r>
            <a:endParaRPr sz="1200"/>
          </a:p>
          <a:p>
            <a:pPr marL="342900" indent="-342900">
              <a:lnSpc>
                <a:spcPct val="100000"/>
              </a:lnSpc>
              <a:spcBef>
                <a:spcPts val="240"/>
              </a:spcBef>
              <a:buClr>
                <a:schemeClr val="dk1"/>
              </a:buClr>
              <a:buSzPts val="1200"/>
              <a:buFont typeface="Arial"/>
              <a:buChar char="•"/>
            </a:pPr>
            <a:r>
              <a:rPr lang="en-US" sz="1200"/>
              <a:t>The QUEL or Query Language is a query language related to it, 	</a:t>
            </a:r>
            <a:endParaRPr sz="1200"/>
          </a:p>
          <a:p>
            <a:pPr marL="342900" indent="-342900">
              <a:lnSpc>
                <a:spcPct val="100000"/>
              </a:lnSpc>
              <a:spcBef>
                <a:spcPts val="240"/>
              </a:spcBef>
              <a:buClr>
                <a:schemeClr val="dk1"/>
              </a:buClr>
              <a:buSzPts val="1200"/>
              <a:buFont typeface="Arial"/>
              <a:buChar char="•"/>
            </a:pPr>
            <a:r>
              <a:rPr lang="en-US" sz="1200"/>
              <a:t>The QBE or Query-By-Example is query language related to it.</a:t>
            </a:r>
            <a:endParaRPr sz="1200"/>
          </a:p>
          <a:p>
            <a:pPr marL="342900" indent="-266700">
              <a:lnSpc>
                <a:spcPct val="100000"/>
              </a:lnSpc>
              <a:spcBef>
                <a:spcPts val="240"/>
              </a:spcBef>
              <a:buClr>
                <a:schemeClr val="dk1"/>
              </a:buClr>
              <a:buSzPts val="1200"/>
              <a:buNone/>
            </a:pPr>
            <a:endParaRPr sz="120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Shape 1016"/>
        <p:cNvGrpSpPr/>
        <p:nvPr/>
      </p:nvGrpSpPr>
      <p:grpSpPr>
        <a:xfrm>
          <a:off x="0" y="0"/>
          <a:ext cx="0" cy="0"/>
          <a:chOff x="0" y="0"/>
          <a:chExt cx="0" cy="0"/>
        </a:xfrm>
      </p:grpSpPr>
      <p:sp>
        <p:nvSpPr>
          <p:cNvPr id="1017" name="Google Shape;1017;p95"/>
          <p:cNvSpPr txBox="1">
            <a:spLocks noGrp="1"/>
          </p:cNvSpPr>
          <p:nvPr>
            <p:ph type="body" idx="1"/>
          </p:nvPr>
        </p:nvSpPr>
        <p:spPr>
          <a:xfrm>
            <a:off x="1752600" y="152400"/>
            <a:ext cx="8229600" cy="6705600"/>
          </a:xfrm>
          <a:prstGeom prst="rect">
            <a:avLst/>
          </a:prstGeom>
          <a:noFill/>
          <a:ln>
            <a:noFill/>
          </a:ln>
        </p:spPr>
        <p:txBody>
          <a:bodyPr spcFirstLastPara="1" vert="horz" wrap="square" lIns="91425" tIns="45700" rIns="91425" bIns="45700" rtlCol="0" anchor="t" anchorCtr="0">
            <a:noAutofit/>
          </a:bodyPr>
          <a:lstStyle/>
          <a:p>
            <a:pPr marL="342900" indent="-342900">
              <a:lnSpc>
                <a:spcPct val="100000"/>
              </a:lnSpc>
              <a:spcBef>
                <a:spcPts val="0"/>
              </a:spcBef>
              <a:buClr>
                <a:schemeClr val="dk1"/>
              </a:buClr>
              <a:buSzPts val="1400"/>
              <a:buFont typeface="Arial"/>
              <a:buChar char="•"/>
            </a:pPr>
            <a:r>
              <a:rPr lang="en-US" sz="1400" b="1"/>
              <a:t>7.	Similarity</a:t>
            </a:r>
            <a:r>
              <a:rPr lang="en-US" sz="1400"/>
              <a:t>	</a:t>
            </a:r>
            <a:endParaRPr sz="1400"/>
          </a:p>
          <a:p>
            <a:pPr marL="342900" indent="-342900">
              <a:lnSpc>
                <a:spcPct val="100000"/>
              </a:lnSpc>
              <a:spcBef>
                <a:spcPts val="280"/>
              </a:spcBef>
              <a:buClr>
                <a:schemeClr val="dk1"/>
              </a:buClr>
              <a:buSzPts val="1400"/>
              <a:buFont typeface="Arial"/>
              <a:buChar char="•"/>
            </a:pPr>
            <a:r>
              <a:rPr lang="en-US" sz="1400"/>
              <a:t>It reflects traditional pre-relational file structures. 	</a:t>
            </a:r>
            <a:endParaRPr sz="1400"/>
          </a:p>
          <a:p>
            <a:pPr marL="342900" indent="-342900">
              <a:lnSpc>
                <a:spcPct val="100000"/>
              </a:lnSpc>
              <a:spcBef>
                <a:spcPts val="280"/>
              </a:spcBef>
              <a:buClr>
                <a:schemeClr val="dk1"/>
              </a:buClr>
              <a:buSzPts val="1400"/>
              <a:buFont typeface="Arial"/>
              <a:buChar char="•"/>
            </a:pPr>
            <a:r>
              <a:rPr lang="en-US" sz="1400"/>
              <a:t>It is more similar to logic as a modeling language.</a:t>
            </a:r>
            <a:endParaRPr sz="1400"/>
          </a:p>
          <a:p>
            <a:pPr marL="342900" indent="-342900">
              <a:lnSpc>
                <a:spcPct val="100000"/>
              </a:lnSpc>
              <a:spcBef>
                <a:spcPts val="280"/>
              </a:spcBef>
              <a:buClr>
                <a:schemeClr val="dk1"/>
              </a:buClr>
              <a:buSzPts val="1400"/>
              <a:buFont typeface="Arial"/>
              <a:buChar char="•"/>
            </a:pPr>
            <a:r>
              <a:rPr lang="en-US" sz="1400"/>
              <a:t>8.	</a:t>
            </a:r>
            <a:r>
              <a:rPr lang="en-US" sz="1400" b="1"/>
              <a:t>Syntax</a:t>
            </a:r>
            <a:r>
              <a:rPr lang="en-US" sz="1400"/>
              <a:t>	</a:t>
            </a:r>
            <a:endParaRPr sz="1400"/>
          </a:p>
          <a:p>
            <a:pPr marL="342900" indent="-342900">
              <a:lnSpc>
                <a:spcPct val="100000"/>
              </a:lnSpc>
              <a:spcBef>
                <a:spcPts val="280"/>
              </a:spcBef>
              <a:buClr>
                <a:schemeClr val="dk1"/>
              </a:buClr>
              <a:buSzPts val="1400"/>
              <a:buFont typeface="Arial"/>
              <a:buChar char="•"/>
            </a:pPr>
            <a:r>
              <a:rPr lang="en-US" sz="1400"/>
              <a:t>Notation:  {T | P (T)} or {T | Condition (T)}	</a:t>
            </a:r>
            <a:endParaRPr sz="1400"/>
          </a:p>
          <a:p>
            <a:pPr marL="342900" indent="-342900">
              <a:lnSpc>
                <a:spcPct val="100000"/>
              </a:lnSpc>
              <a:spcBef>
                <a:spcPts val="280"/>
              </a:spcBef>
              <a:buClr>
                <a:schemeClr val="dk1"/>
              </a:buClr>
              <a:buSzPts val="1400"/>
              <a:buFont typeface="Arial"/>
              <a:buChar char="•"/>
            </a:pPr>
            <a:r>
              <a:rPr lang="en-US" sz="1400"/>
              <a:t>Notation: { a1, a2, a3, …, an | P (a1, a2, a3, …, an)}</a:t>
            </a:r>
            <a:endParaRPr sz="1400"/>
          </a:p>
          <a:p>
            <a:pPr marL="342900" indent="-342900">
              <a:lnSpc>
                <a:spcPct val="100000"/>
              </a:lnSpc>
              <a:spcBef>
                <a:spcPts val="280"/>
              </a:spcBef>
              <a:buClr>
                <a:schemeClr val="dk1"/>
              </a:buClr>
              <a:buSzPts val="1400"/>
              <a:buFont typeface="Arial"/>
              <a:buChar char="•"/>
            </a:pPr>
            <a:r>
              <a:rPr lang="en-US" sz="1400"/>
              <a:t>9.	</a:t>
            </a:r>
            <a:r>
              <a:rPr lang="en-US" sz="1400" b="1"/>
              <a:t>Example</a:t>
            </a:r>
            <a:endParaRPr sz="1400" b="1"/>
          </a:p>
          <a:p>
            <a:pPr marL="342900" indent="-342900">
              <a:lnSpc>
                <a:spcPct val="100000"/>
              </a:lnSpc>
              <a:spcBef>
                <a:spcPts val="280"/>
              </a:spcBef>
              <a:buClr>
                <a:schemeClr val="dk1"/>
              </a:buClr>
              <a:buSzPts val="1400"/>
              <a:buFont typeface="Arial"/>
              <a:buChar char="•"/>
            </a:pPr>
            <a:r>
              <a:rPr lang="en-US" sz="1400"/>
              <a:t>	{T | EMPLOYEE (T) AND T.DEPT_ID = 10}	</a:t>
            </a:r>
            <a:endParaRPr sz="1400"/>
          </a:p>
          <a:p>
            <a:pPr marL="342900" indent="-342900">
              <a:lnSpc>
                <a:spcPct val="100000"/>
              </a:lnSpc>
              <a:spcBef>
                <a:spcPts val="280"/>
              </a:spcBef>
              <a:buClr>
                <a:schemeClr val="dk1"/>
              </a:buClr>
              <a:buSzPts val="1400"/>
              <a:buFont typeface="Arial"/>
              <a:buChar char="•"/>
            </a:pPr>
            <a:r>
              <a:rPr lang="en-US" sz="1400"/>
              <a:t>            { | &lt; EMPLOYEE &gt; DEPT_ID = 10 }</a:t>
            </a:r>
            <a:endParaRPr sz="1400"/>
          </a:p>
          <a:p>
            <a:pPr marL="342900" indent="-342900">
              <a:lnSpc>
                <a:spcPct val="100000"/>
              </a:lnSpc>
              <a:spcBef>
                <a:spcPts val="280"/>
              </a:spcBef>
              <a:buClr>
                <a:schemeClr val="dk1"/>
              </a:buClr>
              <a:buSzPts val="1400"/>
              <a:buFont typeface="Arial"/>
              <a:buChar char="•"/>
            </a:pPr>
            <a:r>
              <a:rPr lang="en-US" sz="1400"/>
              <a:t>10.	</a:t>
            </a:r>
            <a:r>
              <a:rPr lang="en-US" sz="1400" b="1"/>
              <a:t>Focus </a:t>
            </a:r>
            <a:r>
              <a:rPr lang="en-US" sz="1400"/>
              <a:t>	</a:t>
            </a:r>
            <a:endParaRPr sz="1400"/>
          </a:p>
          <a:p>
            <a:pPr marL="342900" indent="-342900">
              <a:lnSpc>
                <a:spcPct val="100000"/>
              </a:lnSpc>
              <a:spcBef>
                <a:spcPts val="280"/>
              </a:spcBef>
              <a:buClr>
                <a:schemeClr val="dk1"/>
              </a:buClr>
              <a:buSzPts val="1400"/>
              <a:buFont typeface="Arial"/>
              <a:buChar char="•"/>
            </a:pPr>
            <a:r>
              <a:rPr lang="en-US" sz="1400"/>
              <a:t>Focuses on selecting tuples from a relation	</a:t>
            </a:r>
            <a:endParaRPr sz="1400"/>
          </a:p>
          <a:p>
            <a:pPr marL="342900" indent="-342900">
              <a:lnSpc>
                <a:spcPct val="100000"/>
              </a:lnSpc>
              <a:spcBef>
                <a:spcPts val="280"/>
              </a:spcBef>
              <a:buClr>
                <a:schemeClr val="dk1"/>
              </a:buClr>
              <a:buSzPts val="1400"/>
              <a:buFont typeface="Arial"/>
              <a:buChar char="•"/>
            </a:pPr>
            <a:r>
              <a:rPr lang="en-US" sz="1400"/>
              <a:t>Focuses on selecting values from a relation</a:t>
            </a:r>
            <a:endParaRPr sz="1400"/>
          </a:p>
          <a:p>
            <a:pPr marL="342900" indent="-342900">
              <a:lnSpc>
                <a:spcPct val="100000"/>
              </a:lnSpc>
              <a:spcBef>
                <a:spcPts val="280"/>
              </a:spcBef>
              <a:buClr>
                <a:schemeClr val="dk1"/>
              </a:buClr>
              <a:buSzPts val="1400"/>
              <a:buFont typeface="Arial"/>
              <a:buChar char="•"/>
            </a:pPr>
            <a:r>
              <a:rPr lang="en-US" sz="1400"/>
              <a:t>11.	</a:t>
            </a:r>
            <a:r>
              <a:rPr lang="en-US" sz="1400" b="1"/>
              <a:t>Variables</a:t>
            </a:r>
            <a:r>
              <a:rPr lang="en-US" sz="1400"/>
              <a:t>	</a:t>
            </a:r>
            <a:endParaRPr sz="1400"/>
          </a:p>
          <a:p>
            <a:pPr marL="342900" indent="-342900">
              <a:lnSpc>
                <a:spcPct val="100000"/>
              </a:lnSpc>
              <a:spcBef>
                <a:spcPts val="280"/>
              </a:spcBef>
              <a:buClr>
                <a:schemeClr val="dk1"/>
              </a:buClr>
              <a:buSzPts val="1400"/>
              <a:buFont typeface="Arial"/>
              <a:buChar char="•"/>
            </a:pPr>
            <a:r>
              <a:rPr lang="en-US" sz="1400"/>
              <a:t>Uses tuple variables (e.g., t)	</a:t>
            </a:r>
            <a:endParaRPr sz="1400"/>
          </a:p>
          <a:p>
            <a:pPr marL="342900" indent="-342900">
              <a:lnSpc>
                <a:spcPct val="100000"/>
              </a:lnSpc>
              <a:spcBef>
                <a:spcPts val="280"/>
              </a:spcBef>
              <a:buClr>
                <a:schemeClr val="dk1"/>
              </a:buClr>
              <a:buSzPts val="1400"/>
              <a:buFont typeface="Arial"/>
              <a:buChar char="•"/>
            </a:pPr>
            <a:r>
              <a:rPr lang="en-US" sz="1400"/>
              <a:t>Uses scalar variables (e.g., a1, a2, …, an)</a:t>
            </a:r>
            <a:endParaRPr sz="1400"/>
          </a:p>
          <a:p>
            <a:pPr marL="342900" indent="-342900">
              <a:lnSpc>
                <a:spcPct val="100000"/>
              </a:lnSpc>
              <a:spcBef>
                <a:spcPts val="280"/>
              </a:spcBef>
              <a:buClr>
                <a:schemeClr val="dk1"/>
              </a:buClr>
              <a:buSzPts val="1400"/>
              <a:buFont typeface="Arial"/>
              <a:buChar char="•"/>
            </a:pPr>
            <a:r>
              <a:rPr lang="en-US" sz="1400"/>
              <a:t>12.	</a:t>
            </a:r>
            <a:r>
              <a:rPr lang="en-US" sz="1400" b="1"/>
              <a:t>Expressiveness</a:t>
            </a:r>
            <a:endParaRPr sz="1400"/>
          </a:p>
          <a:p>
            <a:pPr marL="342900" indent="-342900">
              <a:lnSpc>
                <a:spcPct val="100000"/>
              </a:lnSpc>
              <a:spcBef>
                <a:spcPts val="280"/>
              </a:spcBef>
              <a:buClr>
                <a:schemeClr val="dk1"/>
              </a:buClr>
              <a:buSzPts val="1400"/>
              <a:buFont typeface="Arial"/>
              <a:buChar char="•"/>
            </a:pPr>
            <a:r>
              <a:rPr lang="en-US" sz="1400"/>
              <a:t>Less expressive	</a:t>
            </a:r>
            <a:endParaRPr sz="1400"/>
          </a:p>
          <a:p>
            <a:pPr marL="342900" indent="-342900">
              <a:lnSpc>
                <a:spcPct val="100000"/>
              </a:lnSpc>
              <a:spcBef>
                <a:spcPts val="280"/>
              </a:spcBef>
              <a:buClr>
                <a:schemeClr val="dk1"/>
              </a:buClr>
              <a:buSzPts val="1400"/>
              <a:buFont typeface="Arial"/>
              <a:buChar char="•"/>
            </a:pPr>
            <a:r>
              <a:rPr lang="en-US" sz="1400"/>
              <a:t>More expressive</a:t>
            </a:r>
            <a:endParaRPr sz="1400"/>
          </a:p>
          <a:p>
            <a:pPr marL="342900" indent="-342900">
              <a:lnSpc>
                <a:spcPct val="100000"/>
              </a:lnSpc>
              <a:spcBef>
                <a:spcPts val="280"/>
              </a:spcBef>
              <a:buClr>
                <a:schemeClr val="dk1"/>
              </a:buClr>
              <a:buSzPts val="1400"/>
              <a:buFont typeface="Arial"/>
              <a:buChar char="•"/>
            </a:pPr>
            <a:r>
              <a:rPr lang="en-US" sz="1400"/>
              <a:t>13.	</a:t>
            </a:r>
            <a:r>
              <a:rPr lang="en-US" sz="1400" b="1"/>
              <a:t>Ease of use </a:t>
            </a:r>
            <a:r>
              <a:rPr lang="en-US" sz="1400"/>
              <a:t>	</a:t>
            </a:r>
            <a:endParaRPr sz="1400"/>
          </a:p>
          <a:p>
            <a:pPr marL="342900" indent="-342900">
              <a:lnSpc>
                <a:spcPct val="100000"/>
              </a:lnSpc>
              <a:spcBef>
                <a:spcPts val="280"/>
              </a:spcBef>
              <a:buClr>
                <a:schemeClr val="dk1"/>
              </a:buClr>
              <a:buSzPts val="1400"/>
              <a:buFont typeface="Arial"/>
              <a:buChar char="•"/>
            </a:pPr>
            <a:r>
              <a:rPr lang="en-US" sz="1400"/>
              <a:t>Easier to use for simple queries.	</a:t>
            </a:r>
            <a:endParaRPr sz="1400"/>
          </a:p>
          <a:p>
            <a:pPr marL="342900" indent="-342900">
              <a:lnSpc>
                <a:spcPct val="100000"/>
              </a:lnSpc>
              <a:spcBef>
                <a:spcPts val="280"/>
              </a:spcBef>
              <a:buClr>
                <a:schemeClr val="dk1"/>
              </a:buClr>
              <a:buSzPts val="1400"/>
              <a:buFont typeface="Arial"/>
              <a:buChar char="•"/>
            </a:pPr>
            <a:r>
              <a:rPr lang="en-US" sz="1400"/>
              <a:t>More difficult to use for simple queries.</a:t>
            </a:r>
            <a:endParaRPr sz="1400"/>
          </a:p>
          <a:p>
            <a:pPr marL="342900" indent="-342900">
              <a:lnSpc>
                <a:spcPct val="100000"/>
              </a:lnSpc>
              <a:spcBef>
                <a:spcPts val="280"/>
              </a:spcBef>
              <a:buClr>
                <a:schemeClr val="dk1"/>
              </a:buClr>
              <a:buSzPts val="1400"/>
              <a:buFont typeface="Arial"/>
              <a:buChar char="•"/>
            </a:pPr>
            <a:r>
              <a:rPr lang="en-US" sz="1400"/>
              <a:t>14.	</a:t>
            </a:r>
            <a:r>
              <a:rPr lang="en-US" sz="1400" b="1"/>
              <a:t>Use case </a:t>
            </a:r>
            <a:r>
              <a:rPr lang="en-US" sz="1400"/>
              <a:t>	</a:t>
            </a:r>
            <a:endParaRPr sz="1400"/>
          </a:p>
          <a:p>
            <a:pPr marL="342900" indent="-342900">
              <a:lnSpc>
                <a:spcPct val="100000"/>
              </a:lnSpc>
              <a:spcBef>
                <a:spcPts val="280"/>
              </a:spcBef>
              <a:buClr>
                <a:schemeClr val="dk1"/>
              </a:buClr>
              <a:buSzPts val="1400"/>
              <a:buFont typeface="Arial"/>
              <a:buChar char="•"/>
            </a:pPr>
            <a:r>
              <a:rPr lang="en-US" sz="1400"/>
              <a:t>Useful for selecting tuples that satisfy a certain condition or for retrieving a subset of a relation.</a:t>
            </a:r>
            <a:endParaRPr sz="1400"/>
          </a:p>
          <a:p>
            <a:pPr marL="342900" indent="-342900">
              <a:lnSpc>
                <a:spcPct val="100000"/>
              </a:lnSpc>
              <a:spcBef>
                <a:spcPts val="280"/>
              </a:spcBef>
              <a:buClr>
                <a:schemeClr val="dk1"/>
              </a:buClr>
              <a:buSzPts val="1400"/>
              <a:buFont typeface="Arial"/>
              <a:buChar char="•"/>
            </a:pPr>
            <a:r>
              <a:rPr lang="en-US" sz="1400"/>
              <a:t>Useful for selecting specific values or for constructing more complex queries that involve multiple relations.</a:t>
            </a:r>
            <a:endParaRPr sz="1400"/>
          </a:p>
          <a:p>
            <a:pPr marL="342900" indent="-254000">
              <a:lnSpc>
                <a:spcPct val="100000"/>
              </a:lnSpc>
              <a:spcBef>
                <a:spcPts val="280"/>
              </a:spcBef>
              <a:buClr>
                <a:schemeClr val="dk1"/>
              </a:buClr>
              <a:buSzPts val="1400"/>
              <a:buNone/>
            </a:pPr>
            <a:endParaRPr sz="140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Shape 1021"/>
        <p:cNvGrpSpPr/>
        <p:nvPr/>
      </p:nvGrpSpPr>
      <p:grpSpPr>
        <a:xfrm>
          <a:off x="0" y="0"/>
          <a:ext cx="0" cy="0"/>
          <a:chOff x="0" y="0"/>
          <a:chExt cx="0" cy="0"/>
        </a:xfrm>
      </p:grpSpPr>
      <p:sp>
        <p:nvSpPr>
          <p:cNvPr id="1022" name="Google Shape;1022;p96"/>
          <p:cNvSpPr txBox="1">
            <a:spLocks noGrp="1"/>
          </p:cNvSpPr>
          <p:nvPr>
            <p:ph type="title"/>
          </p:nvPr>
        </p:nvSpPr>
        <p:spPr>
          <a:xfrm>
            <a:off x="2286000" y="332740"/>
            <a:ext cx="7772400" cy="810260"/>
          </a:xfrm>
          <a:prstGeom prst="rect">
            <a:avLst/>
          </a:prstGeom>
          <a:noFill/>
          <a:ln>
            <a:noFill/>
          </a:ln>
        </p:spPr>
        <p:txBody>
          <a:bodyPr spcFirstLastPara="1" vert="horz" wrap="square" lIns="91425" tIns="45700" rIns="91425" bIns="45700" rtlCol="0" anchor="ctr" anchorCtr="0">
            <a:noAutofit/>
          </a:bodyPr>
          <a:lstStyle/>
          <a:p>
            <a:pPr algn="ctr">
              <a:lnSpc>
                <a:spcPct val="100000"/>
              </a:lnSpc>
              <a:spcBef>
                <a:spcPts val="0"/>
              </a:spcBef>
              <a:buClr>
                <a:schemeClr val="dk2"/>
              </a:buClr>
              <a:buSzPts val="3600"/>
            </a:pPr>
            <a:r>
              <a:rPr lang="en-US" sz="3600" b="1"/>
              <a:t>Modification of the Database</a:t>
            </a:r>
            <a:endParaRPr sz="3600" b="1"/>
          </a:p>
        </p:txBody>
      </p:sp>
      <p:sp>
        <p:nvSpPr>
          <p:cNvPr id="1023" name="Google Shape;1023;p96"/>
          <p:cNvSpPr txBox="1">
            <a:spLocks noGrp="1"/>
          </p:cNvSpPr>
          <p:nvPr>
            <p:ph type="body" idx="1"/>
          </p:nvPr>
        </p:nvSpPr>
        <p:spPr>
          <a:xfrm>
            <a:off x="2514601" y="1447800"/>
            <a:ext cx="7165975" cy="4597400"/>
          </a:xfrm>
          <a:prstGeom prst="rect">
            <a:avLst/>
          </a:prstGeom>
          <a:noFill/>
          <a:ln>
            <a:noFill/>
          </a:ln>
        </p:spPr>
        <p:txBody>
          <a:bodyPr spcFirstLastPara="1" vert="horz" wrap="square" lIns="91425" tIns="45700" rIns="91425" bIns="45700" rtlCol="0" anchor="t" anchorCtr="0">
            <a:noAutofit/>
          </a:bodyPr>
          <a:lstStyle/>
          <a:p>
            <a:pPr marL="342900" indent="-342900">
              <a:lnSpc>
                <a:spcPct val="100000"/>
              </a:lnSpc>
              <a:spcBef>
                <a:spcPts val="0"/>
              </a:spcBef>
              <a:buClr>
                <a:schemeClr val="dk1"/>
              </a:buClr>
              <a:buSzPts val="3200"/>
              <a:buFont typeface="Arial"/>
              <a:buChar char="•"/>
            </a:pPr>
            <a:r>
              <a:rPr lang="en-US"/>
              <a:t>The content of the database may be modified using the following operations:</a:t>
            </a:r>
            <a:endParaRPr/>
          </a:p>
          <a:p>
            <a:pPr marL="742950" lvl="1" indent="-285750">
              <a:lnSpc>
                <a:spcPct val="100000"/>
              </a:lnSpc>
              <a:spcBef>
                <a:spcPts val="560"/>
              </a:spcBef>
              <a:buClr>
                <a:schemeClr val="dk1"/>
              </a:buClr>
              <a:buSzPts val="2800"/>
              <a:buFont typeface="Arial"/>
              <a:buChar char="–"/>
            </a:pPr>
            <a:r>
              <a:rPr lang="en-US"/>
              <a:t>Deletion</a:t>
            </a:r>
            <a:endParaRPr/>
          </a:p>
          <a:p>
            <a:pPr marL="742950" lvl="1" indent="-285750">
              <a:lnSpc>
                <a:spcPct val="100000"/>
              </a:lnSpc>
              <a:spcBef>
                <a:spcPts val="560"/>
              </a:spcBef>
              <a:buClr>
                <a:schemeClr val="dk1"/>
              </a:buClr>
              <a:buSzPts val="2800"/>
              <a:buFont typeface="Arial"/>
              <a:buChar char="–"/>
            </a:pPr>
            <a:r>
              <a:rPr lang="en-US"/>
              <a:t>Insertion</a:t>
            </a:r>
            <a:endParaRPr/>
          </a:p>
          <a:p>
            <a:pPr marL="742950" lvl="1" indent="-285750">
              <a:lnSpc>
                <a:spcPct val="100000"/>
              </a:lnSpc>
              <a:spcBef>
                <a:spcPts val="560"/>
              </a:spcBef>
              <a:buClr>
                <a:schemeClr val="dk1"/>
              </a:buClr>
              <a:buSzPts val="2800"/>
              <a:buFont typeface="Arial"/>
              <a:buChar char="–"/>
            </a:pPr>
            <a:r>
              <a:rPr lang="en-US"/>
              <a:t>Updating</a:t>
            </a:r>
            <a:endParaRPr/>
          </a:p>
          <a:p>
            <a:pPr marL="342900" indent="-342900">
              <a:lnSpc>
                <a:spcPct val="100000"/>
              </a:lnSpc>
              <a:spcBef>
                <a:spcPts val="640"/>
              </a:spcBef>
              <a:buClr>
                <a:schemeClr val="dk1"/>
              </a:buClr>
              <a:buSzPts val="3200"/>
              <a:buFont typeface="Arial"/>
              <a:buChar char="•"/>
            </a:pPr>
            <a:r>
              <a:rPr lang="en-US"/>
              <a:t>All these operations are expressed using the assignment operator.</a:t>
            </a:r>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Shape 1027"/>
        <p:cNvGrpSpPr/>
        <p:nvPr/>
      </p:nvGrpSpPr>
      <p:grpSpPr>
        <a:xfrm>
          <a:off x="0" y="0"/>
          <a:ext cx="0" cy="0"/>
          <a:chOff x="0" y="0"/>
          <a:chExt cx="0" cy="0"/>
        </a:xfrm>
      </p:grpSpPr>
      <p:sp>
        <p:nvSpPr>
          <p:cNvPr id="1028" name="Google Shape;1028;p97"/>
          <p:cNvSpPr txBox="1">
            <a:spLocks noGrp="1"/>
          </p:cNvSpPr>
          <p:nvPr>
            <p:ph type="title"/>
          </p:nvPr>
        </p:nvSpPr>
        <p:spPr>
          <a:xfrm>
            <a:off x="2209800" y="0"/>
            <a:ext cx="7772400" cy="1143000"/>
          </a:xfrm>
          <a:prstGeom prst="rect">
            <a:avLst/>
          </a:prstGeom>
          <a:noFill/>
          <a:ln>
            <a:noFill/>
          </a:ln>
        </p:spPr>
        <p:txBody>
          <a:bodyPr spcFirstLastPara="1" vert="horz" wrap="square" lIns="91425" tIns="45700" rIns="91425" bIns="45700" rtlCol="0" anchor="ctr" anchorCtr="0">
            <a:noAutofit/>
          </a:bodyPr>
          <a:lstStyle/>
          <a:p>
            <a:pPr algn="ctr">
              <a:lnSpc>
                <a:spcPct val="100000"/>
              </a:lnSpc>
              <a:spcBef>
                <a:spcPts val="0"/>
              </a:spcBef>
              <a:buClr>
                <a:schemeClr val="dk2"/>
              </a:buClr>
              <a:buSzPts val="3200"/>
            </a:pPr>
            <a:r>
              <a:rPr lang="en-US" sz="3200"/>
              <a:t>Deletion</a:t>
            </a:r>
            <a:endParaRPr sz="3200"/>
          </a:p>
        </p:txBody>
      </p:sp>
      <p:sp>
        <p:nvSpPr>
          <p:cNvPr id="1029" name="Google Shape;1029;p97"/>
          <p:cNvSpPr txBox="1">
            <a:spLocks noGrp="1"/>
          </p:cNvSpPr>
          <p:nvPr>
            <p:ph type="body" idx="1"/>
          </p:nvPr>
        </p:nvSpPr>
        <p:spPr>
          <a:xfrm>
            <a:off x="2819400" y="990601"/>
            <a:ext cx="7080250" cy="4568825"/>
          </a:xfrm>
          <a:prstGeom prst="rect">
            <a:avLst/>
          </a:prstGeom>
          <a:noFill/>
          <a:ln>
            <a:noFill/>
          </a:ln>
        </p:spPr>
        <p:txBody>
          <a:bodyPr spcFirstLastPara="1" vert="horz" wrap="square" lIns="91425" tIns="45700" rIns="91425" bIns="45700" rtlCol="0" anchor="t" anchorCtr="0">
            <a:noAutofit/>
          </a:bodyPr>
          <a:lstStyle/>
          <a:p>
            <a:pPr marL="342900" indent="-342900">
              <a:lnSpc>
                <a:spcPct val="100000"/>
              </a:lnSpc>
              <a:spcBef>
                <a:spcPts val="0"/>
              </a:spcBef>
              <a:buClr>
                <a:schemeClr val="dk1"/>
              </a:buClr>
              <a:buSzPts val="2400"/>
              <a:buFont typeface="Arial"/>
              <a:buChar char="•"/>
            </a:pPr>
            <a:r>
              <a:rPr lang="en-US" sz="2400"/>
              <a:t>A delete request is expressed similarly to a query, except instead of displaying tuples to the user, the selected tuples are removed from the database.</a:t>
            </a:r>
            <a:endParaRPr sz="2400"/>
          </a:p>
          <a:p>
            <a:pPr marL="342900" indent="-342900">
              <a:lnSpc>
                <a:spcPct val="100000"/>
              </a:lnSpc>
              <a:spcBef>
                <a:spcPts val="480"/>
              </a:spcBef>
              <a:buClr>
                <a:schemeClr val="dk1"/>
              </a:buClr>
              <a:buSzPts val="2400"/>
              <a:buFont typeface="Arial"/>
              <a:buChar char="•"/>
            </a:pPr>
            <a:r>
              <a:rPr lang="en-US" sz="2400"/>
              <a:t>Can delete only whole tuples; cannot delete values on only particular attributes</a:t>
            </a:r>
            <a:endParaRPr sz="2400"/>
          </a:p>
          <a:p>
            <a:pPr marL="342900" indent="-342900">
              <a:lnSpc>
                <a:spcPct val="100000"/>
              </a:lnSpc>
              <a:spcBef>
                <a:spcPts val="480"/>
              </a:spcBef>
              <a:buClr>
                <a:schemeClr val="dk1"/>
              </a:buClr>
              <a:buSzPts val="2400"/>
              <a:buFont typeface="Arial"/>
              <a:buChar char="•"/>
            </a:pPr>
            <a:r>
              <a:rPr lang="en-US" sz="2400"/>
              <a:t>A deletion is expressed in relational algebra by:</a:t>
            </a:r>
            <a:endParaRPr sz="2400"/>
          </a:p>
          <a:p>
            <a:pPr marL="342900" indent="-342900">
              <a:lnSpc>
                <a:spcPct val="100000"/>
              </a:lnSpc>
              <a:spcBef>
                <a:spcPts val="480"/>
              </a:spcBef>
              <a:buClr>
                <a:schemeClr val="dk1"/>
              </a:buClr>
              <a:buSzPts val="2400"/>
              <a:buNone/>
            </a:pPr>
            <a:r>
              <a:rPr lang="en-US" sz="2400"/>
              <a:t>		</a:t>
            </a:r>
            <a:r>
              <a:rPr lang="en-US" sz="2400" i="1"/>
              <a:t>r</a:t>
            </a:r>
            <a:r>
              <a:rPr lang="en-US" sz="2400"/>
              <a:t> ← </a:t>
            </a:r>
            <a:r>
              <a:rPr lang="en-US" sz="2400" i="1"/>
              <a:t>r</a:t>
            </a:r>
            <a:r>
              <a:rPr lang="en-US" sz="2400"/>
              <a:t> – </a:t>
            </a:r>
            <a:r>
              <a:rPr lang="en-US" sz="2400" i="1"/>
              <a:t>E</a:t>
            </a:r>
            <a:endParaRPr sz="2400"/>
          </a:p>
          <a:p>
            <a:pPr marL="342900" indent="-342900">
              <a:lnSpc>
                <a:spcPct val="100000"/>
              </a:lnSpc>
              <a:spcBef>
                <a:spcPts val="480"/>
              </a:spcBef>
              <a:buClr>
                <a:schemeClr val="dk1"/>
              </a:buClr>
              <a:buSzPts val="2400"/>
              <a:buNone/>
            </a:pPr>
            <a:r>
              <a:rPr lang="en-US" sz="2400"/>
              <a:t>	where </a:t>
            </a:r>
            <a:r>
              <a:rPr lang="en-US" sz="2400" i="1"/>
              <a:t>r</a:t>
            </a:r>
            <a:r>
              <a:rPr lang="en-US" sz="2400"/>
              <a:t> is a relation and </a:t>
            </a:r>
            <a:r>
              <a:rPr lang="en-US" sz="2400" i="1"/>
              <a:t>E</a:t>
            </a:r>
            <a:r>
              <a:rPr lang="en-US" sz="2400"/>
              <a:t> is a relational algebra query.</a:t>
            </a:r>
            <a:endParaRPr sz="240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Shape 1033"/>
        <p:cNvGrpSpPr/>
        <p:nvPr/>
      </p:nvGrpSpPr>
      <p:grpSpPr>
        <a:xfrm>
          <a:off x="0" y="0"/>
          <a:ext cx="0" cy="0"/>
          <a:chOff x="0" y="0"/>
          <a:chExt cx="0" cy="0"/>
        </a:xfrm>
      </p:grpSpPr>
      <p:sp>
        <p:nvSpPr>
          <p:cNvPr id="1034" name="Google Shape;1034;p98"/>
          <p:cNvSpPr txBox="1">
            <a:spLocks noGrp="1"/>
          </p:cNvSpPr>
          <p:nvPr>
            <p:ph type="title"/>
          </p:nvPr>
        </p:nvSpPr>
        <p:spPr>
          <a:xfrm>
            <a:off x="2286000" y="0"/>
            <a:ext cx="7772400" cy="1143000"/>
          </a:xfrm>
          <a:prstGeom prst="rect">
            <a:avLst/>
          </a:prstGeom>
          <a:noFill/>
          <a:ln>
            <a:noFill/>
          </a:ln>
        </p:spPr>
        <p:txBody>
          <a:bodyPr spcFirstLastPara="1" vert="horz" wrap="square" lIns="91425" tIns="45700" rIns="91425" bIns="45700" rtlCol="0" anchor="ctr" anchorCtr="0">
            <a:noAutofit/>
          </a:bodyPr>
          <a:lstStyle/>
          <a:p>
            <a:pPr algn="ctr">
              <a:lnSpc>
                <a:spcPct val="100000"/>
              </a:lnSpc>
              <a:spcBef>
                <a:spcPts val="0"/>
              </a:spcBef>
              <a:buClr>
                <a:schemeClr val="dk2"/>
              </a:buClr>
              <a:buSzPts val="3200"/>
            </a:pPr>
            <a:r>
              <a:rPr lang="en-US" sz="3200"/>
              <a:t>Deletion Examples</a:t>
            </a:r>
            <a:endParaRPr sz="3200"/>
          </a:p>
        </p:txBody>
      </p:sp>
      <p:sp>
        <p:nvSpPr>
          <p:cNvPr id="1035" name="Google Shape;1035;p98"/>
          <p:cNvSpPr txBox="1">
            <a:spLocks noGrp="1"/>
          </p:cNvSpPr>
          <p:nvPr>
            <p:ph type="body" idx="1"/>
          </p:nvPr>
        </p:nvSpPr>
        <p:spPr>
          <a:xfrm>
            <a:off x="2322514" y="1077914"/>
            <a:ext cx="7254875" cy="522287"/>
          </a:xfrm>
          <a:prstGeom prst="rect">
            <a:avLst/>
          </a:prstGeom>
          <a:noFill/>
          <a:ln>
            <a:noFill/>
          </a:ln>
        </p:spPr>
        <p:txBody>
          <a:bodyPr spcFirstLastPara="1" vert="horz" wrap="square" lIns="91425" tIns="45700" rIns="91425" bIns="45700" rtlCol="0" anchor="t" anchorCtr="0">
            <a:noAutofit/>
          </a:bodyPr>
          <a:lstStyle/>
          <a:p>
            <a:pPr marL="342900" indent="-342900">
              <a:lnSpc>
                <a:spcPct val="100000"/>
              </a:lnSpc>
              <a:spcBef>
                <a:spcPts val="0"/>
              </a:spcBef>
              <a:buClr>
                <a:schemeClr val="dk1"/>
              </a:buClr>
              <a:buSzPts val="2400"/>
              <a:buFont typeface="Arial"/>
              <a:buChar char="•"/>
            </a:pPr>
            <a:r>
              <a:rPr lang="en-US" sz="2400"/>
              <a:t>Delete all account records in the Perryridge branch.</a:t>
            </a:r>
            <a:endParaRPr sz="2400"/>
          </a:p>
        </p:txBody>
      </p:sp>
      <p:sp>
        <p:nvSpPr>
          <p:cNvPr id="1036" name="Google Shape;1036;p98"/>
          <p:cNvSpPr txBox="1"/>
          <p:nvPr/>
        </p:nvSpPr>
        <p:spPr>
          <a:xfrm>
            <a:off x="2351088" y="3467100"/>
            <a:ext cx="8088312" cy="457200"/>
          </a:xfrm>
          <a:prstGeom prst="rect">
            <a:avLst/>
          </a:prstGeom>
          <a:noFill/>
          <a:ln>
            <a:noFill/>
          </a:ln>
        </p:spPr>
        <p:txBody>
          <a:bodyPr spcFirstLastPara="1" wrap="square" lIns="91425" tIns="45700" rIns="91425" bIns="45700" anchor="t" anchorCtr="0">
            <a:spAutoFit/>
          </a:bodyPr>
          <a:lstStyle/>
          <a:p>
            <a:pPr indent="-102870">
              <a:buClr>
                <a:schemeClr val="dk2"/>
              </a:buClr>
              <a:buSzPts val="1620"/>
              <a:buFont typeface="Arial"/>
              <a:buChar char="●"/>
            </a:pPr>
            <a:r>
              <a:rPr lang="en-US">
                <a:solidFill>
                  <a:schemeClr val="dk1"/>
                </a:solidFill>
                <a:latin typeface="Helvetica Neue"/>
                <a:ea typeface="Helvetica Neue"/>
                <a:cs typeface="Helvetica Neue"/>
                <a:sym typeface="Helvetica Neue"/>
              </a:rPr>
              <a:t>   </a:t>
            </a:r>
            <a:r>
              <a:rPr lang="en-US" sz="2400">
                <a:solidFill>
                  <a:schemeClr val="dk1"/>
                </a:solidFill>
                <a:latin typeface="Helvetica Neue"/>
                <a:ea typeface="Helvetica Neue"/>
                <a:cs typeface="Helvetica Neue"/>
                <a:sym typeface="Helvetica Neue"/>
              </a:rPr>
              <a:t>Delete all accounts at branches located in Needham.</a:t>
            </a:r>
            <a:endParaRPr sz="2400">
              <a:solidFill>
                <a:schemeClr val="dk1"/>
              </a:solidFill>
              <a:latin typeface="Helvetica Neue"/>
              <a:ea typeface="Helvetica Neue"/>
              <a:cs typeface="Helvetica Neue"/>
              <a:sym typeface="Helvetica Neue"/>
            </a:endParaRPr>
          </a:p>
        </p:txBody>
      </p:sp>
      <p:grpSp>
        <p:nvGrpSpPr>
          <p:cNvPr id="1037" name="Google Shape;1037;p98"/>
          <p:cNvGrpSpPr/>
          <p:nvPr/>
        </p:nvGrpSpPr>
        <p:grpSpPr>
          <a:xfrm>
            <a:off x="2749551" y="3859214"/>
            <a:ext cx="6030913" cy="1982787"/>
            <a:chOff x="809" y="2607"/>
            <a:chExt cx="3799" cy="1249"/>
          </a:xfrm>
        </p:grpSpPr>
        <p:sp>
          <p:nvSpPr>
            <p:cNvPr id="1038" name="Google Shape;1038;p98"/>
            <p:cNvSpPr/>
            <p:nvPr/>
          </p:nvSpPr>
          <p:spPr>
            <a:xfrm rot="5400000" flipH="1">
              <a:off x="3470" y="3221"/>
              <a:ext cx="96" cy="96"/>
            </a:xfrm>
            <a:prstGeom prst="flowChartCollate">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endParaRPr>
                <a:solidFill>
                  <a:schemeClr val="dk1"/>
                </a:solidFill>
                <a:latin typeface="Times New Roman"/>
                <a:ea typeface="Times New Roman"/>
                <a:cs typeface="Times New Roman"/>
                <a:sym typeface="Times New Roman"/>
              </a:endParaRPr>
            </a:p>
          </p:txBody>
        </p:sp>
        <p:sp>
          <p:nvSpPr>
            <p:cNvPr id="1039" name="Google Shape;1039;p98"/>
            <p:cNvSpPr/>
            <p:nvPr/>
          </p:nvSpPr>
          <p:spPr>
            <a:xfrm rot="5400000" flipH="1">
              <a:off x="3428" y="2725"/>
              <a:ext cx="96" cy="96"/>
            </a:xfrm>
            <a:prstGeom prst="flowChartCollate">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endParaRPr>
                <a:solidFill>
                  <a:schemeClr val="dk1"/>
                </a:solidFill>
                <a:latin typeface="Times New Roman"/>
                <a:ea typeface="Times New Roman"/>
                <a:cs typeface="Times New Roman"/>
                <a:sym typeface="Times New Roman"/>
              </a:endParaRPr>
            </a:p>
          </p:txBody>
        </p:sp>
        <p:sp>
          <p:nvSpPr>
            <p:cNvPr id="1040" name="Google Shape;1040;p98"/>
            <p:cNvSpPr txBox="1"/>
            <p:nvPr/>
          </p:nvSpPr>
          <p:spPr>
            <a:xfrm>
              <a:off x="809" y="2607"/>
              <a:ext cx="3799" cy="1249"/>
            </a:xfrm>
            <a:prstGeom prst="rect">
              <a:avLst/>
            </a:prstGeom>
            <a:noFill/>
            <a:ln>
              <a:noFill/>
            </a:ln>
          </p:spPr>
          <p:txBody>
            <a:bodyPr spcFirstLastPara="1" wrap="square" lIns="91425" tIns="45700" rIns="91425" bIns="45700" anchor="t" anchorCtr="0">
              <a:spAutoFit/>
            </a:bodyPr>
            <a:lstStyle/>
            <a:p>
              <a:r>
                <a:rPr lang="en-US" i="1">
                  <a:solidFill>
                    <a:schemeClr val="dk1"/>
                  </a:solidFill>
                  <a:latin typeface="Helvetica Neue"/>
                  <a:ea typeface="Helvetica Neue"/>
                  <a:cs typeface="Helvetica Neue"/>
                  <a:sym typeface="Helvetica Neue"/>
                </a:rPr>
                <a:t>r</a:t>
              </a:r>
              <a:r>
                <a:rPr lang="en-US" baseline="-25000">
                  <a:solidFill>
                    <a:schemeClr val="dk1"/>
                  </a:solidFill>
                  <a:latin typeface="Helvetica Neue"/>
                  <a:ea typeface="Helvetica Neue"/>
                  <a:cs typeface="Helvetica Neue"/>
                  <a:sym typeface="Helvetica Neue"/>
                </a:rPr>
                <a:t>1</a:t>
              </a:r>
              <a:r>
                <a:rPr lang="en-US">
                  <a:solidFill>
                    <a:schemeClr val="dk1"/>
                  </a:solidFill>
                  <a:latin typeface="Helvetica Neue"/>
                  <a:ea typeface="Helvetica Neue"/>
                  <a:cs typeface="Helvetica Neue"/>
                  <a:sym typeface="Helvetica Neue"/>
                </a:rPr>
                <a:t> ← </a:t>
              </a:r>
              <a:r>
                <a:rPr lang="en-US" sz="2400">
                  <a:solidFill>
                    <a:schemeClr val="dk1"/>
                  </a:solidFill>
                  <a:latin typeface="Helvetica Neue"/>
                  <a:ea typeface="Helvetica Neue"/>
                  <a:cs typeface="Helvetica Neue"/>
                  <a:sym typeface="Helvetica Neue"/>
                </a:rPr>
                <a:t>σ</a:t>
              </a:r>
              <a:r>
                <a:rPr lang="en-US" baseline="-25000">
                  <a:solidFill>
                    <a:schemeClr val="dk1"/>
                  </a:solidFill>
                  <a:latin typeface="Helvetica Neue"/>
                  <a:ea typeface="Helvetica Neue"/>
                  <a:cs typeface="Helvetica Neue"/>
                  <a:sym typeface="Helvetica Neue"/>
                </a:rPr>
                <a:t> </a:t>
              </a:r>
              <a:r>
                <a:rPr lang="en-US" sz="2400" i="1" baseline="-25000">
                  <a:solidFill>
                    <a:schemeClr val="dk1"/>
                  </a:solidFill>
                  <a:latin typeface="Helvetica Neue"/>
                  <a:ea typeface="Helvetica Neue"/>
                  <a:cs typeface="Helvetica Neue"/>
                  <a:sym typeface="Helvetica Neue"/>
                </a:rPr>
                <a:t>branch_city = “Needham”</a:t>
              </a:r>
              <a:r>
                <a:rPr lang="en-US" sz="2000" i="1">
                  <a:solidFill>
                    <a:schemeClr val="dk1"/>
                  </a:solidFill>
                  <a:latin typeface="Helvetica Neue"/>
                  <a:ea typeface="Helvetica Neue"/>
                  <a:cs typeface="Helvetica Neue"/>
                  <a:sym typeface="Helvetica Neue"/>
                </a:rPr>
                <a:t> </a:t>
              </a:r>
              <a:r>
                <a:rPr lang="en-US">
                  <a:solidFill>
                    <a:schemeClr val="dk1"/>
                  </a:solidFill>
                  <a:latin typeface="Helvetica Neue"/>
                  <a:ea typeface="Helvetica Neue"/>
                  <a:cs typeface="Helvetica Neue"/>
                  <a:sym typeface="Helvetica Neue"/>
                </a:rPr>
                <a:t>(</a:t>
              </a:r>
              <a:r>
                <a:rPr lang="en-US" i="1">
                  <a:solidFill>
                    <a:schemeClr val="dk1"/>
                  </a:solidFill>
                  <a:latin typeface="Helvetica Neue"/>
                  <a:ea typeface="Helvetica Neue"/>
                  <a:cs typeface="Helvetica Neue"/>
                  <a:sym typeface="Helvetica Neue"/>
                </a:rPr>
                <a:t>account      branch </a:t>
              </a:r>
              <a:r>
                <a:rPr lang="en-US">
                  <a:solidFill>
                    <a:schemeClr val="dk1"/>
                  </a:solidFill>
                  <a:latin typeface="Helvetica Neue"/>
                  <a:ea typeface="Helvetica Neue"/>
                  <a:cs typeface="Helvetica Neue"/>
                  <a:sym typeface="Helvetica Neue"/>
                </a:rPr>
                <a:t>)</a:t>
              </a:r>
              <a:endParaRPr i="1">
                <a:solidFill>
                  <a:schemeClr val="dk1"/>
                </a:solidFill>
                <a:latin typeface="Helvetica Neue"/>
                <a:ea typeface="Helvetica Neue"/>
                <a:cs typeface="Helvetica Neue"/>
                <a:sym typeface="Helvetica Neue"/>
              </a:endParaRPr>
            </a:p>
            <a:p>
              <a:pPr>
                <a:spcBef>
                  <a:spcPts val="840"/>
                </a:spcBef>
              </a:pPr>
              <a:r>
                <a:rPr lang="en-US">
                  <a:solidFill>
                    <a:schemeClr val="dk1"/>
                  </a:solidFill>
                  <a:latin typeface="Helvetica Neue"/>
                  <a:ea typeface="Helvetica Neue"/>
                  <a:cs typeface="Helvetica Neue"/>
                  <a:sym typeface="Helvetica Neue"/>
                </a:rPr>
                <a:t>r</a:t>
              </a:r>
              <a:r>
                <a:rPr lang="en-US" i="1" baseline="-25000">
                  <a:solidFill>
                    <a:schemeClr val="dk1"/>
                  </a:solidFill>
                  <a:latin typeface="Helvetica Neue"/>
                  <a:ea typeface="Helvetica Neue"/>
                  <a:cs typeface="Helvetica Neue"/>
                  <a:sym typeface="Helvetica Neue"/>
                </a:rPr>
                <a:t>2 </a:t>
              </a:r>
              <a:r>
                <a:rPr lang="en-US">
                  <a:solidFill>
                    <a:schemeClr val="dk1"/>
                  </a:solidFill>
                  <a:latin typeface="Helvetica Neue"/>
                  <a:ea typeface="Helvetica Neue"/>
                  <a:cs typeface="Helvetica Neue"/>
                  <a:sym typeface="Helvetica Neue"/>
                </a:rPr>
                <a:t>← ∏</a:t>
              </a:r>
              <a:r>
                <a:rPr lang="en-US" sz="2400" i="1" baseline="-25000">
                  <a:solidFill>
                    <a:schemeClr val="dk1"/>
                  </a:solidFill>
                  <a:latin typeface="Helvetica Neue"/>
                  <a:ea typeface="Helvetica Neue"/>
                  <a:cs typeface="Helvetica Neue"/>
                  <a:sym typeface="Helvetica Neue"/>
                </a:rPr>
                <a:t>branch_name, account_number, balance</a:t>
              </a:r>
              <a:r>
                <a:rPr lang="en-US">
                  <a:solidFill>
                    <a:schemeClr val="dk1"/>
                  </a:solidFill>
                  <a:latin typeface="Helvetica Neue"/>
                  <a:ea typeface="Helvetica Neue"/>
                  <a:cs typeface="Helvetica Neue"/>
                  <a:sym typeface="Helvetica Neue"/>
                </a:rPr>
                <a:t> (</a:t>
              </a:r>
              <a:r>
                <a:rPr lang="en-US" i="1">
                  <a:solidFill>
                    <a:schemeClr val="dk1"/>
                  </a:solidFill>
                  <a:latin typeface="Helvetica Neue"/>
                  <a:ea typeface="Helvetica Neue"/>
                  <a:cs typeface="Helvetica Neue"/>
                  <a:sym typeface="Helvetica Neue"/>
                </a:rPr>
                <a:t>r</a:t>
              </a:r>
              <a:r>
                <a:rPr lang="en-US" baseline="-25000">
                  <a:solidFill>
                    <a:schemeClr val="dk1"/>
                  </a:solidFill>
                  <a:latin typeface="Helvetica Neue"/>
                  <a:ea typeface="Helvetica Neue"/>
                  <a:cs typeface="Helvetica Neue"/>
                  <a:sym typeface="Helvetica Neue"/>
                </a:rPr>
                <a:t>1</a:t>
              </a:r>
              <a:r>
                <a:rPr lang="en-US">
                  <a:solidFill>
                    <a:schemeClr val="dk1"/>
                  </a:solidFill>
                  <a:latin typeface="Helvetica Neue"/>
                  <a:ea typeface="Helvetica Neue"/>
                  <a:cs typeface="Helvetica Neue"/>
                  <a:sym typeface="Helvetica Neue"/>
                </a:rPr>
                <a:t>)</a:t>
              </a:r>
              <a:endParaRPr>
                <a:solidFill>
                  <a:schemeClr val="dk1"/>
                </a:solidFill>
                <a:latin typeface="Helvetica Neue"/>
                <a:ea typeface="Helvetica Neue"/>
                <a:cs typeface="Helvetica Neue"/>
                <a:sym typeface="Helvetica Neue"/>
              </a:endParaRPr>
            </a:p>
            <a:p>
              <a:pPr>
                <a:spcBef>
                  <a:spcPts val="840"/>
                </a:spcBef>
              </a:pPr>
              <a:r>
                <a:rPr lang="en-US" i="1">
                  <a:solidFill>
                    <a:schemeClr val="dk1"/>
                  </a:solidFill>
                  <a:latin typeface="Helvetica Neue"/>
                  <a:ea typeface="Helvetica Neue"/>
                  <a:cs typeface="Helvetica Neue"/>
                  <a:sym typeface="Helvetica Neue"/>
                </a:rPr>
                <a:t>r</a:t>
              </a:r>
              <a:r>
                <a:rPr lang="en-US" baseline="-25000">
                  <a:solidFill>
                    <a:schemeClr val="dk1"/>
                  </a:solidFill>
                  <a:latin typeface="Helvetica Neue"/>
                  <a:ea typeface="Helvetica Neue"/>
                  <a:cs typeface="Helvetica Neue"/>
                  <a:sym typeface="Helvetica Neue"/>
                </a:rPr>
                <a:t>3 </a:t>
              </a:r>
              <a:r>
                <a:rPr lang="en-US">
                  <a:solidFill>
                    <a:schemeClr val="dk1"/>
                  </a:solidFill>
                  <a:latin typeface="Helvetica Neue"/>
                  <a:ea typeface="Helvetica Neue"/>
                  <a:cs typeface="Helvetica Neue"/>
                  <a:sym typeface="Helvetica Neue"/>
                </a:rPr>
                <a:t>← ∏</a:t>
              </a:r>
              <a:r>
                <a:rPr lang="en-US" sz="1400" i="1">
                  <a:solidFill>
                    <a:schemeClr val="dk1"/>
                  </a:solidFill>
                  <a:latin typeface="Helvetica Neue"/>
                  <a:ea typeface="Helvetica Neue"/>
                  <a:cs typeface="Helvetica Neue"/>
                  <a:sym typeface="Helvetica Neue"/>
                </a:rPr>
                <a:t> </a:t>
              </a:r>
              <a:r>
                <a:rPr lang="en-US" sz="2400" i="1" baseline="-25000">
                  <a:solidFill>
                    <a:schemeClr val="dk1"/>
                  </a:solidFill>
                  <a:latin typeface="Helvetica Neue"/>
                  <a:ea typeface="Helvetica Neue"/>
                  <a:cs typeface="Helvetica Neue"/>
                  <a:sym typeface="Helvetica Neue"/>
                </a:rPr>
                <a:t>customer_name, account_number</a:t>
              </a:r>
              <a:r>
                <a:rPr lang="en-US" sz="2000">
                  <a:solidFill>
                    <a:schemeClr val="dk1"/>
                  </a:solidFill>
                  <a:latin typeface="Helvetica Neue"/>
                  <a:ea typeface="Helvetica Neue"/>
                  <a:cs typeface="Helvetica Neue"/>
                  <a:sym typeface="Helvetica Neue"/>
                </a:rPr>
                <a:t> </a:t>
              </a:r>
              <a:r>
                <a:rPr lang="en-US">
                  <a:solidFill>
                    <a:schemeClr val="dk1"/>
                  </a:solidFill>
                  <a:latin typeface="Helvetica Neue"/>
                  <a:ea typeface="Helvetica Neue"/>
                  <a:cs typeface="Helvetica Neue"/>
                  <a:sym typeface="Helvetica Neue"/>
                </a:rPr>
                <a:t>(</a:t>
              </a:r>
              <a:r>
                <a:rPr lang="en-US" i="1">
                  <a:solidFill>
                    <a:schemeClr val="dk1"/>
                  </a:solidFill>
                  <a:latin typeface="Helvetica Neue"/>
                  <a:ea typeface="Helvetica Neue"/>
                  <a:cs typeface="Helvetica Neue"/>
                  <a:sym typeface="Helvetica Neue"/>
                </a:rPr>
                <a:t>r</a:t>
              </a:r>
              <a:r>
                <a:rPr lang="en-US" baseline="-25000">
                  <a:solidFill>
                    <a:schemeClr val="dk1"/>
                  </a:solidFill>
                  <a:latin typeface="Helvetica Neue"/>
                  <a:ea typeface="Helvetica Neue"/>
                  <a:cs typeface="Helvetica Neue"/>
                  <a:sym typeface="Helvetica Neue"/>
                </a:rPr>
                <a:t>2</a:t>
              </a:r>
              <a:r>
                <a:rPr lang="en-US">
                  <a:solidFill>
                    <a:schemeClr val="dk1"/>
                  </a:solidFill>
                  <a:latin typeface="Helvetica Neue"/>
                  <a:ea typeface="Helvetica Neue"/>
                  <a:cs typeface="Helvetica Neue"/>
                  <a:sym typeface="Helvetica Neue"/>
                </a:rPr>
                <a:t>     depositor)</a:t>
              </a:r>
              <a:endParaRPr>
                <a:solidFill>
                  <a:schemeClr val="dk1"/>
                </a:solidFill>
                <a:latin typeface="Helvetica Neue"/>
                <a:ea typeface="Helvetica Neue"/>
                <a:cs typeface="Helvetica Neue"/>
                <a:sym typeface="Helvetica Neue"/>
              </a:endParaRPr>
            </a:p>
            <a:p>
              <a:pPr>
                <a:spcBef>
                  <a:spcPts val="630"/>
                </a:spcBef>
              </a:pPr>
              <a:r>
                <a:rPr lang="en-US" i="1">
                  <a:solidFill>
                    <a:schemeClr val="dk1"/>
                  </a:solidFill>
                  <a:latin typeface="Helvetica Neue"/>
                  <a:ea typeface="Helvetica Neue"/>
                  <a:cs typeface="Helvetica Neue"/>
                  <a:sym typeface="Helvetica Neue"/>
                </a:rPr>
                <a:t>account </a:t>
              </a:r>
              <a:r>
                <a:rPr lang="en-US">
                  <a:solidFill>
                    <a:schemeClr val="dk1"/>
                  </a:solidFill>
                  <a:latin typeface="Helvetica Neue"/>
                  <a:ea typeface="Helvetica Neue"/>
                  <a:cs typeface="Helvetica Neue"/>
                  <a:sym typeface="Helvetica Neue"/>
                </a:rPr>
                <a:t>← account – </a:t>
              </a:r>
              <a:r>
                <a:rPr lang="en-US" i="1">
                  <a:solidFill>
                    <a:schemeClr val="dk1"/>
                  </a:solidFill>
                  <a:latin typeface="Helvetica Neue"/>
                  <a:ea typeface="Helvetica Neue"/>
                  <a:cs typeface="Helvetica Neue"/>
                  <a:sym typeface="Helvetica Neue"/>
                </a:rPr>
                <a:t>r</a:t>
              </a:r>
              <a:r>
                <a:rPr lang="en-US" baseline="-25000">
                  <a:solidFill>
                    <a:schemeClr val="dk1"/>
                  </a:solidFill>
                  <a:latin typeface="Helvetica Neue"/>
                  <a:ea typeface="Helvetica Neue"/>
                  <a:cs typeface="Helvetica Neue"/>
                  <a:sym typeface="Helvetica Neue"/>
                </a:rPr>
                <a:t>2</a:t>
              </a:r>
              <a:endParaRPr>
                <a:solidFill>
                  <a:schemeClr val="dk1"/>
                </a:solidFill>
                <a:latin typeface="Helvetica Neue"/>
                <a:ea typeface="Helvetica Neue"/>
                <a:cs typeface="Helvetica Neue"/>
                <a:sym typeface="Helvetica Neue"/>
              </a:endParaRPr>
            </a:p>
            <a:p>
              <a:pPr>
                <a:spcBef>
                  <a:spcPts val="630"/>
                </a:spcBef>
              </a:pPr>
              <a:r>
                <a:rPr lang="en-US" i="1">
                  <a:solidFill>
                    <a:schemeClr val="dk1"/>
                  </a:solidFill>
                  <a:latin typeface="Helvetica Neue"/>
                  <a:ea typeface="Helvetica Neue"/>
                  <a:cs typeface="Helvetica Neue"/>
                  <a:sym typeface="Helvetica Neue"/>
                </a:rPr>
                <a:t>depositor </a:t>
              </a:r>
              <a:r>
                <a:rPr lang="en-US">
                  <a:solidFill>
                    <a:schemeClr val="dk1"/>
                  </a:solidFill>
                  <a:latin typeface="Helvetica Neue"/>
                  <a:ea typeface="Helvetica Neue"/>
                  <a:cs typeface="Helvetica Neue"/>
                  <a:sym typeface="Helvetica Neue"/>
                </a:rPr>
                <a:t>← depositor – </a:t>
              </a:r>
              <a:r>
                <a:rPr lang="en-US" i="1">
                  <a:solidFill>
                    <a:schemeClr val="dk1"/>
                  </a:solidFill>
                  <a:latin typeface="Helvetica Neue"/>
                  <a:ea typeface="Helvetica Neue"/>
                  <a:cs typeface="Helvetica Neue"/>
                  <a:sym typeface="Helvetica Neue"/>
                </a:rPr>
                <a:t>r</a:t>
              </a:r>
              <a:r>
                <a:rPr lang="en-US" baseline="-25000">
                  <a:solidFill>
                    <a:schemeClr val="dk1"/>
                  </a:solidFill>
                  <a:latin typeface="Helvetica Neue"/>
                  <a:ea typeface="Helvetica Neue"/>
                  <a:cs typeface="Helvetica Neue"/>
                  <a:sym typeface="Helvetica Neue"/>
                </a:rPr>
                <a:t>3</a:t>
              </a:r>
              <a:endParaRPr>
                <a:solidFill>
                  <a:schemeClr val="dk1"/>
                </a:solidFill>
                <a:latin typeface="Helvetica Neue"/>
                <a:ea typeface="Helvetica Neue"/>
                <a:cs typeface="Helvetica Neue"/>
                <a:sym typeface="Helvetica Neue"/>
              </a:endParaRPr>
            </a:p>
          </p:txBody>
        </p:sp>
      </p:grpSp>
      <p:sp>
        <p:nvSpPr>
          <p:cNvPr id="1041" name="Google Shape;1041;p98"/>
          <p:cNvSpPr txBox="1"/>
          <p:nvPr/>
        </p:nvSpPr>
        <p:spPr>
          <a:xfrm>
            <a:off x="2338389" y="2198688"/>
            <a:ext cx="8218487" cy="830956"/>
          </a:xfrm>
          <a:prstGeom prst="rect">
            <a:avLst/>
          </a:prstGeom>
          <a:noFill/>
          <a:ln>
            <a:noFill/>
          </a:ln>
        </p:spPr>
        <p:txBody>
          <a:bodyPr spcFirstLastPara="1" wrap="square" lIns="91425" tIns="45700" rIns="91425" bIns="45700" anchor="t" anchorCtr="0">
            <a:spAutoFit/>
          </a:bodyPr>
          <a:lstStyle/>
          <a:p>
            <a:pPr indent="-114300">
              <a:buClr>
                <a:schemeClr val="dk2"/>
              </a:buClr>
              <a:buSzPts val="1800"/>
              <a:buFont typeface="Helvetica Neue"/>
              <a:buChar char="•"/>
            </a:pPr>
            <a:r>
              <a:rPr lang="en-US" sz="2000">
                <a:solidFill>
                  <a:schemeClr val="dk1"/>
                </a:solidFill>
                <a:latin typeface="Helvetica Neue"/>
                <a:ea typeface="Helvetica Neue"/>
                <a:cs typeface="Helvetica Neue"/>
                <a:sym typeface="Helvetica Neue"/>
              </a:rPr>
              <a:t>  </a:t>
            </a:r>
            <a:r>
              <a:rPr lang="en-US" sz="2400">
                <a:solidFill>
                  <a:schemeClr val="dk1"/>
                </a:solidFill>
                <a:latin typeface="Helvetica Neue"/>
                <a:ea typeface="Helvetica Neue"/>
                <a:cs typeface="Helvetica Neue"/>
                <a:sym typeface="Helvetica Neue"/>
              </a:rPr>
              <a:t>Delete all loan records with amount in the range of 0 to 50</a:t>
            </a:r>
            <a:endParaRPr sz="2400">
              <a:solidFill>
                <a:schemeClr val="dk1"/>
              </a:solidFill>
              <a:latin typeface="Helvetica Neue"/>
              <a:ea typeface="Helvetica Neue"/>
              <a:cs typeface="Helvetica Neue"/>
              <a:sym typeface="Helvetica Neue"/>
            </a:endParaRPr>
          </a:p>
        </p:txBody>
      </p:sp>
      <p:sp>
        <p:nvSpPr>
          <p:cNvPr id="1042" name="Google Shape;1042;p98"/>
          <p:cNvSpPr txBox="1"/>
          <p:nvPr/>
        </p:nvSpPr>
        <p:spPr>
          <a:xfrm>
            <a:off x="2751138" y="2676525"/>
            <a:ext cx="5853112" cy="457200"/>
          </a:xfrm>
          <a:prstGeom prst="rect">
            <a:avLst/>
          </a:prstGeom>
          <a:noFill/>
          <a:ln>
            <a:noFill/>
          </a:ln>
        </p:spPr>
        <p:txBody>
          <a:bodyPr spcFirstLastPara="1" wrap="square" lIns="91425" tIns="45700" rIns="91425" bIns="45700" anchor="t" anchorCtr="0">
            <a:spAutoFit/>
          </a:bodyPr>
          <a:lstStyle/>
          <a:p>
            <a:pPr algn="ctr"/>
            <a:r>
              <a:rPr lang="en-US" sz="2000" i="1">
                <a:solidFill>
                  <a:schemeClr val="dk1"/>
                </a:solidFill>
                <a:latin typeface="Helvetica Neue"/>
                <a:ea typeface="Helvetica Neue"/>
                <a:cs typeface="Helvetica Neue"/>
                <a:sym typeface="Helvetica Neue"/>
              </a:rPr>
              <a:t>loan </a:t>
            </a:r>
            <a:r>
              <a:rPr lang="en-US" sz="2000">
                <a:solidFill>
                  <a:schemeClr val="dk1"/>
                </a:solidFill>
                <a:latin typeface="Helvetica Neue"/>
                <a:ea typeface="Helvetica Neue"/>
                <a:cs typeface="Helvetica Neue"/>
                <a:sym typeface="Helvetica Neue"/>
              </a:rPr>
              <a:t>← </a:t>
            </a:r>
            <a:r>
              <a:rPr lang="en-US" sz="2000" i="1">
                <a:solidFill>
                  <a:schemeClr val="dk1"/>
                </a:solidFill>
                <a:latin typeface="Helvetica Neue"/>
                <a:ea typeface="Helvetica Neue"/>
                <a:cs typeface="Helvetica Neue"/>
                <a:sym typeface="Helvetica Neue"/>
              </a:rPr>
              <a:t>loan</a:t>
            </a:r>
            <a:r>
              <a:rPr lang="en-US" sz="2000">
                <a:solidFill>
                  <a:schemeClr val="dk1"/>
                </a:solidFill>
                <a:latin typeface="Helvetica Neue"/>
                <a:ea typeface="Helvetica Neue"/>
                <a:cs typeface="Helvetica Neue"/>
                <a:sym typeface="Helvetica Neue"/>
              </a:rPr>
              <a:t> – </a:t>
            </a:r>
            <a:r>
              <a:rPr lang="en-US" sz="2400">
                <a:solidFill>
                  <a:schemeClr val="dk1"/>
                </a:solidFill>
                <a:latin typeface="Helvetica Neue"/>
                <a:ea typeface="Helvetica Neue"/>
                <a:cs typeface="Helvetica Neue"/>
                <a:sym typeface="Helvetica Neue"/>
              </a:rPr>
              <a:t>σ</a:t>
            </a:r>
            <a:r>
              <a:rPr lang="en-US" sz="2000">
                <a:solidFill>
                  <a:schemeClr val="dk1"/>
                </a:solidFill>
                <a:latin typeface="Helvetica Neue"/>
                <a:ea typeface="Helvetica Neue"/>
                <a:cs typeface="Helvetica Neue"/>
                <a:sym typeface="Helvetica Neue"/>
              </a:rPr>
              <a:t> </a:t>
            </a:r>
            <a:r>
              <a:rPr lang="en-US" sz="2800" i="1" baseline="-25000">
                <a:solidFill>
                  <a:schemeClr val="dk1"/>
                </a:solidFill>
                <a:latin typeface="Helvetica Neue"/>
                <a:ea typeface="Helvetica Neue"/>
                <a:cs typeface="Helvetica Neue"/>
                <a:sym typeface="Helvetica Neue"/>
              </a:rPr>
              <a:t>amount ≥ 0 and amount ≤ 50</a:t>
            </a:r>
            <a:r>
              <a:rPr lang="en-US" sz="2000">
                <a:solidFill>
                  <a:schemeClr val="dk1"/>
                </a:solidFill>
                <a:latin typeface="Helvetica Neue"/>
                <a:ea typeface="Helvetica Neue"/>
                <a:cs typeface="Helvetica Neue"/>
                <a:sym typeface="Helvetica Neue"/>
              </a:rPr>
              <a:t> (</a:t>
            </a:r>
            <a:r>
              <a:rPr lang="en-US" sz="2000" i="1">
                <a:solidFill>
                  <a:schemeClr val="dk1"/>
                </a:solidFill>
                <a:latin typeface="Helvetica Neue"/>
                <a:ea typeface="Helvetica Neue"/>
                <a:cs typeface="Helvetica Neue"/>
                <a:sym typeface="Helvetica Neue"/>
              </a:rPr>
              <a:t>loan</a:t>
            </a:r>
            <a:r>
              <a:rPr lang="en-US" sz="2000">
                <a:solidFill>
                  <a:schemeClr val="dk1"/>
                </a:solidFill>
                <a:latin typeface="Helvetica Neue"/>
                <a:ea typeface="Helvetica Neue"/>
                <a:cs typeface="Helvetica Neue"/>
                <a:sym typeface="Helvetica Neue"/>
              </a:rPr>
              <a:t>)</a:t>
            </a:r>
            <a:endParaRPr>
              <a:solidFill>
                <a:schemeClr val="dk1"/>
              </a:solidFill>
              <a:latin typeface="Helvetica Neue"/>
              <a:ea typeface="Helvetica Neue"/>
              <a:cs typeface="Helvetica Neue"/>
              <a:sym typeface="Helvetica Neue"/>
            </a:endParaRPr>
          </a:p>
        </p:txBody>
      </p:sp>
      <p:sp>
        <p:nvSpPr>
          <p:cNvPr id="1043" name="Google Shape;1043;p98"/>
          <p:cNvSpPr txBox="1"/>
          <p:nvPr/>
        </p:nvSpPr>
        <p:spPr>
          <a:xfrm>
            <a:off x="2689226" y="1431925"/>
            <a:ext cx="7121525" cy="731838"/>
          </a:xfrm>
          <a:prstGeom prst="rect">
            <a:avLst/>
          </a:prstGeom>
          <a:noFill/>
          <a:ln>
            <a:noFill/>
          </a:ln>
        </p:spPr>
        <p:txBody>
          <a:bodyPr spcFirstLastPara="1" wrap="square" lIns="91425" tIns="45700" rIns="91425" bIns="45700" anchor="t" anchorCtr="0">
            <a:spAutoFit/>
          </a:bodyPr>
          <a:lstStyle/>
          <a:p>
            <a:pPr algn="ctr"/>
            <a:r>
              <a:rPr lang="en-US" sz="2000" i="1">
                <a:solidFill>
                  <a:schemeClr val="dk1"/>
                </a:solidFill>
                <a:latin typeface="Helvetica Neue"/>
                <a:ea typeface="Helvetica Neue"/>
                <a:cs typeface="Helvetica Neue"/>
                <a:sym typeface="Helvetica Neue"/>
              </a:rPr>
              <a:t>account </a:t>
            </a:r>
            <a:r>
              <a:rPr lang="en-US" sz="2000">
                <a:solidFill>
                  <a:schemeClr val="dk1"/>
                </a:solidFill>
                <a:latin typeface="Helvetica Neue"/>
                <a:ea typeface="Helvetica Neue"/>
                <a:cs typeface="Helvetica Neue"/>
                <a:sym typeface="Helvetica Neue"/>
              </a:rPr>
              <a:t>← </a:t>
            </a:r>
            <a:r>
              <a:rPr lang="en-US" sz="2000" i="1">
                <a:solidFill>
                  <a:schemeClr val="dk1"/>
                </a:solidFill>
                <a:latin typeface="Helvetica Neue"/>
                <a:ea typeface="Helvetica Neue"/>
                <a:cs typeface="Helvetica Neue"/>
                <a:sym typeface="Helvetica Neue"/>
              </a:rPr>
              <a:t>account </a:t>
            </a:r>
            <a:r>
              <a:rPr lang="en-US" sz="2000">
                <a:solidFill>
                  <a:schemeClr val="dk1"/>
                </a:solidFill>
                <a:latin typeface="Helvetica Neue"/>
                <a:ea typeface="Helvetica Neue"/>
                <a:cs typeface="Helvetica Neue"/>
                <a:sym typeface="Helvetica Neue"/>
              </a:rPr>
              <a:t>– </a:t>
            </a:r>
            <a:r>
              <a:rPr lang="en-US" sz="2400">
                <a:solidFill>
                  <a:schemeClr val="dk1"/>
                </a:solidFill>
                <a:latin typeface="Helvetica Neue"/>
                <a:ea typeface="Helvetica Neue"/>
                <a:cs typeface="Helvetica Neue"/>
                <a:sym typeface="Helvetica Neue"/>
              </a:rPr>
              <a:t>σ </a:t>
            </a:r>
            <a:r>
              <a:rPr lang="en-US" sz="2800" i="1" baseline="-25000">
                <a:solidFill>
                  <a:schemeClr val="dk1"/>
                </a:solidFill>
                <a:latin typeface="Helvetica Neue"/>
                <a:ea typeface="Helvetica Neue"/>
                <a:cs typeface="Helvetica Neue"/>
                <a:sym typeface="Helvetica Neue"/>
              </a:rPr>
              <a:t>branch_name = “Perryridge”</a:t>
            </a:r>
            <a:r>
              <a:rPr lang="en-US" sz="2000" i="1">
                <a:solidFill>
                  <a:schemeClr val="dk1"/>
                </a:solidFill>
                <a:latin typeface="Helvetica Neue"/>
                <a:ea typeface="Helvetica Neue"/>
                <a:cs typeface="Helvetica Neue"/>
                <a:sym typeface="Helvetica Neue"/>
              </a:rPr>
              <a:t> </a:t>
            </a:r>
            <a:r>
              <a:rPr lang="en-US" sz="2000">
                <a:solidFill>
                  <a:schemeClr val="dk1"/>
                </a:solidFill>
                <a:latin typeface="Helvetica Neue"/>
                <a:ea typeface="Helvetica Neue"/>
                <a:cs typeface="Helvetica Neue"/>
                <a:sym typeface="Helvetica Neue"/>
              </a:rPr>
              <a:t>(</a:t>
            </a:r>
            <a:r>
              <a:rPr lang="en-US" sz="2000" i="1">
                <a:solidFill>
                  <a:schemeClr val="dk1"/>
                </a:solidFill>
                <a:latin typeface="Helvetica Neue"/>
                <a:ea typeface="Helvetica Neue"/>
                <a:cs typeface="Helvetica Neue"/>
                <a:sym typeface="Helvetica Neue"/>
              </a:rPr>
              <a:t>account </a:t>
            </a:r>
            <a:r>
              <a:rPr lang="en-US" sz="2000">
                <a:solidFill>
                  <a:schemeClr val="dk1"/>
                </a:solidFill>
                <a:latin typeface="Helvetica Neue"/>
                <a:ea typeface="Helvetica Neue"/>
                <a:cs typeface="Helvetica Neue"/>
                <a:sym typeface="Helvetica Neue"/>
              </a:rPr>
              <a:t>)</a:t>
            </a:r>
            <a:endParaRPr sz="2000">
              <a:solidFill>
                <a:schemeClr val="dk1"/>
              </a:solidFill>
              <a:latin typeface="Helvetica Neue"/>
              <a:ea typeface="Helvetica Neue"/>
              <a:cs typeface="Helvetica Neue"/>
              <a:sym typeface="Helvetica Neue"/>
            </a:endParaRPr>
          </a:p>
          <a:p>
            <a:pPr algn="ctr"/>
            <a:endParaRPr>
              <a:solidFill>
                <a:schemeClr val="dk1"/>
              </a:solidFill>
              <a:latin typeface="Helvetica Neue"/>
              <a:ea typeface="Helvetica Neue"/>
              <a:cs typeface="Helvetica Neue"/>
              <a:sym typeface="Helvetica Neue"/>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4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4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4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3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Shape 1047"/>
        <p:cNvGrpSpPr/>
        <p:nvPr/>
      </p:nvGrpSpPr>
      <p:grpSpPr>
        <a:xfrm>
          <a:off x="0" y="0"/>
          <a:ext cx="0" cy="0"/>
          <a:chOff x="0" y="0"/>
          <a:chExt cx="0" cy="0"/>
        </a:xfrm>
      </p:grpSpPr>
      <p:sp>
        <p:nvSpPr>
          <p:cNvPr id="1048" name="Google Shape;1048;p99"/>
          <p:cNvSpPr txBox="1">
            <a:spLocks noGrp="1"/>
          </p:cNvSpPr>
          <p:nvPr>
            <p:ph type="title"/>
          </p:nvPr>
        </p:nvSpPr>
        <p:spPr>
          <a:xfrm>
            <a:off x="2209800" y="0"/>
            <a:ext cx="7772400" cy="1143000"/>
          </a:xfrm>
          <a:prstGeom prst="rect">
            <a:avLst/>
          </a:prstGeom>
          <a:noFill/>
          <a:ln>
            <a:noFill/>
          </a:ln>
        </p:spPr>
        <p:txBody>
          <a:bodyPr spcFirstLastPara="1" vert="horz" wrap="square" lIns="91425" tIns="45700" rIns="91425" bIns="45700" rtlCol="0" anchor="ctr" anchorCtr="0">
            <a:noAutofit/>
          </a:bodyPr>
          <a:lstStyle/>
          <a:p>
            <a:pPr algn="ctr">
              <a:lnSpc>
                <a:spcPct val="100000"/>
              </a:lnSpc>
              <a:spcBef>
                <a:spcPts val="0"/>
              </a:spcBef>
              <a:buClr>
                <a:schemeClr val="dk2"/>
              </a:buClr>
              <a:buSzPts val="3200"/>
            </a:pPr>
            <a:r>
              <a:rPr lang="en-US" sz="3200"/>
              <a:t>Insertion</a:t>
            </a:r>
            <a:endParaRPr sz="3200"/>
          </a:p>
        </p:txBody>
      </p:sp>
      <p:sp>
        <p:nvSpPr>
          <p:cNvPr id="1049" name="Google Shape;1049;p99"/>
          <p:cNvSpPr txBox="1">
            <a:spLocks noGrp="1"/>
          </p:cNvSpPr>
          <p:nvPr>
            <p:ph type="body" idx="1"/>
          </p:nvPr>
        </p:nvSpPr>
        <p:spPr>
          <a:xfrm>
            <a:off x="2362200" y="914400"/>
            <a:ext cx="7848600" cy="4876800"/>
          </a:xfrm>
          <a:prstGeom prst="rect">
            <a:avLst/>
          </a:prstGeom>
          <a:noFill/>
          <a:ln>
            <a:noFill/>
          </a:ln>
        </p:spPr>
        <p:txBody>
          <a:bodyPr spcFirstLastPara="1" vert="horz" wrap="square" lIns="91425" tIns="45700" rIns="91425" bIns="45700" rtlCol="0" anchor="t" anchorCtr="0">
            <a:noAutofit/>
          </a:bodyPr>
          <a:lstStyle/>
          <a:p>
            <a:pPr marL="342900" indent="-342900">
              <a:lnSpc>
                <a:spcPct val="100000"/>
              </a:lnSpc>
              <a:spcBef>
                <a:spcPts val="0"/>
              </a:spcBef>
              <a:buClr>
                <a:schemeClr val="dk1"/>
              </a:buClr>
              <a:buSzPts val="2400"/>
              <a:buFont typeface="Arial"/>
              <a:buChar char="•"/>
            </a:pPr>
            <a:r>
              <a:rPr lang="en-US" sz="2400"/>
              <a:t>To insert data into a relation, we either:</a:t>
            </a:r>
            <a:endParaRPr sz="2400"/>
          </a:p>
          <a:p>
            <a:pPr marL="742950" lvl="1" indent="-285750">
              <a:lnSpc>
                <a:spcPct val="100000"/>
              </a:lnSpc>
              <a:spcBef>
                <a:spcPts val="480"/>
              </a:spcBef>
              <a:buClr>
                <a:schemeClr val="dk1"/>
              </a:buClr>
              <a:buSzPts val="2400"/>
              <a:buFont typeface="Arial"/>
              <a:buChar char="–"/>
            </a:pPr>
            <a:r>
              <a:rPr lang="en-US"/>
              <a:t>specify a tuple to be inserted</a:t>
            </a:r>
            <a:endParaRPr/>
          </a:p>
          <a:p>
            <a:pPr marL="742950" lvl="1" indent="-285750">
              <a:lnSpc>
                <a:spcPct val="100000"/>
              </a:lnSpc>
              <a:spcBef>
                <a:spcPts val="480"/>
              </a:spcBef>
              <a:buClr>
                <a:schemeClr val="dk1"/>
              </a:buClr>
              <a:buSzPts val="2400"/>
              <a:buFont typeface="Arial"/>
              <a:buChar char="–"/>
            </a:pPr>
            <a:r>
              <a:rPr lang="en-US"/>
              <a:t>write a query whose result is a set of tuples to be inserted</a:t>
            </a:r>
            <a:endParaRPr/>
          </a:p>
          <a:p>
            <a:pPr marL="342900" indent="-342900">
              <a:lnSpc>
                <a:spcPct val="100000"/>
              </a:lnSpc>
              <a:spcBef>
                <a:spcPts val="480"/>
              </a:spcBef>
              <a:buClr>
                <a:schemeClr val="dk1"/>
              </a:buClr>
              <a:buSzPts val="2400"/>
              <a:buFont typeface="Arial"/>
              <a:buChar char="•"/>
            </a:pPr>
            <a:r>
              <a:rPr lang="en-US" sz="2400"/>
              <a:t>in relational algebra, an insertion is expressed by:</a:t>
            </a:r>
            <a:endParaRPr sz="2400"/>
          </a:p>
          <a:p>
            <a:pPr marL="342900" indent="-342900">
              <a:lnSpc>
                <a:spcPct val="100000"/>
              </a:lnSpc>
              <a:spcBef>
                <a:spcPts val="480"/>
              </a:spcBef>
              <a:buClr>
                <a:schemeClr val="dk1"/>
              </a:buClr>
              <a:buSzPts val="2400"/>
              <a:buNone/>
            </a:pPr>
            <a:r>
              <a:rPr lang="en-US" sz="2400"/>
              <a:t>		</a:t>
            </a:r>
            <a:r>
              <a:rPr lang="en-US" sz="2400" i="1"/>
              <a:t>r </a:t>
            </a:r>
            <a:r>
              <a:rPr lang="en-US" sz="2400"/>
              <a:t>← </a:t>
            </a:r>
            <a:r>
              <a:rPr lang="en-US" sz="2400" i="1"/>
              <a:t> r</a:t>
            </a:r>
            <a:r>
              <a:rPr lang="en-US" sz="2400"/>
              <a:t>  ∪  </a:t>
            </a:r>
            <a:r>
              <a:rPr lang="en-US" sz="2400" i="1"/>
              <a:t>E</a:t>
            </a:r>
            <a:endParaRPr sz="2400"/>
          </a:p>
          <a:p>
            <a:pPr marL="342900" indent="-342900">
              <a:lnSpc>
                <a:spcPct val="100000"/>
              </a:lnSpc>
              <a:spcBef>
                <a:spcPts val="480"/>
              </a:spcBef>
              <a:buClr>
                <a:schemeClr val="dk1"/>
              </a:buClr>
              <a:buSzPts val="2400"/>
              <a:buNone/>
            </a:pPr>
            <a:r>
              <a:rPr lang="en-US" sz="2400"/>
              <a:t>	where </a:t>
            </a:r>
            <a:r>
              <a:rPr lang="en-US" sz="2400" i="1"/>
              <a:t>r</a:t>
            </a:r>
            <a:r>
              <a:rPr lang="en-US" sz="2400"/>
              <a:t> is a relation and </a:t>
            </a:r>
            <a:r>
              <a:rPr lang="en-US" sz="2400" i="1"/>
              <a:t>E</a:t>
            </a:r>
            <a:r>
              <a:rPr lang="en-US" sz="2400"/>
              <a:t> is a relational algebra expression.</a:t>
            </a:r>
            <a:endParaRPr sz="2400"/>
          </a:p>
          <a:p>
            <a:pPr marL="342900" indent="-342900">
              <a:lnSpc>
                <a:spcPct val="100000"/>
              </a:lnSpc>
              <a:spcBef>
                <a:spcPts val="480"/>
              </a:spcBef>
              <a:buClr>
                <a:schemeClr val="dk1"/>
              </a:buClr>
              <a:buSzPts val="2400"/>
              <a:buFont typeface="Arial"/>
              <a:buChar char="•"/>
            </a:pPr>
            <a:r>
              <a:rPr lang="en-US" sz="2400"/>
              <a:t>The insertion of a single tuple is expressed by letting </a:t>
            </a:r>
            <a:r>
              <a:rPr lang="en-US" sz="2400" i="1"/>
              <a:t>E</a:t>
            </a:r>
            <a:r>
              <a:rPr lang="en-US" sz="2400"/>
              <a:t>  be a constant relation containing one tuple. </a:t>
            </a:r>
            <a:endParaRPr sz="240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Shape 1053"/>
        <p:cNvGrpSpPr/>
        <p:nvPr/>
      </p:nvGrpSpPr>
      <p:grpSpPr>
        <a:xfrm>
          <a:off x="0" y="0"/>
          <a:ext cx="0" cy="0"/>
          <a:chOff x="0" y="0"/>
          <a:chExt cx="0" cy="0"/>
        </a:xfrm>
      </p:grpSpPr>
      <p:sp>
        <p:nvSpPr>
          <p:cNvPr id="1054" name="Google Shape;1054;p100"/>
          <p:cNvSpPr txBox="1">
            <a:spLocks noGrp="1"/>
          </p:cNvSpPr>
          <p:nvPr>
            <p:ph type="title"/>
          </p:nvPr>
        </p:nvSpPr>
        <p:spPr>
          <a:xfrm>
            <a:off x="2209800" y="152400"/>
            <a:ext cx="7772400" cy="1143000"/>
          </a:xfrm>
          <a:prstGeom prst="rect">
            <a:avLst/>
          </a:prstGeom>
          <a:noFill/>
          <a:ln>
            <a:noFill/>
          </a:ln>
        </p:spPr>
        <p:txBody>
          <a:bodyPr spcFirstLastPara="1" vert="horz" wrap="square" lIns="91425" tIns="45700" rIns="91425" bIns="45700" rtlCol="0" anchor="ctr" anchorCtr="0">
            <a:noAutofit/>
          </a:bodyPr>
          <a:lstStyle/>
          <a:p>
            <a:pPr algn="ctr">
              <a:lnSpc>
                <a:spcPct val="100000"/>
              </a:lnSpc>
              <a:spcBef>
                <a:spcPts val="0"/>
              </a:spcBef>
              <a:buClr>
                <a:schemeClr val="dk2"/>
              </a:buClr>
              <a:buSzPts val="3200"/>
            </a:pPr>
            <a:r>
              <a:rPr lang="en-US" sz="3200"/>
              <a:t>Insertion Examples</a:t>
            </a:r>
            <a:endParaRPr sz="3200"/>
          </a:p>
        </p:txBody>
      </p:sp>
      <p:sp>
        <p:nvSpPr>
          <p:cNvPr id="1055" name="Google Shape;1055;p100"/>
          <p:cNvSpPr txBox="1">
            <a:spLocks noGrp="1"/>
          </p:cNvSpPr>
          <p:nvPr>
            <p:ph type="body" idx="1"/>
          </p:nvPr>
        </p:nvSpPr>
        <p:spPr>
          <a:xfrm>
            <a:off x="2362201" y="1219201"/>
            <a:ext cx="7661275" cy="714375"/>
          </a:xfrm>
          <a:prstGeom prst="rect">
            <a:avLst/>
          </a:prstGeom>
          <a:noFill/>
          <a:ln>
            <a:noFill/>
          </a:ln>
        </p:spPr>
        <p:txBody>
          <a:bodyPr spcFirstLastPara="1" vert="horz" wrap="square" lIns="91425" tIns="45700" rIns="91425" bIns="45700" rtlCol="0" anchor="t" anchorCtr="0">
            <a:noAutofit/>
          </a:bodyPr>
          <a:lstStyle/>
          <a:p>
            <a:pPr marL="342900" indent="-342900">
              <a:lnSpc>
                <a:spcPct val="100000"/>
              </a:lnSpc>
              <a:spcBef>
                <a:spcPts val="0"/>
              </a:spcBef>
              <a:buClr>
                <a:schemeClr val="dk1"/>
              </a:buClr>
              <a:buSzPts val="2400"/>
              <a:buFont typeface="Arial"/>
              <a:buChar char="•"/>
            </a:pPr>
            <a:r>
              <a:rPr lang="en-US" sz="2400"/>
              <a:t>Insert information in the database specifying that Smith has $1200 in account A-973 at the Perryridge branch.</a:t>
            </a:r>
            <a:endParaRPr sz="2400"/>
          </a:p>
        </p:txBody>
      </p:sp>
      <p:sp>
        <p:nvSpPr>
          <p:cNvPr id="1056" name="Google Shape;1056;p100"/>
          <p:cNvSpPr txBox="1"/>
          <p:nvPr/>
        </p:nvSpPr>
        <p:spPr>
          <a:xfrm>
            <a:off x="2320926" y="3289301"/>
            <a:ext cx="7432675" cy="1006475"/>
          </a:xfrm>
          <a:prstGeom prst="rect">
            <a:avLst/>
          </a:prstGeom>
          <a:noFill/>
          <a:ln>
            <a:noFill/>
          </a:ln>
        </p:spPr>
        <p:txBody>
          <a:bodyPr spcFirstLastPara="1" wrap="square" lIns="91425" tIns="45700" rIns="91425" bIns="45700" anchor="t" anchorCtr="0">
            <a:spAutoFit/>
          </a:bodyPr>
          <a:lstStyle/>
          <a:p>
            <a:pPr indent="-102870">
              <a:buClr>
                <a:schemeClr val="dk2"/>
              </a:buClr>
              <a:buSzPts val="1620"/>
              <a:buFont typeface="Arial"/>
              <a:buChar char="●"/>
            </a:pPr>
            <a:r>
              <a:rPr lang="en-US">
                <a:solidFill>
                  <a:schemeClr val="dk1"/>
                </a:solidFill>
                <a:latin typeface="Helvetica Neue"/>
                <a:ea typeface="Helvetica Neue"/>
                <a:cs typeface="Helvetica Neue"/>
                <a:sym typeface="Helvetica Neue"/>
              </a:rPr>
              <a:t>  </a:t>
            </a:r>
            <a:r>
              <a:rPr lang="en-US" sz="2000">
                <a:solidFill>
                  <a:schemeClr val="dk1"/>
                </a:solidFill>
                <a:latin typeface="Helvetica Neue"/>
                <a:ea typeface="Helvetica Neue"/>
                <a:cs typeface="Helvetica Neue"/>
                <a:sym typeface="Helvetica Neue"/>
              </a:rPr>
              <a:t>Provide as a gift for all loan customers in the Perryridge</a:t>
            </a:r>
            <a:br>
              <a:rPr lang="en-US" sz="2000">
                <a:solidFill>
                  <a:schemeClr val="dk1"/>
                </a:solidFill>
                <a:latin typeface="Helvetica Neue"/>
                <a:ea typeface="Helvetica Neue"/>
                <a:cs typeface="Helvetica Neue"/>
                <a:sym typeface="Helvetica Neue"/>
              </a:rPr>
            </a:br>
            <a:r>
              <a:rPr lang="en-US" sz="2000">
                <a:solidFill>
                  <a:schemeClr val="dk1"/>
                </a:solidFill>
                <a:latin typeface="Helvetica Neue"/>
                <a:ea typeface="Helvetica Neue"/>
                <a:cs typeface="Helvetica Neue"/>
                <a:sym typeface="Helvetica Neue"/>
              </a:rPr>
              <a:t>     branch, a $200 savings account.  Let the loan number serve</a:t>
            </a:r>
            <a:br>
              <a:rPr lang="en-US" sz="2000">
                <a:solidFill>
                  <a:schemeClr val="dk1"/>
                </a:solidFill>
                <a:latin typeface="Helvetica Neue"/>
                <a:ea typeface="Helvetica Neue"/>
                <a:cs typeface="Helvetica Neue"/>
                <a:sym typeface="Helvetica Neue"/>
              </a:rPr>
            </a:br>
            <a:r>
              <a:rPr lang="en-US" sz="2000">
                <a:solidFill>
                  <a:schemeClr val="dk1"/>
                </a:solidFill>
                <a:latin typeface="Helvetica Neue"/>
                <a:ea typeface="Helvetica Neue"/>
                <a:cs typeface="Helvetica Neue"/>
                <a:sym typeface="Helvetica Neue"/>
              </a:rPr>
              <a:t>     as the account number for the new savings account.</a:t>
            </a:r>
            <a:endParaRPr sz="2000" i="1">
              <a:solidFill>
                <a:schemeClr val="dk1"/>
              </a:solidFill>
              <a:latin typeface="Helvetica Neue"/>
              <a:ea typeface="Helvetica Neue"/>
              <a:cs typeface="Helvetica Neue"/>
              <a:sym typeface="Helvetica Neue"/>
            </a:endParaRPr>
          </a:p>
        </p:txBody>
      </p:sp>
      <p:sp>
        <p:nvSpPr>
          <p:cNvPr id="1057" name="Google Shape;1057;p100"/>
          <p:cNvSpPr txBox="1"/>
          <p:nvPr/>
        </p:nvSpPr>
        <p:spPr>
          <a:xfrm>
            <a:off x="2895600" y="2438400"/>
            <a:ext cx="6096000" cy="808038"/>
          </a:xfrm>
          <a:prstGeom prst="rect">
            <a:avLst/>
          </a:prstGeom>
          <a:noFill/>
          <a:ln>
            <a:noFill/>
          </a:ln>
        </p:spPr>
        <p:txBody>
          <a:bodyPr spcFirstLastPara="1" wrap="square" lIns="91425" tIns="45700" rIns="91425" bIns="45700" anchor="t" anchorCtr="0">
            <a:spAutoFit/>
          </a:bodyPr>
          <a:lstStyle/>
          <a:p>
            <a:r>
              <a:rPr lang="en-US" sz="2000" i="1">
                <a:solidFill>
                  <a:schemeClr val="dk1"/>
                </a:solidFill>
                <a:latin typeface="Helvetica Neue"/>
                <a:ea typeface="Helvetica Neue"/>
                <a:cs typeface="Helvetica Neue"/>
                <a:sym typeface="Helvetica Neue"/>
              </a:rPr>
              <a:t>account </a:t>
            </a:r>
            <a:r>
              <a:rPr lang="en-US" sz="2000">
                <a:solidFill>
                  <a:schemeClr val="dk1"/>
                </a:solidFill>
                <a:latin typeface="Helvetica Neue"/>
                <a:ea typeface="Helvetica Neue"/>
                <a:cs typeface="Helvetica Neue"/>
                <a:sym typeface="Helvetica Neue"/>
              </a:rPr>
              <a:t>← </a:t>
            </a:r>
            <a:r>
              <a:rPr lang="en-US" sz="2000" i="1">
                <a:solidFill>
                  <a:schemeClr val="dk1"/>
                </a:solidFill>
                <a:latin typeface="Helvetica Neue"/>
                <a:ea typeface="Helvetica Neue"/>
                <a:cs typeface="Helvetica Neue"/>
                <a:sym typeface="Helvetica Neue"/>
              </a:rPr>
              <a:t> account</a:t>
            </a:r>
            <a:r>
              <a:rPr lang="en-US" sz="2000">
                <a:solidFill>
                  <a:schemeClr val="dk1"/>
                </a:solidFill>
                <a:latin typeface="Helvetica Neue"/>
                <a:ea typeface="Helvetica Neue"/>
                <a:cs typeface="Helvetica Neue"/>
                <a:sym typeface="Helvetica Neue"/>
              </a:rPr>
              <a:t>  ∪  {(“Perryridge”, A-973, 1200)}</a:t>
            </a:r>
            <a:endParaRPr sz="2000">
              <a:solidFill>
                <a:schemeClr val="dk1"/>
              </a:solidFill>
              <a:latin typeface="Helvetica Neue"/>
              <a:ea typeface="Helvetica Neue"/>
              <a:cs typeface="Helvetica Neue"/>
              <a:sym typeface="Helvetica Neue"/>
            </a:endParaRPr>
          </a:p>
          <a:p>
            <a:pPr>
              <a:spcBef>
                <a:spcPts val="700"/>
              </a:spcBef>
            </a:pPr>
            <a:r>
              <a:rPr lang="en-US" sz="2000">
                <a:solidFill>
                  <a:schemeClr val="dk1"/>
                </a:solidFill>
                <a:latin typeface="Helvetica Neue"/>
                <a:ea typeface="Helvetica Neue"/>
                <a:cs typeface="Helvetica Neue"/>
                <a:sym typeface="Helvetica Neue"/>
              </a:rPr>
              <a:t>depositor ← </a:t>
            </a:r>
            <a:r>
              <a:rPr lang="en-US" sz="2000" i="1">
                <a:solidFill>
                  <a:schemeClr val="dk1"/>
                </a:solidFill>
                <a:latin typeface="Helvetica Neue"/>
                <a:ea typeface="Helvetica Neue"/>
                <a:cs typeface="Helvetica Neue"/>
                <a:sym typeface="Helvetica Neue"/>
              </a:rPr>
              <a:t> depositor</a:t>
            </a:r>
            <a:r>
              <a:rPr lang="en-US" sz="2000">
                <a:solidFill>
                  <a:schemeClr val="dk1"/>
                </a:solidFill>
                <a:latin typeface="Helvetica Neue"/>
                <a:ea typeface="Helvetica Neue"/>
                <a:cs typeface="Helvetica Neue"/>
                <a:sym typeface="Helvetica Neue"/>
              </a:rPr>
              <a:t>  ∪  {(“Smith”, A-973)}</a:t>
            </a:r>
            <a:endParaRPr i="1">
              <a:solidFill>
                <a:schemeClr val="dk1"/>
              </a:solidFill>
              <a:latin typeface="Helvetica Neue"/>
              <a:ea typeface="Helvetica Neue"/>
              <a:cs typeface="Helvetica Neue"/>
              <a:sym typeface="Helvetica Neue"/>
            </a:endParaRPr>
          </a:p>
        </p:txBody>
      </p:sp>
      <p:grpSp>
        <p:nvGrpSpPr>
          <p:cNvPr id="1058" name="Google Shape;1058;p100"/>
          <p:cNvGrpSpPr/>
          <p:nvPr/>
        </p:nvGrpSpPr>
        <p:grpSpPr>
          <a:xfrm>
            <a:off x="2892426" y="4376740"/>
            <a:ext cx="5840413" cy="1503363"/>
            <a:chOff x="622" y="2797"/>
            <a:chExt cx="3679" cy="947"/>
          </a:xfrm>
        </p:grpSpPr>
        <p:sp>
          <p:nvSpPr>
            <p:cNvPr id="1059" name="Google Shape;1059;p100"/>
            <p:cNvSpPr/>
            <p:nvPr/>
          </p:nvSpPr>
          <p:spPr>
            <a:xfrm rot="5400000" flipH="1">
              <a:off x="3221" y="2892"/>
              <a:ext cx="88" cy="96"/>
            </a:xfrm>
            <a:prstGeom prst="flowChartCollate">
              <a:avLst/>
            </a:pr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endParaRPr>
                <a:solidFill>
                  <a:schemeClr val="dk1"/>
                </a:solidFill>
                <a:latin typeface="Times New Roman"/>
                <a:ea typeface="Times New Roman"/>
                <a:cs typeface="Times New Roman"/>
                <a:sym typeface="Times New Roman"/>
              </a:endParaRPr>
            </a:p>
          </p:txBody>
        </p:sp>
        <p:sp>
          <p:nvSpPr>
            <p:cNvPr id="1060" name="Google Shape;1060;p100"/>
            <p:cNvSpPr txBox="1"/>
            <p:nvPr/>
          </p:nvSpPr>
          <p:spPr>
            <a:xfrm>
              <a:off x="622" y="2797"/>
              <a:ext cx="3679" cy="947"/>
            </a:xfrm>
            <a:prstGeom prst="rect">
              <a:avLst/>
            </a:prstGeom>
            <a:noFill/>
            <a:ln>
              <a:noFill/>
            </a:ln>
          </p:spPr>
          <p:txBody>
            <a:bodyPr spcFirstLastPara="1" wrap="square" lIns="91425" tIns="45700" rIns="91425" bIns="45700" anchor="t" anchorCtr="0">
              <a:spAutoFit/>
            </a:bodyPr>
            <a:lstStyle/>
            <a:p>
              <a:r>
                <a:rPr lang="en-US" sz="2000" i="1">
                  <a:solidFill>
                    <a:schemeClr val="dk1"/>
                  </a:solidFill>
                  <a:latin typeface="Helvetica Neue"/>
                  <a:ea typeface="Helvetica Neue"/>
                  <a:cs typeface="Helvetica Neue"/>
                  <a:sym typeface="Helvetica Neue"/>
                </a:rPr>
                <a:t>r</a:t>
              </a:r>
              <a:r>
                <a:rPr lang="en-US" sz="2000" baseline="-25000">
                  <a:solidFill>
                    <a:schemeClr val="dk1"/>
                  </a:solidFill>
                  <a:latin typeface="Helvetica Neue"/>
                  <a:ea typeface="Helvetica Neue"/>
                  <a:cs typeface="Helvetica Neue"/>
                  <a:sym typeface="Helvetica Neue"/>
                </a:rPr>
                <a:t>1</a:t>
              </a:r>
              <a:r>
                <a:rPr lang="en-US" sz="2000">
                  <a:solidFill>
                    <a:schemeClr val="dk1"/>
                  </a:solidFill>
                  <a:latin typeface="Helvetica Neue"/>
                  <a:ea typeface="Helvetica Neue"/>
                  <a:cs typeface="Helvetica Neue"/>
                  <a:sym typeface="Helvetica Neue"/>
                </a:rPr>
                <a:t> ← (σ</a:t>
              </a:r>
              <a:r>
                <a:rPr lang="en-US" sz="2000" i="1" baseline="-25000">
                  <a:solidFill>
                    <a:schemeClr val="dk1"/>
                  </a:solidFill>
                  <a:latin typeface="Helvetica Neue"/>
                  <a:ea typeface="Helvetica Neue"/>
                  <a:cs typeface="Helvetica Neue"/>
                  <a:sym typeface="Helvetica Neue"/>
                </a:rPr>
                <a:t>branch_name = “Perryridge” </a:t>
              </a:r>
              <a:r>
                <a:rPr lang="en-US" sz="2000">
                  <a:solidFill>
                    <a:schemeClr val="dk1"/>
                  </a:solidFill>
                  <a:latin typeface="Helvetica Neue"/>
                  <a:ea typeface="Helvetica Neue"/>
                  <a:cs typeface="Helvetica Neue"/>
                  <a:sym typeface="Helvetica Neue"/>
                </a:rPr>
                <a:t>(</a:t>
              </a:r>
              <a:r>
                <a:rPr lang="en-US" sz="2000" i="1">
                  <a:solidFill>
                    <a:schemeClr val="dk1"/>
                  </a:solidFill>
                  <a:latin typeface="Helvetica Neue"/>
                  <a:ea typeface="Helvetica Neue"/>
                  <a:cs typeface="Helvetica Neue"/>
                  <a:sym typeface="Helvetica Neue"/>
                </a:rPr>
                <a:t>borrower    </a:t>
              </a:r>
              <a:r>
                <a:rPr lang="en-US" sz="2000">
                  <a:solidFill>
                    <a:schemeClr val="dk1"/>
                  </a:solidFill>
                  <a:latin typeface="Helvetica Neue"/>
                  <a:ea typeface="Helvetica Neue"/>
                  <a:cs typeface="Helvetica Neue"/>
                  <a:sym typeface="Helvetica Neue"/>
                </a:rPr>
                <a:t>loan))</a:t>
              </a:r>
              <a:endParaRPr sz="2000">
                <a:solidFill>
                  <a:schemeClr val="dk1"/>
                </a:solidFill>
                <a:latin typeface="Helvetica Neue"/>
                <a:ea typeface="Helvetica Neue"/>
                <a:cs typeface="Helvetica Neue"/>
                <a:sym typeface="Helvetica Neue"/>
              </a:endParaRPr>
            </a:p>
            <a:p>
              <a:pPr>
                <a:spcBef>
                  <a:spcPts val="700"/>
                </a:spcBef>
              </a:pPr>
              <a:r>
                <a:rPr lang="en-US" sz="2000" i="1">
                  <a:solidFill>
                    <a:schemeClr val="dk1"/>
                  </a:solidFill>
                  <a:latin typeface="Helvetica Neue"/>
                  <a:ea typeface="Helvetica Neue"/>
                  <a:cs typeface="Helvetica Neue"/>
                  <a:sym typeface="Helvetica Neue"/>
                </a:rPr>
                <a:t>account </a:t>
              </a:r>
              <a:r>
                <a:rPr lang="en-US" sz="2000">
                  <a:solidFill>
                    <a:schemeClr val="dk1"/>
                  </a:solidFill>
                  <a:latin typeface="Helvetica Neue"/>
                  <a:ea typeface="Helvetica Neue"/>
                  <a:cs typeface="Helvetica Neue"/>
                  <a:sym typeface="Helvetica Neue"/>
                </a:rPr>
                <a:t>← </a:t>
              </a:r>
              <a:r>
                <a:rPr lang="en-US" sz="2000" i="1">
                  <a:solidFill>
                    <a:schemeClr val="dk1"/>
                  </a:solidFill>
                  <a:latin typeface="Helvetica Neue"/>
                  <a:ea typeface="Helvetica Neue"/>
                  <a:cs typeface="Helvetica Neue"/>
                  <a:sym typeface="Helvetica Neue"/>
                </a:rPr>
                <a:t>account</a:t>
              </a:r>
              <a:r>
                <a:rPr lang="en-US" sz="2000">
                  <a:solidFill>
                    <a:schemeClr val="dk1"/>
                  </a:solidFill>
                  <a:latin typeface="Helvetica Neue"/>
                  <a:ea typeface="Helvetica Neue"/>
                  <a:cs typeface="Helvetica Neue"/>
                  <a:sym typeface="Helvetica Neue"/>
                </a:rPr>
                <a:t> ∪ ∏</a:t>
              </a:r>
              <a:r>
                <a:rPr lang="en-US" sz="2000" i="1" baseline="-25000">
                  <a:solidFill>
                    <a:schemeClr val="dk1"/>
                  </a:solidFill>
                  <a:latin typeface="Helvetica Neue"/>
                  <a:ea typeface="Helvetica Neue"/>
                  <a:cs typeface="Helvetica Neue"/>
                  <a:sym typeface="Helvetica Neue"/>
                </a:rPr>
                <a:t>branch_name, loan_number,200</a:t>
              </a:r>
              <a:r>
                <a:rPr lang="en-US" sz="1600" i="1">
                  <a:solidFill>
                    <a:schemeClr val="dk1"/>
                  </a:solidFill>
                  <a:latin typeface="Helvetica Neue"/>
                  <a:ea typeface="Helvetica Neue"/>
                  <a:cs typeface="Helvetica Neue"/>
                  <a:sym typeface="Helvetica Neue"/>
                </a:rPr>
                <a:t> </a:t>
              </a:r>
              <a:r>
                <a:rPr lang="en-US" sz="2000">
                  <a:solidFill>
                    <a:schemeClr val="dk1"/>
                  </a:solidFill>
                  <a:latin typeface="Helvetica Neue"/>
                  <a:ea typeface="Helvetica Neue"/>
                  <a:cs typeface="Helvetica Neue"/>
                  <a:sym typeface="Helvetica Neue"/>
                </a:rPr>
                <a:t>(</a:t>
              </a:r>
              <a:r>
                <a:rPr lang="en-US" sz="2000" i="1">
                  <a:solidFill>
                    <a:schemeClr val="dk1"/>
                  </a:solidFill>
                  <a:latin typeface="Helvetica Neue"/>
                  <a:ea typeface="Helvetica Neue"/>
                  <a:cs typeface="Helvetica Neue"/>
                  <a:sym typeface="Helvetica Neue"/>
                </a:rPr>
                <a:t>r</a:t>
              </a:r>
              <a:r>
                <a:rPr lang="en-US" sz="2000" baseline="-25000">
                  <a:solidFill>
                    <a:schemeClr val="dk1"/>
                  </a:solidFill>
                  <a:latin typeface="Helvetica Neue"/>
                  <a:ea typeface="Helvetica Neue"/>
                  <a:cs typeface="Helvetica Neue"/>
                  <a:sym typeface="Helvetica Neue"/>
                </a:rPr>
                <a:t>1</a:t>
              </a:r>
              <a:r>
                <a:rPr lang="en-US" sz="2000">
                  <a:solidFill>
                    <a:schemeClr val="dk1"/>
                  </a:solidFill>
                  <a:latin typeface="Helvetica Neue"/>
                  <a:ea typeface="Helvetica Neue"/>
                  <a:cs typeface="Helvetica Neue"/>
                  <a:sym typeface="Helvetica Neue"/>
                </a:rPr>
                <a:t>)</a:t>
              </a:r>
              <a:endParaRPr sz="2000">
                <a:solidFill>
                  <a:schemeClr val="dk1"/>
                </a:solidFill>
                <a:latin typeface="Helvetica Neue"/>
                <a:ea typeface="Helvetica Neue"/>
                <a:cs typeface="Helvetica Neue"/>
                <a:sym typeface="Helvetica Neue"/>
              </a:endParaRPr>
            </a:p>
            <a:p>
              <a:pPr>
                <a:spcBef>
                  <a:spcPts val="700"/>
                </a:spcBef>
              </a:pPr>
              <a:r>
                <a:rPr lang="en-US" sz="2000">
                  <a:solidFill>
                    <a:schemeClr val="dk1"/>
                  </a:solidFill>
                  <a:latin typeface="Helvetica Neue"/>
                  <a:ea typeface="Helvetica Neue"/>
                  <a:cs typeface="Helvetica Neue"/>
                  <a:sym typeface="Helvetica Neue"/>
                </a:rPr>
                <a:t>depositor ← </a:t>
              </a:r>
              <a:r>
                <a:rPr lang="en-US" sz="2000" i="1">
                  <a:solidFill>
                    <a:schemeClr val="dk1"/>
                  </a:solidFill>
                  <a:latin typeface="Helvetica Neue"/>
                  <a:ea typeface="Helvetica Neue"/>
                  <a:cs typeface="Helvetica Neue"/>
                  <a:sym typeface="Helvetica Neue"/>
                </a:rPr>
                <a:t>depositor </a:t>
              </a:r>
              <a:r>
                <a:rPr lang="en-US" sz="2000">
                  <a:solidFill>
                    <a:schemeClr val="dk1"/>
                  </a:solidFill>
                  <a:latin typeface="Helvetica Neue"/>
                  <a:ea typeface="Helvetica Neue"/>
                  <a:cs typeface="Helvetica Neue"/>
                  <a:sym typeface="Helvetica Neue"/>
                </a:rPr>
                <a:t>∪ ∏</a:t>
              </a:r>
              <a:r>
                <a:rPr lang="en-US" sz="2000" i="1" baseline="-25000">
                  <a:solidFill>
                    <a:schemeClr val="dk1"/>
                  </a:solidFill>
                  <a:latin typeface="Helvetica Neue"/>
                  <a:ea typeface="Helvetica Neue"/>
                  <a:cs typeface="Helvetica Neue"/>
                  <a:sym typeface="Helvetica Neue"/>
                </a:rPr>
                <a:t>customer_name, loan_number </a:t>
              </a:r>
              <a:r>
                <a:rPr lang="en-US" sz="2000">
                  <a:solidFill>
                    <a:schemeClr val="dk1"/>
                  </a:solidFill>
                  <a:latin typeface="Helvetica Neue"/>
                  <a:ea typeface="Helvetica Neue"/>
                  <a:cs typeface="Helvetica Neue"/>
                  <a:sym typeface="Helvetica Neue"/>
                </a:rPr>
                <a:t>(</a:t>
              </a:r>
              <a:r>
                <a:rPr lang="en-US" sz="2000" i="1">
                  <a:solidFill>
                    <a:schemeClr val="dk1"/>
                  </a:solidFill>
                  <a:latin typeface="Helvetica Neue"/>
                  <a:ea typeface="Helvetica Neue"/>
                  <a:cs typeface="Helvetica Neue"/>
                  <a:sym typeface="Helvetica Neue"/>
                </a:rPr>
                <a:t>r</a:t>
              </a:r>
              <a:r>
                <a:rPr lang="en-US" sz="2000" baseline="-25000">
                  <a:solidFill>
                    <a:schemeClr val="dk1"/>
                  </a:solidFill>
                  <a:latin typeface="Helvetica Neue"/>
                  <a:ea typeface="Helvetica Neue"/>
                  <a:cs typeface="Helvetica Neue"/>
                  <a:sym typeface="Helvetica Neue"/>
                </a:rPr>
                <a:t>1</a:t>
              </a:r>
              <a:r>
                <a:rPr lang="en-US" sz="2000">
                  <a:solidFill>
                    <a:schemeClr val="dk1"/>
                  </a:solidFill>
                  <a:latin typeface="Helvetica Neue"/>
                  <a:ea typeface="Helvetica Neue"/>
                  <a:cs typeface="Helvetica Neue"/>
                  <a:sym typeface="Helvetica Neue"/>
                </a:rPr>
                <a:t>)</a:t>
              </a:r>
              <a:endParaRPr i="1">
                <a:solidFill>
                  <a:schemeClr val="dk1"/>
                </a:solidFill>
                <a:latin typeface="Helvetica Neue"/>
                <a:ea typeface="Helvetica Neue"/>
                <a:cs typeface="Helvetica Neue"/>
                <a:sym typeface="Helvetica Neue"/>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5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5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Shape 1064"/>
        <p:cNvGrpSpPr/>
        <p:nvPr/>
      </p:nvGrpSpPr>
      <p:grpSpPr>
        <a:xfrm>
          <a:off x="0" y="0"/>
          <a:ext cx="0" cy="0"/>
          <a:chOff x="0" y="0"/>
          <a:chExt cx="0" cy="0"/>
        </a:xfrm>
      </p:grpSpPr>
      <p:sp>
        <p:nvSpPr>
          <p:cNvPr id="1065" name="Google Shape;1065;p101"/>
          <p:cNvSpPr txBox="1">
            <a:spLocks noGrp="1"/>
          </p:cNvSpPr>
          <p:nvPr>
            <p:ph type="title"/>
          </p:nvPr>
        </p:nvSpPr>
        <p:spPr>
          <a:xfrm>
            <a:off x="2133600" y="152400"/>
            <a:ext cx="7772400" cy="1143000"/>
          </a:xfrm>
          <a:prstGeom prst="rect">
            <a:avLst/>
          </a:prstGeom>
          <a:noFill/>
          <a:ln>
            <a:noFill/>
          </a:ln>
        </p:spPr>
        <p:txBody>
          <a:bodyPr spcFirstLastPara="1" vert="horz" wrap="square" lIns="91425" tIns="45700" rIns="91425" bIns="45700" rtlCol="0" anchor="ctr" anchorCtr="0">
            <a:noAutofit/>
          </a:bodyPr>
          <a:lstStyle/>
          <a:p>
            <a:pPr algn="ctr">
              <a:lnSpc>
                <a:spcPct val="100000"/>
              </a:lnSpc>
              <a:spcBef>
                <a:spcPts val="0"/>
              </a:spcBef>
              <a:buClr>
                <a:schemeClr val="dk2"/>
              </a:buClr>
              <a:buSzPts val="3200"/>
            </a:pPr>
            <a:r>
              <a:rPr lang="en-US" sz="3200"/>
              <a:t>Updating</a:t>
            </a:r>
            <a:endParaRPr sz="3200"/>
          </a:p>
        </p:txBody>
      </p:sp>
      <p:sp>
        <p:nvSpPr>
          <p:cNvPr id="1066" name="Google Shape;1066;p101"/>
          <p:cNvSpPr txBox="1">
            <a:spLocks noGrp="1"/>
          </p:cNvSpPr>
          <p:nvPr>
            <p:ph type="body" idx="1"/>
          </p:nvPr>
        </p:nvSpPr>
        <p:spPr>
          <a:xfrm>
            <a:off x="2286000" y="1219200"/>
            <a:ext cx="7848600" cy="4876800"/>
          </a:xfrm>
          <a:prstGeom prst="rect">
            <a:avLst/>
          </a:prstGeom>
          <a:noFill/>
          <a:ln>
            <a:noFill/>
          </a:ln>
        </p:spPr>
        <p:txBody>
          <a:bodyPr spcFirstLastPara="1" vert="horz" wrap="square" lIns="91425" tIns="45700" rIns="91425" bIns="45700" rtlCol="0" anchor="t" anchorCtr="0">
            <a:noAutofit/>
          </a:bodyPr>
          <a:lstStyle/>
          <a:p>
            <a:pPr marL="342900" indent="-342900">
              <a:lnSpc>
                <a:spcPct val="100000"/>
              </a:lnSpc>
              <a:spcBef>
                <a:spcPts val="0"/>
              </a:spcBef>
              <a:buClr>
                <a:schemeClr val="dk1"/>
              </a:buClr>
              <a:buSzPts val="2400"/>
              <a:buFont typeface="Arial"/>
              <a:buChar char="•"/>
            </a:pPr>
            <a:r>
              <a:rPr lang="en-US" sz="2400"/>
              <a:t>A mechanism to change a value in a tuple without changing </a:t>
            </a:r>
            <a:r>
              <a:rPr lang="en-US" sz="2400" i="1"/>
              <a:t>all</a:t>
            </a:r>
            <a:r>
              <a:rPr lang="en-US" sz="2400"/>
              <a:t> values in the tuple</a:t>
            </a:r>
            <a:endParaRPr sz="2400"/>
          </a:p>
          <a:p>
            <a:pPr marL="342900" indent="-342900">
              <a:lnSpc>
                <a:spcPct val="100000"/>
              </a:lnSpc>
              <a:spcBef>
                <a:spcPts val="480"/>
              </a:spcBef>
              <a:buClr>
                <a:schemeClr val="dk1"/>
              </a:buClr>
              <a:buSzPts val="2400"/>
              <a:buFont typeface="Arial"/>
              <a:buChar char="•"/>
            </a:pPr>
            <a:r>
              <a:rPr lang="en-US" sz="2400"/>
              <a:t>Use the generalized projection operator to do this task</a:t>
            </a:r>
            <a:endParaRPr sz="2400"/>
          </a:p>
          <a:p>
            <a:pPr marL="342900" indent="-342900">
              <a:lnSpc>
                <a:spcPct val="100000"/>
              </a:lnSpc>
              <a:spcBef>
                <a:spcPts val="480"/>
              </a:spcBef>
              <a:buClr>
                <a:schemeClr val="dk1"/>
              </a:buClr>
              <a:buSzPts val="2400"/>
              <a:buNone/>
            </a:pPr>
            <a:r>
              <a:rPr lang="en-US" sz="2400"/>
              <a:t>	</a:t>
            </a:r>
            <a:br>
              <a:rPr lang="en-US" sz="2400"/>
            </a:br>
            <a:r>
              <a:rPr lang="en-US" sz="2400"/>
              <a:t>	</a:t>
            </a:r>
            <a:endParaRPr sz="2400"/>
          </a:p>
          <a:p>
            <a:pPr marL="342900" indent="-342900">
              <a:lnSpc>
                <a:spcPct val="100000"/>
              </a:lnSpc>
              <a:spcBef>
                <a:spcPts val="480"/>
              </a:spcBef>
              <a:buClr>
                <a:schemeClr val="dk1"/>
              </a:buClr>
              <a:buSzPts val="2400"/>
              <a:buFont typeface="Arial"/>
              <a:buChar char="•"/>
            </a:pPr>
            <a:r>
              <a:rPr lang="en-US" sz="2400"/>
              <a:t>Each </a:t>
            </a:r>
            <a:r>
              <a:rPr lang="en-US" sz="2400" i="1"/>
              <a:t>F</a:t>
            </a:r>
            <a:r>
              <a:rPr lang="en-US" sz="2400" i="1" baseline="-25000"/>
              <a:t>i</a:t>
            </a:r>
            <a:r>
              <a:rPr lang="en-US" sz="2400"/>
              <a:t> is either </a:t>
            </a:r>
            <a:endParaRPr sz="2400"/>
          </a:p>
          <a:p>
            <a:pPr marL="742950" lvl="1" indent="-285750">
              <a:lnSpc>
                <a:spcPct val="100000"/>
              </a:lnSpc>
              <a:spcBef>
                <a:spcPts val="480"/>
              </a:spcBef>
              <a:buClr>
                <a:schemeClr val="dk1"/>
              </a:buClr>
              <a:buSzPts val="2400"/>
              <a:buFont typeface="Arial"/>
              <a:buChar char="–"/>
            </a:pPr>
            <a:r>
              <a:rPr lang="en-US"/>
              <a:t>the </a:t>
            </a:r>
            <a:r>
              <a:rPr lang="en-US" i="1"/>
              <a:t>i </a:t>
            </a:r>
            <a:r>
              <a:rPr lang="en-US" baseline="30000"/>
              <a:t>th</a:t>
            </a:r>
            <a:r>
              <a:rPr lang="en-US"/>
              <a:t> attribute of </a:t>
            </a:r>
            <a:r>
              <a:rPr lang="en-US" i="1"/>
              <a:t>r</a:t>
            </a:r>
            <a:r>
              <a:rPr lang="en-US"/>
              <a:t>, if the </a:t>
            </a:r>
            <a:r>
              <a:rPr lang="en-US" i="1"/>
              <a:t>i</a:t>
            </a:r>
            <a:r>
              <a:rPr lang="en-US" baseline="30000"/>
              <a:t>th </a:t>
            </a:r>
            <a:r>
              <a:rPr lang="en-US"/>
              <a:t>attribute is not updated, or,</a:t>
            </a:r>
            <a:endParaRPr/>
          </a:p>
          <a:p>
            <a:pPr marL="742950" lvl="1" indent="-285750">
              <a:lnSpc>
                <a:spcPct val="100000"/>
              </a:lnSpc>
              <a:spcBef>
                <a:spcPts val="480"/>
              </a:spcBef>
              <a:buClr>
                <a:schemeClr val="dk1"/>
              </a:buClr>
              <a:buSzPts val="2400"/>
              <a:buFont typeface="Arial"/>
              <a:buChar char="–"/>
            </a:pPr>
            <a:r>
              <a:rPr lang="en-US"/>
              <a:t>if the attribute is to be updated F</a:t>
            </a:r>
            <a:r>
              <a:rPr lang="en-US" i="1" baseline="-25000"/>
              <a:t>i</a:t>
            </a:r>
            <a:r>
              <a:rPr lang="en-US" baseline="-25000"/>
              <a:t> </a:t>
            </a:r>
            <a:r>
              <a:rPr lang="en-US"/>
              <a:t> is an expression, involving only constants and the attributes of </a:t>
            </a:r>
            <a:r>
              <a:rPr lang="en-US" i="1"/>
              <a:t>r</a:t>
            </a:r>
            <a:r>
              <a:rPr lang="en-US"/>
              <a:t>, which gives the new value for the attribute</a:t>
            </a:r>
            <a:endParaRPr/>
          </a:p>
        </p:txBody>
      </p:sp>
      <p:pic>
        <p:nvPicPr>
          <p:cNvPr id="1067" name="Google Shape;1067;p101"/>
          <p:cNvPicPr preferRelativeResize="0"/>
          <p:nvPr/>
        </p:nvPicPr>
        <p:blipFill rotWithShape="1">
          <a:blip r:embed="rId3">
            <a:alphaModFix/>
          </a:blip>
          <a:srcRect/>
          <a:stretch/>
        </p:blipFill>
        <p:spPr>
          <a:xfrm>
            <a:off x="4572000" y="2590800"/>
            <a:ext cx="2128838" cy="446088"/>
          </a:xfrm>
          <a:prstGeom prst="rect">
            <a:avLst/>
          </a:prstGeom>
          <a:noFill/>
          <a:ln>
            <a:noFill/>
          </a:ln>
        </p:spPr>
      </p:pic>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Shape 1071"/>
        <p:cNvGrpSpPr/>
        <p:nvPr/>
      </p:nvGrpSpPr>
      <p:grpSpPr>
        <a:xfrm>
          <a:off x="0" y="0"/>
          <a:ext cx="0" cy="0"/>
          <a:chOff x="0" y="0"/>
          <a:chExt cx="0" cy="0"/>
        </a:xfrm>
      </p:grpSpPr>
      <p:sp>
        <p:nvSpPr>
          <p:cNvPr id="1072" name="Google Shape;1072;p102"/>
          <p:cNvSpPr txBox="1">
            <a:spLocks noGrp="1"/>
          </p:cNvSpPr>
          <p:nvPr>
            <p:ph type="title"/>
          </p:nvPr>
        </p:nvSpPr>
        <p:spPr>
          <a:xfrm>
            <a:off x="2209800" y="0"/>
            <a:ext cx="7772400" cy="1143000"/>
          </a:xfrm>
          <a:prstGeom prst="rect">
            <a:avLst/>
          </a:prstGeom>
          <a:noFill/>
          <a:ln>
            <a:noFill/>
          </a:ln>
        </p:spPr>
        <p:txBody>
          <a:bodyPr spcFirstLastPara="1" vert="horz" wrap="square" lIns="91425" tIns="45700" rIns="91425" bIns="45700" rtlCol="0" anchor="ctr" anchorCtr="0">
            <a:noAutofit/>
          </a:bodyPr>
          <a:lstStyle/>
          <a:p>
            <a:pPr algn="ctr">
              <a:lnSpc>
                <a:spcPct val="100000"/>
              </a:lnSpc>
              <a:spcBef>
                <a:spcPts val="0"/>
              </a:spcBef>
              <a:buClr>
                <a:schemeClr val="dk2"/>
              </a:buClr>
              <a:buSzPts val="3200"/>
            </a:pPr>
            <a:r>
              <a:rPr lang="en-US" sz="3200"/>
              <a:t>Update Examples</a:t>
            </a:r>
            <a:endParaRPr sz="3200"/>
          </a:p>
        </p:txBody>
      </p:sp>
      <p:sp>
        <p:nvSpPr>
          <p:cNvPr id="1073" name="Google Shape;1073;p102"/>
          <p:cNvSpPr txBox="1">
            <a:spLocks noGrp="1"/>
          </p:cNvSpPr>
          <p:nvPr>
            <p:ph type="body" idx="1"/>
          </p:nvPr>
        </p:nvSpPr>
        <p:spPr>
          <a:xfrm>
            <a:off x="2133600" y="1371601"/>
            <a:ext cx="8153400" cy="650875"/>
          </a:xfrm>
          <a:prstGeom prst="rect">
            <a:avLst/>
          </a:prstGeom>
          <a:noFill/>
          <a:ln>
            <a:noFill/>
          </a:ln>
        </p:spPr>
        <p:txBody>
          <a:bodyPr spcFirstLastPara="1" vert="horz" wrap="square" lIns="91425" tIns="45700" rIns="91425" bIns="45700" rtlCol="0" anchor="t" anchorCtr="0">
            <a:noAutofit/>
          </a:bodyPr>
          <a:lstStyle/>
          <a:p>
            <a:pPr marL="342900" indent="-342900">
              <a:lnSpc>
                <a:spcPct val="100000"/>
              </a:lnSpc>
              <a:spcBef>
                <a:spcPts val="0"/>
              </a:spcBef>
              <a:buClr>
                <a:schemeClr val="dk1"/>
              </a:buClr>
              <a:buSzPts val="2400"/>
              <a:buFont typeface="Arial"/>
              <a:buChar char="•"/>
            </a:pPr>
            <a:r>
              <a:rPr lang="en-US" sz="2400"/>
              <a:t>Make interest payments by increasing all balances by 5 percent.</a:t>
            </a:r>
            <a:endParaRPr sz="2400"/>
          </a:p>
        </p:txBody>
      </p:sp>
      <p:sp>
        <p:nvSpPr>
          <p:cNvPr id="1074" name="Google Shape;1074;p102"/>
          <p:cNvSpPr txBox="1"/>
          <p:nvPr/>
        </p:nvSpPr>
        <p:spPr>
          <a:xfrm>
            <a:off x="2381250" y="3022600"/>
            <a:ext cx="7600950" cy="641350"/>
          </a:xfrm>
          <a:prstGeom prst="rect">
            <a:avLst/>
          </a:prstGeom>
          <a:noFill/>
          <a:ln>
            <a:noFill/>
          </a:ln>
        </p:spPr>
        <p:txBody>
          <a:bodyPr spcFirstLastPara="1" wrap="square" lIns="91425" tIns="45700" rIns="91425" bIns="45700" anchor="t" anchorCtr="0">
            <a:spAutoFit/>
          </a:bodyPr>
          <a:lstStyle/>
          <a:p>
            <a:pPr indent="-102870">
              <a:buClr>
                <a:schemeClr val="dk2"/>
              </a:buClr>
              <a:buSzPts val="1620"/>
              <a:buFont typeface="Arial"/>
              <a:buChar char="●"/>
            </a:pPr>
            <a:r>
              <a:rPr lang="en-US">
                <a:solidFill>
                  <a:schemeClr val="dk1"/>
                </a:solidFill>
                <a:latin typeface="Helvetica Neue"/>
                <a:ea typeface="Helvetica Neue"/>
                <a:cs typeface="Helvetica Neue"/>
                <a:sym typeface="Helvetica Neue"/>
              </a:rPr>
              <a:t>  Pay all accounts with balances over $10,000 6 percent interest </a:t>
            </a:r>
            <a:br>
              <a:rPr lang="en-US">
                <a:solidFill>
                  <a:schemeClr val="dk1"/>
                </a:solidFill>
                <a:latin typeface="Helvetica Neue"/>
                <a:ea typeface="Helvetica Neue"/>
                <a:cs typeface="Helvetica Neue"/>
                <a:sym typeface="Helvetica Neue"/>
              </a:rPr>
            </a:br>
            <a:r>
              <a:rPr lang="en-US">
                <a:solidFill>
                  <a:schemeClr val="dk1"/>
                </a:solidFill>
                <a:latin typeface="Helvetica Neue"/>
                <a:ea typeface="Helvetica Neue"/>
                <a:cs typeface="Helvetica Neue"/>
                <a:sym typeface="Helvetica Neue"/>
              </a:rPr>
              <a:t>     and pay all others 5 percent </a:t>
            </a:r>
            <a:endParaRPr i="1">
              <a:solidFill>
                <a:schemeClr val="dk1"/>
              </a:solidFill>
              <a:latin typeface="Helvetica Neue"/>
              <a:ea typeface="Helvetica Neue"/>
              <a:cs typeface="Helvetica Neue"/>
              <a:sym typeface="Helvetica Neue"/>
            </a:endParaRPr>
          </a:p>
        </p:txBody>
      </p:sp>
      <p:sp>
        <p:nvSpPr>
          <p:cNvPr id="1075" name="Google Shape;1075;p102"/>
          <p:cNvSpPr txBox="1"/>
          <p:nvPr/>
        </p:nvSpPr>
        <p:spPr>
          <a:xfrm>
            <a:off x="2667000" y="3984625"/>
            <a:ext cx="7696200" cy="1277232"/>
          </a:xfrm>
          <a:prstGeom prst="rect">
            <a:avLst/>
          </a:prstGeom>
          <a:noFill/>
          <a:ln>
            <a:noFill/>
          </a:ln>
        </p:spPr>
        <p:txBody>
          <a:bodyPr spcFirstLastPara="1" wrap="square" lIns="91425" tIns="45700" rIns="91425" bIns="45700" anchor="t" anchorCtr="0">
            <a:spAutoFit/>
          </a:bodyPr>
          <a:lstStyle/>
          <a:p>
            <a:r>
              <a:rPr lang="en-US" i="1">
                <a:solidFill>
                  <a:schemeClr val="dk1"/>
                </a:solidFill>
                <a:latin typeface="Helvetica Neue"/>
                <a:ea typeface="Helvetica Neue"/>
                <a:cs typeface="Helvetica Neue"/>
                <a:sym typeface="Helvetica Neue"/>
              </a:rPr>
              <a:t> account</a:t>
            </a:r>
            <a:r>
              <a:rPr lang="en-US">
                <a:solidFill>
                  <a:schemeClr val="dk1"/>
                </a:solidFill>
                <a:latin typeface="Helvetica Neue"/>
                <a:ea typeface="Helvetica Neue"/>
                <a:cs typeface="Helvetica Neue"/>
                <a:sym typeface="Helvetica Neue"/>
              </a:rPr>
              <a:t> ←  ∏ </a:t>
            </a:r>
            <a:r>
              <a:rPr lang="en-US" sz="2000" i="1" baseline="-25000">
                <a:solidFill>
                  <a:schemeClr val="dk1"/>
                </a:solidFill>
                <a:latin typeface="Helvetica Neue"/>
                <a:ea typeface="Helvetica Neue"/>
                <a:cs typeface="Helvetica Neue"/>
                <a:sym typeface="Helvetica Neue"/>
              </a:rPr>
              <a:t>account_number</a:t>
            </a:r>
            <a:r>
              <a:rPr lang="en-US" sz="2000" baseline="-25000">
                <a:solidFill>
                  <a:schemeClr val="dk1"/>
                </a:solidFill>
                <a:latin typeface="Helvetica Neue"/>
                <a:ea typeface="Helvetica Neue"/>
                <a:cs typeface="Helvetica Neue"/>
                <a:sym typeface="Helvetica Neue"/>
              </a:rPr>
              <a:t>, </a:t>
            </a:r>
            <a:r>
              <a:rPr lang="en-US" sz="2000" i="1" baseline="-25000">
                <a:solidFill>
                  <a:schemeClr val="dk1"/>
                </a:solidFill>
                <a:latin typeface="Helvetica Neue"/>
                <a:ea typeface="Helvetica Neue"/>
                <a:cs typeface="Helvetica Neue"/>
                <a:sym typeface="Helvetica Neue"/>
              </a:rPr>
              <a:t>branch_name</a:t>
            </a:r>
            <a:r>
              <a:rPr lang="en-US" sz="2000" baseline="-25000">
                <a:solidFill>
                  <a:schemeClr val="dk1"/>
                </a:solidFill>
                <a:latin typeface="Helvetica Neue"/>
                <a:ea typeface="Helvetica Neue"/>
                <a:cs typeface="Helvetica Neue"/>
                <a:sym typeface="Helvetica Neue"/>
              </a:rPr>
              <a:t>, </a:t>
            </a:r>
            <a:r>
              <a:rPr lang="en-US" sz="2000" i="1" baseline="-25000">
                <a:solidFill>
                  <a:schemeClr val="dk1"/>
                </a:solidFill>
                <a:latin typeface="Helvetica Neue"/>
                <a:ea typeface="Helvetica Neue"/>
                <a:cs typeface="Helvetica Neue"/>
                <a:sym typeface="Helvetica Neue"/>
              </a:rPr>
              <a:t>balance </a:t>
            </a:r>
            <a:r>
              <a:rPr lang="en-US" baseline="-25000">
                <a:solidFill>
                  <a:schemeClr val="dk1"/>
                </a:solidFill>
                <a:latin typeface="Helvetica Neue"/>
                <a:ea typeface="Helvetica Neue"/>
                <a:cs typeface="Helvetica Neue"/>
                <a:sym typeface="Helvetica Neue"/>
              </a:rPr>
              <a:t>* 1.06</a:t>
            </a:r>
            <a:r>
              <a:rPr lang="en-US" i="1" baseline="-25000">
                <a:solidFill>
                  <a:schemeClr val="dk1"/>
                </a:solidFill>
                <a:latin typeface="Helvetica Neue"/>
                <a:ea typeface="Helvetica Neue"/>
                <a:cs typeface="Helvetica Neue"/>
                <a:sym typeface="Helvetica Neue"/>
              </a:rPr>
              <a:t> </a:t>
            </a:r>
            <a:r>
              <a:rPr lang="en-US">
                <a:solidFill>
                  <a:schemeClr val="dk1"/>
                </a:solidFill>
                <a:latin typeface="Helvetica Neue"/>
                <a:ea typeface="Helvetica Neue"/>
                <a:cs typeface="Helvetica Neue"/>
                <a:sym typeface="Helvetica Neue"/>
              </a:rPr>
              <a:t>(σ </a:t>
            </a:r>
            <a:r>
              <a:rPr lang="en-US" i="1" baseline="-25000">
                <a:solidFill>
                  <a:schemeClr val="dk1"/>
                </a:solidFill>
                <a:latin typeface="Helvetica Neue"/>
                <a:ea typeface="Helvetica Neue"/>
                <a:cs typeface="Helvetica Neue"/>
                <a:sym typeface="Helvetica Neue"/>
              </a:rPr>
              <a:t>BAL &gt; 10000 </a:t>
            </a:r>
            <a:r>
              <a:rPr lang="en-US">
                <a:solidFill>
                  <a:schemeClr val="dk1"/>
                </a:solidFill>
                <a:latin typeface="Helvetica Neue"/>
                <a:ea typeface="Helvetica Neue"/>
                <a:cs typeface="Helvetica Neue"/>
                <a:sym typeface="Helvetica Neue"/>
              </a:rPr>
              <a:t>(</a:t>
            </a:r>
            <a:r>
              <a:rPr lang="en-US" i="1">
                <a:solidFill>
                  <a:schemeClr val="dk1"/>
                </a:solidFill>
                <a:latin typeface="Helvetica Neue"/>
                <a:ea typeface="Helvetica Neue"/>
                <a:cs typeface="Helvetica Neue"/>
                <a:sym typeface="Helvetica Neue"/>
              </a:rPr>
              <a:t>account </a:t>
            </a:r>
            <a:r>
              <a:rPr lang="en-US">
                <a:solidFill>
                  <a:schemeClr val="dk1"/>
                </a:solidFill>
                <a:latin typeface="Helvetica Neue"/>
                <a:ea typeface="Helvetica Neue"/>
                <a:cs typeface="Helvetica Neue"/>
                <a:sym typeface="Helvetica Neue"/>
              </a:rPr>
              <a:t>))</a:t>
            </a:r>
            <a:br>
              <a:rPr lang="en-US">
                <a:solidFill>
                  <a:schemeClr val="dk1"/>
                </a:solidFill>
                <a:latin typeface="Helvetica Neue"/>
                <a:ea typeface="Helvetica Neue"/>
                <a:cs typeface="Helvetica Neue"/>
                <a:sym typeface="Helvetica Neue"/>
              </a:rPr>
            </a:br>
            <a:r>
              <a:rPr lang="en-US">
                <a:solidFill>
                  <a:schemeClr val="dk1"/>
                </a:solidFill>
                <a:latin typeface="Helvetica Neue"/>
                <a:ea typeface="Helvetica Neue"/>
                <a:cs typeface="Helvetica Neue"/>
                <a:sym typeface="Helvetica Neue"/>
              </a:rPr>
              <a:t>                    ∪  ∏ </a:t>
            </a:r>
            <a:r>
              <a:rPr lang="en-US" sz="2000" i="1" baseline="-25000">
                <a:solidFill>
                  <a:schemeClr val="dk1"/>
                </a:solidFill>
                <a:latin typeface="Helvetica Neue"/>
                <a:ea typeface="Helvetica Neue"/>
                <a:cs typeface="Helvetica Neue"/>
                <a:sym typeface="Helvetica Neue"/>
              </a:rPr>
              <a:t>account_number</a:t>
            </a:r>
            <a:r>
              <a:rPr lang="en-US" sz="2000" baseline="-25000">
                <a:solidFill>
                  <a:schemeClr val="dk1"/>
                </a:solidFill>
                <a:latin typeface="Helvetica Neue"/>
                <a:ea typeface="Helvetica Neue"/>
                <a:cs typeface="Helvetica Neue"/>
                <a:sym typeface="Helvetica Neue"/>
              </a:rPr>
              <a:t>, </a:t>
            </a:r>
            <a:r>
              <a:rPr lang="en-US" sz="2000" i="1" baseline="-25000">
                <a:solidFill>
                  <a:schemeClr val="dk1"/>
                </a:solidFill>
                <a:latin typeface="Helvetica Neue"/>
                <a:ea typeface="Helvetica Neue"/>
                <a:cs typeface="Helvetica Neue"/>
                <a:sym typeface="Helvetica Neue"/>
              </a:rPr>
              <a:t>branch_name</a:t>
            </a:r>
            <a:r>
              <a:rPr lang="en-US" sz="2000" baseline="-25000">
                <a:solidFill>
                  <a:schemeClr val="dk1"/>
                </a:solidFill>
                <a:latin typeface="Helvetica Neue"/>
                <a:ea typeface="Helvetica Neue"/>
                <a:cs typeface="Helvetica Neue"/>
                <a:sym typeface="Helvetica Neue"/>
              </a:rPr>
              <a:t>, </a:t>
            </a:r>
            <a:r>
              <a:rPr lang="en-US" sz="2000" i="1" baseline="-25000">
                <a:solidFill>
                  <a:schemeClr val="dk1"/>
                </a:solidFill>
                <a:latin typeface="Helvetica Neue"/>
                <a:ea typeface="Helvetica Neue"/>
                <a:cs typeface="Helvetica Neue"/>
                <a:sym typeface="Helvetica Neue"/>
              </a:rPr>
              <a:t>balance </a:t>
            </a:r>
            <a:r>
              <a:rPr lang="en-US" i="1" baseline="-25000">
                <a:solidFill>
                  <a:schemeClr val="dk1"/>
                </a:solidFill>
                <a:latin typeface="Helvetica Neue"/>
                <a:ea typeface="Helvetica Neue"/>
                <a:cs typeface="Helvetica Neue"/>
                <a:sym typeface="Helvetica Neue"/>
              </a:rPr>
              <a:t>* </a:t>
            </a:r>
            <a:r>
              <a:rPr lang="en-US" baseline="-25000">
                <a:solidFill>
                  <a:schemeClr val="dk1"/>
                </a:solidFill>
                <a:latin typeface="Helvetica Neue"/>
                <a:ea typeface="Helvetica Neue"/>
                <a:cs typeface="Helvetica Neue"/>
                <a:sym typeface="Helvetica Neue"/>
              </a:rPr>
              <a:t>1.05 </a:t>
            </a:r>
            <a:r>
              <a:rPr lang="en-US">
                <a:solidFill>
                  <a:schemeClr val="dk1"/>
                </a:solidFill>
                <a:latin typeface="Helvetica Neue"/>
                <a:ea typeface="Helvetica Neue"/>
                <a:cs typeface="Helvetica Neue"/>
                <a:sym typeface="Helvetica Neue"/>
              </a:rPr>
              <a:t>(σ</a:t>
            </a:r>
            <a:r>
              <a:rPr lang="en-US" i="1" baseline="-25000">
                <a:solidFill>
                  <a:schemeClr val="dk1"/>
                </a:solidFill>
                <a:latin typeface="Helvetica Neue"/>
                <a:ea typeface="Helvetica Neue"/>
                <a:cs typeface="Helvetica Neue"/>
                <a:sym typeface="Helvetica Neue"/>
              </a:rPr>
              <a:t>BAL ≤ 10000 </a:t>
            </a:r>
            <a:r>
              <a:rPr lang="en-US">
                <a:solidFill>
                  <a:schemeClr val="dk1"/>
                </a:solidFill>
                <a:latin typeface="Helvetica Neue"/>
                <a:ea typeface="Helvetica Neue"/>
                <a:cs typeface="Helvetica Neue"/>
                <a:sym typeface="Helvetica Neue"/>
              </a:rPr>
              <a:t>(</a:t>
            </a:r>
            <a:r>
              <a:rPr lang="en-US" i="1">
                <a:solidFill>
                  <a:schemeClr val="dk1"/>
                </a:solidFill>
                <a:latin typeface="Helvetica Neue"/>
                <a:ea typeface="Helvetica Neue"/>
                <a:cs typeface="Helvetica Neue"/>
                <a:sym typeface="Helvetica Neue"/>
              </a:rPr>
              <a:t>account</a:t>
            </a:r>
            <a:r>
              <a:rPr lang="en-US">
                <a:solidFill>
                  <a:schemeClr val="dk1"/>
                </a:solidFill>
                <a:latin typeface="Helvetica Neue"/>
                <a:ea typeface="Helvetica Neue"/>
                <a:cs typeface="Helvetica Neue"/>
                <a:sym typeface="Helvetica Neue"/>
              </a:rPr>
              <a:t>))</a:t>
            </a:r>
            <a:endParaRPr>
              <a:solidFill>
                <a:schemeClr val="dk1"/>
              </a:solidFill>
              <a:latin typeface="Helvetica Neue"/>
              <a:ea typeface="Helvetica Neue"/>
              <a:cs typeface="Helvetica Neue"/>
              <a:sym typeface="Helvetica Neue"/>
            </a:endParaRPr>
          </a:p>
          <a:p>
            <a:pPr>
              <a:spcBef>
                <a:spcPts val="630"/>
              </a:spcBef>
            </a:pPr>
            <a:endParaRPr i="1">
              <a:solidFill>
                <a:schemeClr val="dk1"/>
              </a:solidFill>
              <a:latin typeface="Helvetica Neue"/>
              <a:ea typeface="Helvetica Neue"/>
              <a:cs typeface="Helvetica Neue"/>
              <a:sym typeface="Helvetica Neue"/>
            </a:endParaRPr>
          </a:p>
        </p:txBody>
      </p:sp>
      <p:grpSp>
        <p:nvGrpSpPr>
          <p:cNvPr id="1076" name="Google Shape;1076;p102"/>
          <p:cNvGrpSpPr/>
          <p:nvPr/>
        </p:nvGrpSpPr>
        <p:grpSpPr>
          <a:xfrm>
            <a:off x="1828800" y="2209800"/>
            <a:ext cx="7570788" cy="928688"/>
            <a:chOff x="526" y="965"/>
            <a:chExt cx="4769" cy="585"/>
          </a:xfrm>
        </p:grpSpPr>
        <p:sp>
          <p:nvSpPr>
            <p:cNvPr id="1077" name="Google Shape;1077;p102"/>
            <p:cNvSpPr txBox="1"/>
            <p:nvPr/>
          </p:nvSpPr>
          <p:spPr>
            <a:xfrm>
              <a:off x="830" y="965"/>
              <a:ext cx="4377" cy="231"/>
            </a:xfrm>
            <a:prstGeom prst="rect">
              <a:avLst/>
            </a:prstGeom>
            <a:noFill/>
            <a:ln>
              <a:noFill/>
            </a:ln>
          </p:spPr>
          <p:txBody>
            <a:bodyPr spcFirstLastPara="1" wrap="square" lIns="91425" tIns="45700" rIns="91425" bIns="45700" anchor="t" anchorCtr="0">
              <a:spAutoFit/>
            </a:bodyPr>
            <a:lstStyle/>
            <a:p>
              <a:r>
                <a:rPr lang="en-US" i="1">
                  <a:solidFill>
                    <a:schemeClr val="dk1"/>
                  </a:solidFill>
                  <a:latin typeface="Helvetica Neue"/>
                  <a:ea typeface="Helvetica Neue"/>
                  <a:cs typeface="Helvetica Neue"/>
                  <a:sym typeface="Helvetica Neue"/>
                </a:rPr>
                <a:t>account </a:t>
              </a:r>
              <a:r>
                <a:rPr lang="en-US">
                  <a:solidFill>
                    <a:schemeClr val="dk1"/>
                  </a:solidFill>
                  <a:latin typeface="Helvetica Neue"/>
                  <a:ea typeface="Helvetica Neue"/>
                  <a:cs typeface="Helvetica Neue"/>
                  <a:sym typeface="Helvetica Neue"/>
                </a:rPr>
                <a:t>← ∏ </a:t>
              </a:r>
              <a:r>
                <a:rPr lang="en-US" sz="2000" i="1" baseline="-25000">
                  <a:solidFill>
                    <a:schemeClr val="dk1"/>
                  </a:solidFill>
                  <a:latin typeface="Helvetica Neue"/>
                  <a:ea typeface="Helvetica Neue"/>
                  <a:cs typeface="Helvetica Neue"/>
                  <a:sym typeface="Helvetica Neue"/>
                </a:rPr>
                <a:t>account_number</a:t>
              </a:r>
              <a:r>
                <a:rPr lang="en-US" sz="2000" baseline="-25000">
                  <a:solidFill>
                    <a:schemeClr val="dk1"/>
                  </a:solidFill>
                  <a:latin typeface="Helvetica Neue"/>
                  <a:ea typeface="Helvetica Neue"/>
                  <a:cs typeface="Helvetica Neue"/>
                  <a:sym typeface="Helvetica Neue"/>
                </a:rPr>
                <a:t>, </a:t>
              </a:r>
              <a:r>
                <a:rPr lang="en-US" sz="2000" i="1" baseline="-25000">
                  <a:solidFill>
                    <a:schemeClr val="dk1"/>
                  </a:solidFill>
                  <a:latin typeface="Helvetica Neue"/>
                  <a:ea typeface="Helvetica Neue"/>
                  <a:cs typeface="Helvetica Neue"/>
                  <a:sym typeface="Helvetica Neue"/>
                </a:rPr>
                <a:t>branch_name</a:t>
              </a:r>
              <a:r>
                <a:rPr lang="en-US" sz="2000" baseline="-25000">
                  <a:solidFill>
                    <a:schemeClr val="dk1"/>
                  </a:solidFill>
                  <a:latin typeface="Helvetica Neue"/>
                  <a:ea typeface="Helvetica Neue"/>
                  <a:cs typeface="Helvetica Neue"/>
                  <a:sym typeface="Helvetica Neue"/>
                </a:rPr>
                <a:t>, </a:t>
              </a:r>
              <a:r>
                <a:rPr lang="en-US" sz="2000" i="1" baseline="-25000">
                  <a:solidFill>
                    <a:schemeClr val="dk1"/>
                  </a:solidFill>
                  <a:latin typeface="Helvetica Neue"/>
                  <a:ea typeface="Helvetica Neue"/>
                  <a:cs typeface="Helvetica Neue"/>
                  <a:sym typeface="Helvetica Neue"/>
                </a:rPr>
                <a:t>balance </a:t>
              </a:r>
              <a:r>
                <a:rPr lang="en-US" sz="2000" baseline="-25000">
                  <a:solidFill>
                    <a:schemeClr val="dk1"/>
                  </a:solidFill>
                  <a:latin typeface="Helvetica Neue"/>
                  <a:ea typeface="Helvetica Neue"/>
                  <a:cs typeface="Helvetica Neue"/>
                  <a:sym typeface="Helvetica Neue"/>
                </a:rPr>
                <a:t>* 1.05</a:t>
              </a:r>
              <a:r>
                <a:rPr lang="en-US" i="1" baseline="-25000">
                  <a:solidFill>
                    <a:schemeClr val="dk1"/>
                  </a:solidFill>
                  <a:latin typeface="Helvetica Neue"/>
                  <a:ea typeface="Helvetica Neue"/>
                  <a:cs typeface="Helvetica Neue"/>
                  <a:sym typeface="Helvetica Neue"/>
                </a:rPr>
                <a:t> </a:t>
              </a:r>
              <a:r>
                <a:rPr lang="en-US">
                  <a:solidFill>
                    <a:schemeClr val="dk1"/>
                  </a:solidFill>
                  <a:latin typeface="Helvetica Neue"/>
                  <a:ea typeface="Helvetica Neue"/>
                  <a:cs typeface="Helvetica Neue"/>
                  <a:sym typeface="Helvetica Neue"/>
                </a:rPr>
                <a:t>(</a:t>
              </a:r>
              <a:r>
                <a:rPr lang="en-US" i="1">
                  <a:solidFill>
                    <a:schemeClr val="dk1"/>
                  </a:solidFill>
                  <a:latin typeface="Helvetica Neue"/>
                  <a:ea typeface="Helvetica Neue"/>
                  <a:cs typeface="Helvetica Neue"/>
                  <a:sym typeface="Helvetica Neue"/>
                </a:rPr>
                <a:t>account</a:t>
              </a:r>
              <a:r>
                <a:rPr lang="en-US">
                  <a:solidFill>
                    <a:schemeClr val="dk1"/>
                  </a:solidFill>
                  <a:latin typeface="Helvetica Neue"/>
                  <a:ea typeface="Helvetica Neue"/>
                  <a:cs typeface="Helvetica Neue"/>
                  <a:sym typeface="Helvetica Neue"/>
                </a:rPr>
                <a:t>)</a:t>
              </a:r>
              <a:endParaRPr>
                <a:solidFill>
                  <a:schemeClr val="dk1"/>
                </a:solidFill>
                <a:latin typeface="Helvetica Neue"/>
                <a:ea typeface="Helvetica Neue"/>
                <a:cs typeface="Helvetica Neue"/>
                <a:sym typeface="Helvetica Neue"/>
              </a:endParaRPr>
            </a:p>
          </p:txBody>
        </p:sp>
        <p:sp>
          <p:nvSpPr>
            <p:cNvPr id="1078" name="Google Shape;1078;p102"/>
            <p:cNvSpPr txBox="1"/>
            <p:nvPr/>
          </p:nvSpPr>
          <p:spPr>
            <a:xfrm>
              <a:off x="526" y="1319"/>
              <a:ext cx="4769" cy="231"/>
            </a:xfrm>
            <a:prstGeom prst="rect">
              <a:avLst/>
            </a:prstGeom>
            <a:noFill/>
            <a:ln>
              <a:noFill/>
            </a:ln>
          </p:spPr>
          <p:txBody>
            <a:bodyPr spcFirstLastPara="1" wrap="square" lIns="91425" tIns="45700" rIns="91425" bIns="45700" anchor="t" anchorCtr="0">
              <a:spAutoFit/>
            </a:bodyPr>
            <a:lstStyle/>
            <a:p>
              <a:endParaRPr i="1">
                <a:solidFill>
                  <a:schemeClr val="dk1"/>
                </a:solidFill>
                <a:latin typeface="Helvetica Neue"/>
                <a:ea typeface="Helvetica Neue"/>
                <a:cs typeface="Helvetica Neue"/>
                <a:sym typeface="Helvetica Neue"/>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7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7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Shape 1082"/>
        <p:cNvGrpSpPr/>
        <p:nvPr/>
      </p:nvGrpSpPr>
      <p:grpSpPr>
        <a:xfrm>
          <a:off x="0" y="0"/>
          <a:ext cx="0" cy="0"/>
          <a:chOff x="0" y="0"/>
          <a:chExt cx="0" cy="0"/>
        </a:xfrm>
      </p:grpSpPr>
      <p:sp>
        <p:nvSpPr>
          <p:cNvPr id="1083" name="Google Shape;1083;p103"/>
          <p:cNvSpPr txBox="1">
            <a:spLocks noGrp="1"/>
          </p:cNvSpPr>
          <p:nvPr>
            <p:ph type="title"/>
          </p:nvPr>
        </p:nvSpPr>
        <p:spPr>
          <a:xfrm>
            <a:off x="2209800" y="0"/>
            <a:ext cx="7772400" cy="1143000"/>
          </a:xfrm>
          <a:prstGeom prst="rect">
            <a:avLst/>
          </a:prstGeom>
          <a:noFill/>
          <a:ln>
            <a:noFill/>
          </a:ln>
        </p:spPr>
        <p:txBody>
          <a:bodyPr spcFirstLastPara="1" vert="horz" wrap="square" lIns="91425" tIns="45700" rIns="91425" bIns="45700" rtlCol="0" anchor="ctr" anchorCtr="0">
            <a:noAutofit/>
          </a:bodyPr>
          <a:lstStyle/>
          <a:p>
            <a:pPr algn="ctr">
              <a:lnSpc>
                <a:spcPct val="100000"/>
              </a:lnSpc>
              <a:spcBef>
                <a:spcPts val="0"/>
              </a:spcBef>
              <a:buClr>
                <a:schemeClr val="dk2"/>
              </a:buClr>
              <a:buSzPts val="2800"/>
            </a:pPr>
            <a:r>
              <a:rPr lang="en-US" sz="2800"/>
              <a:t>Example Queries</a:t>
            </a:r>
            <a:endParaRPr sz="2800"/>
          </a:p>
        </p:txBody>
      </p:sp>
      <p:sp>
        <p:nvSpPr>
          <p:cNvPr id="1084" name="Google Shape;1084;p103"/>
          <p:cNvSpPr txBox="1">
            <a:spLocks noGrp="1"/>
          </p:cNvSpPr>
          <p:nvPr>
            <p:ph type="body" idx="1"/>
          </p:nvPr>
        </p:nvSpPr>
        <p:spPr>
          <a:xfrm>
            <a:off x="1814514" y="1219200"/>
            <a:ext cx="8561387" cy="825500"/>
          </a:xfrm>
          <a:prstGeom prst="rect">
            <a:avLst/>
          </a:prstGeom>
          <a:noFill/>
          <a:ln>
            <a:noFill/>
          </a:ln>
        </p:spPr>
        <p:txBody>
          <a:bodyPr spcFirstLastPara="1" vert="horz" wrap="square" lIns="91425" tIns="45700" rIns="91425" bIns="45700" rtlCol="0" anchor="t" anchorCtr="0">
            <a:noAutofit/>
          </a:bodyPr>
          <a:lstStyle/>
          <a:p>
            <a:pPr marL="342900" indent="-342900">
              <a:lnSpc>
                <a:spcPct val="100000"/>
              </a:lnSpc>
              <a:spcBef>
                <a:spcPts val="0"/>
              </a:spcBef>
              <a:buClr>
                <a:schemeClr val="dk1"/>
              </a:buClr>
              <a:buSzPts val="2400"/>
              <a:buFont typeface="Arial"/>
              <a:buChar char="•"/>
            </a:pPr>
            <a:r>
              <a:rPr lang="en-US" sz="2400"/>
              <a:t>Find the names of all customers who have a loan at the Perryridge branch.</a:t>
            </a:r>
            <a:endParaRPr sz="2400"/>
          </a:p>
        </p:txBody>
      </p:sp>
      <p:sp>
        <p:nvSpPr>
          <p:cNvPr id="1085" name="Google Shape;1085;p103"/>
          <p:cNvSpPr txBox="1"/>
          <p:nvPr/>
        </p:nvSpPr>
        <p:spPr>
          <a:xfrm>
            <a:off x="1828800" y="4038600"/>
            <a:ext cx="8350250" cy="1112838"/>
          </a:xfrm>
          <a:prstGeom prst="rect">
            <a:avLst/>
          </a:prstGeom>
          <a:noFill/>
          <a:ln>
            <a:noFill/>
          </a:ln>
        </p:spPr>
        <p:txBody>
          <a:bodyPr spcFirstLastPara="1" wrap="square" lIns="91425" tIns="45700" rIns="91425" bIns="45700" anchor="t" anchorCtr="0">
            <a:spAutoFit/>
          </a:bodyPr>
          <a:lstStyle/>
          <a:p>
            <a:pPr indent="-114300">
              <a:buClr>
                <a:schemeClr val="dk2"/>
              </a:buClr>
              <a:buSzPts val="1800"/>
              <a:buFont typeface="Helvetica Neue"/>
              <a:buChar char="•"/>
            </a:pPr>
            <a:r>
              <a:rPr lang="en-US" sz="2000">
                <a:solidFill>
                  <a:schemeClr val="dk1"/>
                </a:solidFill>
                <a:latin typeface="Helvetica Neue"/>
                <a:ea typeface="Helvetica Neue"/>
                <a:cs typeface="Helvetica Neue"/>
                <a:sym typeface="Helvetica Neue"/>
              </a:rPr>
              <a:t>  Find the names of all customers who have a loan at the </a:t>
            </a:r>
            <a:br>
              <a:rPr lang="en-US" sz="2000">
                <a:solidFill>
                  <a:schemeClr val="dk1"/>
                </a:solidFill>
                <a:latin typeface="Helvetica Neue"/>
                <a:ea typeface="Helvetica Neue"/>
                <a:cs typeface="Helvetica Neue"/>
                <a:sym typeface="Helvetica Neue"/>
              </a:rPr>
            </a:br>
            <a:r>
              <a:rPr lang="en-US" sz="2000">
                <a:solidFill>
                  <a:schemeClr val="dk1"/>
                </a:solidFill>
                <a:latin typeface="Helvetica Neue"/>
                <a:ea typeface="Helvetica Neue"/>
                <a:cs typeface="Helvetica Neue"/>
                <a:sym typeface="Helvetica Neue"/>
              </a:rPr>
              <a:t>    Perryridge branch but do not have an account at any branch of the</a:t>
            </a:r>
            <a:endParaRPr sz="2000">
              <a:solidFill>
                <a:schemeClr val="dk1"/>
              </a:solidFill>
              <a:latin typeface="Helvetica Neue"/>
              <a:ea typeface="Helvetica Neue"/>
              <a:cs typeface="Helvetica Neue"/>
              <a:sym typeface="Helvetica Neue"/>
            </a:endParaRPr>
          </a:p>
          <a:p>
            <a:pPr>
              <a:spcBef>
                <a:spcPts val="700"/>
              </a:spcBef>
            </a:pPr>
            <a:r>
              <a:rPr lang="en-US" sz="2000">
                <a:solidFill>
                  <a:schemeClr val="dk1"/>
                </a:solidFill>
                <a:latin typeface="Helvetica Neue"/>
                <a:ea typeface="Helvetica Neue"/>
                <a:cs typeface="Helvetica Neue"/>
                <a:sym typeface="Helvetica Neue"/>
              </a:rPr>
              <a:t>    bank.</a:t>
            </a:r>
            <a:endParaRPr sz="2000">
              <a:solidFill>
                <a:schemeClr val="dk1"/>
              </a:solidFill>
              <a:latin typeface="Helvetica Neue"/>
              <a:ea typeface="Helvetica Neue"/>
              <a:cs typeface="Helvetica Neue"/>
              <a:sym typeface="Helvetica Neue"/>
            </a:endParaRPr>
          </a:p>
        </p:txBody>
      </p:sp>
      <p:sp>
        <p:nvSpPr>
          <p:cNvPr id="1086" name="Google Shape;1086;p103"/>
          <p:cNvSpPr txBox="1"/>
          <p:nvPr/>
        </p:nvSpPr>
        <p:spPr>
          <a:xfrm>
            <a:off x="1828801" y="4953000"/>
            <a:ext cx="8469313" cy="1460500"/>
          </a:xfrm>
          <a:prstGeom prst="rect">
            <a:avLst/>
          </a:prstGeom>
          <a:noFill/>
          <a:ln>
            <a:noFill/>
          </a:ln>
        </p:spPr>
        <p:txBody>
          <a:bodyPr spcFirstLastPara="1" wrap="square" lIns="91425" tIns="45700" rIns="91425" bIns="45700" anchor="t" anchorCtr="0">
            <a:spAutoFit/>
          </a:bodyPr>
          <a:lstStyle/>
          <a:p>
            <a:r>
              <a:rPr lang="en-US" sz="2000">
                <a:solidFill>
                  <a:schemeClr val="dk1"/>
                </a:solidFill>
                <a:latin typeface="Helvetica Neue"/>
                <a:ea typeface="Helvetica Neue"/>
                <a:cs typeface="Helvetica Neue"/>
                <a:sym typeface="Helvetica Neue"/>
              </a:rPr>
              <a:t>∏</a:t>
            </a:r>
            <a:r>
              <a:rPr lang="en-US" sz="2800" i="1" baseline="-25000">
                <a:solidFill>
                  <a:schemeClr val="dk1"/>
                </a:solidFill>
                <a:latin typeface="Helvetica Neue"/>
                <a:ea typeface="Helvetica Neue"/>
                <a:cs typeface="Helvetica Neue"/>
                <a:sym typeface="Helvetica Neue"/>
              </a:rPr>
              <a:t>customer-name</a:t>
            </a:r>
            <a:r>
              <a:rPr lang="en-US" sz="2000">
                <a:solidFill>
                  <a:schemeClr val="dk1"/>
                </a:solidFill>
                <a:latin typeface="Helvetica Neue"/>
                <a:ea typeface="Helvetica Neue"/>
                <a:cs typeface="Helvetica Neue"/>
                <a:sym typeface="Helvetica Neue"/>
              </a:rPr>
              <a:t> (</a:t>
            </a:r>
            <a:r>
              <a:rPr lang="en-US" sz="2800">
                <a:solidFill>
                  <a:schemeClr val="dk1"/>
                </a:solidFill>
                <a:latin typeface="Helvetica Neue"/>
                <a:ea typeface="Helvetica Neue"/>
                <a:cs typeface="Helvetica Neue"/>
                <a:sym typeface="Helvetica Neue"/>
              </a:rPr>
              <a:t>σ</a:t>
            </a:r>
            <a:r>
              <a:rPr lang="en-US" sz="2800" i="1" baseline="-25000">
                <a:solidFill>
                  <a:schemeClr val="dk1"/>
                </a:solidFill>
                <a:latin typeface="Helvetica Neue"/>
                <a:ea typeface="Helvetica Neue"/>
                <a:cs typeface="Helvetica Neue"/>
                <a:sym typeface="Helvetica Neue"/>
              </a:rPr>
              <a:t>branch-name = “Perryridge”</a:t>
            </a:r>
            <a:endParaRPr sz="2800">
              <a:solidFill>
                <a:schemeClr val="dk1"/>
              </a:solidFill>
              <a:latin typeface="Helvetica Neue"/>
              <a:ea typeface="Helvetica Neue"/>
              <a:cs typeface="Helvetica Neue"/>
              <a:sym typeface="Helvetica Neue"/>
            </a:endParaRPr>
          </a:p>
          <a:p>
            <a:pPr>
              <a:spcBef>
                <a:spcPts val="980"/>
              </a:spcBef>
            </a:pPr>
            <a:r>
              <a:rPr lang="en-US" sz="2000">
                <a:solidFill>
                  <a:schemeClr val="dk1"/>
                </a:solidFill>
                <a:latin typeface="Helvetica Neue"/>
                <a:ea typeface="Helvetica Neue"/>
                <a:cs typeface="Helvetica Neue"/>
                <a:sym typeface="Helvetica Neue"/>
              </a:rPr>
              <a:t>    (</a:t>
            </a:r>
            <a:r>
              <a:rPr lang="en-US" sz="2800">
                <a:solidFill>
                  <a:schemeClr val="dk1"/>
                </a:solidFill>
                <a:latin typeface="Helvetica Neue"/>
                <a:ea typeface="Helvetica Neue"/>
                <a:cs typeface="Helvetica Neue"/>
                <a:sym typeface="Helvetica Neue"/>
              </a:rPr>
              <a:t>σ</a:t>
            </a:r>
            <a:r>
              <a:rPr lang="en-US" sz="2800" i="1" baseline="-25000">
                <a:solidFill>
                  <a:schemeClr val="dk1"/>
                </a:solidFill>
                <a:latin typeface="Helvetica Neue"/>
                <a:ea typeface="Helvetica Neue"/>
                <a:cs typeface="Helvetica Neue"/>
                <a:sym typeface="Helvetica Neue"/>
              </a:rPr>
              <a:t>borrower.loan-number = loan.loan-number</a:t>
            </a:r>
            <a:r>
              <a:rPr lang="en-US" sz="2000">
                <a:solidFill>
                  <a:schemeClr val="dk1"/>
                </a:solidFill>
                <a:latin typeface="Helvetica Neue"/>
                <a:ea typeface="Helvetica Neue"/>
                <a:cs typeface="Helvetica Neue"/>
                <a:sym typeface="Helvetica Neue"/>
              </a:rPr>
              <a:t>(</a:t>
            </a:r>
            <a:r>
              <a:rPr lang="en-US" sz="2400">
                <a:solidFill>
                  <a:schemeClr val="dk1"/>
                </a:solidFill>
                <a:latin typeface="Helvetica Neue"/>
                <a:ea typeface="Helvetica Neue"/>
                <a:cs typeface="Helvetica Neue"/>
                <a:sym typeface="Helvetica Neue"/>
              </a:rPr>
              <a:t>borrower x loan</a:t>
            </a:r>
            <a:r>
              <a:rPr lang="en-US" sz="2000">
                <a:solidFill>
                  <a:schemeClr val="dk1"/>
                </a:solidFill>
                <a:latin typeface="Helvetica Neue"/>
                <a:ea typeface="Helvetica Neue"/>
                <a:cs typeface="Helvetica Neue"/>
                <a:sym typeface="Helvetica Neue"/>
              </a:rPr>
              <a:t>)))  –           </a:t>
            </a:r>
            <a:br>
              <a:rPr lang="en-US" sz="2000">
                <a:solidFill>
                  <a:schemeClr val="dk1"/>
                </a:solidFill>
                <a:latin typeface="Helvetica Neue"/>
                <a:ea typeface="Helvetica Neue"/>
                <a:cs typeface="Helvetica Neue"/>
                <a:sym typeface="Helvetica Neue"/>
              </a:rPr>
            </a:br>
            <a:r>
              <a:rPr lang="en-US" sz="2000">
                <a:solidFill>
                  <a:schemeClr val="dk1"/>
                </a:solidFill>
                <a:latin typeface="Helvetica Neue"/>
                <a:ea typeface="Helvetica Neue"/>
                <a:cs typeface="Helvetica Neue"/>
                <a:sym typeface="Helvetica Neue"/>
              </a:rPr>
              <a:t>     ∏</a:t>
            </a:r>
            <a:r>
              <a:rPr lang="en-US" sz="2800" i="1" baseline="-25000">
                <a:solidFill>
                  <a:schemeClr val="dk1"/>
                </a:solidFill>
                <a:latin typeface="Helvetica Neue"/>
                <a:ea typeface="Helvetica Neue"/>
                <a:cs typeface="Helvetica Neue"/>
                <a:sym typeface="Helvetica Neue"/>
              </a:rPr>
              <a:t>customer-name</a:t>
            </a:r>
            <a:r>
              <a:rPr lang="en-US" sz="2000">
                <a:solidFill>
                  <a:schemeClr val="dk1"/>
                </a:solidFill>
                <a:latin typeface="Helvetica Neue"/>
                <a:ea typeface="Helvetica Neue"/>
                <a:cs typeface="Helvetica Neue"/>
                <a:sym typeface="Helvetica Neue"/>
              </a:rPr>
              <a:t>(</a:t>
            </a:r>
            <a:r>
              <a:rPr lang="en-US" sz="2400">
                <a:solidFill>
                  <a:schemeClr val="dk1"/>
                </a:solidFill>
                <a:latin typeface="Helvetica Neue"/>
                <a:ea typeface="Helvetica Neue"/>
                <a:cs typeface="Helvetica Neue"/>
                <a:sym typeface="Helvetica Neue"/>
              </a:rPr>
              <a:t>depositor</a:t>
            </a:r>
            <a:r>
              <a:rPr lang="en-US" sz="2000">
                <a:solidFill>
                  <a:schemeClr val="dk1"/>
                </a:solidFill>
                <a:latin typeface="Helvetica Neue"/>
                <a:ea typeface="Helvetica Neue"/>
                <a:cs typeface="Helvetica Neue"/>
                <a:sym typeface="Helvetica Neue"/>
              </a:rPr>
              <a:t>)</a:t>
            </a:r>
            <a:endParaRPr>
              <a:solidFill>
                <a:schemeClr val="dk1"/>
              </a:solidFill>
              <a:latin typeface="Helvetica Neue"/>
              <a:ea typeface="Helvetica Neue"/>
              <a:cs typeface="Helvetica Neue"/>
              <a:sym typeface="Helvetica Neue"/>
            </a:endParaRPr>
          </a:p>
        </p:txBody>
      </p:sp>
      <p:sp>
        <p:nvSpPr>
          <p:cNvPr id="1087" name="Google Shape;1087;p103"/>
          <p:cNvSpPr txBox="1"/>
          <p:nvPr/>
        </p:nvSpPr>
        <p:spPr>
          <a:xfrm>
            <a:off x="2133600" y="2133601"/>
            <a:ext cx="7772400" cy="4029075"/>
          </a:xfrm>
          <a:prstGeom prst="rect">
            <a:avLst/>
          </a:prstGeom>
          <a:noFill/>
          <a:ln>
            <a:noFill/>
          </a:ln>
        </p:spPr>
        <p:txBody>
          <a:bodyPr spcFirstLastPara="1" wrap="square" lIns="91425" tIns="45700" rIns="91425" bIns="45700" anchor="t" anchorCtr="0">
            <a:spAutoFit/>
          </a:bodyPr>
          <a:lstStyle/>
          <a:p>
            <a:pPr algn="ctr"/>
            <a:r>
              <a:rPr lang="en-US" sz="2400">
                <a:solidFill>
                  <a:schemeClr val="dk1"/>
                </a:solidFill>
                <a:latin typeface="Helvetica Neue"/>
                <a:ea typeface="Helvetica Neue"/>
                <a:cs typeface="Helvetica Neue"/>
                <a:sym typeface="Helvetica Neue"/>
              </a:rPr>
              <a:t>∏</a:t>
            </a:r>
            <a:r>
              <a:rPr lang="en-US" sz="2400" i="1" baseline="-25000">
                <a:solidFill>
                  <a:schemeClr val="dk1"/>
                </a:solidFill>
                <a:latin typeface="Helvetica Neue"/>
                <a:ea typeface="Helvetica Neue"/>
                <a:cs typeface="Helvetica Neue"/>
                <a:sym typeface="Helvetica Neue"/>
              </a:rPr>
              <a:t>customer-name</a:t>
            </a:r>
            <a:r>
              <a:rPr lang="en-US" sz="2400">
                <a:solidFill>
                  <a:schemeClr val="dk1"/>
                </a:solidFill>
                <a:latin typeface="Helvetica Neue"/>
                <a:ea typeface="Helvetica Neue"/>
                <a:cs typeface="Helvetica Neue"/>
                <a:sym typeface="Helvetica Neue"/>
              </a:rPr>
              <a:t> (σ</a:t>
            </a:r>
            <a:r>
              <a:rPr lang="en-US" sz="2400" i="1" baseline="-25000">
                <a:solidFill>
                  <a:schemeClr val="dk1"/>
                </a:solidFill>
                <a:latin typeface="Helvetica Neue"/>
                <a:ea typeface="Helvetica Neue"/>
                <a:cs typeface="Helvetica Neue"/>
                <a:sym typeface="Helvetica Neue"/>
              </a:rPr>
              <a:t>branch-name=“Perryridge”</a:t>
            </a:r>
            <a:endParaRPr sz="2400">
              <a:solidFill>
                <a:schemeClr val="dk1"/>
              </a:solidFill>
              <a:latin typeface="Helvetica Neue"/>
              <a:ea typeface="Helvetica Neue"/>
              <a:cs typeface="Helvetica Neue"/>
              <a:sym typeface="Helvetica Neue"/>
            </a:endParaRPr>
          </a:p>
          <a:p>
            <a:pPr algn="ctr">
              <a:spcBef>
                <a:spcPts val="840"/>
              </a:spcBef>
            </a:pPr>
            <a:r>
              <a:rPr lang="en-US" sz="2400">
                <a:solidFill>
                  <a:schemeClr val="dk1"/>
                </a:solidFill>
                <a:latin typeface="Helvetica Neue"/>
                <a:ea typeface="Helvetica Neue"/>
                <a:cs typeface="Helvetica Neue"/>
                <a:sym typeface="Helvetica Neue"/>
              </a:rPr>
              <a:t>    (</a:t>
            </a:r>
            <a:r>
              <a:rPr lang="en-US" sz="2400" i="1">
                <a:solidFill>
                  <a:schemeClr val="dk1"/>
                </a:solidFill>
                <a:latin typeface="Helvetica Neue"/>
                <a:ea typeface="Helvetica Neue"/>
                <a:cs typeface="Helvetica Neue"/>
                <a:sym typeface="Helvetica Neue"/>
              </a:rPr>
              <a:t>σ</a:t>
            </a:r>
            <a:r>
              <a:rPr lang="en-US" sz="2400" i="1" baseline="-25000">
                <a:solidFill>
                  <a:schemeClr val="dk1"/>
                </a:solidFill>
                <a:latin typeface="Helvetica Neue"/>
                <a:ea typeface="Helvetica Neue"/>
                <a:cs typeface="Helvetica Neue"/>
                <a:sym typeface="Helvetica Neue"/>
              </a:rPr>
              <a:t>borrower.loan-number = loan.loan-number</a:t>
            </a:r>
            <a:r>
              <a:rPr lang="en-US" sz="2400">
                <a:solidFill>
                  <a:schemeClr val="dk1"/>
                </a:solidFill>
                <a:latin typeface="Helvetica Neue"/>
                <a:ea typeface="Helvetica Neue"/>
                <a:cs typeface="Helvetica Neue"/>
                <a:sym typeface="Helvetica Neue"/>
              </a:rPr>
              <a:t>(</a:t>
            </a:r>
            <a:r>
              <a:rPr lang="en-US" sz="2400" i="1">
                <a:solidFill>
                  <a:schemeClr val="dk1"/>
                </a:solidFill>
                <a:latin typeface="Helvetica Neue"/>
                <a:ea typeface="Helvetica Neue"/>
                <a:cs typeface="Helvetica Neue"/>
                <a:sym typeface="Helvetica Neue"/>
              </a:rPr>
              <a:t>borrower x loan</a:t>
            </a:r>
            <a:r>
              <a:rPr lang="en-US" sz="2400">
                <a:solidFill>
                  <a:schemeClr val="dk1"/>
                </a:solidFill>
                <a:latin typeface="Helvetica Neue"/>
                <a:ea typeface="Helvetica Neue"/>
                <a:cs typeface="Helvetica Neue"/>
                <a:sym typeface="Helvetica Neue"/>
              </a:rPr>
              <a:t>)))</a:t>
            </a:r>
            <a:endParaRPr sz="2400">
              <a:solidFill>
                <a:schemeClr val="dk1"/>
              </a:solidFill>
              <a:latin typeface="Helvetica Neue"/>
              <a:ea typeface="Helvetica Neue"/>
              <a:cs typeface="Helvetica Neue"/>
              <a:sym typeface="Helvetica Neue"/>
            </a:endParaRPr>
          </a:p>
          <a:p>
            <a:pPr lvl="1"/>
            <a:r>
              <a:rPr lang="en-US" sz="2000">
                <a:solidFill>
                  <a:schemeClr val="dk1"/>
                </a:solidFill>
                <a:latin typeface="Times New Roman"/>
                <a:ea typeface="Times New Roman"/>
                <a:cs typeface="Times New Roman"/>
                <a:sym typeface="Times New Roman"/>
              </a:rPr>
              <a:t>     </a:t>
            </a:r>
            <a:endParaRPr sz="2000">
              <a:solidFill>
                <a:schemeClr val="dk1"/>
              </a:solidFill>
              <a:latin typeface="Times New Roman"/>
              <a:ea typeface="Times New Roman"/>
              <a:cs typeface="Times New Roman"/>
              <a:sym typeface="Times New Roman"/>
            </a:endParaRPr>
          </a:p>
          <a:p>
            <a:endParaRPr sz="2000">
              <a:solidFill>
                <a:schemeClr val="dk1"/>
              </a:solidFill>
              <a:latin typeface="Times New Roman"/>
              <a:ea typeface="Times New Roman"/>
              <a:cs typeface="Times New Roman"/>
              <a:sym typeface="Times New Roman"/>
            </a:endParaRPr>
          </a:p>
          <a:p>
            <a:pPr algn="ctr">
              <a:spcBef>
                <a:spcPts val="840"/>
              </a:spcBef>
            </a:pPr>
            <a:endParaRPr sz="2400">
              <a:solidFill>
                <a:schemeClr val="dk1"/>
              </a:solidFill>
              <a:latin typeface="Helvetica Neue"/>
              <a:ea typeface="Helvetica Neue"/>
              <a:cs typeface="Helvetica Neue"/>
              <a:sym typeface="Helvetica Neue"/>
            </a:endParaRPr>
          </a:p>
          <a:p>
            <a:pPr algn="ctr">
              <a:spcBef>
                <a:spcPts val="840"/>
              </a:spcBef>
            </a:pPr>
            <a:endParaRPr sz="2400">
              <a:solidFill>
                <a:schemeClr val="dk1"/>
              </a:solidFill>
              <a:latin typeface="Helvetica Neue"/>
              <a:ea typeface="Helvetica Neue"/>
              <a:cs typeface="Helvetica Neue"/>
              <a:sym typeface="Helvetica Neue"/>
            </a:endParaRPr>
          </a:p>
          <a:p>
            <a:pPr algn="ctr">
              <a:spcBef>
                <a:spcPts val="840"/>
              </a:spcBef>
            </a:pPr>
            <a:endParaRPr sz="2400">
              <a:solidFill>
                <a:schemeClr val="dk1"/>
              </a:solidFill>
              <a:latin typeface="Helvetica Neue"/>
              <a:ea typeface="Helvetica Neue"/>
              <a:cs typeface="Helvetica Neue"/>
              <a:sym typeface="Helvetica Neue"/>
            </a:endParaRPr>
          </a:p>
          <a:p>
            <a:pPr algn="ctr">
              <a:spcBef>
                <a:spcPts val="840"/>
              </a:spcBef>
            </a:pPr>
            <a:endParaRPr sz="2400">
              <a:solidFill>
                <a:schemeClr val="dk1"/>
              </a:solidFill>
              <a:latin typeface="Helvetica Neue"/>
              <a:ea typeface="Helvetica Neue"/>
              <a:cs typeface="Helvetica Neue"/>
              <a:sym typeface="Helvetica Neue"/>
            </a:endParaRPr>
          </a:p>
          <a:p>
            <a:pPr algn="ctr">
              <a:spcBef>
                <a:spcPts val="840"/>
              </a:spcBef>
            </a:pPr>
            <a:endParaRPr sz="2400">
              <a:solidFill>
                <a:schemeClr val="dk1"/>
              </a:solidFill>
              <a:latin typeface="Helvetica Neue"/>
              <a:ea typeface="Helvetica Neue"/>
              <a:cs typeface="Helvetica Neue"/>
              <a:sym typeface="Helvetica Neue"/>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8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Shape 1091"/>
        <p:cNvGrpSpPr/>
        <p:nvPr/>
      </p:nvGrpSpPr>
      <p:grpSpPr>
        <a:xfrm>
          <a:off x="0" y="0"/>
          <a:ext cx="0" cy="0"/>
          <a:chOff x="0" y="0"/>
          <a:chExt cx="0" cy="0"/>
        </a:xfrm>
      </p:grpSpPr>
      <p:sp>
        <p:nvSpPr>
          <p:cNvPr id="1092" name="Google Shape;1092;p104"/>
          <p:cNvSpPr txBox="1">
            <a:spLocks noGrp="1"/>
          </p:cNvSpPr>
          <p:nvPr>
            <p:ph type="title"/>
          </p:nvPr>
        </p:nvSpPr>
        <p:spPr>
          <a:xfrm>
            <a:off x="2209800" y="0"/>
            <a:ext cx="7772400" cy="1143000"/>
          </a:xfrm>
          <a:prstGeom prst="rect">
            <a:avLst/>
          </a:prstGeom>
          <a:noFill/>
          <a:ln>
            <a:noFill/>
          </a:ln>
        </p:spPr>
        <p:txBody>
          <a:bodyPr spcFirstLastPara="1" vert="horz" wrap="square" lIns="91425" tIns="45700" rIns="91425" bIns="45700" rtlCol="0" anchor="ctr" anchorCtr="0">
            <a:noAutofit/>
          </a:bodyPr>
          <a:lstStyle/>
          <a:p>
            <a:pPr algn="ctr">
              <a:lnSpc>
                <a:spcPct val="100000"/>
              </a:lnSpc>
              <a:spcBef>
                <a:spcPts val="0"/>
              </a:spcBef>
              <a:buClr>
                <a:schemeClr val="dk2"/>
              </a:buClr>
              <a:buSzPts val="2800"/>
            </a:pPr>
            <a:r>
              <a:rPr lang="en-US" sz="2800"/>
              <a:t>Example Queries</a:t>
            </a:r>
            <a:endParaRPr sz="2800"/>
          </a:p>
        </p:txBody>
      </p:sp>
      <p:sp>
        <p:nvSpPr>
          <p:cNvPr id="1093" name="Google Shape;1093;p104"/>
          <p:cNvSpPr txBox="1">
            <a:spLocks noGrp="1"/>
          </p:cNvSpPr>
          <p:nvPr>
            <p:ph type="body" idx="1"/>
          </p:nvPr>
        </p:nvSpPr>
        <p:spPr>
          <a:xfrm>
            <a:off x="2209800" y="1066800"/>
            <a:ext cx="7772400" cy="1479550"/>
          </a:xfrm>
          <a:prstGeom prst="rect">
            <a:avLst/>
          </a:prstGeom>
          <a:noFill/>
          <a:ln>
            <a:noFill/>
          </a:ln>
        </p:spPr>
        <p:txBody>
          <a:bodyPr spcFirstLastPara="1" vert="horz" wrap="square" lIns="91425" tIns="45700" rIns="91425" bIns="45700" rtlCol="0" anchor="t" anchorCtr="0">
            <a:noAutofit/>
          </a:bodyPr>
          <a:lstStyle/>
          <a:p>
            <a:pPr marL="342900" indent="-342900">
              <a:spcBef>
                <a:spcPts val="0"/>
              </a:spcBef>
              <a:buClr>
                <a:schemeClr val="dk1"/>
              </a:buClr>
              <a:buSzPts val="2400"/>
              <a:buFont typeface="Arial"/>
              <a:buChar char="•"/>
            </a:pPr>
            <a:r>
              <a:rPr lang="en-US" sz="2400" b="1"/>
              <a:t>Find the largest account balance</a:t>
            </a:r>
            <a:endParaRPr sz="2400" b="1"/>
          </a:p>
          <a:p>
            <a:pPr marL="342900" indent="-342900">
              <a:spcBef>
                <a:spcPts val="480"/>
              </a:spcBef>
              <a:buClr>
                <a:schemeClr val="dk1"/>
              </a:buClr>
              <a:buSzPts val="2400"/>
              <a:buNone/>
            </a:pPr>
            <a:r>
              <a:rPr lang="en-US" sz="2400"/>
              <a:t>        1. Rename </a:t>
            </a:r>
            <a:r>
              <a:rPr lang="en-US" sz="2400" i="1"/>
              <a:t>account </a:t>
            </a:r>
            <a:r>
              <a:rPr lang="en-US" sz="2400"/>
              <a:t>relation as </a:t>
            </a:r>
            <a:r>
              <a:rPr lang="en-US" sz="2400" i="1"/>
              <a:t>d</a:t>
            </a:r>
            <a:endParaRPr sz="2400"/>
          </a:p>
          <a:p>
            <a:pPr marL="342900" indent="-342900">
              <a:spcBef>
                <a:spcPts val="480"/>
              </a:spcBef>
              <a:buClr>
                <a:schemeClr val="dk1"/>
              </a:buClr>
              <a:buSzPts val="2400"/>
              <a:buNone/>
            </a:pPr>
            <a:r>
              <a:rPr lang="en-US" sz="2400"/>
              <a:t>        2. The query is:</a:t>
            </a:r>
            <a:endParaRPr sz="2400"/>
          </a:p>
          <a:p>
            <a:pPr marL="342900" indent="-342900">
              <a:spcBef>
                <a:spcPts val="560"/>
              </a:spcBef>
              <a:buClr>
                <a:schemeClr val="dk1"/>
              </a:buClr>
              <a:buSzPts val="2800"/>
              <a:buNone/>
            </a:pPr>
            <a:r>
              <a:rPr lang="en-US"/>
              <a:t>     </a:t>
            </a:r>
            <a:endParaRPr/>
          </a:p>
        </p:txBody>
      </p:sp>
      <p:sp>
        <p:nvSpPr>
          <p:cNvPr id="1094" name="Google Shape;1094;p104"/>
          <p:cNvSpPr txBox="1"/>
          <p:nvPr/>
        </p:nvSpPr>
        <p:spPr>
          <a:xfrm>
            <a:off x="2608264" y="2481264"/>
            <a:ext cx="7331075" cy="1012825"/>
          </a:xfrm>
          <a:prstGeom prst="rect">
            <a:avLst/>
          </a:prstGeom>
          <a:noFill/>
          <a:ln>
            <a:noFill/>
          </a:ln>
        </p:spPr>
        <p:txBody>
          <a:bodyPr spcFirstLastPara="1" wrap="square" lIns="91425" tIns="45700" rIns="91425" bIns="45700" anchor="t" anchorCtr="0">
            <a:spAutoFit/>
          </a:bodyPr>
          <a:lstStyle/>
          <a:p>
            <a:r>
              <a:rPr lang="en-US" sz="2400">
                <a:solidFill>
                  <a:schemeClr val="dk1"/>
                </a:solidFill>
                <a:latin typeface="Helvetica Neue"/>
                <a:ea typeface="Helvetica Neue"/>
                <a:cs typeface="Helvetica Neue"/>
                <a:sym typeface="Helvetica Neue"/>
              </a:rPr>
              <a:t>∏</a:t>
            </a:r>
            <a:r>
              <a:rPr lang="en-US" sz="2800" i="1" baseline="-25000">
                <a:solidFill>
                  <a:schemeClr val="dk1"/>
                </a:solidFill>
                <a:latin typeface="Helvetica Neue"/>
                <a:ea typeface="Helvetica Neue"/>
                <a:cs typeface="Helvetica Neue"/>
                <a:sym typeface="Helvetica Neue"/>
              </a:rPr>
              <a:t>balance</a:t>
            </a:r>
            <a:r>
              <a:rPr lang="en-US" sz="2400" i="1">
                <a:solidFill>
                  <a:schemeClr val="dk1"/>
                </a:solidFill>
                <a:latin typeface="Helvetica Neue"/>
                <a:ea typeface="Helvetica Neue"/>
                <a:cs typeface="Helvetica Neue"/>
                <a:sym typeface="Helvetica Neue"/>
              </a:rPr>
              <a:t>(account) </a:t>
            </a:r>
            <a:r>
              <a:rPr lang="en-US" sz="2400">
                <a:solidFill>
                  <a:schemeClr val="dk1"/>
                </a:solidFill>
                <a:latin typeface="Helvetica Neue"/>
                <a:ea typeface="Helvetica Neue"/>
                <a:cs typeface="Helvetica Neue"/>
                <a:sym typeface="Helvetica Neue"/>
              </a:rPr>
              <a:t>- ∏</a:t>
            </a:r>
            <a:r>
              <a:rPr lang="en-US" sz="2800" i="1" baseline="-25000">
                <a:solidFill>
                  <a:schemeClr val="dk1"/>
                </a:solidFill>
                <a:latin typeface="Helvetica Neue"/>
                <a:ea typeface="Helvetica Neue"/>
                <a:cs typeface="Helvetica Neue"/>
                <a:sym typeface="Helvetica Neue"/>
              </a:rPr>
              <a:t>account.balance</a:t>
            </a:r>
            <a:endParaRPr sz="2800">
              <a:solidFill>
                <a:schemeClr val="dk1"/>
              </a:solidFill>
              <a:latin typeface="Helvetica Neue"/>
              <a:ea typeface="Helvetica Neue"/>
              <a:cs typeface="Helvetica Neue"/>
              <a:sym typeface="Helvetica Neue"/>
            </a:endParaRPr>
          </a:p>
          <a:p>
            <a:pPr>
              <a:spcBef>
                <a:spcPts val="980"/>
              </a:spcBef>
            </a:pPr>
            <a:r>
              <a:rPr lang="en-US" sz="2400">
                <a:solidFill>
                  <a:schemeClr val="dk1"/>
                </a:solidFill>
                <a:latin typeface="Helvetica Neue"/>
                <a:ea typeface="Helvetica Neue"/>
                <a:cs typeface="Helvetica Neue"/>
                <a:sym typeface="Helvetica Neue"/>
              </a:rPr>
              <a:t>    (σ</a:t>
            </a:r>
            <a:r>
              <a:rPr lang="en-US" sz="2800" i="1" baseline="-25000">
                <a:solidFill>
                  <a:schemeClr val="dk1"/>
                </a:solidFill>
                <a:latin typeface="Helvetica Neue"/>
                <a:ea typeface="Helvetica Neue"/>
                <a:cs typeface="Helvetica Neue"/>
                <a:sym typeface="Helvetica Neue"/>
              </a:rPr>
              <a:t>account.balance &lt; d.balance</a:t>
            </a:r>
            <a:r>
              <a:rPr lang="en-US" sz="2400" i="1">
                <a:solidFill>
                  <a:schemeClr val="dk1"/>
                </a:solidFill>
                <a:latin typeface="Helvetica Neue"/>
                <a:ea typeface="Helvetica Neue"/>
                <a:cs typeface="Helvetica Neue"/>
                <a:sym typeface="Helvetica Neue"/>
              </a:rPr>
              <a:t> </a:t>
            </a:r>
            <a:r>
              <a:rPr lang="en-US" sz="2400">
                <a:solidFill>
                  <a:schemeClr val="dk1"/>
                </a:solidFill>
                <a:latin typeface="Helvetica Neue"/>
                <a:ea typeface="Helvetica Neue"/>
                <a:cs typeface="Helvetica Neue"/>
                <a:sym typeface="Helvetica Neue"/>
              </a:rPr>
              <a:t>(</a:t>
            </a:r>
            <a:r>
              <a:rPr lang="en-US" sz="2400" i="1">
                <a:solidFill>
                  <a:schemeClr val="dk1"/>
                </a:solidFill>
                <a:latin typeface="Helvetica Neue"/>
                <a:ea typeface="Helvetica Neue"/>
                <a:cs typeface="Helvetica Neue"/>
                <a:sym typeface="Helvetica Neue"/>
              </a:rPr>
              <a:t>account x </a:t>
            </a:r>
            <a:r>
              <a:rPr lang="en-US" sz="2400" i="1">
                <a:solidFill>
                  <a:schemeClr val="dk1"/>
                </a:solidFill>
                <a:latin typeface="Noto Sans Symbols"/>
                <a:ea typeface="Noto Sans Symbols"/>
                <a:cs typeface="Noto Sans Symbols"/>
                <a:sym typeface="Noto Sans Symbols"/>
              </a:rPr>
              <a:t>ρ</a:t>
            </a:r>
            <a:r>
              <a:rPr lang="en-US" sz="2800" i="1" baseline="-25000">
                <a:solidFill>
                  <a:schemeClr val="dk1"/>
                </a:solidFill>
                <a:latin typeface="Helvetica Neue"/>
                <a:ea typeface="Helvetica Neue"/>
                <a:cs typeface="Helvetica Neue"/>
                <a:sym typeface="Helvetica Neue"/>
              </a:rPr>
              <a:t>d</a:t>
            </a:r>
            <a:r>
              <a:rPr lang="en-US" sz="2400" i="1">
                <a:solidFill>
                  <a:schemeClr val="dk1"/>
                </a:solidFill>
                <a:latin typeface="Helvetica Neue"/>
                <a:ea typeface="Helvetica Neue"/>
                <a:cs typeface="Helvetica Neue"/>
                <a:sym typeface="Helvetica Neue"/>
              </a:rPr>
              <a:t> (account</a:t>
            </a:r>
            <a:r>
              <a:rPr lang="en-US" sz="2400">
                <a:solidFill>
                  <a:schemeClr val="dk1"/>
                </a:solidFill>
                <a:latin typeface="Helvetica Neue"/>
                <a:ea typeface="Helvetica Neue"/>
                <a:cs typeface="Helvetica Neue"/>
                <a:sym typeface="Helvetica Neue"/>
              </a:rPr>
              <a:t>)))</a:t>
            </a:r>
            <a:endParaRPr>
              <a:solidFill>
                <a:schemeClr val="dk1"/>
              </a:solidFill>
              <a:latin typeface="Helvetica Neue"/>
              <a:ea typeface="Helvetica Neue"/>
              <a:cs typeface="Helvetica Neue"/>
              <a:sym typeface="Helvetica Neue"/>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Shape 1098"/>
        <p:cNvGrpSpPr/>
        <p:nvPr/>
      </p:nvGrpSpPr>
      <p:grpSpPr>
        <a:xfrm>
          <a:off x="0" y="0"/>
          <a:ext cx="0" cy="0"/>
          <a:chOff x="0" y="0"/>
          <a:chExt cx="0" cy="0"/>
        </a:xfrm>
      </p:grpSpPr>
      <p:sp>
        <p:nvSpPr>
          <p:cNvPr id="1099" name="Google Shape;1099;p105"/>
          <p:cNvSpPr txBox="1">
            <a:spLocks noGrp="1"/>
          </p:cNvSpPr>
          <p:nvPr>
            <p:ph type="title"/>
          </p:nvPr>
        </p:nvSpPr>
        <p:spPr>
          <a:xfrm>
            <a:off x="2209800" y="0"/>
            <a:ext cx="7772400" cy="1143000"/>
          </a:xfrm>
          <a:prstGeom prst="rect">
            <a:avLst/>
          </a:prstGeom>
          <a:noFill/>
          <a:ln>
            <a:noFill/>
          </a:ln>
        </p:spPr>
        <p:txBody>
          <a:bodyPr spcFirstLastPara="1" vert="horz" wrap="square" lIns="91425" tIns="45700" rIns="91425" bIns="45700" rtlCol="0" anchor="ctr" anchorCtr="0">
            <a:noAutofit/>
          </a:bodyPr>
          <a:lstStyle/>
          <a:p>
            <a:pPr algn="ctr">
              <a:lnSpc>
                <a:spcPct val="100000"/>
              </a:lnSpc>
              <a:spcBef>
                <a:spcPts val="0"/>
              </a:spcBef>
              <a:buClr>
                <a:schemeClr val="dk2"/>
              </a:buClr>
              <a:buSzPts val="2800"/>
            </a:pPr>
            <a:r>
              <a:rPr lang="en-US" sz="2800"/>
              <a:t>Example Queries</a:t>
            </a:r>
            <a:endParaRPr sz="2800"/>
          </a:p>
        </p:txBody>
      </p:sp>
      <p:sp>
        <p:nvSpPr>
          <p:cNvPr id="1100" name="Google Shape;1100;p105"/>
          <p:cNvSpPr txBox="1">
            <a:spLocks noGrp="1"/>
          </p:cNvSpPr>
          <p:nvPr>
            <p:ph type="body" idx="1"/>
          </p:nvPr>
        </p:nvSpPr>
        <p:spPr>
          <a:xfrm>
            <a:off x="2209800" y="1143001"/>
            <a:ext cx="7772400" cy="631825"/>
          </a:xfrm>
          <a:prstGeom prst="rect">
            <a:avLst/>
          </a:prstGeom>
          <a:noFill/>
          <a:ln>
            <a:noFill/>
          </a:ln>
        </p:spPr>
        <p:txBody>
          <a:bodyPr spcFirstLastPara="1" vert="horz" wrap="square" lIns="91425" tIns="45700" rIns="91425" bIns="45700" rtlCol="0" anchor="t" anchorCtr="0">
            <a:noAutofit/>
          </a:bodyPr>
          <a:lstStyle/>
          <a:p>
            <a:pPr marL="342900" indent="-342900">
              <a:spcBef>
                <a:spcPts val="0"/>
              </a:spcBef>
              <a:buClr>
                <a:schemeClr val="dk1"/>
              </a:buClr>
              <a:buSzPts val="2400"/>
              <a:buFont typeface="Arial"/>
              <a:buChar char="•"/>
            </a:pPr>
            <a:r>
              <a:rPr lang="en-US" sz="2400"/>
              <a:t>Find all customers who have an account from  the “Downtown” and the Uptown” branches</a:t>
            </a:r>
            <a:r>
              <a:rPr lang="en-US"/>
              <a:t>.</a:t>
            </a:r>
            <a:endParaRPr/>
          </a:p>
        </p:txBody>
      </p:sp>
      <p:grpSp>
        <p:nvGrpSpPr>
          <p:cNvPr id="1101" name="Google Shape;1101;p105"/>
          <p:cNvGrpSpPr/>
          <p:nvPr/>
        </p:nvGrpSpPr>
        <p:grpSpPr>
          <a:xfrm>
            <a:off x="2397125" y="2262189"/>
            <a:ext cx="7397750" cy="2333625"/>
            <a:chOff x="614" y="1192"/>
            <a:chExt cx="4660" cy="1470"/>
          </a:xfrm>
        </p:grpSpPr>
        <p:sp>
          <p:nvSpPr>
            <p:cNvPr id="1102" name="Google Shape;1102;p105"/>
            <p:cNvSpPr txBox="1"/>
            <p:nvPr/>
          </p:nvSpPr>
          <p:spPr>
            <a:xfrm>
              <a:off x="727" y="2188"/>
              <a:ext cx="4547" cy="474"/>
            </a:xfrm>
            <a:prstGeom prst="rect">
              <a:avLst/>
            </a:prstGeom>
            <a:noFill/>
            <a:ln>
              <a:noFill/>
            </a:ln>
          </p:spPr>
          <p:txBody>
            <a:bodyPr spcFirstLastPara="1" wrap="square" lIns="91425" tIns="45700" rIns="91425" bIns="45700" anchor="t" anchorCtr="0">
              <a:spAutoFit/>
            </a:bodyPr>
            <a:lstStyle/>
            <a:p>
              <a:pPr lvl="1">
                <a:lnSpc>
                  <a:spcPct val="120000"/>
                </a:lnSpc>
              </a:pPr>
              <a:r>
                <a:rPr lang="en-US">
                  <a:solidFill>
                    <a:schemeClr val="dk1"/>
                  </a:solidFill>
                  <a:latin typeface="Helvetica Neue"/>
                  <a:ea typeface="Helvetica Neue"/>
                  <a:cs typeface="Helvetica Neue"/>
                  <a:sym typeface="Helvetica Neue"/>
                </a:rPr>
                <a:t>where </a:t>
              </a:r>
              <a:r>
                <a:rPr lang="en-US" i="1">
                  <a:solidFill>
                    <a:schemeClr val="dk1"/>
                  </a:solidFill>
                  <a:latin typeface="Helvetica Neue"/>
                  <a:ea typeface="Helvetica Neue"/>
                  <a:cs typeface="Helvetica Neue"/>
                  <a:sym typeface="Helvetica Neue"/>
                </a:rPr>
                <a:t>CN</a:t>
              </a:r>
              <a:r>
                <a:rPr lang="en-US">
                  <a:solidFill>
                    <a:schemeClr val="dk1"/>
                  </a:solidFill>
                  <a:latin typeface="Helvetica Neue"/>
                  <a:ea typeface="Helvetica Neue"/>
                  <a:cs typeface="Helvetica Neue"/>
                  <a:sym typeface="Helvetica Neue"/>
                </a:rPr>
                <a:t> denotes customer-name and </a:t>
              </a:r>
              <a:r>
                <a:rPr lang="en-US" i="1">
                  <a:solidFill>
                    <a:schemeClr val="dk1"/>
                  </a:solidFill>
                  <a:latin typeface="Helvetica Neue"/>
                  <a:ea typeface="Helvetica Neue"/>
                  <a:cs typeface="Helvetica Neue"/>
                  <a:sym typeface="Helvetica Neue"/>
                </a:rPr>
                <a:t>BN</a:t>
              </a:r>
              <a:r>
                <a:rPr lang="en-US">
                  <a:solidFill>
                    <a:schemeClr val="dk1"/>
                  </a:solidFill>
                  <a:latin typeface="Helvetica Neue"/>
                  <a:ea typeface="Helvetica Neue"/>
                  <a:cs typeface="Helvetica Neue"/>
                  <a:sym typeface="Helvetica Neue"/>
                </a:rPr>
                <a:t> denotes </a:t>
              </a:r>
              <a:br>
                <a:rPr lang="en-US">
                  <a:solidFill>
                    <a:schemeClr val="dk1"/>
                  </a:solidFill>
                  <a:latin typeface="Helvetica Neue"/>
                  <a:ea typeface="Helvetica Neue"/>
                  <a:cs typeface="Helvetica Neue"/>
                  <a:sym typeface="Helvetica Neue"/>
                </a:rPr>
              </a:br>
              <a:r>
                <a:rPr lang="en-US" i="1">
                  <a:solidFill>
                    <a:schemeClr val="dk1"/>
                  </a:solidFill>
                  <a:latin typeface="Helvetica Neue"/>
                  <a:ea typeface="Helvetica Neue"/>
                  <a:cs typeface="Helvetica Neue"/>
                  <a:sym typeface="Helvetica Neue"/>
                </a:rPr>
                <a:t>branch-name</a:t>
              </a:r>
              <a:r>
                <a:rPr lang="en-US">
                  <a:solidFill>
                    <a:schemeClr val="dk1"/>
                  </a:solidFill>
                  <a:latin typeface="Helvetica Neue"/>
                  <a:ea typeface="Helvetica Neue"/>
                  <a:cs typeface="Helvetica Neue"/>
                  <a:sym typeface="Helvetica Neue"/>
                </a:rPr>
                <a:t>.</a:t>
              </a:r>
              <a:endParaRPr>
                <a:solidFill>
                  <a:schemeClr val="dk1"/>
                </a:solidFill>
                <a:latin typeface="Helvetica Neue"/>
                <a:ea typeface="Helvetica Neue"/>
                <a:cs typeface="Helvetica Neue"/>
                <a:sym typeface="Helvetica Neue"/>
              </a:endParaRPr>
            </a:p>
          </p:txBody>
        </p:sp>
        <p:grpSp>
          <p:nvGrpSpPr>
            <p:cNvPr id="1103" name="Google Shape;1103;p105"/>
            <p:cNvGrpSpPr/>
            <p:nvPr/>
          </p:nvGrpSpPr>
          <p:grpSpPr>
            <a:xfrm>
              <a:off x="614" y="1192"/>
              <a:ext cx="4214" cy="885"/>
              <a:chOff x="670" y="1184"/>
              <a:chExt cx="4214" cy="885"/>
            </a:xfrm>
          </p:grpSpPr>
          <p:sp>
            <p:nvSpPr>
              <p:cNvPr id="1104" name="Google Shape;1104;p105"/>
              <p:cNvSpPr/>
              <p:nvPr/>
            </p:nvSpPr>
            <p:spPr>
              <a:xfrm rot="5400000" flipH="1">
                <a:off x="3252" y="1572"/>
                <a:ext cx="96" cy="96"/>
              </a:xfrm>
              <a:prstGeom prst="flowChartCollate">
                <a:avLst/>
              </a:pr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endParaRPr>
                  <a:solidFill>
                    <a:schemeClr val="dk1"/>
                  </a:solidFill>
                  <a:latin typeface="Times New Roman"/>
                  <a:ea typeface="Times New Roman"/>
                  <a:cs typeface="Times New Roman"/>
                  <a:sym typeface="Times New Roman"/>
                </a:endParaRPr>
              </a:p>
            </p:txBody>
          </p:sp>
          <p:sp>
            <p:nvSpPr>
              <p:cNvPr id="1105" name="Google Shape;1105;p105"/>
              <p:cNvSpPr/>
              <p:nvPr/>
            </p:nvSpPr>
            <p:spPr>
              <a:xfrm rot="5400000" flipH="1">
                <a:off x="3403" y="1900"/>
                <a:ext cx="96" cy="96"/>
              </a:xfrm>
              <a:prstGeom prst="flowChartCollate">
                <a:avLst/>
              </a:prstGeom>
              <a:noFill/>
              <a:ln w="9525" cap="flat" cmpd="sng">
                <a:solidFill>
                  <a:schemeClr val="dk1"/>
                </a:solidFill>
                <a:prstDash val="solid"/>
                <a:miter lim="8000"/>
                <a:headEnd type="none" w="sm" len="sm"/>
                <a:tailEnd type="none" w="sm" len="sm"/>
              </a:ln>
            </p:spPr>
            <p:txBody>
              <a:bodyPr spcFirstLastPara="1" wrap="square" lIns="91425" tIns="91425" rIns="91425" bIns="91425" anchor="ctr" anchorCtr="0">
                <a:noAutofit/>
              </a:bodyPr>
              <a:lstStyle/>
              <a:p>
                <a:endParaRPr/>
              </a:p>
            </p:txBody>
          </p:sp>
          <p:sp>
            <p:nvSpPr>
              <p:cNvPr id="1106" name="Google Shape;1106;p105"/>
              <p:cNvSpPr txBox="1"/>
              <p:nvPr/>
            </p:nvSpPr>
            <p:spPr>
              <a:xfrm flipH="1">
                <a:off x="3424" y="1924"/>
                <a:ext cx="48" cy="48"/>
              </a:xfrm>
              <a:prstGeom prst="rect">
                <a:avLst/>
              </a:prstGeom>
              <a:noFill/>
              <a:ln>
                <a:noFill/>
              </a:ln>
            </p:spPr>
            <p:txBody>
              <a:bodyPr spcFirstLastPara="1" wrap="square" lIns="91425" tIns="45700" rIns="91425" bIns="45700" anchor="ctr" anchorCtr="0">
                <a:noAutofit/>
              </a:bodyPr>
              <a:lstStyle/>
              <a:p>
                <a:pPr algn="ctr"/>
                <a:r>
                  <a:rPr lang="en-US">
                    <a:solidFill>
                      <a:schemeClr val="dk1"/>
                    </a:solidFill>
                    <a:latin typeface="Helvetica Neue"/>
                    <a:ea typeface="Helvetica Neue"/>
                    <a:cs typeface="Helvetica Neue"/>
                    <a:sym typeface="Helvetica Neue"/>
                  </a:rPr>
                  <a:t> </a:t>
                </a:r>
                <a:endParaRPr>
                  <a:solidFill>
                    <a:schemeClr val="dk1"/>
                  </a:solidFill>
                  <a:latin typeface="Helvetica Neue"/>
                  <a:ea typeface="Helvetica Neue"/>
                  <a:cs typeface="Helvetica Neue"/>
                  <a:sym typeface="Helvetica Neue"/>
                </a:endParaRPr>
              </a:p>
            </p:txBody>
          </p:sp>
          <p:sp>
            <p:nvSpPr>
              <p:cNvPr id="1107" name="Google Shape;1107;p105"/>
              <p:cNvSpPr txBox="1"/>
              <p:nvPr/>
            </p:nvSpPr>
            <p:spPr>
              <a:xfrm>
                <a:off x="670" y="1184"/>
                <a:ext cx="4214" cy="885"/>
              </a:xfrm>
              <a:prstGeom prst="rect">
                <a:avLst/>
              </a:prstGeom>
              <a:noFill/>
              <a:ln>
                <a:noFill/>
              </a:ln>
            </p:spPr>
            <p:txBody>
              <a:bodyPr spcFirstLastPara="1" wrap="square" lIns="91425" tIns="45700" rIns="91425" bIns="45700" anchor="t" anchorCtr="0">
                <a:spAutoFit/>
              </a:bodyPr>
              <a:lstStyle/>
              <a:p>
                <a:pPr lvl="1"/>
                <a:r>
                  <a:rPr lang="en-US">
                    <a:solidFill>
                      <a:schemeClr val="dk1"/>
                    </a:solidFill>
                    <a:latin typeface="Helvetica Neue"/>
                    <a:ea typeface="Helvetica Neue"/>
                    <a:cs typeface="Helvetica Neue"/>
                    <a:sym typeface="Helvetica Neue"/>
                  </a:rPr>
                  <a:t>Query 1</a:t>
                </a:r>
                <a:endParaRPr>
                  <a:solidFill>
                    <a:schemeClr val="dk1"/>
                  </a:solidFill>
                  <a:latin typeface="Helvetica Neue"/>
                  <a:ea typeface="Helvetica Neue"/>
                  <a:cs typeface="Helvetica Neue"/>
                  <a:sym typeface="Helvetica Neue"/>
                </a:endParaRPr>
              </a:p>
              <a:p>
                <a:pPr lvl="2">
                  <a:lnSpc>
                    <a:spcPct val="120000"/>
                  </a:lnSpc>
                  <a:spcBef>
                    <a:spcPts val="770"/>
                  </a:spcBef>
                </a:pPr>
                <a:r>
                  <a:rPr lang="en-US">
                    <a:solidFill>
                      <a:schemeClr val="dk1"/>
                    </a:solidFill>
                    <a:latin typeface="Helvetica Neue"/>
                    <a:ea typeface="Helvetica Neue"/>
                    <a:cs typeface="Helvetica Neue"/>
                    <a:sym typeface="Helvetica Neue"/>
                  </a:rPr>
                  <a:t>∏</a:t>
                </a:r>
                <a:r>
                  <a:rPr lang="en-US" sz="2200" baseline="-25000">
                    <a:solidFill>
                      <a:schemeClr val="dk1"/>
                    </a:solidFill>
                    <a:latin typeface="Helvetica Neue"/>
                    <a:ea typeface="Helvetica Neue"/>
                    <a:cs typeface="Helvetica Neue"/>
                    <a:sym typeface="Helvetica Neue"/>
                  </a:rPr>
                  <a:t>CN</a:t>
                </a:r>
                <a:r>
                  <a:rPr lang="en-US">
                    <a:solidFill>
                      <a:schemeClr val="dk1"/>
                    </a:solidFill>
                    <a:latin typeface="Helvetica Neue"/>
                    <a:ea typeface="Helvetica Neue"/>
                    <a:cs typeface="Helvetica Neue"/>
                    <a:sym typeface="Helvetica Neue"/>
                  </a:rPr>
                  <a:t>(</a:t>
                </a:r>
                <a:r>
                  <a:rPr lang="en-US" sz="2200">
                    <a:solidFill>
                      <a:schemeClr val="dk1"/>
                    </a:solidFill>
                    <a:latin typeface="Helvetica Neue"/>
                    <a:ea typeface="Helvetica Neue"/>
                    <a:cs typeface="Helvetica Neue"/>
                    <a:sym typeface="Helvetica Neue"/>
                  </a:rPr>
                  <a:t>σ</a:t>
                </a:r>
                <a:r>
                  <a:rPr lang="en-US" sz="2100" i="1" baseline="-25000">
                    <a:solidFill>
                      <a:schemeClr val="dk1"/>
                    </a:solidFill>
                    <a:latin typeface="Helvetica Neue"/>
                    <a:ea typeface="Helvetica Neue"/>
                    <a:cs typeface="Helvetica Neue"/>
                    <a:sym typeface="Helvetica Neue"/>
                  </a:rPr>
                  <a:t>BN</a:t>
                </a:r>
                <a:r>
                  <a:rPr lang="en-US" sz="2100" baseline="-25000">
                    <a:solidFill>
                      <a:schemeClr val="dk1"/>
                    </a:solidFill>
                    <a:latin typeface="Helvetica Neue"/>
                    <a:ea typeface="Helvetica Neue"/>
                    <a:cs typeface="Helvetica Neue"/>
                    <a:sym typeface="Helvetica Neue"/>
                  </a:rPr>
                  <a:t>=“Downtown</a:t>
                </a:r>
                <a:r>
                  <a:rPr lang="en-US" baseline="-25000">
                    <a:solidFill>
                      <a:schemeClr val="dk1"/>
                    </a:solidFill>
                    <a:latin typeface="Helvetica Neue"/>
                    <a:ea typeface="Helvetica Neue"/>
                    <a:cs typeface="Helvetica Neue"/>
                    <a:sym typeface="Helvetica Neue"/>
                  </a:rPr>
                  <a:t>”</a:t>
                </a:r>
                <a:r>
                  <a:rPr lang="en-US">
                    <a:solidFill>
                      <a:schemeClr val="dk1"/>
                    </a:solidFill>
                    <a:latin typeface="Helvetica Neue"/>
                    <a:ea typeface="Helvetica Neue"/>
                    <a:cs typeface="Helvetica Neue"/>
                    <a:sym typeface="Helvetica Neue"/>
                  </a:rPr>
                  <a:t>(</a:t>
                </a:r>
                <a:r>
                  <a:rPr lang="en-US" i="1">
                    <a:solidFill>
                      <a:schemeClr val="dk1"/>
                    </a:solidFill>
                    <a:latin typeface="Helvetica Neue"/>
                    <a:ea typeface="Helvetica Neue"/>
                    <a:cs typeface="Helvetica Neue"/>
                    <a:sym typeface="Helvetica Neue"/>
                  </a:rPr>
                  <a:t>depositor</a:t>
                </a:r>
                <a:r>
                  <a:rPr lang="en-US">
                    <a:solidFill>
                      <a:schemeClr val="dk1"/>
                    </a:solidFill>
                    <a:latin typeface="Helvetica Neue"/>
                    <a:ea typeface="Helvetica Neue"/>
                    <a:cs typeface="Helvetica Neue"/>
                    <a:sym typeface="Helvetica Neue"/>
                  </a:rPr>
                  <a:t>    </a:t>
                </a:r>
                <a:r>
                  <a:rPr lang="en-US" i="1">
                    <a:solidFill>
                      <a:schemeClr val="dk1"/>
                    </a:solidFill>
                    <a:latin typeface="Helvetica Neue"/>
                    <a:ea typeface="Helvetica Neue"/>
                    <a:cs typeface="Helvetica Neue"/>
                    <a:sym typeface="Helvetica Neue"/>
                  </a:rPr>
                  <a:t>account</a:t>
                </a:r>
                <a:r>
                  <a:rPr lang="en-US">
                    <a:solidFill>
                      <a:schemeClr val="dk1"/>
                    </a:solidFill>
                    <a:latin typeface="Helvetica Neue"/>
                    <a:ea typeface="Helvetica Neue"/>
                    <a:cs typeface="Helvetica Neue"/>
                    <a:sym typeface="Helvetica Neue"/>
                  </a:rPr>
                  <a:t>)) ∩</a:t>
                </a:r>
                <a:endParaRPr>
                  <a:solidFill>
                    <a:schemeClr val="dk1"/>
                  </a:solidFill>
                  <a:latin typeface="Helvetica Neue"/>
                  <a:ea typeface="Helvetica Neue"/>
                  <a:cs typeface="Helvetica Neue"/>
                  <a:sym typeface="Helvetica Neue"/>
                </a:endParaRPr>
              </a:p>
              <a:p>
                <a:pPr lvl="2">
                  <a:lnSpc>
                    <a:spcPct val="120000"/>
                  </a:lnSpc>
                  <a:spcBef>
                    <a:spcPts val="770"/>
                  </a:spcBef>
                </a:pPr>
                <a:r>
                  <a:rPr lang="en-US">
                    <a:solidFill>
                      <a:schemeClr val="dk1"/>
                    </a:solidFill>
                    <a:latin typeface="Helvetica Neue"/>
                    <a:ea typeface="Helvetica Neue"/>
                    <a:cs typeface="Helvetica Neue"/>
                    <a:sym typeface="Helvetica Neue"/>
                  </a:rPr>
                  <a:t>        ∏</a:t>
                </a:r>
                <a:r>
                  <a:rPr lang="en-US" sz="2100" i="1" baseline="-25000">
                    <a:solidFill>
                      <a:schemeClr val="dk1"/>
                    </a:solidFill>
                    <a:latin typeface="Helvetica Neue"/>
                    <a:ea typeface="Helvetica Neue"/>
                    <a:cs typeface="Helvetica Neue"/>
                    <a:sym typeface="Helvetica Neue"/>
                  </a:rPr>
                  <a:t>CN</a:t>
                </a:r>
                <a:r>
                  <a:rPr lang="en-US">
                    <a:solidFill>
                      <a:schemeClr val="dk1"/>
                    </a:solidFill>
                    <a:latin typeface="Helvetica Neue"/>
                    <a:ea typeface="Helvetica Neue"/>
                    <a:cs typeface="Helvetica Neue"/>
                    <a:sym typeface="Helvetica Neue"/>
                  </a:rPr>
                  <a:t>(</a:t>
                </a:r>
                <a:r>
                  <a:rPr lang="en-US" sz="2200">
                    <a:solidFill>
                      <a:schemeClr val="dk1"/>
                    </a:solidFill>
                    <a:latin typeface="Helvetica Neue"/>
                    <a:ea typeface="Helvetica Neue"/>
                    <a:cs typeface="Helvetica Neue"/>
                    <a:sym typeface="Helvetica Neue"/>
                  </a:rPr>
                  <a:t>σ</a:t>
                </a:r>
                <a:r>
                  <a:rPr lang="en-US" sz="2100" i="1" baseline="-25000">
                    <a:solidFill>
                      <a:schemeClr val="dk1"/>
                    </a:solidFill>
                    <a:latin typeface="Helvetica Neue"/>
                    <a:ea typeface="Helvetica Neue"/>
                    <a:cs typeface="Helvetica Neue"/>
                    <a:sym typeface="Helvetica Neue"/>
                  </a:rPr>
                  <a:t>BN</a:t>
                </a:r>
                <a:r>
                  <a:rPr lang="en-US" sz="2100" baseline="-25000">
                    <a:solidFill>
                      <a:schemeClr val="dk1"/>
                    </a:solidFill>
                    <a:latin typeface="Helvetica Neue"/>
                    <a:ea typeface="Helvetica Neue"/>
                    <a:cs typeface="Helvetica Neue"/>
                    <a:sym typeface="Helvetica Neue"/>
                  </a:rPr>
                  <a:t>=“Uptown</a:t>
                </a:r>
                <a:r>
                  <a:rPr lang="en-US" baseline="-25000">
                    <a:solidFill>
                      <a:schemeClr val="dk1"/>
                    </a:solidFill>
                    <a:latin typeface="Helvetica Neue"/>
                    <a:ea typeface="Helvetica Neue"/>
                    <a:cs typeface="Helvetica Neue"/>
                    <a:sym typeface="Helvetica Neue"/>
                  </a:rPr>
                  <a:t>”</a:t>
                </a:r>
                <a:r>
                  <a:rPr lang="en-US">
                    <a:solidFill>
                      <a:schemeClr val="dk1"/>
                    </a:solidFill>
                    <a:latin typeface="Helvetica Neue"/>
                    <a:ea typeface="Helvetica Neue"/>
                    <a:cs typeface="Helvetica Neue"/>
                    <a:sym typeface="Helvetica Neue"/>
                  </a:rPr>
                  <a:t>(</a:t>
                </a:r>
                <a:r>
                  <a:rPr lang="en-US" i="1">
                    <a:solidFill>
                      <a:schemeClr val="dk1"/>
                    </a:solidFill>
                    <a:latin typeface="Helvetica Neue"/>
                    <a:ea typeface="Helvetica Neue"/>
                    <a:cs typeface="Helvetica Neue"/>
                    <a:sym typeface="Helvetica Neue"/>
                  </a:rPr>
                  <a:t>depositor</a:t>
                </a:r>
                <a:r>
                  <a:rPr lang="en-US">
                    <a:solidFill>
                      <a:schemeClr val="dk1"/>
                    </a:solidFill>
                    <a:latin typeface="Helvetica Neue"/>
                    <a:ea typeface="Helvetica Neue"/>
                    <a:cs typeface="Helvetica Neue"/>
                    <a:sym typeface="Helvetica Neue"/>
                  </a:rPr>
                  <a:t>    </a:t>
                </a:r>
                <a:r>
                  <a:rPr lang="en-US" i="1">
                    <a:solidFill>
                      <a:schemeClr val="dk1"/>
                    </a:solidFill>
                    <a:latin typeface="Helvetica Neue"/>
                    <a:ea typeface="Helvetica Neue"/>
                    <a:cs typeface="Helvetica Neue"/>
                    <a:sym typeface="Helvetica Neue"/>
                  </a:rPr>
                  <a:t>account</a:t>
                </a:r>
                <a:r>
                  <a:rPr lang="en-US">
                    <a:solidFill>
                      <a:schemeClr val="dk1"/>
                    </a:solidFill>
                    <a:latin typeface="Helvetica Neue"/>
                    <a:ea typeface="Helvetica Neue"/>
                    <a:cs typeface="Helvetica Neue"/>
                    <a:sym typeface="Helvetica Neue"/>
                  </a:rPr>
                  <a:t>))</a:t>
                </a:r>
                <a:endParaRPr>
                  <a:solidFill>
                    <a:schemeClr val="dk1"/>
                  </a:solidFill>
                  <a:latin typeface="Helvetica Neue"/>
                  <a:ea typeface="Helvetica Neue"/>
                  <a:cs typeface="Helvetica Neue"/>
                  <a:sym typeface="Helvetica Neue"/>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Shape 1111"/>
        <p:cNvGrpSpPr/>
        <p:nvPr/>
      </p:nvGrpSpPr>
      <p:grpSpPr>
        <a:xfrm>
          <a:off x="0" y="0"/>
          <a:ext cx="0" cy="0"/>
          <a:chOff x="0" y="0"/>
          <a:chExt cx="0" cy="0"/>
        </a:xfrm>
      </p:grpSpPr>
      <p:sp>
        <p:nvSpPr>
          <p:cNvPr id="1112" name="Google Shape;1112;p106"/>
          <p:cNvSpPr txBox="1">
            <a:spLocks noGrp="1"/>
          </p:cNvSpPr>
          <p:nvPr>
            <p:ph type="body" idx="1"/>
          </p:nvPr>
        </p:nvSpPr>
        <p:spPr>
          <a:xfrm>
            <a:off x="2159000" y="1112838"/>
            <a:ext cx="7848600" cy="1003300"/>
          </a:xfrm>
          <a:prstGeom prst="rect">
            <a:avLst/>
          </a:prstGeom>
          <a:noFill/>
          <a:ln>
            <a:noFill/>
          </a:ln>
        </p:spPr>
        <p:txBody>
          <a:bodyPr spcFirstLastPara="1" vert="horz" wrap="square" lIns="91425" tIns="45700" rIns="91425" bIns="45700" rtlCol="0" anchor="t" anchorCtr="0">
            <a:noAutofit/>
          </a:bodyPr>
          <a:lstStyle/>
          <a:p>
            <a:pPr marL="342900" indent="-342900">
              <a:lnSpc>
                <a:spcPct val="120000"/>
              </a:lnSpc>
              <a:spcBef>
                <a:spcPts val="0"/>
              </a:spcBef>
              <a:buClr>
                <a:schemeClr val="dk1"/>
              </a:buClr>
              <a:buSzPts val="2400"/>
              <a:buFont typeface="Arial"/>
              <a:buChar char="•"/>
            </a:pPr>
            <a:r>
              <a:rPr lang="en-US" sz="2400"/>
              <a:t>Find all customers who have an account at all branches located in Brooklyn city.</a:t>
            </a:r>
            <a:endParaRPr sz="2400"/>
          </a:p>
        </p:txBody>
      </p:sp>
      <p:sp>
        <p:nvSpPr>
          <p:cNvPr id="1113" name="Google Shape;1113;p106"/>
          <p:cNvSpPr txBox="1">
            <a:spLocks noGrp="1"/>
          </p:cNvSpPr>
          <p:nvPr>
            <p:ph type="title"/>
          </p:nvPr>
        </p:nvSpPr>
        <p:spPr>
          <a:xfrm>
            <a:off x="2209800" y="0"/>
            <a:ext cx="7772400" cy="1143000"/>
          </a:xfrm>
          <a:prstGeom prst="rect">
            <a:avLst/>
          </a:prstGeom>
          <a:noFill/>
          <a:ln>
            <a:noFill/>
          </a:ln>
        </p:spPr>
        <p:txBody>
          <a:bodyPr spcFirstLastPara="1" vert="horz" wrap="square" lIns="91425" tIns="45700" rIns="91425" bIns="45700" rtlCol="0" anchor="ctr" anchorCtr="0">
            <a:noAutofit/>
          </a:bodyPr>
          <a:lstStyle/>
          <a:p>
            <a:pPr algn="ctr">
              <a:lnSpc>
                <a:spcPct val="100000"/>
              </a:lnSpc>
              <a:spcBef>
                <a:spcPts val="0"/>
              </a:spcBef>
              <a:buClr>
                <a:schemeClr val="dk2"/>
              </a:buClr>
              <a:buSzPts val="2800"/>
            </a:pPr>
            <a:r>
              <a:rPr lang="en-US" sz="2800"/>
              <a:t>Example Queries</a:t>
            </a:r>
            <a:endParaRPr sz="2800"/>
          </a:p>
        </p:txBody>
      </p:sp>
      <p:grpSp>
        <p:nvGrpSpPr>
          <p:cNvPr id="1114" name="Google Shape;1114;p106"/>
          <p:cNvGrpSpPr/>
          <p:nvPr/>
        </p:nvGrpSpPr>
        <p:grpSpPr>
          <a:xfrm>
            <a:off x="2133600" y="2460625"/>
            <a:ext cx="7486650" cy="977900"/>
            <a:chOff x="494" y="1325"/>
            <a:chExt cx="4716" cy="616"/>
          </a:xfrm>
        </p:grpSpPr>
        <p:sp>
          <p:nvSpPr>
            <p:cNvPr id="1115" name="Google Shape;1115;p106"/>
            <p:cNvSpPr/>
            <p:nvPr/>
          </p:nvSpPr>
          <p:spPr>
            <a:xfrm rot="-5400000">
              <a:off x="3938" y="1463"/>
              <a:ext cx="94" cy="110"/>
            </a:xfrm>
            <a:prstGeom prst="flowChartCollate">
              <a:avLst/>
            </a:prstGeom>
            <a:no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endParaRPr>
                <a:solidFill>
                  <a:schemeClr val="dk1"/>
                </a:solidFill>
                <a:latin typeface="Times New Roman"/>
                <a:ea typeface="Times New Roman"/>
                <a:cs typeface="Times New Roman"/>
                <a:sym typeface="Times New Roman"/>
              </a:endParaRPr>
            </a:p>
          </p:txBody>
        </p:sp>
        <p:sp>
          <p:nvSpPr>
            <p:cNvPr id="1116" name="Google Shape;1116;p106"/>
            <p:cNvSpPr txBox="1"/>
            <p:nvPr/>
          </p:nvSpPr>
          <p:spPr>
            <a:xfrm>
              <a:off x="494" y="1325"/>
              <a:ext cx="4716" cy="616"/>
            </a:xfrm>
            <a:prstGeom prst="rect">
              <a:avLst/>
            </a:prstGeom>
            <a:noFill/>
            <a:ln>
              <a:noFill/>
            </a:ln>
          </p:spPr>
          <p:txBody>
            <a:bodyPr spcFirstLastPara="1" wrap="square" lIns="91425" tIns="45700" rIns="91425" bIns="45700" anchor="t" anchorCtr="0">
              <a:spAutoFit/>
            </a:bodyPr>
            <a:lstStyle/>
            <a:p>
              <a:pPr>
                <a:lnSpc>
                  <a:spcPct val="120000"/>
                </a:lnSpc>
              </a:pPr>
              <a:r>
                <a:rPr lang="en-US" sz="2000">
                  <a:solidFill>
                    <a:schemeClr val="dk1"/>
                  </a:solidFill>
                  <a:latin typeface="Helvetica Neue"/>
                  <a:ea typeface="Helvetica Neue"/>
                  <a:cs typeface="Helvetica Neue"/>
                  <a:sym typeface="Helvetica Neue"/>
                </a:rPr>
                <a:t>	</a:t>
              </a:r>
              <a:r>
                <a:rPr lang="en-US" sz="2400">
                  <a:solidFill>
                    <a:schemeClr val="dk1"/>
                  </a:solidFill>
                  <a:latin typeface="Helvetica Neue"/>
                  <a:ea typeface="Helvetica Neue"/>
                  <a:cs typeface="Helvetica Neue"/>
                  <a:sym typeface="Helvetica Neue"/>
                </a:rPr>
                <a:t>∏</a:t>
              </a:r>
              <a:r>
                <a:rPr lang="en-US" sz="2400" i="1" baseline="-25000">
                  <a:solidFill>
                    <a:schemeClr val="dk1"/>
                  </a:solidFill>
                  <a:latin typeface="Helvetica Neue"/>
                  <a:ea typeface="Helvetica Neue"/>
                  <a:cs typeface="Helvetica Neue"/>
                  <a:sym typeface="Helvetica Neue"/>
                </a:rPr>
                <a:t>customer-name, branch-name</a:t>
              </a:r>
              <a:r>
                <a:rPr lang="en-US" sz="2400" baseline="-25000">
                  <a:solidFill>
                    <a:schemeClr val="dk1"/>
                  </a:solidFill>
                  <a:latin typeface="Helvetica Neue"/>
                  <a:ea typeface="Helvetica Neue"/>
                  <a:cs typeface="Helvetica Neue"/>
                  <a:sym typeface="Helvetica Neue"/>
                </a:rPr>
                <a:t> </a:t>
              </a:r>
              <a:r>
                <a:rPr lang="en-US" sz="2400">
                  <a:solidFill>
                    <a:schemeClr val="dk1"/>
                  </a:solidFill>
                  <a:latin typeface="Helvetica Neue"/>
                  <a:ea typeface="Helvetica Neue"/>
                  <a:cs typeface="Helvetica Neue"/>
                  <a:sym typeface="Helvetica Neue"/>
                </a:rPr>
                <a:t>(</a:t>
              </a:r>
              <a:r>
                <a:rPr lang="en-US" sz="2400" i="1">
                  <a:solidFill>
                    <a:schemeClr val="dk1"/>
                  </a:solidFill>
                  <a:latin typeface="Helvetica Neue"/>
                  <a:ea typeface="Helvetica Neue"/>
                  <a:cs typeface="Helvetica Neue"/>
                  <a:sym typeface="Helvetica Neue"/>
                </a:rPr>
                <a:t>depositor</a:t>
              </a:r>
              <a:r>
                <a:rPr lang="en-US" sz="2400">
                  <a:solidFill>
                    <a:schemeClr val="dk1"/>
                  </a:solidFill>
                  <a:latin typeface="Helvetica Neue"/>
                  <a:ea typeface="Helvetica Neue"/>
                  <a:cs typeface="Helvetica Neue"/>
                  <a:sym typeface="Helvetica Neue"/>
                </a:rPr>
                <a:t>     </a:t>
              </a:r>
              <a:r>
                <a:rPr lang="en-US" sz="2400" i="1">
                  <a:solidFill>
                    <a:schemeClr val="dk1"/>
                  </a:solidFill>
                  <a:latin typeface="Helvetica Neue"/>
                  <a:ea typeface="Helvetica Neue"/>
                  <a:cs typeface="Helvetica Neue"/>
                  <a:sym typeface="Helvetica Neue"/>
                </a:rPr>
                <a:t>account</a:t>
              </a:r>
              <a:r>
                <a:rPr lang="en-US" sz="2400">
                  <a:solidFill>
                    <a:schemeClr val="dk1"/>
                  </a:solidFill>
                  <a:latin typeface="Helvetica Neue"/>
                  <a:ea typeface="Helvetica Neue"/>
                  <a:cs typeface="Helvetica Neue"/>
                  <a:sym typeface="Helvetica Neue"/>
                </a:rPr>
                <a:t>)</a:t>
              </a:r>
              <a:br>
                <a:rPr lang="en-US" sz="2400">
                  <a:solidFill>
                    <a:schemeClr val="dk1"/>
                  </a:solidFill>
                  <a:latin typeface="Helvetica Neue"/>
                  <a:ea typeface="Helvetica Neue"/>
                  <a:cs typeface="Helvetica Neue"/>
                  <a:sym typeface="Helvetica Neue"/>
                </a:rPr>
              </a:br>
              <a:r>
                <a:rPr lang="en-US" sz="2400">
                  <a:solidFill>
                    <a:schemeClr val="dk1"/>
                  </a:solidFill>
                  <a:latin typeface="Helvetica Neue"/>
                  <a:ea typeface="Helvetica Neue"/>
                  <a:cs typeface="Helvetica Neue"/>
                  <a:sym typeface="Helvetica Neue"/>
                </a:rPr>
                <a:t>	÷ ∏</a:t>
              </a:r>
              <a:r>
                <a:rPr lang="en-US" sz="2400" i="1" baseline="-25000">
                  <a:solidFill>
                    <a:schemeClr val="dk1"/>
                  </a:solidFill>
                  <a:latin typeface="Helvetica Neue"/>
                  <a:ea typeface="Helvetica Neue"/>
                  <a:cs typeface="Helvetica Neue"/>
                  <a:sym typeface="Helvetica Neue"/>
                </a:rPr>
                <a:t>branch-name </a:t>
              </a:r>
              <a:r>
                <a:rPr lang="en-US" sz="2400">
                  <a:solidFill>
                    <a:schemeClr val="dk1"/>
                  </a:solidFill>
                  <a:latin typeface="Helvetica Neue"/>
                  <a:ea typeface="Helvetica Neue"/>
                  <a:cs typeface="Helvetica Neue"/>
                  <a:sym typeface="Helvetica Neue"/>
                </a:rPr>
                <a:t>(σ</a:t>
              </a:r>
              <a:r>
                <a:rPr lang="en-US" sz="2400" i="1" baseline="-25000">
                  <a:solidFill>
                    <a:schemeClr val="dk1"/>
                  </a:solidFill>
                  <a:latin typeface="Helvetica Neue"/>
                  <a:ea typeface="Helvetica Neue"/>
                  <a:cs typeface="Helvetica Neue"/>
                  <a:sym typeface="Helvetica Neue"/>
                </a:rPr>
                <a:t>branch-city</a:t>
              </a:r>
              <a:r>
                <a:rPr lang="en-US" sz="2400" baseline="-25000">
                  <a:solidFill>
                    <a:schemeClr val="dk1"/>
                  </a:solidFill>
                  <a:latin typeface="Helvetica Neue"/>
                  <a:ea typeface="Helvetica Neue"/>
                  <a:cs typeface="Helvetica Neue"/>
                  <a:sym typeface="Helvetica Neue"/>
                </a:rPr>
                <a:t> = “Brooklyn” </a:t>
              </a:r>
              <a:r>
                <a:rPr lang="en-US" sz="2400">
                  <a:solidFill>
                    <a:schemeClr val="dk1"/>
                  </a:solidFill>
                  <a:latin typeface="Helvetica Neue"/>
                  <a:ea typeface="Helvetica Neue"/>
                  <a:cs typeface="Helvetica Neue"/>
                  <a:sym typeface="Helvetica Neue"/>
                </a:rPr>
                <a:t>(</a:t>
              </a:r>
              <a:r>
                <a:rPr lang="en-US" sz="2400" i="1">
                  <a:solidFill>
                    <a:schemeClr val="dk1"/>
                  </a:solidFill>
                  <a:latin typeface="Helvetica Neue"/>
                  <a:ea typeface="Helvetica Neue"/>
                  <a:cs typeface="Helvetica Neue"/>
                  <a:sym typeface="Helvetica Neue"/>
                </a:rPr>
                <a:t>branch</a:t>
              </a:r>
              <a:r>
                <a:rPr lang="en-US" sz="2400">
                  <a:solidFill>
                    <a:schemeClr val="dk1"/>
                  </a:solidFill>
                  <a:latin typeface="Helvetica Neue"/>
                  <a:ea typeface="Helvetica Neue"/>
                  <a:cs typeface="Helvetica Neue"/>
                  <a:sym typeface="Helvetica Neue"/>
                </a:rPr>
                <a:t>))</a:t>
              </a:r>
              <a:endParaRPr sz="2400">
                <a:solidFill>
                  <a:schemeClr val="dk1"/>
                </a:solidFill>
                <a:latin typeface="Helvetica Neue"/>
                <a:ea typeface="Helvetica Neue"/>
                <a:cs typeface="Helvetica Neue"/>
                <a:sym typeface="Helvetica Neue"/>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Shape 1120"/>
        <p:cNvGrpSpPr/>
        <p:nvPr/>
      </p:nvGrpSpPr>
      <p:grpSpPr>
        <a:xfrm>
          <a:off x="0" y="0"/>
          <a:ext cx="0" cy="0"/>
          <a:chOff x="0" y="0"/>
          <a:chExt cx="0" cy="0"/>
        </a:xfrm>
      </p:grpSpPr>
      <p:sp>
        <p:nvSpPr>
          <p:cNvPr id="1121" name="Google Shape;1121;p107"/>
          <p:cNvSpPr txBox="1">
            <a:spLocks noGrp="1"/>
          </p:cNvSpPr>
          <p:nvPr>
            <p:ph type="title"/>
          </p:nvPr>
        </p:nvSpPr>
        <p:spPr>
          <a:xfrm>
            <a:off x="1981200" y="0"/>
            <a:ext cx="7772400" cy="1143000"/>
          </a:xfrm>
          <a:prstGeom prst="rect">
            <a:avLst/>
          </a:prstGeom>
          <a:noFill/>
          <a:ln>
            <a:noFill/>
          </a:ln>
        </p:spPr>
        <p:txBody>
          <a:bodyPr spcFirstLastPara="1" vert="horz" wrap="square" lIns="91425" tIns="45700" rIns="91425" bIns="45700" rtlCol="0" anchor="ctr" anchorCtr="0">
            <a:noAutofit/>
          </a:bodyPr>
          <a:lstStyle/>
          <a:p>
            <a:pPr algn="ctr">
              <a:lnSpc>
                <a:spcPct val="100000"/>
              </a:lnSpc>
              <a:spcBef>
                <a:spcPts val="0"/>
              </a:spcBef>
              <a:buClr>
                <a:schemeClr val="dk2"/>
              </a:buClr>
              <a:buSzPts val="3200"/>
            </a:pPr>
            <a:r>
              <a:rPr lang="en-US" sz="3200"/>
              <a:t>Exercises</a:t>
            </a:r>
            <a:endParaRPr sz="3200"/>
          </a:p>
        </p:txBody>
      </p:sp>
      <p:sp>
        <p:nvSpPr>
          <p:cNvPr id="1122" name="Google Shape;1122;p107"/>
          <p:cNvSpPr txBox="1">
            <a:spLocks noGrp="1"/>
          </p:cNvSpPr>
          <p:nvPr>
            <p:ph type="body" idx="1"/>
          </p:nvPr>
        </p:nvSpPr>
        <p:spPr>
          <a:xfrm>
            <a:off x="2133600" y="1143000"/>
            <a:ext cx="7848600" cy="5334000"/>
          </a:xfrm>
          <a:prstGeom prst="rect">
            <a:avLst/>
          </a:prstGeom>
          <a:noFill/>
          <a:ln>
            <a:noFill/>
          </a:ln>
        </p:spPr>
        <p:txBody>
          <a:bodyPr spcFirstLastPara="1" vert="horz" wrap="square" lIns="91425" tIns="45700" rIns="91425" bIns="45700" rtlCol="0" anchor="t" anchorCtr="0">
            <a:noAutofit/>
          </a:bodyPr>
          <a:lstStyle/>
          <a:p>
            <a:pPr marL="342900" indent="-342900">
              <a:lnSpc>
                <a:spcPct val="100000"/>
              </a:lnSpc>
              <a:spcBef>
                <a:spcPts val="0"/>
              </a:spcBef>
              <a:buClr>
                <a:schemeClr val="dk1"/>
              </a:buClr>
              <a:buSzPts val="2000"/>
              <a:buFont typeface="Arial"/>
              <a:buChar char="•"/>
            </a:pPr>
            <a:r>
              <a:rPr lang="en-US" sz="2000"/>
              <a:t>Employee(ename,str,city)</a:t>
            </a:r>
            <a:endParaRPr sz="2000"/>
          </a:p>
          <a:p>
            <a:pPr marL="342900" indent="-342900">
              <a:lnSpc>
                <a:spcPct val="100000"/>
              </a:lnSpc>
              <a:spcBef>
                <a:spcPts val="400"/>
              </a:spcBef>
              <a:buClr>
                <a:schemeClr val="dk1"/>
              </a:buClr>
              <a:buSzPts val="2000"/>
              <a:buFont typeface="Arial"/>
              <a:buChar char="•"/>
            </a:pPr>
            <a:r>
              <a:rPr lang="en-US" sz="2000"/>
              <a:t>Works(ename,cname,sal)</a:t>
            </a:r>
            <a:endParaRPr sz="2000"/>
          </a:p>
          <a:p>
            <a:pPr marL="342900" indent="-342900">
              <a:lnSpc>
                <a:spcPct val="100000"/>
              </a:lnSpc>
              <a:spcBef>
                <a:spcPts val="400"/>
              </a:spcBef>
              <a:buClr>
                <a:schemeClr val="dk1"/>
              </a:buClr>
              <a:buSzPts val="2000"/>
              <a:buFont typeface="Arial"/>
              <a:buChar char="•"/>
            </a:pPr>
            <a:r>
              <a:rPr lang="en-US" sz="2000"/>
              <a:t>Company(cname,city)</a:t>
            </a:r>
            <a:endParaRPr sz="2000"/>
          </a:p>
          <a:p>
            <a:pPr marL="342900" indent="-342900">
              <a:lnSpc>
                <a:spcPct val="100000"/>
              </a:lnSpc>
              <a:spcBef>
                <a:spcPts val="400"/>
              </a:spcBef>
              <a:buClr>
                <a:schemeClr val="dk1"/>
              </a:buClr>
              <a:buSzPts val="2000"/>
              <a:buFont typeface="Arial"/>
              <a:buChar char="•"/>
            </a:pPr>
            <a:r>
              <a:rPr lang="en-US" sz="2000"/>
              <a:t>Manages(ename,mname)</a:t>
            </a:r>
            <a:endParaRPr sz="2000"/>
          </a:p>
        </p:txBody>
      </p:sp>
      <p:sp>
        <p:nvSpPr>
          <p:cNvPr id="1123" name="Google Shape;1123;p107"/>
          <p:cNvSpPr/>
          <p:nvPr/>
        </p:nvSpPr>
        <p:spPr>
          <a:xfrm>
            <a:off x="2667000" y="3352800"/>
            <a:ext cx="3276600" cy="1981200"/>
          </a:xfrm>
          <a:prstGeom prst="rect">
            <a:avLst/>
          </a:prstGeom>
          <a:solidFill>
            <a:schemeClr val="lt1"/>
          </a:solidFill>
          <a:ln w="9525"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algn="ctr"/>
            <a:endParaRPr>
              <a:solidFill>
                <a:schemeClr val="dk1"/>
              </a:solidFill>
              <a:latin typeface="Times New Roman"/>
              <a:ea typeface="Times New Roman"/>
              <a:cs typeface="Times New Roman"/>
              <a:sym typeface="Times New Roman"/>
            </a:endParaRPr>
          </a:p>
        </p:txBody>
      </p:sp>
      <p:sp>
        <p:nvSpPr>
          <p:cNvPr id="1124" name="Google Shape;1124;p107"/>
          <p:cNvSpPr txBox="1"/>
          <p:nvPr/>
        </p:nvSpPr>
        <p:spPr>
          <a:xfrm>
            <a:off x="2362200" y="2971801"/>
            <a:ext cx="3619500" cy="1190625"/>
          </a:xfrm>
          <a:prstGeom prst="rect">
            <a:avLst/>
          </a:prstGeom>
          <a:noFill/>
          <a:ln>
            <a:noFill/>
          </a:ln>
        </p:spPr>
        <p:txBody>
          <a:bodyPr spcFirstLastPara="1" wrap="square" lIns="91425" tIns="45700" rIns="91425" bIns="45700" anchor="t" anchorCtr="0">
            <a:spAutoFit/>
          </a:bodyPr>
          <a:lstStyle/>
          <a:p>
            <a:r>
              <a:rPr lang="en-US">
                <a:solidFill>
                  <a:schemeClr val="dk1"/>
                </a:solidFill>
                <a:latin typeface="Times New Roman"/>
                <a:ea typeface="Times New Roman"/>
                <a:cs typeface="Times New Roman"/>
                <a:sym typeface="Times New Roman"/>
              </a:rPr>
              <a:t>Joe               Pine                    Kent</a:t>
            </a:r>
            <a:endParaRPr>
              <a:solidFill>
                <a:schemeClr val="dk1"/>
              </a:solidFill>
              <a:latin typeface="Times New Roman"/>
              <a:ea typeface="Times New Roman"/>
              <a:cs typeface="Times New Roman"/>
              <a:sym typeface="Times New Roman"/>
            </a:endParaRPr>
          </a:p>
          <a:p>
            <a:r>
              <a:rPr lang="en-US">
                <a:solidFill>
                  <a:schemeClr val="dk1"/>
                </a:solidFill>
                <a:latin typeface="Times New Roman"/>
                <a:ea typeface="Times New Roman"/>
                <a:cs typeface="Times New Roman"/>
                <a:sym typeface="Times New Roman"/>
              </a:rPr>
              <a:t>Mike            Pine                     Canton</a:t>
            </a:r>
            <a:endParaRPr>
              <a:solidFill>
                <a:schemeClr val="dk1"/>
              </a:solidFill>
              <a:latin typeface="Times New Roman"/>
              <a:ea typeface="Times New Roman"/>
              <a:cs typeface="Times New Roman"/>
              <a:sym typeface="Times New Roman"/>
            </a:endParaRPr>
          </a:p>
          <a:p>
            <a:endParaRPr>
              <a:solidFill>
                <a:schemeClr val="dk1"/>
              </a:solidFill>
              <a:latin typeface="Times New Roman"/>
              <a:ea typeface="Times New Roman"/>
              <a:cs typeface="Times New Roman"/>
              <a:sym typeface="Times New Roman"/>
            </a:endParaRPr>
          </a:p>
          <a:p>
            <a:endParaRPr>
              <a:solidFill>
                <a:schemeClr val="dk1"/>
              </a:solidFill>
              <a:latin typeface="Times New Roman"/>
              <a:ea typeface="Times New Roman"/>
              <a:cs typeface="Times New Roman"/>
              <a:sym typeface="Times New Roman"/>
            </a:endParaRPr>
          </a:p>
        </p:txBody>
      </p:sp>
      <p:sp>
        <p:nvSpPr>
          <p:cNvPr id="1125" name="Google Shape;1125;p107"/>
          <p:cNvSpPr txBox="1"/>
          <p:nvPr/>
        </p:nvSpPr>
        <p:spPr>
          <a:xfrm>
            <a:off x="3032125" y="2628901"/>
            <a:ext cx="1111250" cy="366713"/>
          </a:xfrm>
          <a:prstGeom prst="rect">
            <a:avLst/>
          </a:prstGeom>
          <a:noFill/>
          <a:ln>
            <a:noFill/>
          </a:ln>
        </p:spPr>
        <p:txBody>
          <a:bodyPr spcFirstLastPara="1" wrap="square" lIns="91425" tIns="45700" rIns="91425" bIns="45700" anchor="t" anchorCtr="0">
            <a:spAutoFit/>
          </a:bodyPr>
          <a:lstStyle/>
          <a:p>
            <a:r>
              <a:rPr lang="en-US">
                <a:solidFill>
                  <a:schemeClr val="dk1"/>
                </a:solidFill>
                <a:latin typeface="Times New Roman"/>
                <a:ea typeface="Times New Roman"/>
                <a:cs typeface="Times New Roman"/>
                <a:sym typeface="Times New Roman"/>
              </a:rPr>
              <a:t>Employee</a:t>
            </a:r>
            <a:endParaRPr>
              <a:solidFill>
                <a:schemeClr val="dk1"/>
              </a:solidFill>
              <a:latin typeface="Times New Roman"/>
              <a:ea typeface="Times New Roman"/>
              <a:cs typeface="Times New Roman"/>
              <a:sym typeface="Times New Roman"/>
            </a:endParaRPr>
          </a:p>
        </p:txBody>
      </p:sp>
      <p:sp>
        <p:nvSpPr>
          <p:cNvPr id="1126" name="Google Shape;1126;p107"/>
          <p:cNvSpPr txBox="1"/>
          <p:nvPr/>
        </p:nvSpPr>
        <p:spPr>
          <a:xfrm>
            <a:off x="2270125" y="3467101"/>
            <a:ext cx="749300" cy="366713"/>
          </a:xfrm>
          <a:prstGeom prst="rect">
            <a:avLst/>
          </a:prstGeom>
          <a:noFill/>
          <a:ln>
            <a:noFill/>
          </a:ln>
        </p:spPr>
        <p:txBody>
          <a:bodyPr spcFirstLastPara="1" wrap="square" lIns="91425" tIns="45700" rIns="91425" bIns="45700" anchor="t" anchorCtr="0">
            <a:spAutoFit/>
          </a:bodyPr>
          <a:lstStyle/>
          <a:p>
            <a:r>
              <a:rPr lang="en-US">
                <a:solidFill>
                  <a:schemeClr val="dk1"/>
                </a:solidFill>
                <a:latin typeface="Times New Roman"/>
                <a:ea typeface="Times New Roman"/>
                <a:cs typeface="Times New Roman"/>
                <a:sym typeface="Times New Roman"/>
              </a:rPr>
              <a:t> Carol</a:t>
            </a:r>
            <a:endParaRPr>
              <a:solidFill>
                <a:schemeClr val="dk1"/>
              </a:solidFill>
              <a:latin typeface="Times New Roman"/>
              <a:ea typeface="Times New Roman"/>
              <a:cs typeface="Times New Roman"/>
              <a:sym typeface="Times New Roman"/>
            </a:endParaRPr>
          </a:p>
        </p:txBody>
      </p:sp>
      <p:sp>
        <p:nvSpPr>
          <p:cNvPr id="1127" name="Google Shape;1127;p107"/>
          <p:cNvSpPr txBox="1"/>
          <p:nvPr/>
        </p:nvSpPr>
        <p:spPr>
          <a:xfrm>
            <a:off x="2879725" y="3467100"/>
            <a:ext cx="2781300" cy="641350"/>
          </a:xfrm>
          <a:prstGeom prst="rect">
            <a:avLst/>
          </a:prstGeom>
          <a:noFill/>
          <a:ln>
            <a:noFill/>
          </a:ln>
        </p:spPr>
        <p:txBody>
          <a:bodyPr spcFirstLastPara="1" wrap="square" lIns="91425" tIns="45700" rIns="91425" bIns="45700" anchor="t" anchorCtr="0">
            <a:spAutoFit/>
          </a:bodyPr>
          <a:lstStyle/>
          <a:p>
            <a:r>
              <a:rPr lang="en-US">
                <a:solidFill>
                  <a:schemeClr val="dk1"/>
                </a:solidFill>
                <a:latin typeface="Times New Roman"/>
                <a:ea typeface="Times New Roman"/>
                <a:cs typeface="Times New Roman"/>
                <a:sym typeface="Times New Roman"/>
              </a:rPr>
              <a:t>            Oak                   Kent</a:t>
            </a:r>
            <a:endParaRPr>
              <a:solidFill>
                <a:schemeClr val="dk1"/>
              </a:solidFill>
              <a:latin typeface="Times New Roman"/>
              <a:ea typeface="Times New Roman"/>
              <a:cs typeface="Times New Roman"/>
              <a:sym typeface="Times New Roman"/>
            </a:endParaRPr>
          </a:p>
          <a:p>
            <a:endParaRPr>
              <a:solidFill>
                <a:schemeClr val="dk1"/>
              </a:solidFill>
              <a:latin typeface="Times New Roman"/>
              <a:ea typeface="Times New Roman"/>
              <a:cs typeface="Times New Roman"/>
              <a:sym typeface="Times New Roman"/>
            </a:endParaRPr>
          </a:p>
        </p:txBody>
      </p:sp>
      <p:sp>
        <p:nvSpPr>
          <p:cNvPr id="1128" name="Google Shape;1128;p107"/>
          <p:cNvSpPr txBox="1"/>
          <p:nvPr/>
        </p:nvSpPr>
        <p:spPr>
          <a:xfrm>
            <a:off x="2286000" y="3810000"/>
            <a:ext cx="3797300" cy="915988"/>
          </a:xfrm>
          <a:prstGeom prst="rect">
            <a:avLst/>
          </a:prstGeom>
          <a:noFill/>
          <a:ln>
            <a:noFill/>
          </a:ln>
        </p:spPr>
        <p:txBody>
          <a:bodyPr spcFirstLastPara="1" wrap="square" lIns="91425" tIns="45700" rIns="91425" bIns="45700" anchor="t" anchorCtr="0">
            <a:spAutoFit/>
          </a:bodyPr>
          <a:lstStyle/>
          <a:p>
            <a:r>
              <a:rPr lang="en-US">
                <a:solidFill>
                  <a:schemeClr val="dk1"/>
                </a:solidFill>
                <a:latin typeface="Times New Roman"/>
                <a:ea typeface="Times New Roman"/>
                <a:cs typeface="Times New Roman"/>
                <a:sym typeface="Times New Roman"/>
              </a:rPr>
              <a:t>Matt             Main                  Cleveland</a:t>
            </a:r>
            <a:endParaRPr>
              <a:solidFill>
                <a:schemeClr val="dk1"/>
              </a:solidFill>
              <a:latin typeface="Times New Roman"/>
              <a:ea typeface="Times New Roman"/>
              <a:cs typeface="Times New Roman"/>
              <a:sym typeface="Times New Roman"/>
            </a:endParaRPr>
          </a:p>
          <a:p>
            <a:r>
              <a:rPr lang="en-US">
                <a:solidFill>
                  <a:schemeClr val="dk1"/>
                </a:solidFill>
                <a:latin typeface="Times New Roman"/>
                <a:ea typeface="Times New Roman"/>
                <a:cs typeface="Times New Roman"/>
                <a:sym typeface="Times New Roman"/>
              </a:rPr>
              <a:t>Lucy            Pine                    Kent</a:t>
            </a:r>
            <a:endParaRPr>
              <a:solidFill>
                <a:schemeClr val="dk1"/>
              </a:solidFill>
              <a:latin typeface="Times New Roman"/>
              <a:ea typeface="Times New Roman"/>
              <a:cs typeface="Times New Roman"/>
              <a:sym typeface="Times New Roman"/>
            </a:endParaRPr>
          </a:p>
          <a:p>
            <a:r>
              <a:rPr lang="en-US">
                <a:solidFill>
                  <a:schemeClr val="dk1"/>
                </a:solidFill>
                <a:latin typeface="Times New Roman"/>
                <a:ea typeface="Times New Roman"/>
                <a:cs typeface="Times New Roman"/>
                <a:sym typeface="Times New Roman"/>
              </a:rPr>
              <a:t>Sean             Pine                    Kent</a:t>
            </a:r>
            <a:endParaRPr>
              <a:solidFill>
                <a:schemeClr val="dk1"/>
              </a:solidFill>
              <a:latin typeface="Times New Roman"/>
              <a:ea typeface="Times New Roman"/>
              <a:cs typeface="Times New Roman"/>
              <a:sym typeface="Times New Roman"/>
            </a:endParaRPr>
          </a:p>
        </p:txBody>
      </p:sp>
      <p:sp>
        <p:nvSpPr>
          <p:cNvPr id="1129" name="Google Shape;1129;p107"/>
          <p:cNvSpPr txBox="1"/>
          <p:nvPr/>
        </p:nvSpPr>
        <p:spPr>
          <a:xfrm>
            <a:off x="2667000" y="4724401"/>
            <a:ext cx="1009650" cy="366713"/>
          </a:xfrm>
          <a:prstGeom prst="rect">
            <a:avLst/>
          </a:prstGeom>
          <a:noFill/>
          <a:ln>
            <a:noFill/>
          </a:ln>
        </p:spPr>
        <p:txBody>
          <a:bodyPr spcFirstLastPara="1" wrap="square" lIns="91425" tIns="45700" rIns="91425" bIns="45700" anchor="t" anchorCtr="0">
            <a:spAutoFit/>
          </a:bodyPr>
          <a:lstStyle/>
          <a:p>
            <a:r>
              <a:rPr lang="en-US">
                <a:solidFill>
                  <a:schemeClr val="dk1"/>
                </a:solidFill>
                <a:latin typeface="Times New Roman"/>
                <a:ea typeface="Times New Roman"/>
                <a:cs typeface="Times New Roman"/>
                <a:sym typeface="Times New Roman"/>
              </a:rPr>
              <a:t>Manages</a:t>
            </a:r>
            <a:endParaRPr>
              <a:solidFill>
                <a:schemeClr val="dk1"/>
              </a:solidFill>
              <a:latin typeface="Times New Roman"/>
              <a:ea typeface="Times New Roman"/>
              <a:cs typeface="Times New Roman"/>
              <a:sym typeface="Times New Roman"/>
            </a:endParaRPr>
          </a:p>
        </p:txBody>
      </p:sp>
      <p:sp>
        <p:nvSpPr>
          <p:cNvPr id="1130" name="Google Shape;1130;p107"/>
          <p:cNvSpPr txBox="1"/>
          <p:nvPr/>
        </p:nvSpPr>
        <p:spPr>
          <a:xfrm>
            <a:off x="2384426" y="5181601"/>
            <a:ext cx="815975" cy="366713"/>
          </a:xfrm>
          <a:prstGeom prst="rect">
            <a:avLst/>
          </a:prstGeom>
          <a:noFill/>
          <a:ln>
            <a:noFill/>
          </a:ln>
        </p:spPr>
        <p:txBody>
          <a:bodyPr spcFirstLastPara="1" wrap="square" lIns="91425" tIns="45700" rIns="91425" bIns="45700" anchor="t" anchorCtr="0">
            <a:spAutoFit/>
          </a:bodyPr>
          <a:lstStyle/>
          <a:p>
            <a:endParaRPr>
              <a:solidFill>
                <a:schemeClr val="dk1"/>
              </a:solidFill>
              <a:latin typeface="Times New Roman"/>
              <a:ea typeface="Times New Roman"/>
              <a:cs typeface="Times New Roman"/>
              <a:sym typeface="Times New Roman"/>
            </a:endParaRPr>
          </a:p>
        </p:txBody>
      </p:sp>
      <p:sp>
        <p:nvSpPr>
          <p:cNvPr id="1131" name="Google Shape;1131;p107"/>
          <p:cNvSpPr txBox="1"/>
          <p:nvPr/>
        </p:nvSpPr>
        <p:spPr>
          <a:xfrm>
            <a:off x="2346325" y="5067301"/>
            <a:ext cx="1587500" cy="1465263"/>
          </a:xfrm>
          <a:prstGeom prst="rect">
            <a:avLst/>
          </a:prstGeom>
          <a:noFill/>
          <a:ln>
            <a:noFill/>
          </a:ln>
        </p:spPr>
        <p:txBody>
          <a:bodyPr spcFirstLastPara="1" wrap="square" lIns="91425" tIns="45700" rIns="91425" bIns="45700" anchor="t" anchorCtr="0">
            <a:spAutoFit/>
          </a:bodyPr>
          <a:lstStyle/>
          <a:p>
            <a:r>
              <a:rPr lang="en-US">
                <a:solidFill>
                  <a:schemeClr val="dk1"/>
                </a:solidFill>
                <a:latin typeface="Times New Roman"/>
                <a:ea typeface="Times New Roman"/>
                <a:cs typeface="Times New Roman"/>
                <a:sym typeface="Times New Roman"/>
              </a:rPr>
              <a:t>Joe           Lucy</a:t>
            </a:r>
            <a:endParaRPr>
              <a:solidFill>
                <a:schemeClr val="dk1"/>
              </a:solidFill>
              <a:latin typeface="Times New Roman"/>
              <a:ea typeface="Times New Roman"/>
              <a:cs typeface="Times New Roman"/>
              <a:sym typeface="Times New Roman"/>
            </a:endParaRPr>
          </a:p>
          <a:p>
            <a:r>
              <a:rPr lang="en-US">
                <a:solidFill>
                  <a:schemeClr val="dk1"/>
                </a:solidFill>
                <a:latin typeface="Times New Roman"/>
                <a:ea typeface="Times New Roman"/>
                <a:cs typeface="Times New Roman"/>
                <a:sym typeface="Times New Roman"/>
              </a:rPr>
              <a:t>Mike       Lucy</a:t>
            </a:r>
            <a:endParaRPr>
              <a:solidFill>
                <a:schemeClr val="dk1"/>
              </a:solidFill>
              <a:latin typeface="Times New Roman"/>
              <a:ea typeface="Times New Roman"/>
              <a:cs typeface="Times New Roman"/>
              <a:sym typeface="Times New Roman"/>
            </a:endParaRPr>
          </a:p>
          <a:p>
            <a:r>
              <a:rPr lang="en-US">
                <a:solidFill>
                  <a:schemeClr val="dk1"/>
                </a:solidFill>
                <a:latin typeface="Times New Roman"/>
                <a:ea typeface="Times New Roman"/>
                <a:cs typeface="Times New Roman"/>
                <a:sym typeface="Times New Roman"/>
              </a:rPr>
              <a:t>Carol      Matt</a:t>
            </a:r>
            <a:endParaRPr>
              <a:solidFill>
                <a:schemeClr val="dk1"/>
              </a:solidFill>
              <a:latin typeface="Times New Roman"/>
              <a:ea typeface="Times New Roman"/>
              <a:cs typeface="Times New Roman"/>
              <a:sym typeface="Times New Roman"/>
            </a:endParaRPr>
          </a:p>
          <a:p>
            <a:r>
              <a:rPr lang="en-US">
                <a:solidFill>
                  <a:schemeClr val="dk1"/>
                </a:solidFill>
                <a:latin typeface="Times New Roman"/>
                <a:ea typeface="Times New Roman"/>
                <a:cs typeface="Times New Roman"/>
                <a:sym typeface="Times New Roman"/>
              </a:rPr>
              <a:t>Lucy      Matt</a:t>
            </a:r>
            <a:endParaRPr>
              <a:solidFill>
                <a:schemeClr val="dk1"/>
              </a:solidFill>
              <a:latin typeface="Times New Roman"/>
              <a:ea typeface="Times New Roman"/>
              <a:cs typeface="Times New Roman"/>
              <a:sym typeface="Times New Roman"/>
            </a:endParaRPr>
          </a:p>
          <a:p>
            <a:r>
              <a:rPr lang="en-US">
                <a:solidFill>
                  <a:schemeClr val="dk1"/>
                </a:solidFill>
                <a:latin typeface="Times New Roman"/>
                <a:ea typeface="Times New Roman"/>
                <a:cs typeface="Times New Roman"/>
                <a:sym typeface="Times New Roman"/>
              </a:rPr>
              <a:t>Sean       Lucy</a:t>
            </a:r>
            <a:endParaRPr>
              <a:solidFill>
                <a:schemeClr val="dk1"/>
              </a:solidFill>
              <a:latin typeface="Times New Roman"/>
              <a:ea typeface="Times New Roman"/>
              <a:cs typeface="Times New Roman"/>
              <a:sym typeface="Times New Roman"/>
            </a:endParaRPr>
          </a:p>
        </p:txBody>
      </p:sp>
      <p:sp>
        <p:nvSpPr>
          <p:cNvPr id="1132" name="Google Shape;1132;p107"/>
          <p:cNvSpPr txBox="1"/>
          <p:nvPr/>
        </p:nvSpPr>
        <p:spPr>
          <a:xfrm>
            <a:off x="7451725" y="952501"/>
            <a:ext cx="793750" cy="366713"/>
          </a:xfrm>
          <a:prstGeom prst="rect">
            <a:avLst/>
          </a:prstGeom>
          <a:noFill/>
          <a:ln>
            <a:noFill/>
          </a:ln>
        </p:spPr>
        <p:txBody>
          <a:bodyPr spcFirstLastPara="1" wrap="square" lIns="91425" tIns="45700" rIns="91425" bIns="45700" anchor="t" anchorCtr="0">
            <a:spAutoFit/>
          </a:bodyPr>
          <a:lstStyle/>
          <a:p>
            <a:r>
              <a:rPr lang="en-US">
                <a:solidFill>
                  <a:schemeClr val="dk1"/>
                </a:solidFill>
                <a:latin typeface="Times New Roman"/>
                <a:ea typeface="Times New Roman"/>
                <a:cs typeface="Times New Roman"/>
                <a:sym typeface="Times New Roman"/>
              </a:rPr>
              <a:t>Works</a:t>
            </a:r>
            <a:endParaRPr>
              <a:solidFill>
                <a:schemeClr val="dk1"/>
              </a:solidFill>
              <a:latin typeface="Times New Roman"/>
              <a:ea typeface="Times New Roman"/>
              <a:cs typeface="Times New Roman"/>
              <a:sym typeface="Times New Roman"/>
            </a:endParaRPr>
          </a:p>
        </p:txBody>
      </p:sp>
      <p:sp>
        <p:nvSpPr>
          <p:cNvPr id="1133" name="Google Shape;1133;p107"/>
          <p:cNvSpPr txBox="1"/>
          <p:nvPr/>
        </p:nvSpPr>
        <p:spPr>
          <a:xfrm>
            <a:off x="6880226" y="1600201"/>
            <a:ext cx="1654175" cy="2331367"/>
          </a:xfrm>
          <a:prstGeom prst="rect">
            <a:avLst/>
          </a:prstGeom>
          <a:noFill/>
          <a:ln>
            <a:noFill/>
          </a:ln>
        </p:spPr>
        <p:txBody>
          <a:bodyPr spcFirstLastPara="1" wrap="square" lIns="91425" tIns="45700" rIns="91425" bIns="45700" anchor="t" anchorCtr="0">
            <a:spAutoFit/>
          </a:bodyPr>
          <a:lstStyle/>
          <a:p>
            <a:r>
              <a:rPr lang="en-US">
                <a:solidFill>
                  <a:schemeClr val="dk1"/>
                </a:solidFill>
                <a:latin typeface="Times New Roman"/>
                <a:ea typeface="Times New Roman"/>
                <a:cs typeface="Times New Roman"/>
                <a:sym typeface="Times New Roman"/>
              </a:rPr>
              <a:t>Joe   GE  30K</a:t>
            </a:r>
            <a:endParaRPr>
              <a:solidFill>
                <a:schemeClr val="dk1"/>
              </a:solidFill>
              <a:latin typeface="Times New Roman"/>
              <a:ea typeface="Times New Roman"/>
              <a:cs typeface="Times New Roman"/>
              <a:sym typeface="Times New Roman"/>
            </a:endParaRPr>
          </a:p>
          <a:p>
            <a:pPr>
              <a:spcBef>
                <a:spcPts val="900"/>
              </a:spcBef>
            </a:pPr>
            <a:r>
              <a:rPr lang="en-US">
                <a:solidFill>
                  <a:schemeClr val="dk1"/>
                </a:solidFill>
                <a:latin typeface="Times New Roman"/>
                <a:ea typeface="Times New Roman"/>
                <a:cs typeface="Times New Roman"/>
                <a:sym typeface="Times New Roman"/>
              </a:rPr>
              <a:t>Mike GE  100K</a:t>
            </a:r>
            <a:endParaRPr>
              <a:solidFill>
                <a:schemeClr val="dk1"/>
              </a:solidFill>
              <a:latin typeface="Times New Roman"/>
              <a:ea typeface="Times New Roman"/>
              <a:cs typeface="Times New Roman"/>
              <a:sym typeface="Times New Roman"/>
            </a:endParaRPr>
          </a:p>
          <a:p>
            <a:pPr>
              <a:spcBef>
                <a:spcPts val="900"/>
              </a:spcBef>
            </a:pPr>
            <a:r>
              <a:rPr lang="en-US">
                <a:solidFill>
                  <a:schemeClr val="dk1"/>
                </a:solidFill>
                <a:latin typeface="Times New Roman"/>
                <a:ea typeface="Times New Roman"/>
                <a:cs typeface="Times New Roman"/>
                <a:sym typeface="Times New Roman"/>
              </a:rPr>
              <a:t>Lucy  GE   60K</a:t>
            </a:r>
            <a:endParaRPr>
              <a:solidFill>
                <a:schemeClr val="dk1"/>
              </a:solidFill>
              <a:latin typeface="Times New Roman"/>
              <a:ea typeface="Times New Roman"/>
              <a:cs typeface="Times New Roman"/>
              <a:sym typeface="Times New Roman"/>
            </a:endParaRPr>
          </a:p>
          <a:p>
            <a:pPr>
              <a:spcBef>
                <a:spcPts val="900"/>
              </a:spcBef>
            </a:pPr>
            <a:r>
              <a:rPr lang="en-US">
                <a:solidFill>
                  <a:schemeClr val="dk1"/>
                </a:solidFill>
                <a:latin typeface="Times New Roman"/>
                <a:ea typeface="Times New Roman"/>
                <a:cs typeface="Times New Roman"/>
                <a:sym typeface="Times New Roman"/>
              </a:rPr>
              <a:t>Sean   GE  40K</a:t>
            </a:r>
            <a:endParaRPr>
              <a:solidFill>
                <a:schemeClr val="dk1"/>
              </a:solidFill>
              <a:latin typeface="Times New Roman"/>
              <a:ea typeface="Times New Roman"/>
              <a:cs typeface="Times New Roman"/>
              <a:sym typeface="Times New Roman"/>
            </a:endParaRPr>
          </a:p>
          <a:p>
            <a:pPr>
              <a:spcBef>
                <a:spcPts val="900"/>
              </a:spcBef>
            </a:pPr>
            <a:r>
              <a:rPr lang="en-US">
                <a:solidFill>
                  <a:schemeClr val="dk1"/>
                </a:solidFill>
                <a:latin typeface="Times New Roman"/>
                <a:ea typeface="Times New Roman"/>
                <a:cs typeface="Times New Roman"/>
                <a:sym typeface="Times New Roman"/>
              </a:rPr>
              <a:t>Carol  GE 70K</a:t>
            </a:r>
            <a:endParaRPr>
              <a:solidFill>
                <a:schemeClr val="dk1"/>
              </a:solidFill>
              <a:latin typeface="Times New Roman"/>
              <a:ea typeface="Times New Roman"/>
              <a:cs typeface="Times New Roman"/>
              <a:sym typeface="Times New Roman"/>
            </a:endParaRPr>
          </a:p>
          <a:p>
            <a:pPr>
              <a:spcBef>
                <a:spcPts val="900"/>
              </a:spcBef>
            </a:pPr>
            <a:r>
              <a:rPr lang="en-US">
                <a:solidFill>
                  <a:schemeClr val="dk1"/>
                </a:solidFill>
                <a:latin typeface="Times New Roman"/>
                <a:ea typeface="Times New Roman"/>
                <a:cs typeface="Times New Roman"/>
                <a:sym typeface="Times New Roman"/>
              </a:rPr>
              <a:t>Matt   GE  40K</a:t>
            </a:r>
            <a:endParaRPr>
              <a:solidFill>
                <a:schemeClr val="dk1"/>
              </a:solidFill>
              <a:latin typeface="Times New Roman"/>
              <a:ea typeface="Times New Roman"/>
              <a:cs typeface="Times New Roman"/>
              <a:sym typeface="Times New Roman"/>
            </a:endParaRPr>
          </a:p>
        </p:txBody>
      </p:sp>
      <p:sp>
        <p:nvSpPr>
          <p:cNvPr id="1134" name="Google Shape;1134;p107"/>
          <p:cNvSpPr txBox="1"/>
          <p:nvPr/>
        </p:nvSpPr>
        <p:spPr>
          <a:xfrm>
            <a:off x="9051925" y="876301"/>
            <a:ext cx="1073150" cy="366713"/>
          </a:xfrm>
          <a:prstGeom prst="rect">
            <a:avLst/>
          </a:prstGeom>
          <a:noFill/>
          <a:ln>
            <a:noFill/>
          </a:ln>
        </p:spPr>
        <p:txBody>
          <a:bodyPr spcFirstLastPara="1" wrap="square" lIns="91425" tIns="45700" rIns="91425" bIns="45700" anchor="t" anchorCtr="0">
            <a:spAutoFit/>
          </a:bodyPr>
          <a:lstStyle/>
          <a:p>
            <a:r>
              <a:rPr lang="en-US">
                <a:solidFill>
                  <a:schemeClr val="dk1"/>
                </a:solidFill>
                <a:latin typeface="Times New Roman"/>
                <a:ea typeface="Times New Roman"/>
                <a:cs typeface="Times New Roman"/>
                <a:sym typeface="Times New Roman"/>
              </a:rPr>
              <a:t>Company</a:t>
            </a:r>
            <a:endParaRPr>
              <a:solidFill>
                <a:schemeClr val="dk1"/>
              </a:solidFill>
              <a:latin typeface="Times New Roman"/>
              <a:ea typeface="Times New Roman"/>
              <a:cs typeface="Times New Roman"/>
              <a:sym typeface="Times New Roman"/>
            </a:endParaRPr>
          </a:p>
        </p:txBody>
      </p:sp>
      <p:sp>
        <p:nvSpPr>
          <p:cNvPr id="1135" name="Google Shape;1135;p107"/>
          <p:cNvSpPr txBox="1"/>
          <p:nvPr/>
        </p:nvSpPr>
        <p:spPr>
          <a:xfrm>
            <a:off x="8823325" y="1485900"/>
            <a:ext cx="1473200" cy="641350"/>
          </a:xfrm>
          <a:prstGeom prst="rect">
            <a:avLst/>
          </a:prstGeom>
          <a:noFill/>
          <a:ln>
            <a:noFill/>
          </a:ln>
        </p:spPr>
        <p:txBody>
          <a:bodyPr spcFirstLastPara="1" wrap="square" lIns="91425" tIns="45700" rIns="91425" bIns="45700" anchor="t" anchorCtr="0">
            <a:spAutoFit/>
          </a:bodyPr>
          <a:lstStyle/>
          <a:p>
            <a:r>
              <a:rPr lang="en-US">
                <a:solidFill>
                  <a:schemeClr val="dk1"/>
                </a:solidFill>
                <a:latin typeface="Times New Roman"/>
                <a:ea typeface="Times New Roman"/>
                <a:cs typeface="Times New Roman"/>
                <a:sym typeface="Times New Roman"/>
              </a:rPr>
              <a:t>GE Cleveland</a:t>
            </a:r>
            <a:endParaRPr>
              <a:solidFill>
                <a:schemeClr val="dk1"/>
              </a:solidFill>
              <a:latin typeface="Times New Roman"/>
              <a:ea typeface="Times New Roman"/>
              <a:cs typeface="Times New Roman"/>
              <a:sym typeface="Times New Roman"/>
            </a:endParaRPr>
          </a:p>
          <a:p>
            <a:r>
              <a:rPr lang="en-US">
                <a:solidFill>
                  <a:schemeClr val="dk1"/>
                </a:solidFill>
                <a:latin typeface="Times New Roman"/>
                <a:ea typeface="Times New Roman"/>
                <a:cs typeface="Times New Roman"/>
                <a:sym typeface="Times New Roman"/>
              </a:rPr>
              <a:t>IBM NYC</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Shape 1139"/>
        <p:cNvGrpSpPr/>
        <p:nvPr/>
      </p:nvGrpSpPr>
      <p:grpSpPr>
        <a:xfrm>
          <a:off x="0" y="0"/>
          <a:ext cx="0" cy="0"/>
          <a:chOff x="0" y="0"/>
          <a:chExt cx="0" cy="0"/>
        </a:xfrm>
      </p:grpSpPr>
      <p:sp>
        <p:nvSpPr>
          <p:cNvPr id="1140" name="Google Shape;1140;p108"/>
          <p:cNvSpPr txBox="1">
            <a:spLocks noGrp="1"/>
          </p:cNvSpPr>
          <p:nvPr>
            <p:ph type="title"/>
          </p:nvPr>
        </p:nvSpPr>
        <p:spPr>
          <a:xfrm>
            <a:off x="1981200" y="274638"/>
            <a:ext cx="8229600" cy="1143000"/>
          </a:xfrm>
          <a:prstGeom prst="rect">
            <a:avLst/>
          </a:prstGeom>
          <a:noFill/>
          <a:ln>
            <a:noFill/>
          </a:ln>
        </p:spPr>
        <p:txBody>
          <a:bodyPr spcFirstLastPara="1" vert="horz" wrap="square" lIns="91425" tIns="45700" rIns="91425" bIns="45700" rtlCol="0" anchor="ctr" anchorCtr="0">
            <a:noAutofit/>
          </a:bodyPr>
          <a:lstStyle/>
          <a:p>
            <a:pPr algn="ctr">
              <a:lnSpc>
                <a:spcPct val="100000"/>
              </a:lnSpc>
              <a:spcBef>
                <a:spcPts val="0"/>
              </a:spcBef>
              <a:buClr>
                <a:schemeClr val="dk2"/>
              </a:buClr>
              <a:buSzPts val="2800"/>
            </a:pPr>
            <a:r>
              <a:rPr lang="en-US" sz="2800"/>
              <a:t>Find names of employees that live in the same city and the same street as their managers</a:t>
            </a:r>
            <a:endParaRPr sz="2800"/>
          </a:p>
        </p:txBody>
      </p:sp>
      <p:sp>
        <p:nvSpPr>
          <p:cNvPr id="1141" name="Google Shape;1141;p108"/>
          <p:cNvSpPr txBox="1">
            <a:spLocks noGrp="1"/>
          </p:cNvSpPr>
          <p:nvPr>
            <p:ph type="body" idx="1"/>
          </p:nvPr>
        </p:nvSpPr>
        <p:spPr>
          <a:xfrm>
            <a:off x="1981200" y="1600201"/>
            <a:ext cx="8229600" cy="4525963"/>
          </a:xfrm>
          <a:prstGeom prst="rect">
            <a:avLst/>
          </a:prstGeom>
          <a:noFill/>
          <a:ln>
            <a:noFill/>
          </a:ln>
        </p:spPr>
        <p:txBody>
          <a:bodyPr spcFirstLastPara="1" vert="horz" wrap="square" lIns="91425" tIns="45700" rIns="91425" bIns="45700" rtlCol="0" anchor="t" anchorCtr="0">
            <a:noAutofit/>
          </a:bodyPr>
          <a:lstStyle/>
          <a:p>
            <a:pPr marL="342900" indent="-342900">
              <a:lnSpc>
                <a:spcPct val="100000"/>
              </a:lnSpc>
              <a:spcBef>
                <a:spcPts val="0"/>
              </a:spcBef>
              <a:buClr>
                <a:schemeClr val="dk1"/>
              </a:buClr>
              <a:buSzPts val="2000"/>
              <a:buFont typeface="Arial"/>
              <a:buChar char="•"/>
            </a:pPr>
            <a:r>
              <a:rPr lang="en-US" sz="2000"/>
              <a:t>  Employee          Manages:</a:t>
            </a:r>
            <a:endParaRPr sz="2000"/>
          </a:p>
          <a:p>
            <a:pPr marL="342900" indent="-342900">
              <a:lnSpc>
                <a:spcPct val="100000"/>
              </a:lnSpc>
              <a:spcBef>
                <a:spcPts val="400"/>
              </a:spcBef>
              <a:buClr>
                <a:schemeClr val="dk1"/>
              </a:buClr>
              <a:buSzPts val="2000"/>
              <a:buNone/>
            </a:pPr>
            <a:endParaRPr sz="2000"/>
          </a:p>
        </p:txBody>
      </p:sp>
      <p:cxnSp>
        <p:nvCxnSpPr>
          <p:cNvPr id="1142" name="Google Shape;1142;p108"/>
          <p:cNvCxnSpPr/>
          <p:nvPr/>
        </p:nvCxnSpPr>
        <p:spPr>
          <a:xfrm>
            <a:off x="3962400" y="2057400"/>
            <a:ext cx="0" cy="304800"/>
          </a:xfrm>
          <a:prstGeom prst="straightConnector1">
            <a:avLst/>
          </a:prstGeom>
          <a:noFill/>
          <a:ln w="9525" cap="flat" cmpd="sng">
            <a:solidFill>
              <a:schemeClr val="dk1"/>
            </a:solidFill>
            <a:prstDash val="solid"/>
            <a:round/>
            <a:headEnd type="none" w="sm" len="sm"/>
            <a:tailEnd type="none" w="sm" len="sm"/>
          </a:ln>
        </p:spPr>
      </p:cxnSp>
      <p:cxnSp>
        <p:nvCxnSpPr>
          <p:cNvPr id="1143" name="Google Shape;1143;p108"/>
          <p:cNvCxnSpPr/>
          <p:nvPr/>
        </p:nvCxnSpPr>
        <p:spPr>
          <a:xfrm rot="10800000" flipH="1">
            <a:off x="3962400" y="2057400"/>
            <a:ext cx="228600" cy="304800"/>
          </a:xfrm>
          <a:prstGeom prst="straightConnector1">
            <a:avLst/>
          </a:prstGeom>
          <a:noFill/>
          <a:ln w="9525" cap="flat" cmpd="sng">
            <a:solidFill>
              <a:schemeClr val="dk1"/>
            </a:solidFill>
            <a:prstDash val="solid"/>
            <a:round/>
            <a:headEnd type="none" w="sm" len="sm"/>
            <a:tailEnd type="none" w="sm" len="sm"/>
          </a:ln>
        </p:spPr>
      </p:cxnSp>
      <p:cxnSp>
        <p:nvCxnSpPr>
          <p:cNvPr id="1144" name="Google Shape;1144;p108"/>
          <p:cNvCxnSpPr/>
          <p:nvPr/>
        </p:nvCxnSpPr>
        <p:spPr>
          <a:xfrm>
            <a:off x="4191000" y="2057400"/>
            <a:ext cx="0" cy="304800"/>
          </a:xfrm>
          <a:prstGeom prst="straightConnector1">
            <a:avLst/>
          </a:prstGeom>
          <a:noFill/>
          <a:ln w="9525" cap="flat" cmpd="sng">
            <a:solidFill>
              <a:schemeClr val="dk1"/>
            </a:solidFill>
            <a:prstDash val="solid"/>
            <a:round/>
            <a:headEnd type="none" w="sm" len="sm"/>
            <a:tailEnd type="none" w="sm" len="sm"/>
          </a:ln>
        </p:spPr>
      </p:cxnSp>
      <p:cxnSp>
        <p:nvCxnSpPr>
          <p:cNvPr id="1145" name="Google Shape;1145;p108"/>
          <p:cNvCxnSpPr/>
          <p:nvPr/>
        </p:nvCxnSpPr>
        <p:spPr>
          <a:xfrm>
            <a:off x="3962400" y="2057400"/>
            <a:ext cx="228600" cy="304800"/>
          </a:xfrm>
          <a:prstGeom prst="straightConnector1">
            <a:avLst/>
          </a:prstGeom>
          <a:noFill/>
          <a:ln w="9525" cap="flat" cmpd="sng">
            <a:solidFill>
              <a:schemeClr val="dk1"/>
            </a:solidFill>
            <a:prstDash val="solid"/>
            <a:round/>
            <a:headEnd type="none" w="sm" len="sm"/>
            <a:tailEnd type="none" w="sm" len="sm"/>
          </a:ln>
        </p:spPr>
      </p:cxnSp>
      <p:sp>
        <p:nvSpPr>
          <p:cNvPr id="1146" name="Google Shape;1146;p108"/>
          <p:cNvSpPr txBox="1"/>
          <p:nvPr/>
        </p:nvSpPr>
        <p:spPr>
          <a:xfrm>
            <a:off x="6232525" y="1866901"/>
            <a:ext cx="2495550" cy="1465263"/>
          </a:xfrm>
          <a:prstGeom prst="rect">
            <a:avLst/>
          </a:prstGeom>
          <a:noFill/>
          <a:ln>
            <a:noFill/>
          </a:ln>
        </p:spPr>
        <p:txBody>
          <a:bodyPr spcFirstLastPara="1" wrap="square" lIns="91425" tIns="45700" rIns="91425" bIns="45700" anchor="t" anchorCtr="0">
            <a:spAutoFit/>
          </a:bodyPr>
          <a:lstStyle/>
          <a:p>
            <a:r>
              <a:rPr lang="en-US">
                <a:solidFill>
                  <a:schemeClr val="dk1"/>
                </a:solidFill>
                <a:latin typeface="Times New Roman"/>
                <a:ea typeface="Times New Roman"/>
                <a:cs typeface="Times New Roman"/>
                <a:sym typeface="Times New Roman"/>
              </a:rPr>
              <a:t>Joe  Pine    Kent      Lucy</a:t>
            </a:r>
            <a:endParaRPr>
              <a:solidFill>
                <a:schemeClr val="dk1"/>
              </a:solidFill>
              <a:latin typeface="Times New Roman"/>
              <a:ea typeface="Times New Roman"/>
              <a:cs typeface="Times New Roman"/>
              <a:sym typeface="Times New Roman"/>
            </a:endParaRPr>
          </a:p>
          <a:p>
            <a:r>
              <a:rPr lang="en-US">
                <a:solidFill>
                  <a:schemeClr val="dk1"/>
                </a:solidFill>
                <a:latin typeface="Times New Roman"/>
                <a:ea typeface="Times New Roman"/>
                <a:cs typeface="Times New Roman"/>
                <a:sym typeface="Times New Roman"/>
              </a:rPr>
              <a:t>Mike Pine Canton   Lucy</a:t>
            </a:r>
            <a:endParaRPr>
              <a:solidFill>
                <a:schemeClr val="dk1"/>
              </a:solidFill>
              <a:latin typeface="Times New Roman"/>
              <a:ea typeface="Times New Roman"/>
              <a:cs typeface="Times New Roman"/>
              <a:sym typeface="Times New Roman"/>
            </a:endParaRPr>
          </a:p>
          <a:p>
            <a:r>
              <a:rPr lang="en-US">
                <a:solidFill>
                  <a:schemeClr val="dk1"/>
                </a:solidFill>
                <a:latin typeface="Times New Roman"/>
                <a:ea typeface="Times New Roman"/>
                <a:cs typeface="Times New Roman"/>
                <a:sym typeface="Times New Roman"/>
              </a:rPr>
              <a:t>Carol Oak   Kent     Matt</a:t>
            </a:r>
            <a:endParaRPr>
              <a:solidFill>
                <a:schemeClr val="dk1"/>
              </a:solidFill>
              <a:latin typeface="Times New Roman"/>
              <a:ea typeface="Times New Roman"/>
              <a:cs typeface="Times New Roman"/>
              <a:sym typeface="Times New Roman"/>
            </a:endParaRPr>
          </a:p>
          <a:p>
            <a:r>
              <a:rPr lang="en-US">
                <a:solidFill>
                  <a:schemeClr val="dk1"/>
                </a:solidFill>
                <a:latin typeface="Times New Roman"/>
                <a:ea typeface="Times New Roman"/>
                <a:cs typeface="Times New Roman"/>
                <a:sym typeface="Times New Roman"/>
              </a:rPr>
              <a:t>Lucy Pine   Kent     Matt</a:t>
            </a:r>
            <a:endParaRPr>
              <a:solidFill>
                <a:schemeClr val="dk1"/>
              </a:solidFill>
              <a:latin typeface="Times New Roman"/>
              <a:ea typeface="Times New Roman"/>
              <a:cs typeface="Times New Roman"/>
              <a:sym typeface="Times New Roman"/>
            </a:endParaRPr>
          </a:p>
          <a:p>
            <a:r>
              <a:rPr lang="en-US">
                <a:solidFill>
                  <a:schemeClr val="dk1"/>
                </a:solidFill>
                <a:latin typeface="Times New Roman"/>
                <a:ea typeface="Times New Roman"/>
                <a:cs typeface="Times New Roman"/>
                <a:sym typeface="Times New Roman"/>
              </a:rPr>
              <a:t>Sean  Pine   Kent    Lucy</a:t>
            </a:r>
            <a:endParaRPr>
              <a:solidFill>
                <a:schemeClr val="dk1"/>
              </a:solidFill>
              <a:latin typeface="Times New Roman"/>
              <a:ea typeface="Times New Roman"/>
              <a:cs typeface="Times New Roman"/>
              <a:sym typeface="Times New Roman"/>
            </a:endParaRPr>
          </a:p>
        </p:txBody>
      </p:sp>
      <p:sp>
        <p:nvSpPr>
          <p:cNvPr id="1147" name="Google Shape;1147;p108"/>
          <p:cNvSpPr txBox="1"/>
          <p:nvPr/>
        </p:nvSpPr>
        <p:spPr>
          <a:xfrm>
            <a:off x="2743200" y="3352801"/>
            <a:ext cx="4044950" cy="366713"/>
          </a:xfrm>
          <a:prstGeom prst="rect">
            <a:avLst/>
          </a:prstGeom>
          <a:noFill/>
          <a:ln>
            <a:noFill/>
          </a:ln>
        </p:spPr>
        <p:txBody>
          <a:bodyPr spcFirstLastPara="1" wrap="square" lIns="91425" tIns="45700" rIns="91425" bIns="45700" anchor="t" anchorCtr="0">
            <a:spAutoFit/>
          </a:bodyPr>
          <a:lstStyle/>
          <a:p>
            <a:r>
              <a:rPr lang="en-US">
                <a:solidFill>
                  <a:schemeClr val="dk1"/>
                </a:solidFill>
                <a:latin typeface="Times New Roman"/>
                <a:ea typeface="Times New Roman"/>
                <a:cs typeface="Times New Roman"/>
                <a:sym typeface="Times New Roman"/>
              </a:rPr>
              <a:t>(Employee        Manages)        Employee2</a:t>
            </a:r>
            <a:endParaRPr>
              <a:solidFill>
                <a:schemeClr val="dk1"/>
              </a:solidFill>
              <a:latin typeface="Times New Roman"/>
              <a:ea typeface="Times New Roman"/>
              <a:cs typeface="Times New Roman"/>
              <a:sym typeface="Times New Roman"/>
            </a:endParaRPr>
          </a:p>
        </p:txBody>
      </p:sp>
      <p:cxnSp>
        <p:nvCxnSpPr>
          <p:cNvPr id="1148" name="Google Shape;1148;p108"/>
          <p:cNvCxnSpPr/>
          <p:nvPr/>
        </p:nvCxnSpPr>
        <p:spPr>
          <a:xfrm>
            <a:off x="3962400" y="3429000"/>
            <a:ext cx="0" cy="228600"/>
          </a:xfrm>
          <a:prstGeom prst="straightConnector1">
            <a:avLst/>
          </a:prstGeom>
          <a:noFill/>
          <a:ln>
            <a:noFill/>
          </a:ln>
        </p:spPr>
      </p:cxnSp>
      <p:cxnSp>
        <p:nvCxnSpPr>
          <p:cNvPr id="1149" name="Google Shape;1149;p108"/>
          <p:cNvCxnSpPr/>
          <p:nvPr/>
        </p:nvCxnSpPr>
        <p:spPr>
          <a:xfrm rot="10800000" flipH="1">
            <a:off x="3962400" y="3505200"/>
            <a:ext cx="152400" cy="152400"/>
          </a:xfrm>
          <a:prstGeom prst="straightConnector1">
            <a:avLst/>
          </a:prstGeom>
          <a:noFill/>
          <a:ln>
            <a:noFill/>
          </a:ln>
        </p:spPr>
      </p:cxnSp>
      <p:cxnSp>
        <p:nvCxnSpPr>
          <p:cNvPr id="1150" name="Google Shape;1150;p108"/>
          <p:cNvCxnSpPr/>
          <p:nvPr/>
        </p:nvCxnSpPr>
        <p:spPr>
          <a:xfrm>
            <a:off x="3962400" y="3429000"/>
            <a:ext cx="0" cy="152400"/>
          </a:xfrm>
          <a:prstGeom prst="straightConnector1">
            <a:avLst/>
          </a:prstGeom>
          <a:noFill/>
          <a:ln>
            <a:noFill/>
          </a:ln>
        </p:spPr>
      </p:cxnSp>
      <p:cxnSp>
        <p:nvCxnSpPr>
          <p:cNvPr id="1151" name="Google Shape;1151;p108"/>
          <p:cNvCxnSpPr/>
          <p:nvPr/>
        </p:nvCxnSpPr>
        <p:spPr>
          <a:xfrm>
            <a:off x="3962400" y="3352800"/>
            <a:ext cx="0" cy="304800"/>
          </a:xfrm>
          <a:prstGeom prst="straightConnector1">
            <a:avLst/>
          </a:prstGeom>
          <a:noFill/>
          <a:ln w="9525" cap="flat" cmpd="sng">
            <a:solidFill>
              <a:schemeClr val="dk1"/>
            </a:solidFill>
            <a:prstDash val="solid"/>
            <a:round/>
            <a:headEnd type="none" w="sm" len="sm"/>
            <a:tailEnd type="none" w="sm" len="sm"/>
          </a:ln>
        </p:spPr>
      </p:cxnSp>
      <p:cxnSp>
        <p:nvCxnSpPr>
          <p:cNvPr id="1152" name="Google Shape;1152;p108"/>
          <p:cNvCxnSpPr/>
          <p:nvPr/>
        </p:nvCxnSpPr>
        <p:spPr>
          <a:xfrm>
            <a:off x="3962400" y="3352800"/>
            <a:ext cx="152400" cy="304800"/>
          </a:xfrm>
          <a:prstGeom prst="straightConnector1">
            <a:avLst/>
          </a:prstGeom>
          <a:noFill/>
          <a:ln>
            <a:noFill/>
          </a:ln>
        </p:spPr>
      </p:cxnSp>
      <p:cxnSp>
        <p:nvCxnSpPr>
          <p:cNvPr id="1153" name="Google Shape;1153;p108"/>
          <p:cNvCxnSpPr/>
          <p:nvPr/>
        </p:nvCxnSpPr>
        <p:spPr>
          <a:xfrm>
            <a:off x="3962400" y="3429000"/>
            <a:ext cx="152400" cy="228600"/>
          </a:xfrm>
          <a:prstGeom prst="straightConnector1">
            <a:avLst/>
          </a:prstGeom>
          <a:noFill/>
          <a:ln>
            <a:noFill/>
          </a:ln>
        </p:spPr>
      </p:cxnSp>
      <p:cxnSp>
        <p:nvCxnSpPr>
          <p:cNvPr id="1154" name="Google Shape;1154;p108"/>
          <p:cNvCxnSpPr/>
          <p:nvPr/>
        </p:nvCxnSpPr>
        <p:spPr>
          <a:xfrm rot="10800000" flipH="1">
            <a:off x="3962400" y="3352800"/>
            <a:ext cx="228600" cy="304800"/>
          </a:xfrm>
          <a:prstGeom prst="straightConnector1">
            <a:avLst/>
          </a:prstGeom>
          <a:noFill/>
          <a:ln w="9525" cap="flat" cmpd="sng">
            <a:solidFill>
              <a:schemeClr val="dk1"/>
            </a:solidFill>
            <a:prstDash val="solid"/>
            <a:round/>
            <a:headEnd type="none" w="sm" len="sm"/>
            <a:tailEnd type="none" w="sm" len="sm"/>
          </a:ln>
        </p:spPr>
      </p:cxnSp>
      <p:cxnSp>
        <p:nvCxnSpPr>
          <p:cNvPr id="1155" name="Google Shape;1155;p108"/>
          <p:cNvCxnSpPr/>
          <p:nvPr/>
        </p:nvCxnSpPr>
        <p:spPr>
          <a:xfrm>
            <a:off x="4191000" y="3352800"/>
            <a:ext cx="0" cy="304800"/>
          </a:xfrm>
          <a:prstGeom prst="straightConnector1">
            <a:avLst/>
          </a:prstGeom>
          <a:noFill/>
          <a:ln w="9525" cap="flat" cmpd="sng">
            <a:solidFill>
              <a:schemeClr val="dk1"/>
            </a:solidFill>
            <a:prstDash val="solid"/>
            <a:round/>
            <a:headEnd type="none" w="sm" len="sm"/>
            <a:tailEnd type="none" w="sm" len="sm"/>
          </a:ln>
        </p:spPr>
      </p:cxnSp>
      <p:cxnSp>
        <p:nvCxnSpPr>
          <p:cNvPr id="1156" name="Google Shape;1156;p108"/>
          <p:cNvCxnSpPr/>
          <p:nvPr/>
        </p:nvCxnSpPr>
        <p:spPr>
          <a:xfrm>
            <a:off x="3962400" y="3352800"/>
            <a:ext cx="228600" cy="304800"/>
          </a:xfrm>
          <a:prstGeom prst="straightConnector1">
            <a:avLst/>
          </a:prstGeom>
          <a:noFill/>
          <a:ln w="9525" cap="flat" cmpd="sng">
            <a:solidFill>
              <a:schemeClr val="dk1"/>
            </a:solidFill>
            <a:prstDash val="solid"/>
            <a:round/>
            <a:headEnd type="none" w="sm" len="sm"/>
            <a:tailEnd type="none" w="sm" len="sm"/>
          </a:ln>
        </p:spPr>
      </p:cxnSp>
      <p:sp>
        <p:nvSpPr>
          <p:cNvPr id="1157" name="Google Shape;1157;p108"/>
          <p:cNvSpPr txBox="1"/>
          <p:nvPr/>
        </p:nvSpPr>
        <p:spPr>
          <a:xfrm>
            <a:off x="1752600" y="3810001"/>
            <a:ext cx="8915400" cy="366713"/>
          </a:xfrm>
          <a:prstGeom prst="rect">
            <a:avLst/>
          </a:prstGeom>
          <a:noFill/>
          <a:ln>
            <a:noFill/>
          </a:ln>
        </p:spPr>
        <p:txBody>
          <a:bodyPr spcFirstLastPara="1" wrap="square" lIns="91425" tIns="45700" rIns="91425" bIns="45700" anchor="t" anchorCtr="0">
            <a:spAutoFit/>
          </a:bodyPr>
          <a:lstStyle/>
          <a:p>
            <a:r>
              <a:rPr lang="en-US">
                <a:solidFill>
                  <a:schemeClr val="dk1"/>
                </a:solidFill>
                <a:latin typeface="Times New Roman"/>
                <a:ea typeface="Times New Roman"/>
                <a:cs typeface="Times New Roman"/>
                <a:sym typeface="Times New Roman"/>
              </a:rPr>
              <a:t>Where mname=employee2.ename &amp; street =employee2.street &amp; city=employee2.street</a:t>
            </a:r>
            <a:endParaRPr>
              <a:solidFill>
                <a:schemeClr val="dk1"/>
              </a:solidFill>
              <a:latin typeface="Times New Roman"/>
              <a:ea typeface="Times New Roman"/>
              <a:cs typeface="Times New Roman"/>
              <a:sym typeface="Times New Roman"/>
            </a:endParaRPr>
          </a:p>
        </p:txBody>
      </p:sp>
      <p:sp>
        <p:nvSpPr>
          <p:cNvPr id="1158" name="Google Shape;1158;p108"/>
          <p:cNvSpPr txBox="1"/>
          <p:nvPr/>
        </p:nvSpPr>
        <p:spPr>
          <a:xfrm>
            <a:off x="2041525" y="4229101"/>
            <a:ext cx="4203700" cy="1465263"/>
          </a:xfrm>
          <a:prstGeom prst="rect">
            <a:avLst/>
          </a:prstGeom>
          <a:noFill/>
          <a:ln>
            <a:noFill/>
          </a:ln>
        </p:spPr>
        <p:txBody>
          <a:bodyPr spcFirstLastPara="1" wrap="square" lIns="91425" tIns="45700" rIns="91425" bIns="45700" anchor="t" anchorCtr="0">
            <a:spAutoFit/>
          </a:bodyPr>
          <a:lstStyle/>
          <a:p>
            <a:r>
              <a:rPr lang="en-US">
                <a:solidFill>
                  <a:schemeClr val="dk1"/>
                </a:solidFill>
                <a:latin typeface="Times New Roman"/>
                <a:ea typeface="Times New Roman"/>
                <a:cs typeface="Times New Roman"/>
                <a:sym typeface="Times New Roman"/>
              </a:rPr>
              <a:t>Joe  Pine    Kent      Lucy   Pine   Kent</a:t>
            </a:r>
            <a:endParaRPr>
              <a:solidFill>
                <a:schemeClr val="dk1"/>
              </a:solidFill>
              <a:latin typeface="Times New Roman"/>
              <a:ea typeface="Times New Roman"/>
              <a:cs typeface="Times New Roman"/>
              <a:sym typeface="Times New Roman"/>
            </a:endParaRPr>
          </a:p>
          <a:p>
            <a:r>
              <a:rPr lang="en-US">
                <a:solidFill>
                  <a:schemeClr val="dk1"/>
                </a:solidFill>
                <a:latin typeface="Times New Roman"/>
                <a:ea typeface="Times New Roman"/>
                <a:cs typeface="Times New Roman"/>
                <a:sym typeface="Times New Roman"/>
              </a:rPr>
              <a:t>Mike Pine Canton   Lucy   Pine   Kent</a:t>
            </a:r>
            <a:endParaRPr>
              <a:solidFill>
                <a:schemeClr val="dk1"/>
              </a:solidFill>
              <a:latin typeface="Times New Roman"/>
              <a:ea typeface="Times New Roman"/>
              <a:cs typeface="Times New Roman"/>
              <a:sym typeface="Times New Roman"/>
            </a:endParaRPr>
          </a:p>
          <a:p>
            <a:r>
              <a:rPr lang="en-US">
                <a:solidFill>
                  <a:schemeClr val="dk1"/>
                </a:solidFill>
                <a:latin typeface="Times New Roman"/>
                <a:ea typeface="Times New Roman"/>
                <a:cs typeface="Times New Roman"/>
                <a:sym typeface="Times New Roman"/>
              </a:rPr>
              <a:t>Carol Oak   Kent     Matt    Main Cleveland</a:t>
            </a:r>
            <a:endParaRPr>
              <a:solidFill>
                <a:schemeClr val="dk1"/>
              </a:solidFill>
              <a:latin typeface="Times New Roman"/>
              <a:ea typeface="Times New Roman"/>
              <a:cs typeface="Times New Roman"/>
              <a:sym typeface="Times New Roman"/>
            </a:endParaRPr>
          </a:p>
          <a:p>
            <a:r>
              <a:rPr lang="en-US">
                <a:solidFill>
                  <a:schemeClr val="dk1"/>
                </a:solidFill>
                <a:latin typeface="Times New Roman"/>
                <a:ea typeface="Times New Roman"/>
                <a:cs typeface="Times New Roman"/>
                <a:sym typeface="Times New Roman"/>
              </a:rPr>
              <a:t>Lucy Pine   Kent     Matt    Main  Cleveland</a:t>
            </a:r>
            <a:endParaRPr>
              <a:solidFill>
                <a:schemeClr val="dk1"/>
              </a:solidFill>
              <a:latin typeface="Times New Roman"/>
              <a:ea typeface="Times New Roman"/>
              <a:cs typeface="Times New Roman"/>
              <a:sym typeface="Times New Roman"/>
            </a:endParaRPr>
          </a:p>
          <a:p>
            <a:r>
              <a:rPr lang="en-US">
                <a:solidFill>
                  <a:schemeClr val="dk1"/>
                </a:solidFill>
                <a:latin typeface="Times New Roman"/>
                <a:ea typeface="Times New Roman"/>
                <a:cs typeface="Times New Roman"/>
                <a:sym typeface="Times New Roman"/>
              </a:rPr>
              <a:t>Sean  Pine   Kent    Lucy    Pine   Kent</a:t>
            </a:r>
            <a:endParaRPr>
              <a:solidFill>
                <a:schemeClr val="dk1"/>
              </a:solidFill>
              <a:latin typeface="Times New Roman"/>
              <a:ea typeface="Times New Roman"/>
              <a:cs typeface="Times New Roman"/>
              <a:sym typeface="Times New Roman"/>
            </a:endParaRPr>
          </a:p>
        </p:txBody>
      </p:sp>
      <p:cxnSp>
        <p:nvCxnSpPr>
          <p:cNvPr id="1159" name="Google Shape;1159;p108"/>
          <p:cNvCxnSpPr/>
          <p:nvPr/>
        </p:nvCxnSpPr>
        <p:spPr>
          <a:xfrm>
            <a:off x="6096000" y="4724400"/>
            <a:ext cx="304800" cy="0"/>
          </a:xfrm>
          <a:prstGeom prst="straightConnector1">
            <a:avLst/>
          </a:prstGeom>
          <a:noFill/>
          <a:ln w="9525" cap="flat" cmpd="sng">
            <a:solidFill>
              <a:schemeClr val="dk1"/>
            </a:solidFill>
            <a:prstDash val="solid"/>
            <a:round/>
            <a:headEnd type="none" w="sm" len="sm"/>
            <a:tailEnd type="triangle" w="med" len="med"/>
          </a:ln>
        </p:spPr>
      </p:cxnSp>
      <p:sp>
        <p:nvSpPr>
          <p:cNvPr id="1160" name="Google Shape;1160;p108"/>
          <p:cNvSpPr txBox="1"/>
          <p:nvPr/>
        </p:nvSpPr>
        <p:spPr>
          <a:xfrm>
            <a:off x="6400800" y="4267200"/>
            <a:ext cx="4038600" cy="1054100"/>
          </a:xfrm>
          <a:prstGeom prst="rect">
            <a:avLst/>
          </a:prstGeom>
          <a:noFill/>
          <a:ln>
            <a:noFill/>
          </a:ln>
        </p:spPr>
        <p:txBody>
          <a:bodyPr spcFirstLastPara="1" wrap="square" lIns="91425" tIns="45700" rIns="91425" bIns="45700" anchor="t" anchorCtr="0">
            <a:spAutoFit/>
          </a:bodyPr>
          <a:lstStyle/>
          <a:p>
            <a:r>
              <a:rPr lang="en-US">
                <a:solidFill>
                  <a:schemeClr val="dk1"/>
                </a:solidFill>
                <a:latin typeface="Times New Roman"/>
                <a:ea typeface="Times New Roman"/>
                <a:cs typeface="Times New Roman"/>
                <a:sym typeface="Times New Roman"/>
              </a:rPr>
              <a:t>Joe   Pine    Kent    Lucy   Pine   Kent</a:t>
            </a:r>
            <a:endParaRPr>
              <a:solidFill>
                <a:schemeClr val="dk1"/>
              </a:solidFill>
              <a:latin typeface="Times New Roman"/>
              <a:ea typeface="Times New Roman"/>
              <a:cs typeface="Times New Roman"/>
              <a:sym typeface="Times New Roman"/>
            </a:endParaRPr>
          </a:p>
          <a:p>
            <a:r>
              <a:rPr lang="en-US">
                <a:solidFill>
                  <a:schemeClr val="dk1"/>
                </a:solidFill>
                <a:latin typeface="Times New Roman"/>
                <a:ea typeface="Times New Roman"/>
                <a:cs typeface="Times New Roman"/>
                <a:sym typeface="Times New Roman"/>
              </a:rPr>
              <a:t>Sean Pine    Kent    Lucy Pine Kent</a:t>
            </a:r>
            <a:endParaRPr>
              <a:solidFill>
                <a:schemeClr val="dk1"/>
              </a:solidFill>
              <a:latin typeface="Times New Roman"/>
              <a:ea typeface="Times New Roman"/>
              <a:cs typeface="Times New Roman"/>
              <a:sym typeface="Times New Roman"/>
            </a:endParaRPr>
          </a:p>
          <a:p>
            <a:pPr>
              <a:spcBef>
                <a:spcPts val="900"/>
              </a:spcBef>
            </a:pPr>
            <a:endParaRPr>
              <a:solidFill>
                <a:schemeClr val="dk1"/>
              </a:solidFill>
              <a:latin typeface="Times New Roman"/>
              <a:ea typeface="Times New Roman"/>
              <a:cs typeface="Times New Roman"/>
              <a:sym typeface="Times New Roman"/>
            </a:endParaRPr>
          </a:p>
        </p:txBody>
      </p:sp>
      <p:sp>
        <p:nvSpPr>
          <p:cNvPr id="1161" name="Google Shape;1161;p108"/>
          <p:cNvSpPr txBox="1"/>
          <p:nvPr/>
        </p:nvSpPr>
        <p:spPr>
          <a:xfrm>
            <a:off x="2041525" y="5676900"/>
            <a:ext cx="2400300" cy="641350"/>
          </a:xfrm>
          <a:prstGeom prst="rect">
            <a:avLst/>
          </a:prstGeom>
          <a:noFill/>
          <a:ln>
            <a:noFill/>
          </a:ln>
        </p:spPr>
        <p:txBody>
          <a:bodyPr spcFirstLastPara="1" wrap="square" lIns="91425" tIns="45700" rIns="91425" bIns="45700" anchor="t" anchorCtr="0">
            <a:spAutoFit/>
          </a:bodyPr>
          <a:lstStyle/>
          <a:p>
            <a:r>
              <a:rPr lang="en-US">
                <a:solidFill>
                  <a:schemeClr val="dk1"/>
                </a:solidFill>
                <a:latin typeface="Times New Roman"/>
                <a:ea typeface="Times New Roman"/>
                <a:cs typeface="Times New Roman"/>
                <a:sym typeface="Times New Roman"/>
              </a:rPr>
              <a:t>Project on ename:  Joe</a:t>
            </a:r>
            <a:endParaRPr>
              <a:solidFill>
                <a:schemeClr val="dk1"/>
              </a:solidFill>
              <a:latin typeface="Times New Roman"/>
              <a:ea typeface="Times New Roman"/>
              <a:cs typeface="Times New Roman"/>
              <a:sym typeface="Times New Roman"/>
            </a:endParaRPr>
          </a:p>
          <a:p>
            <a:r>
              <a:rPr lang="en-US">
                <a:solidFill>
                  <a:schemeClr val="dk1"/>
                </a:solidFill>
                <a:latin typeface="Times New Roman"/>
                <a:ea typeface="Times New Roman"/>
                <a:cs typeface="Times New Roman"/>
                <a:sym typeface="Times New Roman"/>
              </a:rPr>
              <a:t>                               Sean</a:t>
            </a:r>
            <a:endParaRPr>
              <a:solidFill>
                <a:schemeClr val="dk1"/>
              </a:solidFill>
              <a:latin typeface="Times New Roman"/>
              <a:ea typeface="Times New Roman"/>
              <a:cs typeface="Times New Roman"/>
              <a:sym typeface="Times New Roman"/>
            </a:endParaRPr>
          </a:p>
        </p:txBody>
      </p:sp>
      <p:grpSp>
        <p:nvGrpSpPr>
          <p:cNvPr id="1162" name="Google Shape;1162;p108"/>
          <p:cNvGrpSpPr/>
          <p:nvPr/>
        </p:nvGrpSpPr>
        <p:grpSpPr>
          <a:xfrm>
            <a:off x="5334000" y="3352800"/>
            <a:ext cx="228600" cy="304800"/>
            <a:chOff x="1536" y="1296"/>
            <a:chExt cx="144" cy="192"/>
          </a:xfrm>
        </p:grpSpPr>
        <p:cxnSp>
          <p:nvCxnSpPr>
            <p:cNvPr id="1163" name="Google Shape;1163;p108"/>
            <p:cNvCxnSpPr/>
            <p:nvPr/>
          </p:nvCxnSpPr>
          <p:spPr>
            <a:xfrm>
              <a:off x="1536" y="1296"/>
              <a:ext cx="0" cy="192"/>
            </a:xfrm>
            <a:prstGeom prst="straightConnector1">
              <a:avLst/>
            </a:prstGeom>
            <a:noFill/>
            <a:ln w="9525" cap="flat" cmpd="sng">
              <a:solidFill>
                <a:schemeClr val="dk1"/>
              </a:solidFill>
              <a:prstDash val="solid"/>
              <a:round/>
              <a:headEnd type="none" w="sm" len="sm"/>
              <a:tailEnd type="none" w="sm" len="sm"/>
            </a:ln>
          </p:spPr>
        </p:cxnSp>
        <p:cxnSp>
          <p:nvCxnSpPr>
            <p:cNvPr id="1164" name="Google Shape;1164;p108"/>
            <p:cNvCxnSpPr/>
            <p:nvPr/>
          </p:nvCxnSpPr>
          <p:spPr>
            <a:xfrm rot="10800000" flipH="1">
              <a:off x="1536" y="1296"/>
              <a:ext cx="144" cy="192"/>
            </a:xfrm>
            <a:prstGeom prst="straightConnector1">
              <a:avLst/>
            </a:prstGeom>
            <a:noFill/>
            <a:ln w="9525" cap="flat" cmpd="sng">
              <a:solidFill>
                <a:schemeClr val="dk1"/>
              </a:solidFill>
              <a:prstDash val="solid"/>
              <a:round/>
              <a:headEnd type="none" w="sm" len="sm"/>
              <a:tailEnd type="none" w="sm" len="sm"/>
            </a:ln>
          </p:spPr>
        </p:cxnSp>
        <p:cxnSp>
          <p:nvCxnSpPr>
            <p:cNvPr id="1165" name="Google Shape;1165;p108"/>
            <p:cNvCxnSpPr/>
            <p:nvPr/>
          </p:nvCxnSpPr>
          <p:spPr>
            <a:xfrm>
              <a:off x="1680" y="1296"/>
              <a:ext cx="0" cy="192"/>
            </a:xfrm>
            <a:prstGeom prst="straightConnector1">
              <a:avLst/>
            </a:prstGeom>
            <a:noFill/>
            <a:ln w="9525" cap="flat" cmpd="sng">
              <a:solidFill>
                <a:schemeClr val="dk1"/>
              </a:solidFill>
              <a:prstDash val="solid"/>
              <a:round/>
              <a:headEnd type="none" w="sm" len="sm"/>
              <a:tailEnd type="none" w="sm" len="sm"/>
            </a:ln>
          </p:spPr>
        </p:cxnSp>
        <p:cxnSp>
          <p:nvCxnSpPr>
            <p:cNvPr id="1166" name="Google Shape;1166;p108"/>
            <p:cNvCxnSpPr/>
            <p:nvPr/>
          </p:nvCxnSpPr>
          <p:spPr>
            <a:xfrm>
              <a:off x="1536" y="1296"/>
              <a:ext cx="144" cy="192"/>
            </a:xfrm>
            <a:prstGeom prst="straightConnector1">
              <a:avLst/>
            </a:prstGeom>
            <a:noFill/>
            <a:ln w="9525" cap="flat" cmpd="sng">
              <a:solidFill>
                <a:schemeClr val="dk1"/>
              </a:solidFill>
              <a:prstDash val="solid"/>
              <a:round/>
              <a:headEnd type="none" w="sm" len="sm"/>
              <a:tailEnd type="none" w="sm" len="sm"/>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46"/>
                                        </p:tgtEl>
                                        <p:attrNameLst>
                                          <p:attrName>style.visibility</p:attrName>
                                        </p:attrNameLst>
                                      </p:cBhvr>
                                      <p:to>
                                        <p:strVal val="visible"/>
                                      </p:to>
                                    </p:set>
                                    <p:animEffect transition="in" filter="fade">
                                      <p:cBhvr>
                                        <p:cTn id="7" dur="500"/>
                                        <p:tgtEl>
                                          <p:spTgt spid="114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47"/>
                                        </p:tgtEl>
                                        <p:attrNameLst>
                                          <p:attrName>style.visibility</p:attrName>
                                        </p:attrNameLst>
                                      </p:cBhvr>
                                      <p:to>
                                        <p:strVal val="visible"/>
                                      </p:to>
                                    </p:set>
                                    <p:animEffect transition="in" filter="fade">
                                      <p:cBhvr>
                                        <p:cTn id="12" dur="500"/>
                                        <p:tgtEl>
                                          <p:spTgt spid="1147"/>
                                        </p:tgtEl>
                                      </p:cBhvr>
                                    </p:animEffect>
                                  </p:childTnLst>
                                </p:cTn>
                              </p:par>
                              <p:par>
                                <p:cTn id="13" presetID="10" presetClass="entr" presetSubtype="0" fill="hold" nodeType="withEffect">
                                  <p:stCondLst>
                                    <p:cond delay="0"/>
                                  </p:stCondLst>
                                  <p:childTnLst>
                                    <p:set>
                                      <p:cBhvr>
                                        <p:cTn id="14" dur="1" fill="hold">
                                          <p:stCondLst>
                                            <p:cond delay="0"/>
                                          </p:stCondLst>
                                        </p:cTn>
                                        <p:tgtEl>
                                          <p:spTgt spid="1148"/>
                                        </p:tgtEl>
                                        <p:attrNameLst>
                                          <p:attrName>style.visibility</p:attrName>
                                        </p:attrNameLst>
                                      </p:cBhvr>
                                      <p:to>
                                        <p:strVal val="visible"/>
                                      </p:to>
                                    </p:set>
                                    <p:animEffect transition="in" filter="fade">
                                      <p:cBhvr>
                                        <p:cTn id="15" dur="500"/>
                                        <p:tgtEl>
                                          <p:spTgt spid="1148"/>
                                        </p:tgtEl>
                                      </p:cBhvr>
                                    </p:animEffect>
                                  </p:childTnLst>
                                </p:cTn>
                              </p:par>
                              <p:par>
                                <p:cTn id="16" presetID="10" presetClass="entr" presetSubtype="0" fill="hold" nodeType="withEffect">
                                  <p:stCondLst>
                                    <p:cond delay="0"/>
                                  </p:stCondLst>
                                  <p:childTnLst>
                                    <p:set>
                                      <p:cBhvr>
                                        <p:cTn id="17" dur="1" fill="hold">
                                          <p:stCondLst>
                                            <p:cond delay="0"/>
                                          </p:stCondLst>
                                        </p:cTn>
                                        <p:tgtEl>
                                          <p:spTgt spid="1149"/>
                                        </p:tgtEl>
                                        <p:attrNameLst>
                                          <p:attrName>style.visibility</p:attrName>
                                        </p:attrNameLst>
                                      </p:cBhvr>
                                      <p:to>
                                        <p:strVal val="visible"/>
                                      </p:to>
                                    </p:set>
                                    <p:animEffect transition="in" filter="fade">
                                      <p:cBhvr>
                                        <p:cTn id="18" dur="500"/>
                                        <p:tgtEl>
                                          <p:spTgt spid="1149"/>
                                        </p:tgtEl>
                                      </p:cBhvr>
                                    </p:animEffect>
                                  </p:childTnLst>
                                </p:cTn>
                              </p:par>
                              <p:par>
                                <p:cTn id="19" presetID="10" presetClass="entr" presetSubtype="0" fill="hold" nodeType="withEffect">
                                  <p:stCondLst>
                                    <p:cond delay="0"/>
                                  </p:stCondLst>
                                  <p:childTnLst>
                                    <p:set>
                                      <p:cBhvr>
                                        <p:cTn id="20" dur="1" fill="hold">
                                          <p:stCondLst>
                                            <p:cond delay="0"/>
                                          </p:stCondLst>
                                        </p:cTn>
                                        <p:tgtEl>
                                          <p:spTgt spid="1150"/>
                                        </p:tgtEl>
                                        <p:attrNameLst>
                                          <p:attrName>style.visibility</p:attrName>
                                        </p:attrNameLst>
                                      </p:cBhvr>
                                      <p:to>
                                        <p:strVal val="visible"/>
                                      </p:to>
                                    </p:set>
                                    <p:animEffect transition="in" filter="fade">
                                      <p:cBhvr>
                                        <p:cTn id="21" dur="500"/>
                                        <p:tgtEl>
                                          <p:spTgt spid="1150"/>
                                        </p:tgtEl>
                                      </p:cBhvr>
                                    </p:animEffect>
                                  </p:childTnLst>
                                </p:cTn>
                              </p:par>
                              <p:par>
                                <p:cTn id="22" presetID="10" presetClass="entr" presetSubtype="0" fill="hold" nodeType="withEffect">
                                  <p:stCondLst>
                                    <p:cond delay="0"/>
                                  </p:stCondLst>
                                  <p:childTnLst>
                                    <p:set>
                                      <p:cBhvr>
                                        <p:cTn id="23" dur="1" fill="hold">
                                          <p:stCondLst>
                                            <p:cond delay="0"/>
                                          </p:stCondLst>
                                        </p:cTn>
                                        <p:tgtEl>
                                          <p:spTgt spid="1151"/>
                                        </p:tgtEl>
                                        <p:attrNameLst>
                                          <p:attrName>style.visibility</p:attrName>
                                        </p:attrNameLst>
                                      </p:cBhvr>
                                      <p:to>
                                        <p:strVal val="visible"/>
                                      </p:to>
                                    </p:set>
                                    <p:animEffect transition="in" filter="fade">
                                      <p:cBhvr>
                                        <p:cTn id="24" dur="500"/>
                                        <p:tgtEl>
                                          <p:spTgt spid="1151"/>
                                        </p:tgtEl>
                                      </p:cBhvr>
                                    </p:animEffect>
                                  </p:childTnLst>
                                </p:cTn>
                              </p:par>
                              <p:par>
                                <p:cTn id="25" presetID="10" presetClass="entr" presetSubtype="0" fill="hold" nodeType="withEffect">
                                  <p:stCondLst>
                                    <p:cond delay="0"/>
                                  </p:stCondLst>
                                  <p:childTnLst>
                                    <p:set>
                                      <p:cBhvr>
                                        <p:cTn id="26" dur="1" fill="hold">
                                          <p:stCondLst>
                                            <p:cond delay="0"/>
                                          </p:stCondLst>
                                        </p:cTn>
                                        <p:tgtEl>
                                          <p:spTgt spid="1152"/>
                                        </p:tgtEl>
                                        <p:attrNameLst>
                                          <p:attrName>style.visibility</p:attrName>
                                        </p:attrNameLst>
                                      </p:cBhvr>
                                      <p:to>
                                        <p:strVal val="visible"/>
                                      </p:to>
                                    </p:set>
                                    <p:animEffect transition="in" filter="fade">
                                      <p:cBhvr>
                                        <p:cTn id="27" dur="500"/>
                                        <p:tgtEl>
                                          <p:spTgt spid="1152"/>
                                        </p:tgtEl>
                                      </p:cBhvr>
                                    </p:animEffect>
                                  </p:childTnLst>
                                </p:cTn>
                              </p:par>
                              <p:par>
                                <p:cTn id="28" presetID="10" presetClass="entr" presetSubtype="0" fill="hold" nodeType="withEffect">
                                  <p:stCondLst>
                                    <p:cond delay="0"/>
                                  </p:stCondLst>
                                  <p:childTnLst>
                                    <p:set>
                                      <p:cBhvr>
                                        <p:cTn id="29" dur="1" fill="hold">
                                          <p:stCondLst>
                                            <p:cond delay="0"/>
                                          </p:stCondLst>
                                        </p:cTn>
                                        <p:tgtEl>
                                          <p:spTgt spid="1153"/>
                                        </p:tgtEl>
                                        <p:attrNameLst>
                                          <p:attrName>style.visibility</p:attrName>
                                        </p:attrNameLst>
                                      </p:cBhvr>
                                      <p:to>
                                        <p:strVal val="visible"/>
                                      </p:to>
                                    </p:set>
                                    <p:animEffect transition="in" filter="fade">
                                      <p:cBhvr>
                                        <p:cTn id="30" dur="500"/>
                                        <p:tgtEl>
                                          <p:spTgt spid="1153"/>
                                        </p:tgtEl>
                                      </p:cBhvr>
                                    </p:animEffect>
                                  </p:childTnLst>
                                </p:cTn>
                              </p:par>
                              <p:par>
                                <p:cTn id="31" presetID="10" presetClass="entr" presetSubtype="0" fill="hold" nodeType="withEffect">
                                  <p:stCondLst>
                                    <p:cond delay="0"/>
                                  </p:stCondLst>
                                  <p:childTnLst>
                                    <p:set>
                                      <p:cBhvr>
                                        <p:cTn id="32" dur="1" fill="hold">
                                          <p:stCondLst>
                                            <p:cond delay="0"/>
                                          </p:stCondLst>
                                        </p:cTn>
                                        <p:tgtEl>
                                          <p:spTgt spid="1154"/>
                                        </p:tgtEl>
                                        <p:attrNameLst>
                                          <p:attrName>style.visibility</p:attrName>
                                        </p:attrNameLst>
                                      </p:cBhvr>
                                      <p:to>
                                        <p:strVal val="visible"/>
                                      </p:to>
                                    </p:set>
                                    <p:animEffect transition="in" filter="fade">
                                      <p:cBhvr>
                                        <p:cTn id="33" dur="500"/>
                                        <p:tgtEl>
                                          <p:spTgt spid="1154"/>
                                        </p:tgtEl>
                                      </p:cBhvr>
                                    </p:animEffect>
                                  </p:childTnLst>
                                </p:cTn>
                              </p:par>
                              <p:par>
                                <p:cTn id="34" presetID="10" presetClass="entr" presetSubtype="0" fill="hold" nodeType="withEffect">
                                  <p:stCondLst>
                                    <p:cond delay="0"/>
                                  </p:stCondLst>
                                  <p:childTnLst>
                                    <p:set>
                                      <p:cBhvr>
                                        <p:cTn id="35" dur="1" fill="hold">
                                          <p:stCondLst>
                                            <p:cond delay="0"/>
                                          </p:stCondLst>
                                        </p:cTn>
                                        <p:tgtEl>
                                          <p:spTgt spid="1155"/>
                                        </p:tgtEl>
                                        <p:attrNameLst>
                                          <p:attrName>style.visibility</p:attrName>
                                        </p:attrNameLst>
                                      </p:cBhvr>
                                      <p:to>
                                        <p:strVal val="visible"/>
                                      </p:to>
                                    </p:set>
                                    <p:animEffect transition="in" filter="fade">
                                      <p:cBhvr>
                                        <p:cTn id="36" dur="500"/>
                                        <p:tgtEl>
                                          <p:spTgt spid="1155"/>
                                        </p:tgtEl>
                                      </p:cBhvr>
                                    </p:animEffect>
                                  </p:childTnLst>
                                </p:cTn>
                              </p:par>
                              <p:par>
                                <p:cTn id="37" presetID="10" presetClass="entr" presetSubtype="0" fill="hold" nodeType="withEffect">
                                  <p:stCondLst>
                                    <p:cond delay="0"/>
                                  </p:stCondLst>
                                  <p:childTnLst>
                                    <p:set>
                                      <p:cBhvr>
                                        <p:cTn id="38" dur="1" fill="hold">
                                          <p:stCondLst>
                                            <p:cond delay="0"/>
                                          </p:stCondLst>
                                        </p:cTn>
                                        <p:tgtEl>
                                          <p:spTgt spid="1156"/>
                                        </p:tgtEl>
                                        <p:attrNameLst>
                                          <p:attrName>style.visibility</p:attrName>
                                        </p:attrNameLst>
                                      </p:cBhvr>
                                      <p:to>
                                        <p:strVal val="visible"/>
                                      </p:to>
                                    </p:set>
                                    <p:animEffect transition="in" filter="fade">
                                      <p:cBhvr>
                                        <p:cTn id="39" dur="500"/>
                                        <p:tgtEl>
                                          <p:spTgt spid="1156"/>
                                        </p:tgtEl>
                                      </p:cBhvr>
                                    </p:animEffect>
                                  </p:childTnLst>
                                </p:cTn>
                              </p:par>
                              <p:par>
                                <p:cTn id="40" presetID="10" presetClass="entr" presetSubtype="0" fill="hold" nodeType="withEffect">
                                  <p:stCondLst>
                                    <p:cond delay="0"/>
                                  </p:stCondLst>
                                  <p:childTnLst>
                                    <p:set>
                                      <p:cBhvr>
                                        <p:cTn id="41" dur="1" fill="hold">
                                          <p:stCondLst>
                                            <p:cond delay="0"/>
                                          </p:stCondLst>
                                        </p:cTn>
                                        <p:tgtEl>
                                          <p:spTgt spid="1158"/>
                                        </p:tgtEl>
                                        <p:attrNameLst>
                                          <p:attrName>style.visibility</p:attrName>
                                        </p:attrNameLst>
                                      </p:cBhvr>
                                      <p:to>
                                        <p:strVal val="visible"/>
                                      </p:to>
                                    </p:set>
                                    <p:animEffect transition="in" filter="fade">
                                      <p:cBhvr>
                                        <p:cTn id="42" dur="500"/>
                                        <p:tgtEl>
                                          <p:spTgt spid="1158"/>
                                        </p:tgtEl>
                                      </p:cBhvr>
                                    </p:animEffect>
                                  </p:childTnLst>
                                </p:cTn>
                              </p:par>
                              <p:par>
                                <p:cTn id="43" presetID="10" presetClass="entr" presetSubtype="0" fill="hold" nodeType="withEffect">
                                  <p:stCondLst>
                                    <p:cond delay="0"/>
                                  </p:stCondLst>
                                  <p:childTnLst>
                                    <p:set>
                                      <p:cBhvr>
                                        <p:cTn id="44" dur="1" fill="hold">
                                          <p:stCondLst>
                                            <p:cond delay="0"/>
                                          </p:stCondLst>
                                        </p:cTn>
                                        <p:tgtEl>
                                          <p:spTgt spid="1159"/>
                                        </p:tgtEl>
                                        <p:attrNameLst>
                                          <p:attrName>style.visibility</p:attrName>
                                        </p:attrNameLst>
                                      </p:cBhvr>
                                      <p:to>
                                        <p:strVal val="visible"/>
                                      </p:to>
                                    </p:set>
                                    <p:animEffect transition="in" filter="fade">
                                      <p:cBhvr>
                                        <p:cTn id="45" dur="500"/>
                                        <p:tgtEl>
                                          <p:spTgt spid="1159"/>
                                        </p:tgtEl>
                                      </p:cBhvr>
                                    </p:animEffect>
                                  </p:childTnLst>
                                </p:cTn>
                              </p:par>
                              <p:par>
                                <p:cTn id="46" presetID="10" presetClass="entr" presetSubtype="0" fill="hold" nodeType="withEffect">
                                  <p:stCondLst>
                                    <p:cond delay="0"/>
                                  </p:stCondLst>
                                  <p:childTnLst>
                                    <p:set>
                                      <p:cBhvr>
                                        <p:cTn id="47" dur="1" fill="hold">
                                          <p:stCondLst>
                                            <p:cond delay="0"/>
                                          </p:stCondLst>
                                        </p:cTn>
                                        <p:tgtEl>
                                          <p:spTgt spid="1160"/>
                                        </p:tgtEl>
                                        <p:attrNameLst>
                                          <p:attrName>style.visibility</p:attrName>
                                        </p:attrNameLst>
                                      </p:cBhvr>
                                      <p:to>
                                        <p:strVal val="visible"/>
                                      </p:to>
                                    </p:set>
                                    <p:animEffect transition="in" filter="fade">
                                      <p:cBhvr>
                                        <p:cTn id="48" dur="500"/>
                                        <p:tgtEl>
                                          <p:spTgt spid="1160"/>
                                        </p:tgtEl>
                                      </p:cBhvr>
                                    </p:animEffect>
                                  </p:childTnLst>
                                </p:cTn>
                              </p:par>
                              <p:par>
                                <p:cTn id="49" presetID="10" presetClass="entr" presetSubtype="0" fill="hold" nodeType="withEffect">
                                  <p:stCondLst>
                                    <p:cond delay="0"/>
                                  </p:stCondLst>
                                  <p:childTnLst>
                                    <p:set>
                                      <p:cBhvr>
                                        <p:cTn id="50" dur="1" fill="hold">
                                          <p:stCondLst>
                                            <p:cond delay="0"/>
                                          </p:stCondLst>
                                        </p:cTn>
                                        <p:tgtEl>
                                          <p:spTgt spid="1162"/>
                                        </p:tgtEl>
                                        <p:attrNameLst>
                                          <p:attrName>style.visibility</p:attrName>
                                        </p:attrNameLst>
                                      </p:cBhvr>
                                      <p:to>
                                        <p:strVal val="visible"/>
                                      </p:to>
                                    </p:set>
                                    <p:animEffect transition="in" filter="fade">
                                      <p:cBhvr>
                                        <p:cTn id="51" dur="500"/>
                                        <p:tgtEl>
                                          <p:spTgt spid="1162"/>
                                        </p:tgtEl>
                                      </p:cBhvr>
                                    </p:animEffect>
                                  </p:childTnLst>
                                </p:cTn>
                              </p:par>
                              <p:par>
                                <p:cTn id="52" presetID="10" presetClass="entr" presetSubtype="0" fill="hold" nodeType="withEffect">
                                  <p:stCondLst>
                                    <p:cond delay="0"/>
                                  </p:stCondLst>
                                  <p:childTnLst>
                                    <p:set>
                                      <p:cBhvr>
                                        <p:cTn id="53" dur="1" fill="hold">
                                          <p:stCondLst>
                                            <p:cond delay="0"/>
                                          </p:stCondLst>
                                        </p:cTn>
                                        <p:tgtEl>
                                          <p:spTgt spid="1157"/>
                                        </p:tgtEl>
                                        <p:attrNameLst>
                                          <p:attrName>style.visibility</p:attrName>
                                        </p:attrNameLst>
                                      </p:cBhvr>
                                      <p:to>
                                        <p:strVal val="visible"/>
                                      </p:to>
                                    </p:set>
                                    <p:animEffect transition="in" filter="fade">
                                      <p:cBhvr>
                                        <p:cTn id="54" dur="500"/>
                                        <p:tgtEl>
                                          <p:spTgt spid="1157"/>
                                        </p:tgtEl>
                                      </p:cBhvr>
                                    </p:animEffect>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nodeType="clickEffect">
                                  <p:stCondLst>
                                    <p:cond delay="0"/>
                                  </p:stCondLst>
                                  <p:childTnLst>
                                    <p:set>
                                      <p:cBhvr>
                                        <p:cTn id="58" dur="1" fill="hold">
                                          <p:stCondLst>
                                            <p:cond delay="0"/>
                                          </p:stCondLst>
                                        </p:cTn>
                                        <p:tgtEl>
                                          <p:spTgt spid="1161"/>
                                        </p:tgtEl>
                                        <p:attrNameLst>
                                          <p:attrName>style.visibility</p:attrName>
                                        </p:attrNameLst>
                                      </p:cBhvr>
                                      <p:to>
                                        <p:strVal val="visible"/>
                                      </p:to>
                                    </p:set>
                                    <p:anim calcmode="lin" valueType="num">
                                      <p:cBhvr additive="base">
                                        <p:cTn id="59" dur="500"/>
                                        <p:tgtEl>
                                          <p:spTgt spid="116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Shape 1170"/>
        <p:cNvGrpSpPr/>
        <p:nvPr/>
      </p:nvGrpSpPr>
      <p:grpSpPr>
        <a:xfrm>
          <a:off x="0" y="0"/>
          <a:ext cx="0" cy="0"/>
          <a:chOff x="0" y="0"/>
          <a:chExt cx="0" cy="0"/>
        </a:xfrm>
      </p:grpSpPr>
      <p:sp>
        <p:nvSpPr>
          <p:cNvPr id="1171" name="Google Shape;1171;p109"/>
          <p:cNvSpPr txBox="1">
            <a:spLocks noGrp="1"/>
          </p:cNvSpPr>
          <p:nvPr>
            <p:ph type="title"/>
          </p:nvPr>
        </p:nvSpPr>
        <p:spPr>
          <a:xfrm>
            <a:off x="1981200" y="274638"/>
            <a:ext cx="8229600" cy="1143000"/>
          </a:xfrm>
          <a:prstGeom prst="rect">
            <a:avLst/>
          </a:prstGeom>
          <a:noFill/>
          <a:ln>
            <a:noFill/>
          </a:ln>
        </p:spPr>
        <p:txBody>
          <a:bodyPr spcFirstLastPara="1" vert="horz" wrap="square" lIns="91425" tIns="45700" rIns="91425" bIns="45700" rtlCol="0" anchor="ctr" anchorCtr="0">
            <a:noAutofit/>
          </a:bodyPr>
          <a:lstStyle/>
          <a:p>
            <a:pPr algn="ctr">
              <a:lnSpc>
                <a:spcPct val="100000"/>
              </a:lnSpc>
              <a:spcBef>
                <a:spcPts val="0"/>
              </a:spcBef>
              <a:buClr>
                <a:schemeClr val="dk2"/>
              </a:buClr>
              <a:buSzPts val="2800"/>
            </a:pPr>
            <a:r>
              <a:rPr lang="en-US" sz="2800"/>
              <a:t>Find Employees that make more than their managers</a:t>
            </a:r>
            <a:br>
              <a:rPr lang="en-US" sz="2800"/>
            </a:br>
            <a:r>
              <a:rPr lang="en-US" sz="2800"/>
              <a:t> </a:t>
            </a:r>
            <a:endParaRPr sz="2800"/>
          </a:p>
        </p:txBody>
      </p:sp>
      <p:sp>
        <p:nvSpPr>
          <p:cNvPr id="1172" name="Google Shape;1172;p109"/>
          <p:cNvSpPr txBox="1">
            <a:spLocks noGrp="1"/>
          </p:cNvSpPr>
          <p:nvPr>
            <p:ph type="body" idx="1"/>
          </p:nvPr>
        </p:nvSpPr>
        <p:spPr>
          <a:xfrm>
            <a:off x="1981200" y="1600201"/>
            <a:ext cx="8229600" cy="4525963"/>
          </a:xfrm>
          <a:prstGeom prst="rect">
            <a:avLst/>
          </a:prstGeom>
          <a:noFill/>
          <a:ln>
            <a:noFill/>
          </a:ln>
        </p:spPr>
        <p:txBody>
          <a:bodyPr spcFirstLastPara="1" vert="horz" wrap="square" lIns="91425" tIns="45700" rIns="91425" bIns="45700" rtlCol="0" anchor="t" anchorCtr="0">
            <a:noAutofit/>
          </a:bodyPr>
          <a:lstStyle/>
          <a:p>
            <a:pPr marL="342900" indent="-342900">
              <a:lnSpc>
                <a:spcPct val="100000"/>
              </a:lnSpc>
              <a:spcBef>
                <a:spcPts val="0"/>
              </a:spcBef>
              <a:buClr>
                <a:schemeClr val="dk1"/>
              </a:buClr>
              <a:buSzPts val="2000"/>
              <a:buFont typeface="Arial"/>
              <a:buChar char="•"/>
            </a:pPr>
            <a:r>
              <a:rPr lang="en-US" sz="2000"/>
              <a:t>  Works             Manages:</a:t>
            </a:r>
            <a:endParaRPr sz="2000"/>
          </a:p>
          <a:p>
            <a:pPr marL="342900" indent="-342900">
              <a:lnSpc>
                <a:spcPct val="100000"/>
              </a:lnSpc>
              <a:spcBef>
                <a:spcPts val="400"/>
              </a:spcBef>
              <a:buClr>
                <a:schemeClr val="dk1"/>
              </a:buClr>
              <a:buSzPts val="2000"/>
              <a:buNone/>
            </a:pPr>
            <a:endParaRPr sz="2000"/>
          </a:p>
        </p:txBody>
      </p:sp>
      <p:grpSp>
        <p:nvGrpSpPr>
          <p:cNvPr id="1173" name="Google Shape;1173;p109"/>
          <p:cNvGrpSpPr/>
          <p:nvPr/>
        </p:nvGrpSpPr>
        <p:grpSpPr>
          <a:xfrm>
            <a:off x="3962400" y="2057400"/>
            <a:ext cx="228600" cy="304800"/>
            <a:chOff x="1536" y="1296"/>
            <a:chExt cx="144" cy="192"/>
          </a:xfrm>
        </p:grpSpPr>
        <p:cxnSp>
          <p:nvCxnSpPr>
            <p:cNvPr id="1174" name="Google Shape;1174;p109"/>
            <p:cNvCxnSpPr/>
            <p:nvPr/>
          </p:nvCxnSpPr>
          <p:spPr>
            <a:xfrm>
              <a:off x="1536" y="1296"/>
              <a:ext cx="0" cy="192"/>
            </a:xfrm>
            <a:prstGeom prst="straightConnector1">
              <a:avLst/>
            </a:prstGeom>
            <a:noFill/>
            <a:ln w="9525" cap="flat" cmpd="sng">
              <a:solidFill>
                <a:schemeClr val="dk1"/>
              </a:solidFill>
              <a:prstDash val="solid"/>
              <a:round/>
              <a:headEnd type="none" w="sm" len="sm"/>
              <a:tailEnd type="none" w="sm" len="sm"/>
            </a:ln>
          </p:spPr>
        </p:cxnSp>
        <p:cxnSp>
          <p:nvCxnSpPr>
            <p:cNvPr id="1175" name="Google Shape;1175;p109"/>
            <p:cNvCxnSpPr/>
            <p:nvPr/>
          </p:nvCxnSpPr>
          <p:spPr>
            <a:xfrm rot="10800000" flipH="1">
              <a:off x="1536" y="1296"/>
              <a:ext cx="144" cy="192"/>
            </a:xfrm>
            <a:prstGeom prst="straightConnector1">
              <a:avLst/>
            </a:prstGeom>
            <a:noFill/>
            <a:ln w="9525" cap="flat" cmpd="sng">
              <a:solidFill>
                <a:schemeClr val="dk1"/>
              </a:solidFill>
              <a:prstDash val="solid"/>
              <a:round/>
              <a:headEnd type="none" w="sm" len="sm"/>
              <a:tailEnd type="none" w="sm" len="sm"/>
            </a:ln>
          </p:spPr>
        </p:cxnSp>
        <p:cxnSp>
          <p:nvCxnSpPr>
            <p:cNvPr id="1176" name="Google Shape;1176;p109"/>
            <p:cNvCxnSpPr/>
            <p:nvPr/>
          </p:nvCxnSpPr>
          <p:spPr>
            <a:xfrm>
              <a:off x="1680" y="1296"/>
              <a:ext cx="0" cy="192"/>
            </a:xfrm>
            <a:prstGeom prst="straightConnector1">
              <a:avLst/>
            </a:prstGeom>
            <a:noFill/>
            <a:ln w="9525" cap="flat" cmpd="sng">
              <a:solidFill>
                <a:schemeClr val="dk1"/>
              </a:solidFill>
              <a:prstDash val="solid"/>
              <a:round/>
              <a:headEnd type="none" w="sm" len="sm"/>
              <a:tailEnd type="none" w="sm" len="sm"/>
            </a:ln>
          </p:spPr>
        </p:cxnSp>
        <p:cxnSp>
          <p:nvCxnSpPr>
            <p:cNvPr id="1177" name="Google Shape;1177;p109"/>
            <p:cNvCxnSpPr/>
            <p:nvPr/>
          </p:nvCxnSpPr>
          <p:spPr>
            <a:xfrm>
              <a:off x="1536" y="1296"/>
              <a:ext cx="144" cy="192"/>
            </a:xfrm>
            <a:prstGeom prst="straightConnector1">
              <a:avLst/>
            </a:prstGeom>
            <a:noFill/>
            <a:ln w="9525" cap="flat" cmpd="sng">
              <a:solidFill>
                <a:schemeClr val="dk1"/>
              </a:solidFill>
              <a:prstDash val="solid"/>
              <a:round/>
              <a:headEnd type="none" w="sm" len="sm"/>
              <a:tailEnd type="none" w="sm" len="sm"/>
            </a:ln>
          </p:spPr>
        </p:cxnSp>
      </p:grpSp>
      <p:sp>
        <p:nvSpPr>
          <p:cNvPr id="1178" name="Google Shape;1178;p109"/>
          <p:cNvSpPr txBox="1"/>
          <p:nvPr/>
        </p:nvSpPr>
        <p:spPr>
          <a:xfrm>
            <a:off x="6232525" y="1866901"/>
            <a:ext cx="2482850" cy="1465263"/>
          </a:xfrm>
          <a:prstGeom prst="rect">
            <a:avLst/>
          </a:prstGeom>
          <a:noFill/>
          <a:ln>
            <a:noFill/>
          </a:ln>
        </p:spPr>
        <p:txBody>
          <a:bodyPr spcFirstLastPara="1" wrap="square" lIns="91425" tIns="45700" rIns="91425" bIns="45700" anchor="t" anchorCtr="0">
            <a:spAutoFit/>
          </a:bodyPr>
          <a:lstStyle/>
          <a:p>
            <a:r>
              <a:rPr lang="en-US">
                <a:solidFill>
                  <a:schemeClr val="dk1"/>
                </a:solidFill>
                <a:latin typeface="Times New Roman"/>
                <a:ea typeface="Times New Roman"/>
                <a:cs typeface="Times New Roman"/>
                <a:sym typeface="Times New Roman"/>
              </a:rPr>
              <a:t>Joe    GE    30K      Lucy</a:t>
            </a:r>
            <a:endParaRPr>
              <a:solidFill>
                <a:schemeClr val="dk1"/>
              </a:solidFill>
              <a:latin typeface="Times New Roman"/>
              <a:ea typeface="Times New Roman"/>
              <a:cs typeface="Times New Roman"/>
              <a:sym typeface="Times New Roman"/>
            </a:endParaRPr>
          </a:p>
          <a:p>
            <a:r>
              <a:rPr lang="en-US">
                <a:solidFill>
                  <a:schemeClr val="dk1"/>
                </a:solidFill>
                <a:latin typeface="Times New Roman"/>
                <a:ea typeface="Times New Roman"/>
                <a:cs typeface="Times New Roman"/>
                <a:sym typeface="Times New Roman"/>
              </a:rPr>
              <a:t>Mike GE   100K     Lucy</a:t>
            </a:r>
            <a:endParaRPr>
              <a:solidFill>
                <a:schemeClr val="dk1"/>
              </a:solidFill>
              <a:latin typeface="Times New Roman"/>
              <a:ea typeface="Times New Roman"/>
              <a:cs typeface="Times New Roman"/>
              <a:sym typeface="Times New Roman"/>
            </a:endParaRPr>
          </a:p>
          <a:p>
            <a:r>
              <a:rPr lang="en-US">
                <a:solidFill>
                  <a:schemeClr val="dk1"/>
                </a:solidFill>
                <a:latin typeface="Times New Roman"/>
                <a:ea typeface="Times New Roman"/>
                <a:cs typeface="Times New Roman"/>
                <a:sym typeface="Times New Roman"/>
              </a:rPr>
              <a:t>Carol GE    70K      Matt</a:t>
            </a:r>
            <a:endParaRPr>
              <a:solidFill>
                <a:schemeClr val="dk1"/>
              </a:solidFill>
              <a:latin typeface="Times New Roman"/>
              <a:ea typeface="Times New Roman"/>
              <a:cs typeface="Times New Roman"/>
              <a:sym typeface="Times New Roman"/>
            </a:endParaRPr>
          </a:p>
          <a:p>
            <a:r>
              <a:rPr lang="en-US">
                <a:solidFill>
                  <a:schemeClr val="dk1"/>
                </a:solidFill>
                <a:latin typeface="Times New Roman"/>
                <a:ea typeface="Times New Roman"/>
                <a:cs typeface="Times New Roman"/>
                <a:sym typeface="Times New Roman"/>
              </a:rPr>
              <a:t>Lucy  GE    60K      Matt</a:t>
            </a:r>
            <a:endParaRPr>
              <a:solidFill>
                <a:schemeClr val="dk1"/>
              </a:solidFill>
              <a:latin typeface="Times New Roman"/>
              <a:ea typeface="Times New Roman"/>
              <a:cs typeface="Times New Roman"/>
              <a:sym typeface="Times New Roman"/>
            </a:endParaRPr>
          </a:p>
          <a:p>
            <a:r>
              <a:rPr lang="en-US">
                <a:solidFill>
                  <a:schemeClr val="dk1"/>
                </a:solidFill>
                <a:latin typeface="Times New Roman"/>
                <a:ea typeface="Times New Roman"/>
                <a:cs typeface="Times New Roman"/>
                <a:sym typeface="Times New Roman"/>
              </a:rPr>
              <a:t>Sean   GE    40K     Lucy</a:t>
            </a:r>
            <a:endParaRPr>
              <a:solidFill>
                <a:schemeClr val="dk1"/>
              </a:solidFill>
              <a:latin typeface="Times New Roman"/>
              <a:ea typeface="Times New Roman"/>
              <a:cs typeface="Times New Roman"/>
              <a:sym typeface="Times New Roman"/>
            </a:endParaRPr>
          </a:p>
        </p:txBody>
      </p:sp>
      <p:sp>
        <p:nvSpPr>
          <p:cNvPr id="1179" name="Google Shape;1179;p109"/>
          <p:cNvSpPr txBox="1"/>
          <p:nvPr/>
        </p:nvSpPr>
        <p:spPr>
          <a:xfrm>
            <a:off x="2743200" y="3352801"/>
            <a:ext cx="3867150" cy="366713"/>
          </a:xfrm>
          <a:prstGeom prst="rect">
            <a:avLst/>
          </a:prstGeom>
          <a:noFill/>
          <a:ln>
            <a:noFill/>
          </a:ln>
        </p:spPr>
        <p:txBody>
          <a:bodyPr spcFirstLastPara="1" wrap="square" lIns="91425" tIns="45700" rIns="91425" bIns="45700" anchor="t" anchorCtr="0">
            <a:spAutoFit/>
          </a:bodyPr>
          <a:lstStyle/>
          <a:p>
            <a:r>
              <a:rPr lang="en-US">
                <a:solidFill>
                  <a:schemeClr val="dk1"/>
                </a:solidFill>
                <a:latin typeface="Times New Roman"/>
                <a:ea typeface="Times New Roman"/>
                <a:cs typeface="Times New Roman"/>
                <a:sym typeface="Times New Roman"/>
              </a:rPr>
              <a:t>(Works              Manages)          Works2</a:t>
            </a:r>
            <a:endParaRPr>
              <a:solidFill>
                <a:schemeClr val="dk1"/>
              </a:solidFill>
              <a:latin typeface="Times New Roman"/>
              <a:ea typeface="Times New Roman"/>
              <a:cs typeface="Times New Roman"/>
              <a:sym typeface="Times New Roman"/>
            </a:endParaRPr>
          </a:p>
        </p:txBody>
      </p:sp>
      <p:cxnSp>
        <p:nvCxnSpPr>
          <p:cNvPr id="1180" name="Google Shape;1180;p109"/>
          <p:cNvCxnSpPr/>
          <p:nvPr/>
        </p:nvCxnSpPr>
        <p:spPr>
          <a:xfrm>
            <a:off x="3962400" y="3429000"/>
            <a:ext cx="0" cy="228600"/>
          </a:xfrm>
          <a:prstGeom prst="straightConnector1">
            <a:avLst/>
          </a:prstGeom>
          <a:noFill/>
          <a:ln>
            <a:noFill/>
          </a:ln>
        </p:spPr>
      </p:cxnSp>
      <p:cxnSp>
        <p:nvCxnSpPr>
          <p:cNvPr id="1181" name="Google Shape;1181;p109"/>
          <p:cNvCxnSpPr/>
          <p:nvPr/>
        </p:nvCxnSpPr>
        <p:spPr>
          <a:xfrm rot="10800000" flipH="1">
            <a:off x="3962400" y="3505200"/>
            <a:ext cx="152400" cy="152400"/>
          </a:xfrm>
          <a:prstGeom prst="straightConnector1">
            <a:avLst/>
          </a:prstGeom>
          <a:noFill/>
          <a:ln>
            <a:noFill/>
          </a:ln>
        </p:spPr>
      </p:cxnSp>
      <p:cxnSp>
        <p:nvCxnSpPr>
          <p:cNvPr id="1182" name="Google Shape;1182;p109"/>
          <p:cNvCxnSpPr/>
          <p:nvPr/>
        </p:nvCxnSpPr>
        <p:spPr>
          <a:xfrm>
            <a:off x="3962400" y="3429000"/>
            <a:ext cx="0" cy="152400"/>
          </a:xfrm>
          <a:prstGeom prst="straightConnector1">
            <a:avLst/>
          </a:prstGeom>
          <a:noFill/>
          <a:ln>
            <a:noFill/>
          </a:ln>
        </p:spPr>
      </p:cxnSp>
      <p:cxnSp>
        <p:nvCxnSpPr>
          <p:cNvPr id="1183" name="Google Shape;1183;p109"/>
          <p:cNvCxnSpPr/>
          <p:nvPr/>
        </p:nvCxnSpPr>
        <p:spPr>
          <a:xfrm>
            <a:off x="3962400" y="3352800"/>
            <a:ext cx="0" cy="304800"/>
          </a:xfrm>
          <a:prstGeom prst="straightConnector1">
            <a:avLst/>
          </a:prstGeom>
          <a:noFill/>
          <a:ln w="9525" cap="flat" cmpd="sng">
            <a:solidFill>
              <a:schemeClr val="dk1"/>
            </a:solidFill>
            <a:prstDash val="solid"/>
            <a:round/>
            <a:headEnd type="none" w="sm" len="sm"/>
            <a:tailEnd type="none" w="sm" len="sm"/>
          </a:ln>
        </p:spPr>
      </p:cxnSp>
      <p:cxnSp>
        <p:nvCxnSpPr>
          <p:cNvPr id="1184" name="Google Shape;1184;p109"/>
          <p:cNvCxnSpPr/>
          <p:nvPr/>
        </p:nvCxnSpPr>
        <p:spPr>
          <a:xfrm>
            <a:off x="3962400" y="3352800"/>
            <a:ext cx="152400" cy="304800"/>
          </a:xfrm>
          <a:prstGeom prst="straightConnector1">
            <a:avLst/>
          </a:prstGeom>
          <a:noFill/>
          <a:ln>
            <a:noFill/>
          </a:ln>
        </p:spPr>
      </p:cxnSp>
      <p:cxnSp>
        <p:nvCxnSpPr>
          <p:cNvPr id="1185" name="Google Shape;1185;p109"/>
          <p:cNvCxnSpPr/>
          <p:nvPr/>
        </p:nvCxnSpPr>
        <p:spPr>
          <a:xfrm>
            <a:off x="3962400" y="3429000"/>
            <a:ext cx="152400" cy="228600"/>
          </a:xfrm>
          <a:prstGeom prst="straightConnector1">
            <a:avLst/>
          </a:prstGeom>
          <a:noFill/>
          <a:ln>
            <a:noFill/>
          </a:ln>
        </p:spPr>
      </p:cxnSp>
      <p:cxnSp>
        <p:nvCxnSpPr>
          <p:cNvPr id="1186" name="Google Shape;1186;p109"/>
          <p:cNvCxnSpPr/>
          <p:nvPr/>
        </p:nvCxnSpPr>
        <p:spPr>
          <a:xfrm rot="10800000" flipH="1">
            <a:off x="3962400" y="3352800"/>
            <a:ext cx="228600" cy="304800"/>
          </a:xfrm>
          <a:prstGeom prst="straightConnector1">
            <a:avLst/>
          </a:prstGeom>
          <a:noFill/>
          <a:ln w="9525" cap="flat" cmpd="sng">
            <a:solidFill>
              <a:schemeClr val="dk1"/>
            </a:solidFill>
            <a:prstDash val="solid"/>
            <a:round/>
            <a:headEnd type="none" w="sm" len="sm"/>
            <a:tailEnd type="none" w="sm" len="sm"/>
          </a:ln>
        </p:spPr>
      </p:cxnSp>
      <p:cxnSp>
        <p:nvCxnSpPr>
          <p:cNvPr id="1187" name="Google Shape;1187;p109"/>
          <p:cNvCxnSpPr/>
          <p:nvPr/>
        </p:nvCxnSpPr>
        <p:spPr>
          <a:xfrm>
            <a:off x="4191000" y="3352800"/>
            <a:ext cx="0" cy="304800"/>
          </a:xfrm>
          <a:prstGeom prst="straightConnector1">
            <a:avLst/>
          </a:prstGeom>
          <a:noFill/>
          <a:ln w="9525" cap="flat" cmpd="sng">
            <a:solidFill>
              <a:schemeClr val="dk1"/>
            </a:solidFill>
            <a:prstDash val="solid"/>
            <a:round/>
            <a:headEnd type="none" w="sm" len="sm"/>
            <a:tailEnd type="none" w="sm" len="sm"/>
          </a:ln>
        </p:spPr>
      </p:cxnSp>
      <p:cxnSp>
        <p:nvCxnSpPr>
          <p:cNvPr id="1188" name="Google Shape;1188;p109"/>
          <p:cNvCxnSpPr/>
          <p:nvPr/>
        </p:nvCxnSpPr>
        <p:spPr>
          <a:xfrm>
            <a:off x="3962400" y="3352800"/>
            <a:ext cx="228600" cy="304800"/>
          </a:xfrm>
          <a:prstGeom prst="straightConnector1">
            <a:avLst/>
          </a:prstGeom>
          <a:noFill/>
          <a:ln w="9525" cap="flat" cmpd="sng">
            <a:solidFill>
              <a:schemeClr val="dk1"/>
            </a:solidFill>
            <a:prstDash val="solid"/>
            <a:round/>
            <a:headEnd type="none" w="sm" len="sm"/>
            <a:tailEnd type="none" w="sm" len="sm"/>
          </a:ln>
        </p:spPr>
      </p:cxnSp>
      <p:cxnSp>
        <p:nvCxnSpPr>
          <p:cNvPr id="1189" name="Google Shape;1189;p109"/>
          <p:cNvCxnSpPr/>
          <p:nvPr/>
        </p:nvCxnSpPr>
        <p:spPr>
          <a:xfrm>
            <a:off x="5334000" y="3429000"/>
            <a:ext cx="0" cy="228600"/>
          </a:xfrm>
          <a:prstGeom prst="straightConnector1">
            <a:avLst/>
          </a:prstGeom>
          <a:noFill/>
          <a:ln w="9525" cap="flat" cmpd="sng">
            <a:solidFill>
              <a:schemeClr val="dk1"/>
            </a:solidFill>
            <a:prstDash val="solid"/>
            <a:round/>
            <a:headEnd type="none" w="sm" len="sm"/>
            <a:tailEnd type="none" w="sm" len="sm"/>
          </a:ln>
        </p:spPr>
      </p:cxnSp>
      <p:cxnSp>
        <p:nvCxnSpPr>
          <p:cNvPr id="1190" name="Google Shape;1190;p109"/>
          <p:cNvCxnSpPr/>
          <p:nvPr/>
        </p:nvCxnSpPr>
        <p:spPr>
          <a:xfrm>
            <a:off x="5334000" y="3429000"/>
            <a:ext cx="228600" cy="228600"/>
          </a:xfrm>
          <a:prstGeom prst="straightConnector1">
            <a:avLst/>
          </a:prstGeom>
          <a:noFill/>
          <a:ln w="9525" cap="flat" cmpd="sng">
            <a:solidFill>
              <a:schemeClr val="dk1"/>
            </a:solidFill>
            <a:prstDash val="solid"/>
            <a:round/>
            <a:headEnd type="none" w="sm" len="sm"/>
            <a:tailEnd type="none" w="sm" len="sm"/>
          </a:ln>
        </p:spPr>
      </p:cxnSp>
      <p:cxnSp>
        <p:nvCxnSpPr>
          <p:cNvPr id="1191" name="Google Shape;1191;p109"/>
          <p:cNvCxnSpPr/>
          <p:nvPr/>
        </p:nvCxnSpPr>
        <p:spPr>
          <a:xfrm rot="10800000">
            <a:off x="5562600" y="3429000"/>
            <a:ext cx="0" cy="228600"/>
          </a:xfrm>
          <a:prstGeom prst="straightConnector1">
            <a:avLst/>
          </a:prstGeom>
          <a:noFill/>
          <a:ln w="9525" cap="flat" cmpd="sng">
            <a:solidFill>
              <a:schemeClr val="dk1"/>
            </a:solidFill>
            <a:prstDash val="solid"/>
            <a:round/>
            <a:headEnd type="none" w="sm" len="sm"/>
            <a:tailEnd type="none" w="sm" len="sm"/>
          </a:ln>
        </p:spPr>
      </p:cxnSp>
      <p:cxnSp>
        <p:nvCxnSpPr>
          <p:cNvPr id="1192" name="Google Shape;1192;p109"/>
          <p:cNvCxnSpPr/>
          <p:nvPr/>
        </p:nvCxnSpPr>
        <p:spPr>
          <a:xfrm rot="10800000" flipH="1">
            <a:off x="5334000" y="3429000"/>
            <a:ext cx="228600" cy="228600"/>
          </a:xfrm>
          <a:prstGeom prst="straightConnector1">
            <a:avLst/>
          </a:prstGeom>
          <a:noFill/>
          <a:ln w="9525" cap="flat" cmpd="sng">
            <a:solidFill>
              <a:schemeClr val="dk1"/>
            </a:solidFill>
            <a:prstDash val="solid"/>
            <a:round/>
            <a:headEnd type="none" w="sm" len="sm"/>
            <a:tailEnd type="none" w="sm" len="sm"/>
          </a:ln>
        </p:spPr>
      </p:cxnSp>
      <p:sp>
        <p:nvSpPr>
          <p:cNvPr id="1193" name="Google Shape;1193;p109"/>
          <p:cNvSpPr txBox="1"/>
          <p:nvPr/>
        </p:nvSpPr>
        <p:spPr>
          <a:xfrm>
            <a:off x="1752600" y="3810001"/>
            <a:ext cx="8915400" cy="366713"/>
          </a:xfrm>
          <a:prstGeom prst="rect">
            <a:avLst/>
          </a:prstGeom>
          <a:noFill/>
          <a:ln>
            <a:noFill/>
          </a:ln>
        </p:spPr>
        <p:txBody>
          <a:bodyPr spcFirstLastPara="1" wrap="square" lIns="91425" tIns="45700" rIns="91425" bIns="45700" anchor="t" anchorCtr="0">
            <a:spAutoFit/>
          </a:bodyPr>
          <a:lstStyle/>
          <a:p>
            <a:r>
              <a:rPr lang="en-US">
                <a:solidFill>
                  <a:schemeClr val="dk1"/>
                </a:solidFill>
                <a:latin typeface="Times New Roman"/>
                <a:ea typeface="Times New Roman"/>
                <a:cs typeface="Times New Roman"/>
                <a:sym typeface="Times New Roman"/>
              </a:rPr>
              <a:t>Where mname=works2.ename &amp;salary &gt;works2.salary</a:t>
            </a:r>
            <a:endParaRPr>
              <a:solidFill>
                <a:schemeClr val="dk1"/>
              </a:solidFill>
              <a:latin typeface="Times New Roman"/>
              <a:ea typeface="Times New Roman"/>
              <a:cs typeface="Times New Roman"/>
              <a:sym typeface="Times New Roman"/>
            </a:endParaRPr>
          </a:p>
        </p:txBody>
      </p:sp>
      <p:sp>
        <p:nvSpPr>
          <p:cNvPr id="1194" name="Google Shape;1194;p109"/>
          <p:cNvSpPr txBox="1"/>
          <p:nvPr/>
        </p:nvSpPr>
        <p:spPr>
          <a:xfrm>
            <a:off x="2057400" y="4343401"/>
            <a:ext cx="3467100" cy="1465263"/>
          </a:xfrm>
          <a:prstGeom prst="rect">
            <a:avLst/>
          </a:prstGeom>
          <a:noFill/>
          <a:ln>
            <a:noFill/>
          </a:ln>
        </p:spPr>
        <p:txBody>
          <a:bodyPr spcFirstLastPara="1" wrap="square" lIns="91425" tIns="45700" rIns="91425" bIns="45700" anchor="t" anchorCtr="0">
            <a:spAutoFit/>
          </a:bodyPr>
          <a:lstStyle/>
          <a:p>
            <a:r>
              <a:rPr lang="en-US">
                <a:solidFill>
                  <a:schemeClr val="dk1"/>
                </a:solidFill>
                <a:latin typeface="Times New Roman"/>
                <a:ea typeface="Times New Roman"/>
                <a:cs typeface="Times New Roman"/>
                <a:sym typeface="Times New Roman"/>
              </a:rPr>
              <a:t>Joe     GE    30K     Lucy   GE  60K</a:t>
            </a:r>
            <a:endParaRPr>
              <a:solidFill>
                <a:schemeClr val="dk1"/>
              </a:solidFill>
              <a:latin typeface="Times New Roman"/>
              <a:ea typeface="Times New Roman"/>
              <a:cs typeface="Times New Roman"/>
              <a:sym typeface="Times New Roman"/>
            </a:endParaRPr>
          </a:p>
          <a:p>
            <a:r>
              <a:rPr lang="en-US">
                <a:solidFill>
                  <a:schemeClr val="dk1"/>
                </a:solidFill>
                <a:latin typeface="Times New Roman"/>
                <a:ea typeface="Times New Roman"/>
                <a:cs typeface="Times New Roman"/>
                <a:sym typeface="Times New Roman"/>
              </a:rPr>
              <a:t>Mike  GE  100K    Lucy   GE   60K</a:t>
            </a:r>
            <a:endParaRPr>
              <a:solidFill>
                <a:schemeClr val="dk1"/>
              </a:solidFill>
              <a:latin typeface="Times New Roman"/>
              <a:ea typeface="Times New Roman"/>
              <a:cs typeface="Times New Roman"/>
              <a:sym typeface="Times New Roman"/>
            </a:endParaRPr>
          </a:p>
          <a:p>
            <a:r>
              <a:rPr lang="en-US">
                <a:solidFill>
                  <a:schemeClr val="dk1"/>
                </a:solidFill>
                <a:latin typeface="Times New Roman"/>
                <a:ea typeface="Times New Roman"/>
                <a:cs typeface="Times New Roman"/>
                <a:sym typeface="Times New Roman"/>
              </a:rPr>
              <a:t>Carol  GE    70K    Matt    GE  40K</a:t>
            </a:r>
            <a:endParaRPr>
              <a:solidFill>
                <a:schemeClr val="dk1"/>
              </a:solidFill>
              <a:latin typeface="Times New Roman"/>
              <a:ea typeface="Times New Roman"/>
              <a:cs typeface="Times New Roman"/>
              <a:sym typeface="Times New Roman"/>
            </a:endParaRPr>
          </a:p>
          <a:p>
            <a:r>
              <a:rPr lang="en-US">
                <a:solidFill>
                  <a:schemeClr val="dk1"/>
                </a:solidFill>
                <a:latin typeface="Times New Roman"/>
                <a:ea typeface="Times New Roman"/>
                <a:cs typeface="Times New Roman"/>
                <a:sym typeface="Times New Roman"/>
              </a:rPr>
              <a:t>Lucy   GE    60K    Matt    GE  40K</a:t>
            </a:r>
            <a:endParaRPr>
              <a:solidFill>
                <a:schemeClr val="dk1"/>
              </a:solidFill>
              <a:latin typeface="Times New Roman"/>
              <a:ea typeface="Times New Roman"/>
              <a:cs typeface="Times New Roman"/>
              <a:sym typeface="Times New Roman"/>
            </a:endParaRPr>
          </a:p>
          <a:p>
            <a:r>
              <a:rPr lang="en-US">
                <a:solidFill>
                  <a:schemeClr val="dk1"/>
                </a:solidFill>
                <a:latin typeface="Times New Roman"/>
                <a:ea typeface="Times New Roman"/>
                <a:cs typeface="Times New Roman"/>
                <a:sym typeface="Times New Roman"/>
              </a:rPr>
              <a:t>Sean    GE   40K     Lucy   GE  60K</a:t>
            </a:r>
            <a:endParaRPr>
              <a:solidFill>
                <a:schemeClr val="dk1"/>
              </a:solidFill>
              <a:latin typeface="Times New Roman"/>
              <a:ea typeface="Times New Roman"/>
              <a:cs typeface="Times New Roman"/>
              <a:sym typeface="Times New Roman"/>
            </a:endParaRPr>
          </a:p>
        </p:txBody>
      </p:sp>
      <p:cxnSp>
        <p:nvCxnSpPr>
          <p:cNvPr id="1195" name="Google Shape;1195;p109"/>
          <p:cNvCxnSpPr/>
          <p:nvPr/>
        </p:nvCxnSpPr>
        <p:spPr>
          <a:xfrm>
            <a:off x="6248400" y="4724400"/>
            <a:ext cx="304800" cy="0"/>
          </a:xfrm>
          <a:prstGeom prst="straightConnector1">
            <a:avLst/>
          </a:prstGeom>
          <a:noFill/>
          <a:ln w="9525" cap="flat" cmpd="sng">
            <a:solidFill>
              <a:schemeClr val="dk1"/>
            </a:solidFill>
            <a:prstDash val="solid"/>
            <a:round/>
            <a:headEnd type="none" w="sm" len="sm"/>
            <a:tailEnd type="triangle" w="med" len="med"/>
          </a:ln>
        </p:spPr>
      </p:cxnSp>
      <p:sp>
        <p:nvSpPr>
          <p:cNvPr id="1196" name="Google Shape;1196;p109"/>
          <p:cNvSpPr txBox="1"/>
          <p:nvPr/>
        </p:nvSpPr>
        <p:spPr>
          <a:xfrm>
            <a:off x="6629400" y="4267200"/>
            <a:ext cx="4038600" cy="1054100"/>
          </a:xfrm>
          <a:prstGeom prst="rect">
            <a:avLst/>
          </a:prstGeom>
          <a:noFill/>
          <a:ln>
            <a:noFill/>
          </a:ln>
        </p:spPr>
        <p:txBody>
          <a:bodyPr spcFirstLastPara="1" wrap="square" lIns="91425" tIns="45700" rIns="91425" bIns="45700" anchor="t" anchorCtr="0">
            <a:spAutoFit/>
          </a:bodyPr>
          <a:lstStyle/>
          <a:p>
            <a:endParaRPr>
              <a:solidFill>
                <a:schemeClr val="dk1"/>
              </a:solidFill>
              <a:latin typeface="Times New Roman"/>
              <a:ea typeface="Times New Roman"/>
              <a:cs typeface="Times New Roman"/>
              <a:sym typeface="Times New Roman"/>
            </a:endParaRPr>
          </a:p>
          <a:p>
            <a:endParaRPr>
              <a:solidFill>
                <a:schemeClr val="dk1"/>
              </a:solidFill>
              <a:latin typeface="Times New Roman"/>
              <a:ea typeface="Times New Roman"/>
              <a:cs typeface="Times New Roman"/>
              <a:sym typeface="Times New Roman"/>
            </a:endParaRPr>
          </a:p>
          <a:p>
            <a:pPr>
              <a:spcBef>
                <a:spcPts val="900"/>
              </a:spcBef>
            </a:pPr>
            <a:endParaRPr>
              <a:solidFill>
                <a:schemeClr val="dk1"/>
              </a:solidFill>
              <a:latin typeface="Times New Roman"/>
              <a:ea typeface="Times New Roman"/>
              <a:cs typeface="Times New Roman"/>
              <a:sym typeface="Times New Roman"/>
            </a:endParaRPr>
          </a:p>
        </p:txBody>
      </p:sp>
      <p:sp>
        <p:nvSpPr>
          <p:cNvPr id="1197" name="Google Shape;1197;p109"/>
          <p:cNvSpPr txBox="1"/>
          <p:nvPr/>
        </p:nvSpPr>
        <p:spPr>
          <a:xfrm>
            <a:off x="2057400" y="5943600"/>
            <a:ext cx="2463800" cy="915988"/>
          </a:xfrm>
          <a:prstGeom prst="rect">
            <a:avLst/>
          </a:prstGeom>
          <a:noFill/>
          <a:ln>
            <a:noFill/>
          </a:ln>
        </p:spPr>
        <p:txBody>
          <a:bodyPr spcFirstLastPara="1" wrap="square" lIns="91425" tIns="45700" rIns="91425" bIns="45700" anchor="t" anchorCtr="0">
            <a:spAutoFit/>
          </a:bodyPr>
          <a:lstStyle/>
          <a:p>
            <a:r>
              <a:rPr lang="en-US">
                <a:solidFill>
                  <a:schemeClr val="dk1"/>
                </a:solidFill>
                <a:latin typeface="Times New Roman"/>
                <a:ea typeface="Times New Roman"/>
                <a:cs typeface="Times New Roman"/>
                <a:sym typeface="Times New Roman"/>
              </a:rPr>
              <a:t>Project on ename:  Mike</a:t>
            </a:r>
            <a:endParaRPr>
              <a:solidFill>
                <a:schemeClr val="dk1"/>
              </a:solidFill>
              <a:latin typeface="Times New Roman"/>
              <a:ea typeface="Times New Roman"/>
              <a:cs typeface="Times New Roman"/>
              <a:sym typeface="Times New Roman"/>
            </a:endParaRPr>
          </a:p>
          <a:p>
            <a:r>
              <a:rPr lang="en-US">
                <a:solidFill>
                  <a:schemeClr val="dk1"/>
                </a:solidFill>
                <a:latin typeface="Times New Roman"/>
                <a:ea typeface="Times New Roman"/>
                <a:cs typeface="Times New Roman"/>
                <a:sym typeface="Times New Roman"/>
              </a:rPr>
              <a:t>                               Carol</a:t>
            </a:r>
            <a:endParaRPr>
              <a:solidFill>
                <a:schemeClr val="dk1"/>
              </a:solidFill>
              <a:latin typeface="Times New Roman"/>
              <a:ea typeface="Times New Roman"/>
              <a:cs typeface="Times New Roman"/>
              <a:sym typeface="Times New Roman"/>
            </a:endParaRPr>
          </a:p>
          <a:p>
            <a:r>
              <a:rPr lang="en-US">
                <a:solidFill>
                  <a:schemeClr val="dk1"/>
                </a:solidFill>
                <a:latin typeface="Times New Roman"/>
                <a:ea typeface="Times New Roman"/>
                <a:cs typeface="Times New Roman"/>
                <a:sym typeface="Times New Roman"/>
              </a:rPr>
              <a:t>                               Lucy</a:t>
            </a:r>
            <a:endParaRPr>
              <a:solidFill>
                <a:schemeClr val="dk1"/>
              </a:solidFill>
              <a:latin typeface="Times New Roman"/>
              <a:ea typeface="Times New Roman"/>
              <a:cs typeface="Times New Roman"/>
              <a:sym typeface="Times New Roman"/>
            </a:endParaRPr>
          </a:p>
        </p:txBody>
      </p:sp>
      <p:sp>
        <p:nvSpPr>
          <p:cNvPr id="1198" name="Google Shape;1198;p109"/>
          <p:cNvSpPr txBox="1"/>
          <p:nvPr/>
        </p:nvSpPr>
        <p:spPr>
          <a:xfrm>
            <a:off x="6842126" y="4343400"/>
            <a:ext cx="3825875" cy="915988"/>
          </a:xfrm>
          <a:prstGeom prst="rect">
            <a:avLst/>
          </a:prstGeom>
          <a:noFill/>
          <a:ln>
            <a:noFill/>
          </a:ln>
        </p:spPr>
        <p:txBody>
          <a:bodyPr spcFirstLastPara="1" wrap="square" lIns="91425" tIns="45700" rIns="91425" bIns="45700" anchor="t" anchorCtr="0">
            <a:spAutoFit/>
          </a:bodyPr>
          <a:lstStyle/>
          <a:p>
            <a:r>
              <a:rPr lang="en-US">
                <a:solidFill>
                  <a:schemeClr val="dk1"/>
                </a:solidFill>
                <a:latin typeface="Times New Roman"/>
                <a:ea typeface="Times New Roman"/>
                <a:cs typeface="Times New Roman"/>
                <a:sym typeface="Times New Roman"/>
              </a:rPr>
              <a:t>Mike  GE  100K    Lucy   GE   60K</a:t>
            </a:r>
            <a:endParaRPr>
              <a:solidFill>
                <a:schemeClr val="dk1"/>
              </a:solidFill>
              <a:latin typeface="Times New Roman"/>
              <a:ea typeface="Times New Roman"/>
              <a:cs typeface="Times New Roman"/>
              <a:sym typeface="Times New Roman"/>
            </a:endParaRPr>
          </a:p>
          <a:p>
            <a:r>
              <a:rPr lang="en-US">
                <a:solidFill>
                  <a:schemeClr val="dk1"/>
                </a:solidFill>
                <a:latin typeface="Times New Roman"/>
                <a:ea typeface="Times New Roman"/>
                <a:cs typeface="Times New Roman"/>
                <a:sym typeface="Times New Roman"/>
              </a:rPr>
              <a:t>Carol  GE    70K    Matt    GE  40K</a:t>
            </a:r>
            <a:endParaRPr>
              <a:solidFill>
                <a:schemeClr val="dk1"/>
              </a:solidFill>
              <a:latin typeface="Times New Roman"/>
              <a:ea typeface="Times New Roman"/>
              <a:cs typeface="Times New Roman"/>
              <a:sym typeface="Times New Roman"/>
            </a:endParaRPr>
          </a:p>
          <a:p>
            <a:r>
              <a:rPr lang="en-US">
                <a:solidFill>
                  <a:schemeClr val="dk1"/>
                </a:solidFill>
                <a:latin typeface="Times New Roman"/>
                <a:ea typeface="Times New Roman"/>
                <a:cs typeface="Times New Roman"/>
                <a:sym typeface="Times New Roman"/>
              </a:rPr>
              <a:t>Lucy   GE    60K    Matt    GE  40K</a:t>
            </a:r>
            <a:endParaRPr>
              <a:solidFill>
                <a:schemeClr val="dk1"/>
              </a:solidFill>
              <a:latin typeface="Times New Roman"/>
              <a:ea typeface="Times New Roman"/>
              <a:cs typeface="Times New Roman"/>
              <a:sym typeface="Times New Roma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78"/>
                                        </p:tgtEl>
                                        <p:attrNameLst>
                                          <p:attrName>style.visibility</p:attrName>
                                        </p:attrNameLst>
                                      </p:cBhvr>
                                      <p:to>
                                        <p:strVal val="visible"/>
                                      </p:to>
                                    </p:set>
                                    <p:animEffect transition="in" filter="fade">
                                      <p:cBhvr>
                                        <p:cTn id="7" dur="500"/>
                                        <p:tgtEl>
                                          <p:spTgt spid="117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79"/>
                                        </p:tgtEl>
                                        <p:attrNameLst>
                                          <p:attrName>style.visibility</p:attrName>
                                        </p:attrNameLst>
                                      </p:cBhvr>
                                      <p:to>
                                        <p:strVal val="visible"/>
                                      </p:to>
                                    </p:set>
                                    <p:animEffect transition="in" filter="fade">
                                      <p:cBhvr>
                                        <p:cTn id="12" dur="500"/>
                                        <p:tgtEl>
                                          <p:spTgt spid="1179"/>
                                        </p:tgtEl>
                                      </p:cBhvr>
                                    </p:animEffect>
                                  </p:childTnLst>
                                </p:cTn>
                              </p:par>
                              <p:par>
                                <p:cTn id="13" presetID="10" presetClass="entr" presetSubtype="0" fill="hold" nodeType="withEffect">
                                  <p:stCondLst>
                                    <p:cond delay="0"/>
                                  </p:stCondLst>
                                  <p:childTnLst>
                                    <p:set>
                                      <p:cBhvr>
                                        <p:cTn id="14" dur="1" fill="hold">
                                          <p:stCondLst>
                                            <p:cond delay="0"/>
                                          </p:stCondLst>
                                        </p:cTn>
                                        <p:tgtEl>
                                          <p:spTgt spid="1180"/>
                                        </p:tgtEl>
                                        <p:attrNameLst>
                                          <p:attrName>style.visibility</p:attrName>
                                        </p:attrNameLst>
                                      </p:cBhvr>
                                      <p:to>
                                        <p:strVal val="visible"/>
                                      </p:to>
                                    </p:set>
                                    <p:animEffect transition="in" filter="fade">
                                      <p:cBhvr>
                                        <p:cTn id="15" dur="500"/>
                                        <p:tgtEl>
                                          <p:spTgt spid="1180"/>
                                        </p:tgtEl>
                                      </p:cBhvr>
                                    </p:animEffect>
                                  </p:childTnLst>
                                </p:cTn>
                              </p:par>
                              <p:par>
                                <p:cTn id="16" presetID="10" presetClass="entr" presetSubtype="0" fill="hold" nodeType="withEffect">
                                  <p:stCondLst>
                                    <p:cond delay="0"/>
                                  </p:stCondLst>
                                  <p:childTnLst>
                                    <p:set>
                                      <p:cBhvr>
                                        <p:cTn id="17" dur="1" fill="hold">
                                          <p:stCondLst>
                                            <p:cond delay="0"/>
                                          </p:stCondLst>
                                        </p:cTn>
                                        <p:tgtEl>
                                          <p:spTgt spid="1181"/>
                                        </p:tgtEl>
                                        <p:attrNameLst>
                                          <p:attrName>style.visibility</p:attrName>
                                        </p:attrNameLst>
                                      </p:cBhvr>
                                      <p:to>
                                        <p:strVal val="visible"/>
                                      </p:to>
                                    </p:set>
                                    <p:animEffect transition="in" filter="fade">
                                      <p:cBhvr>
                                        <p:cTn id="18" dur="500"/>
                                        <p:tgtEl>
                                          <p:spTgt spid="1181"/>
                                        </p:tgtEl>
                                      </p:cBhvr>
                                    </p:animEffect>
                                  </p:childTnLst>
                                </p:cTn>
                              </p:par>
                              <p:par>
                                <p:cTn id="19" presetID="10" presetClass="entr" presetSubtype="0" fill="hold" nodeType="withEffect">
                                  <p:stCondLst>
                                    <p:cond delay="0"/>
                                  </p:stCondLst>
                                  <p:childTnLst>
                                    <p:set>
                                      <p:cBhvr>
                                        <p:cTn id="20" dur="1" fill="hold">
                                          <p:stCondLst>
                                            <p:cond delay="0"/>
                                          </p:stCondLst>
                                        </p:cTn>
                                        <p:tgtEl>
                                          <p:spTgt spid="1182"/>
                                        </p:tgtEl>
                                        <p:attrNameLst>
                                          <p:attrName>style.visibility</p:attrName>
                                        </p:attrNameLst>
                                      </p:cBhvr>
                                      <p:to>
                                        <p:strVal val="visible"/>
                                      </p:to>
                                    </p:set>
                                    <p:animEffect transition="in" filter="fade">
                                      <p:cBhvr>
                                        <p:cTn id="21" dur="500"/>
                                        <p:tgtEl>
                                          <p:spTgt spid="1182"/>
                                        </p:tgtEl>
                                      </p:cBhvr>
                                    </p:animEffect>
                                  </p:childTnLst>
                                </p:cTn>
                              </p:par>
                              <p:par>
                                <p:cTn id="22" presetID="10" presetClass="entr" presetSubtype="0" fill="hold" nodeType="withEffect">
                                  <p:stCondLst>
                                    <p:cond delay="0"/>
                                  </p:stCondLst>
                                  <p:childTnLst>
                                    <p:set>
                                      <p:cBhvr>
                                        <p:cTn id="23" dur="1" fill="hold">
                                          <p:stCondLst>
                                            <p:cond delay="0"/>
                                          </p:stCondLst>
                                        </p:cTn>
                                        <p:tgtEl>
                                          <p:spTgt spid="1183"/>
                                        </p:tgtEl>
                                        <p:attrNameLst>
                                          <p:attrName>style.visibility</p:attrName>
                                        </p:attrNameLst>
                                      </p:cBhvr>
                                      <p:to>
                                        <p:strVal val="visible"/>
                                      </p:to>
                                    </p:set>
                                    <p:animEffect transition="in" filter="fade">
                                      <p:cBhvr>
                                        <p:cTn id="24" dur="500"/>
                                        <p:tgtEl>
                                          <p:spTgt spid="1183"/>
                                        </p:tgtEl>
                                      </p:cBhvr>
                                    </p:animEffect>
                                  </p:childTnLst>
                                </p:cTn>
                              </p:par>
                              <p:par>
                                <p:cTn id="25" presetID="10" presetClass="entr" presetSubtype="0" fill="hold" nodeType="withEffect">
                                  <p:stCondLst>
                                    <p:cond delay="0"/>
                                  </p:stCondLst>
                                  <p:childTnLst>
                                    <p:set>
                                      <p:cBhvr>
                                        <p:cTn id="26" dur="1" fill="hold">
                                          <p:stCondLst>
                                            <p:cond delay="0"/>
                                          </p:stCondLst>
                                        </p:cTn>
                                        <p:tgtEl>
                                          <p:spTgt spid="1184"/>
                                        </p:tgtEl>
                                        <p:attrNameLst>
                                          <p:attrName>style.visibility</p:attrName>
                                        </p:attrNameLst>
                                      </p:cBhvr>
                                      <p:to>
                                        <p:strVal val="visible"/>
                                      </p:to>
                                    </p:set>
                                    <p:animEffect transition="in" filter="fade">
                                      <p:cBhvr>
                                        <p:cTn id="27" dur="500"/>
                                        <p:tgtEl>
                                          <p:spTgt spid="1184"/>
                                        </p:tgtEl>
                                      </p:cBhvr>
                                    </p:animEffect>
                                  </p:childTnLst>
                                </p:cTn>
                              </p:par>
                              <p:par>
                                <p:cTn id="28" presetID="10" presetClass="entr" presetSubtype="0" fill="hold" nodeType="withEffect">
                                  <p:stCondLst>
                                    <p:cond delay="0"/>
                                  </p:stCondLst>
                                  <p:childTnLst>
                                    <p:set>
                                      <p:cBhvr>
                                        <p:cTn id="29" dur="1" fill="hold">
                                          <p:stCondLst>
                                            <p:cond delay="0"/>
                                          </p:stCondLst>
                                        </p:cTn>
                                        <p:tgtEl>
                                          <p:spTgt spid="1185"/>
                                        </p:tgtEl>
                                        <p:attrNameLst>
                                          <p:attrName>style.visibility</p:attrName>
                                        </p:attrNameLst>
                                      </p:cBhvr>
                                      <p:to>
                                        <p:strVal val="visible"/>
                                      </p:to>
                                    </p:set>
                                    <p:animEffect transition="in" filter="fade">
                                      <p:cBhvr>
                                        <p:cTn id="30" dur="500"/>
                                        <p:tgtEl>
                                          <p:spTgt spid="1185"/>
                                        </p:tgtEl>
                                      </p:cBhvr>
                                    </p:animEffect>
                                  </p:childTnLst>
                                </p:cTn>
                              </p:par>
                              <p:par>
                                <p:cTn id="31" presetID="10" presetClass="entr" presetSubtype="0" fill="hold" nodeType="withEffect">
                                  <p:stCondLst>
                                    <p:cond delay="0"/>
                                  </p:stCondLst>
                                  <p:childTnLst>
                                    <p:set>
                                      <p:cBhvr>
                                        <p:cTn id="32" dur="1" fill="hold">
                                          <p:stCondLst>
                                            <p:cond delay="0"/>
                                          </p:stCondLst>
                                        </p:cTn>
                                        <p:tgtEl>
                                          <p:spTgt spid="1186"/>
                                        </p:tgtEl>
                                        <p:attrNameLst>
                                          <p:attrName>style.visibility</p:attrName>
                                        </p:attrNameLst>
                                      </p:cBhvr>
                                      <p:to>
                                        <p:strVal val="visible"/>
                                      </p:to>
                                    </p:set>
                                    <p:animEffect transition="in" filter="fade">
                                      <p:cBhvr>
                                        <p:cTn id="33" dur="500"/>
                                        <p:tgtEl>
                                          <p:spTgt spid="1186"/>
                                        </p:tgtEl>
                                      </p:cBhvr>
                                    </p:animEffect>
                                  </p:childTnLst>
                                </p:cTn>
                              </p:par>
                              <p:par>
                                <p:cTn id="34" presetID="10" presetClass="entr" presetSubtype="0" fill="hold" nodeType="withEffect">
                                  <p:stCondLst>
                                    <p:cond delay="0"/>
                                  </p:stCondLst>
                                  <p:childTnLst>
                                    <p:set>
                                      <p:cBhvr>
                                        <p:cTn id="35" dur="1" fill="hold">
                                          <p:stCondLst>
                                            <p:cond delay="0"/>
                                          </p:stCondLst>
                                        </p:cTn>
                                        <p:tgtEl>
                                          <p:spTgt spid="1187"/>
                                        </p:tgtEl>
                                        <p:attrNameLst>
                                          <p:attrName>style.visibility</p:attrName>
                                        </p:attrNameLst>
                                      </p:cBhvr>
                                      <p:to>
                                        <p:strVal val="visible"/>
                                      </p:to>
                                    </p:set>
                                    <p:animEffect transition="in" filter="fade">
                                      <p:cBhvr>
                                        <p:cTn id="36" dur="500"/>
                                        <p:tgtEl>
                                          <p:spTgt spid="1187"/>
                                        </p:tgtEl>
                                      </p:cBhvr>
                                    </p:animEffect>
                                  </p:childTnLst>
                                </p:cTn>
                              </p:par>
                              <p:par>
                                <p:cTn id="37" presetID="10" presetClass="entr" presetSubtype="0" fill="hold" nodeType="withEffect">
                                  <p:stCondLst>
                                    <p:cond delay="0"/>
                                  </p:stCondLst>
                                  <p:childTnLst>
                                    <p:set>
                                      <p:cBhvr>
                                        <p:cTn id="38" dur="1" fill="hold">
                                          <p:stCondLst>
                                            <p:cond delay="0"/>
                                          </p:stCondLst>
                                        </p:cTn>
                                        <p:tgtEl>
                                          <p:spTgt spid="1188"/>
                                        </p:tgtEl>
                                        <p:attrNameLst>
                                          <p:attrName>style.visibility</p:attrName>
                                        </p:attrNameLst>
                                      </p:cBhvr>
                                      <p:to>
                                        <p:strVal val="visible"/>
                                      </p:to>
                                    </p:set>
                                    <p:animEffect transition="in" filter="fade">
                                      <p:cBhvr>
                                        <p:cTn id="39" dur="500"/>
                                        <p:tgtEl>
                                          <p:spTgt spid="1188"/>
                                        </p:tgtEl>
                                      </p:cBhvr>
                                    </p:animEffect>
                                  </p:childTnLst>
                                </p:cTn>
                              </p:par>
                              <p:par>
                                <p:cTn id="40" presetID="10" presetClass="entr" presetSubtype="0" fill="hold" nodeType="withEffect">
                                  <p:stCondLst>
                                    <p:cond delay="0"/>
                                  </p:stCondLst>
                                  <p:childTnLst>
                                    <p:set>
                                      <p:cBhvr>
                                        <p:cTn id="41" dur="1" fill="hold">
                                          <p:stCondLst>
                                            <p:cond delay="0"/>
                                          </p:stCondLst>
                                        </p:cTn>
                                        <p:tgtEl>
                                          <p:spTgt spid="1189"/>
                                        </p:tgtEl>
                                        <p:attrNameLst>
                                          <p:attrName>style.visibility</p:attrName>
                                        </p:attrNameLst>
                                      </p:cBhvr>
                                      <p:to>
                                        <p:strVal val="visible"/>
                                      </p:to>
                                    </p:set>
                                    <p:animEffect transition="in" filter="fade">
                                      <p:cBhvr>
                                        <p:cTn id="42" dur="500"/>
                                        <p:tgtEl>
                                          <p:spTgt spid="1189"/>
                                        </p:tgtEl>
                                      </p:cBhvr>
                                    </p:animEffect>
                                  </p:childTnLst>
                                </p:cTn>
                              </p:par>
                              <p:par>
                                <p:cTn id="43" presetID="10" presetClass="entr" presetSubtype="0" fill="hold" nodeType="withEffect">
                                  <p:stCondLst>
                                    <p:cond delay="0"/>
                                  </p:stCondLst>
                                  <p:childTnLst>
                                    <p:set>
                                      <p:cBhvr>
                                        <p:cTn id="44" dur="1" fill="hold">
                                          <p:stCondLst>
                                            <p:cond delay="0"/>
                                          </p:stCondLst>
                                        </p:cTn>
                                        <p:tgtEl>
                                          <p:spTgt spid="1190"/>
                                        </p:tgtEl>
                                        <p:attrNameLst>
                                          <p:attrName>style.visibility</p:attrName>
                                        </p:attrNameLst>
                                      </p:cBhvr>
                                      <p:to>
                                        <p:strVal val="visible"/>
                                      </p:to>
                                    </p:set>
                                    <p:animEffect transition="in" filter="fade">
                                      <p:cBhvr>
                                        <p:cTn id="45" dur="500"/>
                                        <p:tgtEl>
                                          <p:spTgt spid="1190"/>
                                        </p:tgtEl>
                                      </p:cBhvr>
                                    </p:animEffect>
                                  </p:childTnLst>
                                </p:cTn>
                              </p:par>
                              <p:par>
                                <p:cTn id="46" presetID="10" presetClass="entr" presetSubtype="0" fill="hold" nodeType="withEffect">
                                  <p:stCondLst>
                                    <p:cond delay="0"/>
                                  </p:stCondLst>
                                  <p:childTnLst>
                                    <p:set>
                                      <p:cBhvr>
                                        <p:cTn id="47" dur="1" fill="hold">
                                          <p:stCondLst>
                                            <p:cond delay="0"/>
                                          </p:stCondLst>
                                        </p:cTn>
                                        <p:tgtEl>
                                          <p:spTgt spid="1191"/>
                                        </p:tgtEl>
                                        <p:attrNameLst>
                                          <p:attrName>style.visibility</p:attrName>
                                        </p:attrNameLst>
                                      </p:cBhvr>
                                      <p:to>
                                        <p:strVal val="visible"/>
                                      </p:to>
                                    </p:set>
                                    <p:animEffect transition="in" filter="fade">
                                      <p:cBhvr>
                                        <p:cTn id="48" dur="500"/>
                                        <p:tgtEl>
                                          <p:spTgt spid="1191"/>
                                        </p:tgtEl>
                                      </p:cBhvr>
                                    </p:animEffect>
                                  </p:childTnLst>
                                </p:cTn>
                              </p:par>
                              <p:par>
                                <p:cTn id="49" presetID="10" presetClass="entr" presetSubtype="0" fill="hold" nodeType="withEffect">
                                  <p:stCondLst>
                                    <p:cond delay="0"/>
                                  </p:stCondLst>
                                  <p:childTnLst>
                                    <p:set>
                                      <p:cBhvr>
                                        <p:cTn id="50" dur="1" fill="hold">
                                          <p:stCondLst>
                                            <p:cond delay="0"/>
                                          </p:stCondLst>
                                        </p:cTn>
                                        <p:tgtEl>
                                          <p:spTgt spid="1192"/>
                                        </p:tgtEl>
                                        <p:attrNameLst>
                                          <p:attrName>style.visibility</p:attrName>
                                        </p:attrNameLst>
                                      </p:cBhvr>
                                      <p:to>
                                        <p:strVal val="visible"/>
                                      </p:to>
                                    </p:set>
                                    <p:animEffect transition="in" filter="fade">
                                      <p:cBhvr>
                                        <p:cTn id="51" dur="500"/>
                                        <p:tgtEl>
                                          <p:spTgt spid="1192"/>
                                        </p:tgtEl>
                                      </p:cBhvr>
                                    </p:animEffect>
                                  </p:childTnLst>
                                </p:cTn>
                              </p:par>
                              <p:par>
                                <p:cTn id="52" presetID="10" presetClass="entr" presetSubtype="0" fill="hold" nodeType="withEffect">
                                  <p:stCondLst>
                                    <p:cond delay="0"/>
                                  </p:stCondLst>
                                  <p:childTnLst>
                                    <p:set>
                                      <p:cBhvr>
                                        <p:cTn id="53" dur="1" fill="hold">
                                          <p:stCondLst>
                                            <p:cond delay="0"/>
                                          </p:stCondLst>
                                        </p:cTn>
                                        <p:tgtEl>
                                          <p:spTgt spid="1193"/>
                                        </p:tgtEl>
                                        <p:attrNameLst>
                                          <p:attrName>style.visibility</p:attrName>
                                        </p:attrNameLst>
                                      </p:cBhvr>
                                      <p:to>
                                        <p:strVal val="visible"/>
                                      </p:to>
                                    </p:set>
                                    <p:animEffect transition="in" filter="fade">
                                      <p:cBhvr>
                                        <p:cTn id="54" dur="500"/>
                                        <p:tgtEl>
                                          <p:spTgt spid="1193"/>
                                        </p:tgtEl>
                                      </p:cBhvr>
                                    </p:animEffect>
                                  </p:childTnLst>
                                </p:cTn>
                              </p:par>
                              <p:par>
                                <p:cTn id="55" presetID="10" presetClass="entr" presetSubtype="0" fill="hold" nodeType="withEffect">
                                  <p:stCondLst>
                                    <p:cond delay="0"/>
                                  </p:stCondLst>
                                  <p:childTnLst>
                                    <p:set>
                                      <p:cBhvr>
                                        <p:cTn id="56" dur="1" fill="hold">
                                          <p:stCondLst>
                                            <p:cond delay="0"/>
                                          </p:stCondLst>
                                        </p:cTn>
                                        <p:tgtEl>
                                          <p:spTgt spid="1194"/>
                                        </p:tgtEl>
                                        <p:attrNameLst>
                                          <p:attrName>style.visibility</p:attrName>
                                        </p:attrNameLst>
                                      </p:cBhvr>
                                      <p:to>
                                        <p:strVal val="visible"/>
                                      </p:to>
                                    </p:set>
                                    <p:animEffect transition="in" filter="fade">
                                      <p:cBhvr>
                                        <p:cTn id="57" dur="500"/>
                                        <p:tgtEl>
                                          <p:spTgt spid="1194"/>
                                        </p:tgtEl>
                                      </p:cBhvr>
                                    </p:animEffect>
                                  </p:childTnLst>
                                </p:cTn>
                              </p:par>
                              <p:par>
                                <p:cTn id="58" presetID="10" presetClass="entr" presetSubtype="0" fill="hold" nodeType="withEffect">
                                  <p:stCondLst>
                                    <p:cond delay="0"/>
                                  </p:stCondLst>
                                  <p:childTnLst>
                                    <p:set>
                                      <p:cBhvr>
                                        <p:cTn id="59" dur="1" fill="hold">
                                          <p:stCondLst>
                                            <p:cond delay="0"/>
                                          </p:stCondLst>
                                        </p:cTn>
                                        <p:tgtEl>
                                          <p:spTgt spid="1195"/>
                                        </p:tgtEl>
                                        <p:attrNameLst>
                                          <p:attrName>style.visibility</p:attrName>
                                        </p:attrNameLst>
                                      </p:cBhvr>
                                      <p:to>
                                        <p:strVal val="visible"/>
                                      </p:to>
                                    </p:set>
                                    <p:animEffect transition="in" filter="fade">
                                      <p:cBhvr>
                                        <p:cTn id="60" dur="500"/>
                                        <p:tgtEl>
                                          <p:spTgt spid="1195"/>
                                        </p:tgtEl>
                                      </p:cBhvr>
                                    </p:animEffect>
                                  </p:childTnLst>
                                </p:cTn>
                              </p:par>
                              <p:par>
                                <p:cTn id="61" presetID="10" presetClass="entr" presetSubtype="0" fill="hold" nodeType="withEffect">
                                  <p:stCondLst>
                                    <p:cond delay="0"/>
                                  </p:stCondLst>
                                  <p:childTnLst>
                                    <p:set>
                                      <p:cBhvr>
                                        <p:cTn id="62" dur="1" fill="hold">
                                          <p:stCondLst>
                                            <p:cond delay="0"/>
                                          </p:stCondLst>
                                        </p:cTn>
                                        <p:tgtEl>
                                          <p:spTgt spid="1196"/>
                                        </p:tgtEl>
                                        <p:attrNameLst>
                                          <p:attrName>style.visibility</p:attrName>
                                        </p:attrNameLst>
                                      </p:cBhvr>
                                      <p:to>
                                        <p:strVal val="visible"/>
                                      </p:to>
                                    </p:set>
                                    <p:animEffect transition="in" filter="fade">
                                      <p:cBhvr>
                                        <p:cTn id="63" dur="500"/>
                                        <p:tgtEl>
                                          <p:spTgt spid="1196"/>
                                        </p:tgtEl>
                                      </p:cBhvr>
                                    </p:animEffect>
                                  </p:childTnLst>
                                </p:cTn>
                              </p:par>
                              <p:par>
                                <p:cTn id="64" presetID="10" presetClass="entr" presetSubtype="0" fill="hold" nodeType="withEffect">
                                  <p:stCondLst>
                                    <p:cond delay="0"/>
                                  </p:stCondLst>
                                  <p:childTnLst>
                                    <p:set>
                                      <p:cBhvr>
                                        <p:cTn id="65" dur="1" fill="hold">
                                          <p:stCondLst>
                                            <p:cond delay="0"/>
                                          </p:stCondLst>
                                        </p:cTn>
                                        <p:tgtEl>
                                          <p:spTgt spid="1198"/>
                                        </p:tgtEl>
                                        <p:attrNameLst>
                                          <p:attrName>style.visibility</p:attrName>
                                        </p:attrNameLst>
                                      </p:cBhvr>
                                      <p:to>
                                        <p:strVal val="visible"/>
                                      </p:to>
                                    </p:set>
                                    <p:animEffect transition="in" filter="fade">
                                      <p:cBhvr>
                                        <p:cTn id="66" dur="500"/>
                                        <p:tgtEl>
                                          <p:spTgt spid="1198"/>
                                        </p:tgtEl>
                                      </p:cBhvr>
                                    </p:animEffect>
                                  </p:childTnLst>
                                </p:cTn>
                              </p:par>
                            </p:childTnLst>
                          </p:cTn>
                        </p:par>
                      </p:childTnLst>
                    </p:cTn>
                  </p:par>
                  <p:par>
                    <p:cTn id="67" fill="hold">
                      <p:stCondLst>
                        <p:cond delay="indefinite"/>
                      </p:stCondLst>
                      <p:childTnLst>
                        <p:par>
                          <p:cTn id="68" fill="hold">
                            <p:stCondLst>
                              <p:cond delay="0"/>
                            </p:stCondLst>
                            <p:childTnLst>
                              <p:par>
                                <p:cTn id="69" presetID="2" presetClass="entr" presetSubtype="4" fill="hold" nodeType="clickEffect">
                                  <p:stCondLst>
                                    <p:cond delay="0"/>
                                  </p:stCondLst>
                                  <p:childTnLst>
                                    <p:set>
                                      <p:cBhvr>
                                        <p:cTn id="70" dur="1" fill="hold">
                                          <p:stCondLst>
                                            <p:cond delay="0"/>
                                          </p:stCondLst>
                                        </p:cTn>
                                        <p:tgtEl>
                                          <p:spTgt spid="1197"/>
                                        </p:tgtEl>
                                        <p:attrNameLst>
                                          <p:attrName>style.visibility</p:attrName>
                                        </p:attrNameLst>
                                      </p:cBhvr>
                                      <p:to>
                                        <p:strVal val="visible"/>
                                      </p:to>
                                    </p:set>
                                    <p:anim calcmode="lin" valueType="num">
                                      <p:cBhvr additive="base">
                                        <p:cTn id="71" dur="500"/>
                                        <p:tgtEl>
                                          <p:spTgt spid="119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Shape 1202"/>
        <p:cNvGrpSpPr/>
        <p:nvPr/>
      </p:nvGrpSpPr>
      <p:grpSpPr>
        <a:xfrm>
          <a:off x="0" y="0"/>
          <a:ext cx="0" cy="0"/>
          <a:chOff x="0" y="0"/>
          <a:chExt cx="0" cy="0"/>
        </a:xfrm>
      </p:grpSpPr>
      <p:sp>
        <p:nvSpPr>
          <p:cNvPr id="1203" name="Google Shape;1203;p110"/>
          <p:cNvSpPr txBox="1">
            <a:spLocks noGrp="1"/>
          </p:cNvSpPr>
          <p:nvPr>
            <p:ph type="title"/>
          </p:nvPr>
        </p:nvSpPr>
        <p:spPr>
          <a:xfrm>
            <a:off x="2209800" y="0"/>
            <a:ext cx="7772400" cy="1143000"/>
          </a:xfrm>
          <a:prstGeom prst="rect">
            <a:avLst/>
          </a:prstGeom>
          <a:noFill/>
          <a:ln>
            <a:noFill/>
          </a:ln>
        </p:spPr>
        <p:txBody>
          <a:bodyPr spcFirstLastPara="1" vert="horz" wrap="square" lIns="91425" tIns="45700" rIns="91425" bIns="45700" rtlCol="0" anchor="ctr" anchorCtr="0">
            <a:noAutofit/>
          </a:bodyPr>
          <a:lstStyle/>
          <a:p>
            <a:pPr algn="ctr">
              <a:lnSpc>
                <a:spcPct val="100000"/>
              </a:lnSpc>
              <a:spcBef>
                <a:spcPts val="0"/>
              </a:spcBef>
              <a:buClr>
                <a:schemeClr val="dk2"/>
              </a:buClr>
              <a:buSzPts val="2400"/>
            </a:pPr>
            <a:r>
              <a:rPr lang="en-US" sz="2400"/>
              <a:t>Find all employees who make more money than any other employee</a:t>
            </a:r>
            <a:br>
              <a:rPr lang="en-US" sz="2400"/>
            </a:br>
            <a:r>
              <a:rPr lang="en-US" sz="2400"/>
              <a:t> </a:t>
            </a:r>
            <a:endParaRPr sz="2400"/>
          </a:p>
        </p:txBody>
      </p:sp>
      <p:sp>
        <p:nvSpPr>
          <p:cNvPr id="1204" name="Google Shape;1204;p110"/>
          <p:cNvSpPr txBox="1">
            <a:spLocks noGrp="1"/>
          </p:cNvSpPr>
          <p:nvPr>
            <p:ph type="body" idx="1"/>
          </p:nvPr>
        </p:nvSpPr>
        <p:spPr>
          <a:xfrm>
            <a:off x="1981200" y="1600201"/>
            <a:ext cx="8229600" cy="4525963"/>
          </a:xfrm>
          <a:prstGeom prst="rect">
            <a:avLst/>
          </a:prstGeom>
          <a:noFill/>
          <a:ln>
            <a:noFill/>
          </a:ln>
        </p:spPr>
        <p:txBody>
          <a:bodyPr spcFirstLastPara="1" vert="horz" wrap="square" lIns="91425" tIns="45700" rIns="91425" bIns="45700" rtlCol="0" anchor="t" anchorCtr="0">
            <a:noAutofit/>
          </a:bodyPr>
          <a:lstStyle/>
          <a:p>
            <a:pPr marL="342900" indent="-342900">
              <a:lnSpc>
                <a:spcPct val="100000"/>
              </a:lnSpc>
              <a:spcBef>
                <a:spcPts val="0"/>
              </a:spcBef>
              <a:buClr>
                <a:schemeClr val="dk1"/>
              </a:buClr>
              <a:buSzPts val="2000"/>
              <a:buFont typeface="Arial"/>
              <a:buChar char="•"/>
            </a:pPr>
            <a:r>
              <a:rPr lang="en-US" sz="2000"/>
              <a:t>  </a:t>
            </a:r>
            <a:endParaRPr sz="2000"/>
          </a:p>
          <a:p>
            <a:pPr marL="342900" indent="-342900">
              <a:lnSpc>
                <a:spcPct val="100000"/>
              </a:lnSpc>
              <a:spcBef>
                <a:spcPts val="400"/>
              </a:spcBef>
              <a:buClr>
                <a:schemeClr val="dk1"/>
              </a:buClr>
              <a:buSzPts val="2000"/>
              <a:buNone/>
            </a:pPr>
            <a:r>
              <a:rPr lang="en-US" sz="2000"/>
              <a:t> Works               Works2</a:t>
            </a:r>
            <a:endParaRPr sz="2000"/>
          </a:p>
        </p:txBody>
      </p:sp>
      <p:sp>
        <p:nvSpPr>
          <p:cNvPr id="1205" name="Google Shape;1205;p110"/>
          <p:cNvSpPr txBox="1"/>
          <p:nvPr/>
        </p:nvSpPr>
        <p:spPr>
          <a:xfrm>
            <a:off x="6248400" y="2286000"/>
            <a:ext cx="3467100" cy="3937000"/>
          </a:xfrm>
          <a:prstGeom prst="rect">
            <a:avLst/>
          </a:prstGeom>
          <a:noFill/>
          <a:ln>
            <a:noFill/>
          </a:ln>
        </p:spPr>
        <p:txBody>
          <a:bodyPr spcFirstLastPara="1" wrap="square" lIns="91425" tIns="45700" rIns="91425" bIns="45700" anchor="t" anchorCtr="0">
            <a:spAutoFit/>
          </a:bodyPr>
          <a:lstStyle/>
          <a:p>
            <a:r>
              <a:rPr lang="en-US">
                <a:solidFill>
                  <a:schemeClr val="dk1"/>
                </a:solidFill>
                <a:latin typeface="Times New Roman"/>
                <a:ea typeface="Times New Roman"/>
                <a:cs typeface="Times New Roman"/>
                <a:sym typeface="Times New Roman"/>
              </a:rPr>
              <a:t>Joe    GE    30K    Mike GE 100K</a:t>
            </a:r>
            <a:endParaRPr>
              <a:solidFill>
                <a:schemeClr val="dk1"/>
              </a:solidFill>
              <a:latin typeface="Times New Roman"/>
              <a:ea typeface="Times New Roman"/>
              <a:cs typeface="Times New Roman"/>
              <a:sym typeface="Times New Roman"/>
            </a:endParaRPr>
          </a:p>
          <a:p>
            <a:r>
              <a:rPr lang="en-US">
                <a:solidFill>
                  <a:schemeClr val="dk1"/>
                </a:solidFill>
                <a:latin typeface="Times New Roman"/>
                <a:ea typeface="Times New Roman"/>
                <a:cs typeface="Times New Roman"/>
                <a:sym typeface="Times New Roman"/>
              </a:rPr>
              <a:t>Joe    GE    30K    Carol GE  70K </a:t>
            </a:r>
            <a:endParaRPr>
              <a:solidFill>
                <a:schemeClr val="dk1"/>
              </a:solidFill>
              <a:latin typeface="Times New Roman"/>
              <a:ea typeface="Times New Roman"/>
              <a:cs typeface="Times New Roman"/>
              <a:sym typeface="Times New Roman"/>
            </a:endParaRPr>
          </a:p>
          <a:p>
            <a:r>
              <a:rPr lang="en-US">
                <a:solidFill>
                  <a:schemeClr val="dk1"/>
                </a:solidFill>
                <a:latin typeface="Times New Roman"/>
                <a:ea typeface="Times New Roman"/>
                <a:cs typeface="Times New Roman"/>
                <a:sym typeface="Times New Roman"/>
              </a:rPr>
              <a:t>Joe    GE    30K     Lucy GE  60K</a:t>
            </a:r>
            <a:endParaRPr>
              <a:solidFill>
                <a:schemeClr val="dk1"/>
              </a:solidFill>
              <a:latin typeface="Times New Roman"/>
              <a:ea typeface="Times New Roman"/>
              <a:cs typeface="Times New Roman"/>
              <a:sym typeface="Times New Roman"/>
            </a:endParaRPr>
          </a:p>
          <a:p>
            <a:r>
              <a:rPr lang="en-US">
                <a:solidFill>
                  <a:schemeClr val="dk1"/>
                </a:solidFill>
                <a:latin typeface="Times New Roman"/>
                <a:ea typeface="Times New Roman"/>
                <a:cs typeface="Times New Roman"/>
                <a:sym typeface="Times New Roman"/>
              </a:rPr>
              <a:t>Joe    GE    30K     Sean  GE  40K</a:t>
            </a:r>
            <a:endParaRPr>
              <a:solidFill>
                <a:schemeClr val="dk1"/>
              </a:solidFill>
              <a:latin typeface="Times New Roman"/>
              <a:ea typeface="Times New Roman"/>
              <a:cs typeface="Times New Roman"/>
              <a:sym typeface="Times New Roman"/>
            </a:endParaRPr>
          </a:p>
          <a:p>
            <a:r>
              <a:rPr lang="en-US">
                <a:solidFill>
                  <a:schemeClr val="dk1"/>
                </a:solidFill>
                <a:latin typeface="Times New Roman"/>
                <a:ea typeface="Times New Roman"/>
                <a:cs typeface="Times New Roman"/>
                <a:sym typeface="Times New Roman"/>
              </a:rPr>
              <a:t>Joe    GE    30K     Matt  GE   40K</a:t>
            </a:r>
            <a:endParaRPr>
              <a:solidFill>
                <a:schemeClr val="dk1"/>
              </a:solidFill>
              <a:latin typeface="Times New Roman"/>
              <a:ea typeface="Times New Roman"/>
              <a:cs typeface="Times New Roman"/>
              <a:sym typeface="Times New Roman"/>
            </a:endParaRPr>
          </a:p>
          <a:p>
            <a:r>
              <a:rPr lang="en-US">
                <a:solidFill>
                  <a:schemeClr val="dk1"/>
                </a:solidFill>
                <a:latin typeface="Times New Roman"/>
                <a:ea typeface="Times New Roman"/>
                <a:cs typeface="Times New Roman"/>
                <a:sym typeface="Times New Roman"/>
              </a:rPr>
              <a:t>Lucy GE    60K    Carol   GE  70K</a:t>
            </a:r>
            <a:endParaRPr>
              <a:solidFill>
                <a:schemeClr val="dk1"/>
              </a:solidFill>
              <a:latin typeface="Times New Roman"/>
              <a:ea typeface="Times New Roman"/>
              <a:cs typeface="Times New Roman"/>
              <a:sym typeface="Times New Roman"/>
            </a:endParaRPr>
          </a:p>
          <a:p>
            <a:r>
              <a:rPr lang="en-US">
                <a:solidFill>
                  <a:schemeClr val="dk1"/>
                </a:solidFill>
                <a:latin typeface="Times New Roman"/>
                <a:ea typeface="Times New Roman"/>
                <a:cs typeface="Times New Roman"/>
                <a:sym typeface="Times New Roman"/>
              </a:rPr>
              <a:t>Lucy GE    60K     Mike  GE  100K</a:t>
            </a:r>
            <a:endParaRPr>
              <a:solidFill>
                <a:schemeClr val="dk1"/>
              </a:solidFill>
              <a:latin typeface="Times New Roman"/>
              <a:ea typeface="Times New Roman"/>
              <a:cs typeface="Times New Roman"/>
              <a:sym typeface="Times New Roman"/>
            </a:endParaRPr>
          </a:p>
          <a:p>
            <a:r>
              <a:rPr lang="en-US">
                <a:solidFill>
                  <a:schemeClr val="dk1"/>
                </a:solidFill>
                <a:latin typeface="Times New Roman"/>
                <a:ea typeface="Times New Roman"/>
                <a:cs typeface="Times New Roman"/>
                <a:sym typeface="Times New Roman"/>
              </a:rPr>
              <a:t>Sean  GE   40K     Mike GE  100K</a:t>
            </a:r>
            <a:endParaRPr>
              <a:solidFill>
                <a:schemeClr val="dk1"/>
              </a:solidFill>
              <a:latin typeface="Times New Roman"/>
              <a:ea typeface="Times New Roman"/>
              <a:cs typeface="Times New Roman"/>
              <a:sym typeface="Times New Roman"/>
            </a:endParaRPr>
          </a:p>
          <a:p>
            <a:r>
              <a:rPr lang="en-US">
                <a:solidFill>
                  <a:schemeClr val="dk1"/>
                </a:solidFill>
                <a:latin typeface="Times New Roman"/>
                <a:ea typeface="Times New Roman"/>
                <a:cs typeface="Times New Roman"/>
                <a:sym typeface="Times New Roman"/>
              </a:rPr>
              <a:t>Sean  GE   40K     Carol GE  70K</a:t>
            </a:r>
            <a:endParaRPr>
              <a:solidFill>
                <a:schemeClr val="dk1"/>
              </a:solidFill>
              <a:latin typeface="Times New Roman"/>
              <a:ea typeface="Times New Roman"/>
              <a:cs typeface="Times New Roman"/>
              <a:sym typeface="Times New Roman"/>
            </a:endParaRPr>
          </a:p>
          <a:p>
            <a:r>
              <a:rPr lang="en-US">
                <a:solidFill>
                  <a:schemeClr val="dk1"/>
                </a:solidFill>
                <a:latin typeface="Times New Roman"/>
                <a:ea typeface="Times New Roman"/>
                <a:cs typeface="Times New Roman"/>
                <a:sym typeface="Times New Roman"/>
              </a:rPr>
              <a:t>Sean  GE   40K     Lucy  GE  60K</a:t>
            </a:r>
            <a:endParaRPr>
              <a:solidFill>
                <a:schemeClr val="dk1"/>
              </a:solidFill>
              <a:latin typeface="Times New Roman"/>
              <a:ea typeface="Times New Roman"/>
              <a:cs typeface="Times New Roman"/>
              <a:sym typeface="Times New Roman"/>
            </a:endParaRPr>
          </a:p>
          <a:p>
            <a:r>
              <a:rPr lang="en-US">
                <a:solidFill>
                  <a:schemeClr val="dk1"/>
                </a:solidFill>
                <a:latin typeface="Times New Roman"/>
                <a:ea typeface="Times New Roman"/>
                <a:cs typeface="Times New Roman"/>
                <a:sym typeface="Times New Roman"/>
              </a:rPr>
              <a:t>Carol GE   70K     Mike  GE  100K</a:t>
            </a:r>
            <a:endParaRPr>
              <a:solidFill>
                <a:schemeClr val="dk1"/>
              </a:solidFill>
              <a:latin typeface="Times New Roman"/>
              <a:ea typeface="Times New Roman"/>
              <a:cs typeface="Times New Roman"/>
              <a:sym typeface="Times New Roman"/>
            </a:endParaRPr>
          </a:p>
          <a:p>
            <a:r>
              <a:rPr lang="en-US">
                <a:solidFill>
                  <a:schemeClr val="dk1"/>
                </a:solidFill>
                <a:latin typeface="Times New Roman"/>
                <a:ea typeface="Times New Roman"/>
                <a:cs typeface="Times New Roman"/>
                <a:sym typeface="Times New Roman"/>
              </a:rPr>
              <a:t>Matt  GE   40K     Mike   GE  100K</a:t>
            </a:r>
            <a:endParaRPr>
              <a:solidFill>
                <a:schemeClr val="dk1"/>
              </a:solidFill>
              <a:latin typeface="Times New Roman"/>
              <a:ea typeface="Times New Roman"/>
              <a:cs typeface="Times New Roman"/>
              <a:sym typeface="Times New Roman"/>
            </a:endParaRPr>
          </a:p>
          <a:p>
            <a:r>
              <a:rPr lang="en-US">
                <a:solidFill>
                  <a:schemeClr val="dk1"/>
                </a:solidFill>
                <a:latin typeface="Times New Roman"/>
                <a:ea typeface="Times New Roman"/>
                <a:cs typeface="Times New Roman"/>
                <a:sym typeface="Times New Roman"/>
              </a:rPr>
              <a:t>Matt GE    40K     Carol   GE  70K</a:t>
            </a:r>
            <a:endParaRPr>
              <a:solidFill>
                <a:schemeClr val="dk1"/>
              </a:solidFill>
              <a:latin typeface="Times New Roman"/>
              <a:ea typeface="Times New Roman"/>
              <a:cs typeface="Times New Roman"/>
              <a:sym typeface="Times New Roman"/>
            </a:endParaRPr>
          </a:p>
          <a:p>
            <a:r>
              <a:rPr lang="en-US">
                <a:solidFill>
                  <a:schemeClr val="dk1"/>
                </a:solidFill>
                <a:latin typeface="Times New Roman"/>
                <a:ea typeface="Times New Roman"/>
                <a:cs typeface="Times New Roman"/>
                <a:sym typeface="Times New Roman"/>
              </a:rPr>
              <a:t>Matt GE    40K     Lucy   GE  60K</a:t>
            </a:r>
            <a:endParaRPr>
              <a:solidFill>
                <a:schemeClr val="dk1"/>
              </a:solidFill>
              <a:latin typeface="Times New Roman"/>
              <a:ea typeface="Times New Roman"/>
              <a:cs typeface="Times New Roman"/>
              <a:sym typeface="Times New Roman"/>
            </a:endParaRPr>
          </a:p>
        </p:txBody>
      </p:sp>
      <p:cxnSp>
        <p:nvCxnSpPr>
          <p:cNvPr id="1206" name="Google Shape;1206;p110"/>
          <p:cNvCxnSpPr/>
          <p:nvPr/>
        </p:nvCxnSpPr>
        <p:spPr>
          <a:xfrm>
            <a:off x="3962400" y="3429000"/>
            <a:ext cx="0" cy="228600"/>
          </a:xfrm>
          <a:prstGeom prst="straightConnector1">
            <a:avLst/>
          </a:prstGeom>
          <a:noFill/>
          <a:ln>
            <a:noFill/>
          </a:ln>
        </p:spPr>
      </p:cxnSp>
      <p:cxnSp>
        <p:nvCxnSpPr>
          <p:cNvPr id="1207" name="Google Shape;1207;p110"/>
          <p:cNvCxnSpPr/>
          <p:nvPr/>
        </p:nvCxnSpPr>
        <p:spPr>
          <a:xfrm rot="10800000" flipH="1">
            <a:off x="3962400" y="3505200"/>
            <a:ext cx="152400" cy="152400"/>
          </a:xfrm>
          <a:prstGeom prst="straightConnector1">
            <a:avLst/>
          </a:prstGeom>
          <a:noFill/>
          <a:ln>
            <a:noFill/>
          </a:ln>
        </p:spPr>
      </p:cxnSp>
      <p:cxnSp>
        <p:nvCxnSpPr>
          <p:cNvPr id="1208" name="Google Shape;1208;p110"/>
          <p:cNvCxnSpPr/>
          <p:nvPr/>
        </p:nvCxnSpPr>
        <p:spPr>
          <a:xfrm>
            <a:off x="3962400" y="3429000"/>
            <a:ext cx="0" cy="152400"/>
          </a:xfrm>
          <a:prstGeom prst="straightConnector1">
            <a:avLst/>
          </a:prstGeom>
          <a:noFill/>
          <a:ln>
            <a:noFill/>
          </a:ln>
        </p:spPr>
      </p:cxnSp>
      <p:sp>
        <p:nvSpPr>
          <p:cNvPr id="1209" name="Google Shape;1209;p110"/>
          <p:cNvSpPr txBox="1"/>
          <p:nvPr/>
        </p:nvSpPr>
        <p:spPr>
          <a:xfrm>
            <a:off x="6629400" y="4267200"/>
            <a:ext cx="4038600" cy="1054100"/>
          </a:xfrm>
          <a:prstGeom prst="rect">
            <a:avLst/>
          </a:prstGeom>
          <a:noFill/>
          <a:ln>
            <a:noFill/>
          </a:ln>
        </p:spPr>
        <p:txBody>
          <a:bodyPr spcFirstLastPara="1" wrap="square" lIns="91425" tIns="45700" rIns="91425" bIns="45700" anchor="t" anchorCtr="0">
            <a:spAutoFit/>
          </a:bodyPr>
          <a:lstStyle/>
          <a:p>
            <a:endParaRPr>
              <a:solidFill>
                <a:schemeClr val="dk1"/>
              </a:solidFill>
              <a:latin typeface="Times New Roman"/>
              <a:ea typeface="Times New Roman"/>
              <a:cs typeface="Times New Roman"/>
              <a:sym typeface="Times New Roman"/>
            </a:endParaRPr>
          </a:p>
          <a:p>
            <a:endParaRPr>
              <a:solidFill>
                <a:schemeClr val="dk1"/>
              </a:solidFill>
              <a:latin typeface="Times New Roman"/>
              <a:ea typeface="Times New Roman"/>
              <a:cs typeface="Times New Roman"/>
              <a:sym typeface="Times New Roman"/>
            </a:endParaRPr>
          </a:p>
          <a:p>
            <a:pPr>
              <a:spcBef>
                <a:spcPts val="900"/>
              </a:spcBef>
            </a:pPr>
            <a:endParaRPr>
              <a:solidFill>
                <a:schemeClr val="dk1"/>
              </a:solidFill>
              <a:latin typeface="Times New Roman"/>
              <a:ea typeface="Times New Roman"/>
              <a:cs typeface="Times New Roman"/>
              <a:sym typeface="Times New Roman"/>
            </a:endParaRPr>
          </a:p>
        </p:txBody>
      </p:sp>
      <p:sp>
        <p:nvSpPr>
          <p:cNvPr id="1210" name="Google Shape;1210;p110"/>
          <p:cNvSpPr txBox="1"/>
          <p:nvPr/>
        </p:nvSpPr>
        <p:spPr>
          <a:xfrm>
            <a:off x="2590800" y="2819401"/>
            <a:ext cx="2217738" cy="366713"/>
          </a:xfrm>
          <a:prstGeom prst="rect">
            <a:avLst/>
          </a:prstGeom>
          <a:noFill/>
          <a:ln>
            <a:noFill/>
          </a:ln>
        </p:spPr>
        <p:txBody>
          <a:bodyPr spcFirstLastPara="1" wrap="square" lIns="91425" tIns="45700" rIns="91425" bIns="45700" anchor="t" anchorCtr="0">
            <a:spAutoFit/>
          </a:bodyPr>
          <a:lstStyle/>
          <a:p>
            <a:r>
              <a:rPr lang="en-US">
                <a:solidFill>
                  <a:schemeClr val="dk1"/>
                </a:solidFill>
                <a:latin typeface="Times New Roman"/>
                <a:ea typeface="Times New Roman"/>
                <a:cs typeface="Times New Roman"/>
                <a:sym typeface="Times New Roman"/>
              </a:rPr>
              <a:t>Where sal&lt;works2.sal</a:t>
            </a:r>
            <a:endParaRPr>
              <a:solidFill>
                <a:schemeClr val="dk1"/>
              </a:solidFill>
              <a:latin typeface="Times New Roman"/>
              <a:ea typeface="Times New Roman"/>
              <a:cs typeface="Times New Roman"/>
              <a:sym typeface="Times New Roman"/>
            </a:endParaRPr>
          </a:p>
        </p:txBody>
      </p:sp>
      <p:sp>
        <p:nvSpPr>
          <p:cNvPr id="1211" name="Google Shape;1211;p110"/>
          <p:cNvSpPr txBox="1"/>
          <p:nvPr/>
        </p:nvSpPr>
        <p:spPr>
          <a:xfrm>
            <a:off x="2193925" y="4991100"/>
            <a:ext cx="2406650" cy="1739900"/>
          </a:xfrm>
          <a:prstGeom prst="rect">
            <a:avLst/>
          </a:prstGeom>
          <a:noFill/>
          <a:ln>
            <a:noFill/>
          </a:ln>
        </p:spPr>
        <p:txBody>
          <a:bodyPr spcFirstLastPara="1" wrap="square" lIns="91425" tIns="45700" rIns="91425" bIns="45700" anchor="t" anchorCtr="0">
            <a:spAutoFit/>
          </a:bodyPr>
          <a:lstStyle/>
          <a:p>
            <a:r>
              <a:rPr lang="en-US">
                <a:solidFill>
                  <a:schemeClr val="dk1"/>
                </a:solidFill>
                <a:latin typeface="Times New Roman"/>
                <a:ea typeface="Times New Roman"/>
                <a:cs typeface="Times New Roman"/>
                <a:sym typeface="Times New Roman"/>
              </a:rPr>
              <a:t>Project on ename: Joe</a:t>
            </a:r>
            <a:endParaRPr>
              <a:solidFill>
                <a:schemeClr val="dk1"/>
              </a:solidFill>
              <a:latin typeface="Times New Roman"/>
              <a:ea typeface="Times New Roman"/>
              <a:cs typeface="Times New Roman"/>
              <a:sym typeface="Times New Roman"/>
            </a:endParaRPr>
          </a:p>
          <a:p>
            <a:r>
              <a:rPr lang="en-US">
                <a:solidFill>
                  <a:schemeClr val="dk1"/>
                </a:solidFill>
                <a:latin typeface="Times New Roman"/>
                <a:ea typeface="Times New Roman"/>
                <a:cs typeface="Times New Roman"/>
                <a:sym typeface="Times New Roman"/>
              </a:rPr>
              <a:t>                              Lucy</a:t>
            </a:r>
            <a:endParaRPr>
              <a:solidFill>
                <a:schemeClr val="dk1"/>
              </a:solidFill>
              <a:latin typeface="Times New Roman"/>
              <a:ea typeface="Times New Roman"/>
              <a:cs typeface="Times New Roman"/>
              <a:sym typeface="Times New Roman"/>
            </a:endParaRPr>
          </a:p>
          <a:p>
            <a:r>
              <a:rPr lang="en-US">
                <a:solidFill>
                  <a:schemeClr val="dk1"/>
                </a:solidFill>
                <a:latin typeface="Times New Roman"/>
                <a:ea typeface="Times New Roman"/>
                <a:cs typeface="Times New Roman"/>
                <a:sym typeface="Times New Roman"/>
              </a:rPr>
              <a:t>                              Sean</a:t>
            </a:r>
            <a:endParaRPr>
              <a:solidFill>
                <a:schemeClr val="dk1"/>
              </a:solidFill>
              <a:latin typeface="Times New Roman"/>
              <a:ea typeface="Times New Roman"/>
              <a:cs typeface="Times New Roman"/>
              <a:sym typeface="Times New Roman"/>
            </a:endParaRPr>
          </a:p>
          <a:p>
            <a:r>
              <a:rPr lang="en-US">
                <a:solidFill>
                  <a:schemeClr val="dk1"/>
                </a:solidFill>
                <a:latin typeface="Times New Roman"/>
                <a:ea typeface="Times New Roman"/>
                <a:cs typeface="Times New Roman"/>
                <a:sym typeface="Times New Roman"/>
              </a:rPr>
              <a:t>                              Carol</a:t>
            </a:r>
            <a:endParaRPr>
              <a:solidFill>
                <a:schemeClr val="dk1"/>
              </a:solidFill>
              <a:latin typeface="Times New Roman"/>
              <a:ea typeface="Times New Roman"/>
              <a:cs typeface="Times New Roman"/>
              <a:sym typeface="Times New Roman"/>
            </a:endParaRPr>
          </a:p>
          <a:p>
            <a:r>
              <a:rPr lang="en-US">
                <a:solidFill>
                  <a:schemeClr val="dk1"/>
                </a:solidFill>
                <a:latin typeface="Times New Roman"/>
                <a:ea typeface="Times New Roman"/>
                <a:cs typeface="Times New Roman"/>
                <a:sym typeface="Times New Roman"/>
              </a:rPr>
              <a:t>                             Matt</a:t>
            </a:r>
            <a:endParaRPr>
              <a:solidFill>
                <a:schemeClr val="dk1"/>
              </a:solidFill>
              <a:latin typeface="Times New Roman"/>
              <a:ea typeface="Times New Roman"/>
              <a:cs typeface="Times New Roman"/>
              <a:sym typeface="Times New Roman"/>
            </a:endParaRPr>
          </a:p>
          <a:p>
            <a:endParaRPr>
              <a:solidFill>
                <a:schemeClr val="dk1"/>
              </a:solidFill>
              <a:latin typeface="Times New Roman"/>
              <a:ea typeface="Times New Roman"/>
              <a:cs typeface="Times New Roman"/>
              <a:sym typeface="Times New Roman"/>
            </a:endParaRPr>
          </a:p>
        </p:txBody>
      </p:sp>
      <p:sp>
        <p:nvSpPr>
          <p:cNvPr id="1212" name="Google Shape;1212;p110"/>
          <p:cNvSpPr txBox="1"/>
          <p:nvPr/>
        </p:nvSpPr>
        <p:spPr>
          <a:xfrm>
            <a:off x="2362200" y="609600"/>
            <a:ext cx="3206750" cy="1739900"/>
          </a:xfrm>
          <a:prstGeom prst="rect">
            <a:avLst/>
          </a:prstGeom>
          <a:noFill/>
          <a:ln>
            <a:noFill/>
          </a:ln>
        </p:spPr>
        <p:txBody>
          <a:bodyPr spcFirstLastPara="1" wrap="square" lIns="91425" tIns="45700" rIns="91425" bIns="45700" anchor="t" anchorCtr="0">
            <a:spAutoFit/>
          </a:bodyPr>
          <a:lstStyle/>
          <a:p>
            <a:r>
              <a:rPr lang="en-US">
                <a:solidFill>
                  <a:schemeClr val="dk1"/>
                </a:solidFill>
                <a:latin typeface="Times New Roman"/>
                <a:ea typeface="Times New Roman"/>
                <a:cs typeface="Times New Roman"/>
                <a:sym typeface="Times New Roman"/>
              </a:rPr>
              <a:t>Project Works on ename:  Joe</a:t>
            </a:r>
            <a:endParaRPr>
              <a:solidFill>
                <a:schemeClr val="dk1"/>
              </a:solidFill>
              <a:latin typeface="Times New Roman"/>
              <a:ea typeface="Times New Roman"/>
              <a:cs typeface="Times New Roman"/>
              <a:sym typeface="Times New Roman"/>
            </a:endParaRPr>
          </a:p>
          <a:p>
            <a:r>
              <a:rPr lang="en-US">
                <a:solidFill>
                  <a:schemeClr val="dk1"/>
                </a:solidFill>
                <a:latin typeface="Times New Roman"/>
                <a:ea typeface="Times New Roman"/>
                <a:cs typeface="Times New Roman"/>
                <a:sym typeface="Times New Roman"/>
              </a:rPr>
              <a:t>                                           Lucy</a:t>
            </a:r>
            <a:endParaRPr>
              <a:solidFill>
                <a:schemeClr val="dk1"/>
              </a:solidFill>
              <a:latin typeface="Times New Roman"/>
              <a:ea typeface="Times New Roman"/>
              <a:cs typeface="Times New Roman"/>
              <a:sym typeface="Times New Roman"/>
            </a:endParaRPr>
          </a:p>
          <a:p>
            <a:r>
              <a:rPr lang="en-US">
                <a:solidFill>
                  <a:schemeClr val="dk1"/>
                </a:solidFill>
                <a:latin typeface="Times New Roman"/>
                <a:ea typeface="Times New Roman"/>
                <a:cs typeface="Times New Roman"/>
                <a:sym typeface="Times New Roman"/>
              </a:rPr>
              <a:t>                                           Sean</a:t>
            </a:r>
            <a:endParaRPr>
              <a:solidFill>
                <a:schemeClr val="dk1"/>
              </a:solidFill>
              <a:latin typeface="Times New Roman"/>
              <a:ea typeface="Times New Roman"/>
              <a:cs typeface="Times New Roman"/>
              <a:sym typeface="Times New Roman"/>
            </a:endParaRPr>
          </a:p>
          <a:p>
            <a:r>
              <a:rPr lang="en-US">
                <a:solidFill>
                  <a:schemeClr val="dk1"/>
                </a:solidFill>
                <a:latin typeface="Times New Roman"/>
                <a:ea typeface="Times New Roman"/>
                <a:cs typeface="Times New Roman"/>
                <a:sym typeface="Times New Roman"/>
              </a:rPr>
              <a:t>                                            Carol</a:t>
            </a:r>
            <a:endParaRPr>
              <a:solidFill>
                <a:schemeClr val="dk1"/>
              </a:solidFill>
              <a:latin typeface="Times New Roman"/>
              <a:ea typeface="Times New Roman"/>
              <a:cs typeface="Times New Roman"/>
              <a:sym typeface="Times New Roman"/>
            </a:endParaRPr>
          </a:p>
          <a:p>
            <a:r>
              <a:rPr lang="en-US">
                <a:solidFill>
                  <a:schemeClr val="dk1"/>
                </a:solidFill>
                <a:latin typeface="Times New Roman"/>
                <a:ea typeface="Times New Roman"/>
                <a:cs typeface="Times New Roman"/>
                <a:sym typeface="Times New Roman"/>
              </a:rPr>
              <a:t>                                           Mike</a:t>
            </a:r>
            <a:endParaRPr>
              <a:solidFill>
                <a:schemeClr val="dk1"/>
              </a:solidFill>
              <a:latin typeface="Times New Roman"/>
              <a:ea typeface="Times New Roman"/>
              <a:cs typeface="Times New Roman"/>
              <a:sym typeface="Times New Roman"/>
            </a:endParaRPr>
          </a:p>
          <a:p>
            <a:r>
              <a:rPr lang="en-US">
                <a:solidFill>
                  <a:schemeClr val="dk1"/>
                </a:solidFill>
                <a:latin typeface="Times New Roman"/>
                <a:ea typeface="Times New Roman"/>
                <a:cs typeface="Times New Roman"/>
                <a:sym typeface="Times New Roman"/>
              </a:rPr>
              <a:t>                                           Matt</a:t>
            </a:r>
            <a:endParaRPr>
              <a:solidFill>
                <a:schemeClr val="dk1"/>
              </a:solidFill>
              <a:latin typeface="Times New Roman"/>
              <a:ea typeface="Times New Roman"/>
              <a:cs typeface="Times New Roman"/>
              <a:sym typeface="Times New Roman"/>
            </a:endParaRPr>
          </a:p>
        </p:txBody>
      </p:sp>
      <p:sp>
        <p:nvSpPr>
          <p:cNvPr id="1213" name="Google Shape;1213;p110"/>
          <p:cNvSpPr txBox="1"/>
          <p:nvPr/>
        </p:nvSpPr>
        <p:spPr>
          <a:xfrm>
            <a:off x="5181600" y="6248401"/>
            <a:ext cx="5022850" cy="366713"/>
          </a:xfrm>
          <a:prstGeom prst="rect">
            <a:avLst/>
          </a:prstGeom>
          <a:noFill/>
          <a:ln>
            <a:noFill/>
          </a:ln>
        </p:spPr>
        <p:txBody>
          <a:bodyPr spcFirstLastPara="1" wrap="square" lIns="91425" tIns="45700" rIns="91425" bIns="45700" anchor="t" anchorCtr="0">
            <a:spAutoFit/>
          </a:bodyPr>
          <a:lstStyle/>
          <a:p>
            <a:r>
              <a:rPr lang="en-US">
                <a:solidFill>
                  <a:schemeClr val="dk1"/>
                </a:solidFill>
                <a:latin typeface="Times New Roman"/>
                <a:ea typeface="Times New Roman"/>
                <a:cs typeface="Times New Roman"/>
                <a:sym typeface="Times New Roman"/>
              </a:rPr>
              <a:t>Substract from first projection the second one:  Mike</a:t>
            </a:r>
            <a:endParaRPr>
              <a:solidFill>
                <a:schemeClr val="dk1"/>
              </a:solidFill>
              <a:latin typeface="Times New Roman"/>
              <a:ea typeface="Times New Roman"/>
              <a:cs typeface="Times New Roman"/>
              <a:sym typeface="Times New Roman"/>
            </a:endParaRPr>
          </a:p>
        </p:txBody>
      </p:sp>
      <p:grpSp>
        <p:nvGrpSpPr>
          <p:cNvPr id="1214" name="Google Shape;1214;p110"/>
          <p:cNvGrpSpPr/>
          <p:nvPr/>
        </p:nvGrpSpPr>
        <p:grpSpPr>
          <a:xfrm>
            <a:off x="3429000" y="2438400"/>
            <a:ext cx="228600" cy="304800"/>
            <a:chOff x="1536" y="1296"/>
            <a:chExt cx="144" cy="192"/>
          </a:xfrm>
        </p:grpSpPr>
        <p:cxnSp>
          <p:nvCxnSpPr>
            <p:cNvPr id="1215" name="Google Shape;1215;p110"/>
            <p:cNvCxnSpPr/>
            <p:nvPr/>
          </p:nvCxnSpPr>
          <p:spPr>
            <a:xfrm>
              <a:off x="1536" y="1296"/>
              <a:ext cx="0" cy="192"/>
            </a:xfrm>
            <a:prstGeom prst="straightConnector1">
              <a:avLst/>
            </a:prstGeom>
            <a:noFill/>
            <a:ln w="9525" cap="flat" cmpd="sng">
              <a:solidFill>
                <a:schemeClr val="dk1"/>
              </a:solidFill>
              <a:prstDash val="solid"/>
              <a:round/>
              <a:headEnd type="none" w="sm" len="sm"/>
              <a:tailEnd type="none" w="sm" len="sm"/>
            </a:ln>
          </p:spPr>
        </p:cxnSp>
        <p:cxnSp>
          <p:nvCxnSpPr>
            <p:cNvPr id="1216" name="Google Shape;1216;p110"/>
            <p:cNvCxnSpPr/>
            <p:nvPr/>
          </p:nvCxnSpPr>
          <p:spPr>
            <a:xfrm rot="10800000" flipH="1">
              <a:off x="1536" y="1296"/>
              <a:ext cx="144" cy="192"/>
            </a:xfrm>
            <a:prstGeom prst="straightConnector1">
              <a:avLst/>
            </a:prstGeom>
            <a:noFill/>
            <a:ln w="9525" cap="flat" cmpd="sng">
              <a:solidFill>
                <a:schemeClr val="dk1"/>
              </a:solidFill>
              <a:prstDash val="solid"/>
              <a:round/>
              <a:headEnd type="none" w="sm" len="sm"/>
              <a:tailEnd type="none" w="sm" len="sm"/>
            </a:ln>
          </p:spPr>
        </p:cxnSp>
        <p:cxnSp>
          <p:nvCxnSpPr>
            <p:cNvPr id="1217" name="Google Shape;1217;p110"/>
            <p:cNvCxnSpPr/>
            <p:nvPr/>
          </p:nvCxnSpPr>
          <p:spPr>
            <a:xfrm>
              <a:off x="1680" y="1296"/>
              <a:ext cx="0" cy="192"/>
            </a:xfrm>
            <a:prstGeom prst="straightConnector1">
              <a:avLst/>
            </a:prstGeom>
            <a:noFill/>
            <a:ln w="9525" cap="flat" cmpd="sng">
              <a:solidFill>
                <a:schemeClr val="dk1"/>
              </a:solidFill>
              <a:prstDash val="solid"/>
              <a:round/>
              <a:headEnd type="none" w="sm" len="sm"/>
              <a:tailEnd type="none" w="sm" len="sm"/>
            </a:ln>
          </p:spPr>
        </p:cxnSp>
        <p:cxnSp>
          <p:nvCxnSpPr>
            <p:cNvPr id="1218" name="Google Shape;1218;p110"/>
            <p:cNvCxnSpPr/>
            <p:nvPr/>
          </p:nvCxnSpPr>
          <p:spPr>
            <a:xfrm>
              <a:off x="1536" y="1296"/>
              <a:ext cx="144" cy="192"/>
            </a:xfrm>
            <a:prstGeom prst="straightConnector1">
              <a:avLst/>
            </a:prstGeom>
            <a:noFill/>
            <a:ln w="9525" cap="flat" cmpd="sng">
              <a:solidFill>
                <a:schemeClr val="dk1"/>
              </a:solidFill>
              <a:prstDash val="solid"/>
              <a:round/>
              <a:headEnd type="none" w="sm" len="sm"/>
              <a:tailEnd type="none" w="sm" len="sm"/>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12"/>
                                        </p:tgtEl>
                                        <p:attrNameLst>
                                          <p:attrName>style.visibility</p:attrName>
                                        </p:attrNameLst>
                                      </p:cBhvr>
                                      <p:to>
                                        <p:strVal val="visible"/>
                                      </p:to>
                                    </p:set>
                                    <p:animEffect transition="in" filter="fade">
                                      <p:cBhvr>
                                        <p:cTn id="7" dur="500"/>
                                        <p:tgtEl>
                                          <p:spTgt spid="12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05"/>
                                        </p:tgtEl>
                                        <p:attrNameLst>
                                          <p:attrName>style.visibility</p:attrName>
                                        </p:attrNameLst>
                                      </p:cBhvr>
                                      <p:to>
                                        <p:strVal val="visible"/>
                                      </p:to>
                                    </p:set>
                                    <p:animEffect transition="in" filter="fade">
                                      <p:cBhvr>
                                        <p:cTn id="12" dur="500"/>
                                        <p:tgtEl>
                                          <p:spTgt spid="1205"/>
                                        </p:tgtEl>
                                      </p:cBhvr>
                                    </p:animEffect>
                                  </p:childTnLst>
                                </p:cTn>
                              </p:par>
                              <p:par>
                                <p:cTn id="13" presetID="10" presetClass="entr" presetSubtype="0" fill="hold" nodeType="withEffect">
                                  <p:stCondLst>
                                    <p:cond delay="0"/>
                                  </p:stCondLst>
                                  <p:childTnLst>
                                    <p:set>
                                      <p:cBhvr>
                                        <p:cTn id="14" dur="1" fill="hold">
                                          <p:stCondLst>
                                            <p:cond delay="0"/>
                                          </p:stCondLst>
                                        </p:cTn>
                                        <p:tgtEl>
                                          <p:spTgt spid="1206"/>
                                        </p:tgtEl>
                                        <p:attrNameLst>
                                          <p:attrName>style.visibility</p:attrName>
                                        </p:attrNameLst>
                                      </p:cBhvr>
                                      <p:to>
                                        <p:strVal val="visible"/>
                                      </p:to>
                                    </p:set>
                                    <p:animEffect transition="in" filter="fade">
                                      <p:cBhvr>
                                        <p:cTn id="15" dur="500"/>
                                        <p:tgtEl>
                                          <p:spTgt spid="1206"/>
                                        </p:tgtEl>
                                      </p:cBhvr>
                                    </p:animEffect>
                                  </p:childTnLst>
                                </p:cTn>
                              </p:par>
                              <p:par>
                                <p:cTn id="16" presetID="10" presetClass="entr" presetSubtype="0" fill="hold" nodeType="withEffect">
                                  <p:stCondLst>
                                    <p:cond delay="0"/>
                                  </p:stCondLst>
                                  <p:childTnLst>
                                    <p:set>
                                      <p:cBhvr>
                                        <p:cTn id="17" dur="1" fill="hold">
                                          <p:stCondLst>
                                            <p:cond delay="0"/>
                                          </p:stCondLst>
                                        </p:cTn>
                                        <p:tgtEl>
                                          <p:spTgt spid="1207"/>
                                        </p:tgtEl>
                                        <p:attrNameLst>
                                          <p:attrName>style.visibility</p:attrName>
                                        </p:attrNameLst>
                                      </p:cBhvr>
                                      <p:to>
                                        <p:strVal val="visible"/>
                                      </p:to>
                                    </p:set>
                                    <p:animEffect transition="in" filter="fade">
                                      <p:cBhvr>
                                        <p:cTn id="18" dur="500"/>
                                        <p:tgtEl>
                                          <p:spTgt spid="1207"/>
                                        </p:tgtEl>
                                      </p:cBhvr>
                                    </p:animEffect>
                                  </p:childTnLst>
                                </p:cTn>
                              </p:par>
                              <p:par>
                                <p:cTn id="19" presetID="10" presetClass="entr" presetSubtype="0" fill="hold" nodeType="withEffect">
                                  <p:stCondLst>
                                    <p:cond delay="0"/>
                                  </p:stCondLst>
                                  <p:childTnLst>
                                    <p:set>
                                      <p:cBhvr>
                                        <p:cTn id="20" dur="1" fill="hold">
                                          <p:stCondLst>
                                            <p:cond delay="0"/>
                                          </p:stCondLst>
                                        </p:cTn>
                                        <p:tgtEl>
                                          <p:spTgt spid="1208"/>
                                        </p:tgtEl>
                                        <p:attrNameLst>
                                          <p:attrName>style.visibility</p:attrName>
                                        </p:attrNameLst>
                                      </p:cBhvr>
                                      <p:to>
                                        <p:strVal val="visible"/>
                                      </p:to>
                                    </p:set>
                                    <p:animEffect transition="in" filter="fade">
                                      <p:cBhvr>
                                        <p:cTn id="21" dur="500"/>
                                        <p:tgtEl>
                                          <p:spTgt spid="1208"/>
                                        </p:tgtEl>
                                      </p:cBhvr>
                                    </p:animEffect>
                                  </p:childTnLst>
                                </p:cTn>
                              </p:par>
                              <p:par>
                                <p:cTn id="22" presetID="10" presetClass="entr" presetSubtype="0" fill="hold" nodeType="withEffect">
                                  <p:stCondLst>
                                    <p:cond delay="0"/>
                                  </p:stCondLst>
                                  <p:childTnLst>
                                    <p:set>
                                      <p:cBhvr>
                                        <p:cTn id="23" dur="1" fill="hold">
                                          <p:stCondLst>
                                            <p:cond delay="0"/>
                                          </p:stCondLst>
                                        </p:cTn>
                                        <p:tgtEl>
                                          <p:spTgt spid="1210"/>
                                        </p:tgtEl>
                                        <p:attrNameLst>
                                          <p:attrName>style.visibility</p:attrName>
                                        </p:attrNameLst>
                                      </p:cBhvr>
                                      <p:to>
                                        <p:strVal val="visible"/>
                                      </p:to>
                                    </p:set>
                                    <p:animEffect transition="in" filter="fade">
                                      <p:cBhvr>
                                        <p:cTn id="24" dur="500"/>
                                        <p:tgtEl>
                                          <p:spTgt spid="1210"/>
                                        </p:tgtEl>
                                      </p:cBhvr>
                                    </p:animEffect>
                                  </p:childTnLst>
                                </p:cTn>
                              </p:par>
                              <p:par>
                                <p:cTn id="25" presetID="10" presetClass="entr" presetSubtype="0" fill="hold" nodeType="withEffect">
                                  <p:stCondLst>
                                    <p:cond delay="0"/>
                                  </p:stCondLst>
                                  <p:childTnLst>
                                    <p:set>
                                      <p:cBhvr>
                                        <p:cTn id="26" dur="1" fill="hold">
                                          <p:stCondLst>
                                            <p:cond delay="0"/>
                                          </p:stCondLst>
                                        </p:cTn>
                                        <p:tgtEl>
                                          <p:spTgt spid="1214"/>
                                        </p:tgtEl>
                                        <p:attrNameLst>
                                          <p:attrName>style.visibility</p:attrName>
                                        </p:attrNameLst>
                                      </p:cBhvr>
                                      <p:to>
                                        <p:strVal val="visible"/>
                                      </p:to>
                                    </p:set>
                                    <p:animEffect transition="in" filter="fade">
                                      <p:cBhvr>
                                        <p:cTn id="27" dur="500"/>
                                        <p:tgtEl>
                                          <p:spTgt spid="121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211"/>
                                        </p:tgtEl>
                                        <p:attrNameLst>
                                          <p:attrName>style.visibility</p:attrName>
                                        </p:attrNameLst>
                                      </p:cBhvr>
                                      <p:to>
                                        <p:strVal val="visible"/>
                                      </p:to>
                                    </p:set>
                                    <p:animEffect transition="in" filter="fade">
                                      <p:cBhvr>
                                        <p:cTn id="32" dur="500"/>
                                        <p:tgtEl>
                                          <p:spTgt spid="1211"/>
                                        </p:tgtEl>
                                      </p:cBhvr>
                                    </p:animEffect>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213"/>
                                        </p:tgtEl>
                                        <p:attrNameLst>
                                          <p:attrName>style.visibility</p:attrName>
                                        </p:attrNameLst>
                                      </p:cBhvr>
                                      <p:to>
                                        <p:strVal val="visible"/>
                                      </p:to>
                                    </p:set>
                                    <p:anim calcmode="lin" valueType="num">
                                      <p:cBhvr additive="base">
                                        <p:cTn id="37" dur="500"/>
                                        <p:tgtEl>
                                          <p:spTgt spid="12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Shape 1222"/>
        <p:cNvGrpSpPr/>
        <p:nvPr/>
      </p:nvGrpSpPr>
      <p:grpSpPr>
        <a:xfrm>
          <a:off x="0" y="0"/>
          <a:ext cx="0" cy="0"/>
          <a:chOff x="0" y="0"/>
          <a:chExt cx="0" cy="0"/>
        </a:xfrm>
      </p:grpSpPr>
      <p:sp>
        <p:nvSpPr>
          <p:cNvPr id="1223" name="Google Shape;1223;p111"/>
          <p:cNvSpPr txBox="1">
            <a:spLocks noGrp="1"/>
          </p:cNvSpPr>
          <p:nvPr>
            <p:ph type="title"/>
          </p:nvPr>
        </p:nvSpPr>
        <p:spPr>
          <a:xfrm>
            <a:off x="1020566" y="-236306"/>
            <a:ext cx="10202238" cy="1379305"/>
          </a:xfrm>
          <a:prstGeom prst="rect">
            <a:avLst/>
          </a:prstGeom>
          <a:noFill/>
          <a:ln>
            <a:noFill/>
          </a:ln>
        </p:spPr>
        <p:txBody>
          <a:bodyPr spcFirstLastPara="1" vert="horz" wrap="square" lIns="91425" tIns="45700" rIns="91425" bIns="45700" rtlCol="0" anchor="ctr" anchorCtr="0">
            <a:noAutofit/>
          </a:bodyPr>
          <a:lstStyle/>
          <a:p>
            <a:pPr algn="ctr">
              <a:lnSpc>
                <a:spcPct val="100000"/>
              </a:lnSpc>
              <a:spcBef>
                <a:spcPts val="0"/>
              </a:spcBef>
              <a:buClr>
                <a:schemeClr val="dk2"/>
              </a:buClr>
              <a:buSzPts val="2400"/>
            </a:pPr>
            <a:r>
              <a:rPr lang="en-US" sz="2400" dirty="0"/>
              <a:t>Find all employees that live in the same city as their company</a:t>
            </a:r>
            <a:br>
              <a:rPr lang="en-US" sz="2400" dirty="0"/>
            </a:br>
            <a:r>
              <a:rPr lang="en-US" sz="2400" dirty="0"/>
              <a:t> </a:t>
            </a:r>
            <a:endParaRPr sz="2400" dirty="0"/>
          </a:p>
        </p:txBody>
      </p:sp>
      <p:sp>
        <p:nvSpPr>
          <p:cNvPr id="1224" name="Google Shape;1224;p111"/>
          <p:cNvSpPr txBox="1">
            <a:spLocks noGrp="1"/>
          </p:cNvSpPr>
          <p:nvPr>
            <p:ph type="body" idx="1"/>
          </p:nvPr>
        </p:nvSpPr>
        <p:spPr>
          <a:xfrm>
            <a:off x="1981200" y="-236306"/>
            <a:ext cx="8229600" cy="6362469"/>
          </a:xfrm>
          <a:prstGeom prst="rect">
            <a:avLst/>
          </a:prstGeom>
          <a:noFill/>
          <a:ln>
            <a:noFill/>
          </a:ln>
        </p:spPr>
        <p:txBody>
          <a:bodyPr spcFirstLastPara="1" vert="horz" wrap="square" lIns="91425" tIns="45700" rIns="91425" bIns="45700" rtlCol="0" anchor="t" anchorCtr="0">
            <a:noAutofit/>
          </a:bodyPr>
          <a:lstStyle/>
          <a:p>
            <a:pPr marL="342900" indent="-342900">
              <a:lnSpc>
                <a:spcPct val="100000"/>
              </a:lnSpc>
              <a:spcBef>
                <a:spcPts val="0"/>
              </a:spcBef>
              <a:buClr>
                <a:schemeClr val="dk1"/>
              </a:buClr>
              <a:buSzPts val="2000"/>
              <a:buFont typeface="Arial"/>
              <a:buChar char="•"/>
            </a:pPr>
            <a:endParaRPr lang="en-US" sz="2000" dirty="0"/>
          </a:p>
          <a:p>
            <a:pPr marL="342900" indent="-342900">
              <a:lnSpc>
                <a:spcPct val="100000"/>
              </a:lnSpc>
              <a:spcBef>
                <a:spcPts val="0"/>
              </a:spcBef>
              <a:buClr>
                <a:schemeClr val="dk1"/>
              </a:buClr>
              <a:buSzPts val="2000"/>
              <a:buFont typeface="Arial"/>
              <a:buChar char="•"/>
            </a:pPr>
            <a:endParaRPr lang="en-US" sz="2000" dirty="0"/>
          </a:p>
          <a:p>
            <a:pPr marL="342900" indent="-342900">
              <a:lnSpc>
                <a:spcPct val="100000"/>
              </a:lnSpc>
              <a:spcBef>
                <a:spcPts val="0"/>
              </a:spcBef>
              <a:buClr>
                <a:schemeClr val="dk1"/>
              </a:buClr>
              <a:buSzPts val="2000"/>
              <a:buFont typeface="Arial"/>
              <a:buChar char="•"/>
            </a:pPr>
            <a:endParaRPr lang="en-US" sz="2000" dirty="0"/>
          </a:p>
          <a:p>
            <a:pPr marL="342900" indent="-342900">
              <a:lnSpc>
                <a:spcPct val="100000"/>
              </a:lnSpc>
              <a:spcBef>
                <a:spcPts val="0"/>
              </a:spcBef>
              <a:buClr>
                <a:schemeClr val="dk1"/>
              </a:buClr>
              <a:buSzPts val="2000"/>
              <a:buFont typeface="Arial"/>
              <a:buChar char="•"/>
            </a:pPr>
            <a:endParaRPr lang="en-US" sz="2000" dirty="0"/>
          </a:p>
          <a:p>
            <a:pPr marL="342900" indent="-342900">
              <a:lnSpc>
                <a:spcPct val="100000"/>
              </a:lnSpc>
              <a:spcBef>
                <a:spcPts val="0"/>
              </a:spcBef>
              <a:buClr>
                <a:schemeClr val="dk1"/>
              </a:buClr>
              <a:buSzPts val="2000"/>
              <a:buFont typeface="Arial"/>
              <a:buChar char="•"/>
            </a:pPr>
            <a:endParaRPr lang="en-US" sz="2000" dirty="0"/>
          </a:p>
          <a:p>
            <a:pPr marL="342900" indent="-342900">
              <a:lnSpc>
                <a:spcPct val="100000"/>
              </a:lnSpc>
              <a:spcBef>
                <a:spcPts val="0"/>
              </a:spcBef>
              <a:buClr>
                <a:schemeClr val="dk1"/>
              </a:buClr>
              <a:buSzPts val="2000"/>
              <a:buFont typeface="Arial"/>
              <a:buChar char="•"/>
            </a:pPr>
            <a:endParaRPr lang="en-US" sz="2000" dirty="0"/>
          </a:p>
          <a:p>
            <a:pPr marL="342900" indent="-342900">
              <a:lnSpc>
                <a:spcPct val="100000"/>
              </a:lnSpc>
              <a:spcBef>
                <a:spcPts val="0"/>
              </a:spcBef>
              <a:buClr>
                <a:schemeClr val="dk1"/>
              </a:buClr>
              <a:buSzPts val="2000"/>
              <a:buFont typeface="Arial"/>
              <a:buChar char="•"/>
            </a:pPr>
            <a:endParaRPr lang="en-US" sz="2000" dirty="0"/>
          </a:p>
          <a:p>
            <a:pPr marL="342900" indent="-342900">
              <a:lnSpc>
                <a:spcPct val="100000"/>
              </a:lnSpc>
              <a:spcBef>
                <a:spcPts val="0"/>
              </a:spcBef>
              <a:buClr>
                <a:schemeClr val="dk1"/>
              </a:buClr>
              <a:buSzPts val="2000"/>
              <a:buFont typeface="Arial"/>
              <a:buChar char="•"/>
            </a:pPr>
            <a:endParaRPr lang="en-US" sz="2000" dirty="0"/>
          </a:p>
          <a:p>
            <a:pPr marL="0" indent="0">
              <a:lnSpc>
                <a:spcPct val="100000"/>
              </a:lnSpc>
              <a:spcBef>
                <a:spcPts val="0"/>
              </a:spcBef>
              <a:buClr>
                <a:schemeClr val="dk1"/>
              </a:buClr>
              <a:buSzPts val="2000"/>
              <a:buNone/>
            </a:pPr>
            <a:endParaRPr lang="en-US" sz="2000" dirty="0"/>
          </a:p>
          <a:p>
            <a:pPr marL="342900" indent="-342900">
              <a:lnSpc>
                <a:spcPct val="100000"/>
              </a:lnSpc>
              <a:spcBef>
                <a:spcPts val="0"/>
              </a:spcBef>
              <a:buClr>
                <a:schemeClr val="dk1"/>
              </a:buClr>
              <a:buSzPts val="2000"/>
              <a:buFont typeface="Arial"/>
              <a:buChar char="•"/>
            </a:pPr>
            <a:endParaRPr lang="en-US" sz="2000" dirty="0"/>
          </a:p>
          <a:p>
            <a:pPr marL="342900" indent="-342900">
              <a:lnSpc>
                <a:spcPct val="100000"/>
              </a:lnSpc>
              <a:spcBef>
                <a:spcPts val="0"/>
              </a:spcBef>
              <a:buClr>
                <a:schemeClr val="dk1"/>
              </a:buClr>
              <a:buSzPts val="2000"/>
              <a:buFont typeface="Arial"/>
              <a:buChar char="•"/>
            </a:pPr>
            <a:r>
              <a:rPr lang="en-US" sz="2000" dirty="0"/>
              <a:t>Project on </a:t>
            </a:r>
            <a:r>
              <a:rPr lang="en-US" sz="2000" dirty="0" err="1"/>
              <a:t>ename</a:t>
            </a:r>
            <a:r>
              <a:rPr lang="en-US" sz="2000" dirty="0"/>
              <a:t>:  Matt  </a:t>
            </a:r>
            <a:endParaRPr sz="2000" dirty="0"/>
          </a:p>
          <a:p>
            <a:pPr marL="342900" indent="-342900">
              <a:lnSpc>
                <a:spcPct val="100000"/>
              </a:lnSpc>
              <a:spcBef>
                <a:spcPts val="400"/>
              </a:spcBef>
              <a:buClr>
                <a:schemeClr val="dk1"/>
              </a:buClr>
              <a:buSzPts val="2000"/>
              <a:buNone/>
            </a:pPr>
            <a:r>
              <a:rPr lang="en-US" sz="2000" dirty="0"/>
              <a:t> </a:t>
            </a:r>
            <a:endParaRPr sz="2000" dirty="0"/>
          </a:p>
        </p:txBody>
      </p:sp>
      <p:sp>
        <p:nvSpPr>
          <p:cNvPr id="1225" name="Google Shape;1225;p111"/>
          <p:cNvSpPr txBox="1"/>
          <p:nvPr/>
        </p:nvSpPr>
        <p:spPr>
          <a:xfrm>
            <a:off x="3429000" y="1524001"/>
            <a:ext cx="4337050" cy="366713"/>
          </a:xfrm>
          <a:prstGeom prst="rect">
            <a:avLst/>
          </a:prstGeom>
          <a:noFill/>
          <a:ln>
            <a:noFill/>
          </a:ln>
        </p:spPr>
        <p:txBody>
          <a:bodyPr spcFirstLastPara="1" wrap="square" lIns="91425" tIns="45700" rIns="91425" bIns="45700" anchor="t" anchorCtr="0">
            <a:spAutoFit/>
          </a:bodyPr>
          <a:lstStyle/>
          <a:p>
            <a:r>
              <a:rPr lang="en-US" dirty="0">
                <a:solidFill>
                  <a:schemeClr val="dk1"/>
                </a:solidFill>
                <a:latin typeface="Times New Roman"/>
                <a:ea typeface="Times New Roman"/>
                <a:cs typeface="Times New Roman"/>
                <a:sym typeface="Times New Roman"/>
              </a:rPr>
              <a:t>Matt  GE   40K     Cleveland Main Cleveland</a:t>
            </a:r>
            <a:endParaRPr dirty="0">
              <a:solidFill>
                <a:schemeClr val="dk1"/>
              </a:solidFill>
              <a:latin typeface="Times New Roman"/>
              <a:ea typeface="Times New Roman"/>
              <a:cs typeface="Times New Roman"/>
              <a:sym typeface="Times New Roman"/>
            </a:endParaRPr>
          </a:p>
        </p:txBody>
      </p:sp>
      <p:cxnSp>
        <p:nvCxnSpPr>
          <p:cNvPr id="1226" name="Google Shape;1226;p111"/>
          <p:cNvCxnSpPr/>
          <p:nvPr/>
        </p:nvCxnSpPr>
        <p:spPr>
          <a:xfrm>
            <a:off x="3962400" y="3429000"/>
            <a:ext cx="0" cy="228600"/>
          </a:xfrm>
          <a:prstGeom prst="straightConnector1">
            <a:avLst/>
          </a:prstGeom>
          <a:noFill/>
          <a:ln>
            <a:noFill/>
          </a:ln>
        </p:spPr>
      </p:cxnSp>
      <p:cxnSp>
        <p:nvCxnSpPr>
          <p:cNvPr id="1227" name="Google Shape;1227;p111"/>
          <p:cNvCxnSpPr/>
          <p:nvPr/>
        </p:nvCxnSpPr>
        <p:spPr>
          <a:xfrm rot="10800000" flipH="1">
            <a:off x="3962400" y="3505200"/>
            <a:ext cx="152400" cy="152400"/>
          </a:xfrm>
          <a:prstGeom prst="straightConnector1">
            <a:avLst/>
          </a:prstGeom>
          <a:noFill/>
          <a:ln>
            <a:noFill/>
          </a:ln>
        </p:spPr>
      </p:cxnSp>
      <p:cxnSp>
        <p:nvCxnSpPr>
          <p:cNvPr id="1228" name="Google Shape;1228;p111"/>
          <p:cNvCxnSpPr/>
          <p:nvPr/>
        </p:nvCxnSpPr>
        <p:spPr>
          <a:xfrm>
            <a:off x="3962400" y="3429000"/>
            <a:ext cx="0" cy="152400"/>
          </a:xfrm>
          <a:prstGeom prst="straightConnector1">
            <a:avLst/>
          </a:prstGeom>
          <a:noFill/>
          <a:ln>
            <a:noFill/>
          </a:ln>
        </p:spPr>
      </p:cxnSp>
      <p:sp>
        <p:nvSpPr>
          <p:cNvPr id="1229" name="Google Shape;1229;p111"/>
          <p:cNvSpPr txBox="1"/>
          <p:nvPr/>
        </p:nvSpPr>
        <p:spPr>
          <a:xfrm>
            <a:off x="6629400" y="4267200"/>
            <a:ext cx="4038600" cy="1054100"/>
          </a:xfrm>
          <a:prstGeom prst="rect">
            <a:avLst/>
          </a:prstGeom>
          <a:noFill/>
          <a:ln>
            <a:noFill/>
          </a:ln>
        </p:spPr>
        <p:txBody>
          <a:bodyPr spcFirstLastPara="1" wrap="square" lIns="91425" tIns="45700" rIns="91425" bIns="45700" anchor="t" anchorCtr="0">
            <a:spAutoFit/>
          </a:bodyPr>
          <a:lstStyle/>
          <a:p>
            <a:endParaRPr>
              <a:solidFill>
                <a:schemeClr val="dk1"/>
              </a:solidFill>
              <a:latin typeface="Times New Roman"/>
              <a:ea typeface="Times New Roman"/>
              <a:cs typeface="Times New Roman"/>
              <a:sym typeface="Times New Roman"/>
            </a:endParaRPr>
          </a:p>
          <a:p>
            <a:endParaRPr>
              <a:solidFill>
                <a:schemeClr val="dk1"/>
              </a:solidFill>
              <a:latin typeface="Times New Roman"/>
              <a:ea typeface="Times New Roman"/>
              <a:cs typeface="Times New Roman"/>
              <a:sym typeface="Times New Roman"/>
            </a:endParaRPr>
          </a:p>
          <a:p>
            <a:pPr>
              <a:spcBef>
                <a:spcPts val="900"/>
              </a:spcBef>
            </a:pPr>
            <a:endParaRPr>
              <a:solidFill>
                <a:schemeClr val="dk1"/>
              </a:solidFill>
              <a:latin typeface="Times New Roman"/>
              <a:ea typeface="Times New Roman"/>
              <a:cs typeface="Times New Roman"/>
              <a:sym typeface="Times New Roman"/>
            </a:endParaRPr>
          </a:p>
        </p:txBody>
      </p:sp>
      <p:sp>
        <p:nvSpPr>
          <p:cNvPr id="1230" name="Google Shape;1230;p111"/>
          <p:cNvSpPr txBox="1"/>
          <p:nvPr/>
        </p:nvSpPr>
        <p:spPr>
          <a:xfrm>
            <a:off x="2362200" y="609601"/>
            <a:ext cx="184150" cy="366713"/>
          </a:xfrm>
          <a:prstGeom prst="rect">
            <a:avLst/>
          </a:prstGeom>
          <a:noFill/>
          <a:ln>
            <a:noFill/>
          </a:ln>
        </p:spPr>
        <p:txBody>
          <a:bodyPr spcFirstLastPara="1" wrap="square" lIns="91425" tIns="45700" rIns="91425" bIns="45700" anchor="t" anchorCtr="0">
            <a:spAutoFit/>
          </a:bodyPr>
          <a:lstStyle/>
          <a:p>
            <a:endParaRPr>
              <a:solidFill>
                <a:schemeClr val="dk1"/>
              </a:solidFill>
              <a:latin typeface="Times New Roman"/>
              <a:ea typeface="Times New Roman"/>
              <a:cs typeface="Times New Roman"/>
              <a:sym typeface="Times New Roman"/>
            </a:endParaRPr>
          </a:p>
        </p:txBody>
      </p:sp>
      <p:sp>
        <p:nvSpPr>
          <p:cNvPr id="1231" name="Google Shape;1231;p111"/>
          <p:cNvSpPr txBox="1"/>
          <p:nvPr/>
        </p:nvSpPr>
        <p:spPr>
          <a:xfrm>
            <a:off x="2498725" y="723901"/>
            <a:ext cx="4210050" cy="366713"/>
          </a:xfrm>
          <a:prstGeom prst="rect">
            <a:avLst/>
          </a:prstGeom>
          <a:noFill/>
          <a:ln>
            <a:noFill/>
          </a:ln>
        </p:spPr>
        <p:txBody>
          <a:bodyPr spcFirstLastPara="1" wrap="square" lIns="91425" tIns="45700" rIns="91425" bIns="45700" anchor="t" anchorCtr="0">
            <a:spAutoFit/>
          </a:bodyPr>
          <a:lstStyle/>
          <a:p>
            <a:r>
              <a:rPr lang="en-US">
                <a:solidFill>
                  <a:schemeClr val="dk1"/>
                </a:solidFill>
                <a:latin typeface="Times New Roman"/>
                <a:ea typeface="Times New Roman"/>
                <a:cs typeface="Times New Roman"/>
                <a:sym typeface="Times New Roman"/>
              </a:rPr>
              <a:t>Works             Company               Employee</a:t>
            </a:r>
            <a:endParaRPr>
              <a:solidFill>
                <a:schemeClr val="dk1"/>
              </a:solidFill>
              <a:latin typeface="Times New Roman"/>
              <a:ea typeface="Times New Roman"/>
              <a:cs typeface="Times New Roman"/>
              <a:sym typeface="Times New Roman"/>
            </a:endParaRPr>
          </a:p>
        </p:txBody>
      </p:sp>
      <p:cxnSp>
        <p:nvCxnSpPr>
          <p:cNvPr id="1232" name="Google Shape;1232;p111"/>
          <p:cNvCxnSpPr/>
          <p:nvPr/>
        </p:nvCxnSpPr>
        <p:spPr>
          <a:xfrm>
            <a:off x="3352800" y="838200"/>
            <a:ext cx="0" cy="152400"/>
          </a:xfrm>
          <a:prstGeom prst="straightConnector1">
            <a:avLst/>
          </a:prstGeom>
          <a:noFill/>
          <a:ln w="9525" cap="flat" cmpd="sng">
            <a:solidFill>
              <a:schemeClr val="dk1"/>
            </a:solidFill>
            <a:prstDash val="solid"/>
            <a:round/>
            <a:headEnd type="none" w="sm" len="sm"/>
            <a:tailEnd type="none" w="sm" len="sm"/>
          </a:ln>
        </p:spPr>
      </p:cxnSp>
      <p:cxnSp>
        <p:nvCxnSpPr>
          <p:cNvPr id="1233" name="Google Shape;1233;p111"/>
          <p:cNvCxnSpPr/>
          <p:nvPr/>
        </p:nvCxnSpPr>
        <p:spPr>
          <a:xfrm>
            <a:off x="3657600" y="838200"/>
            <a:ext cx="0" cy="152400"/>
          </a:xfrm>
          <a:prstGeom prst="straightConnector1">
            <a:avLst/>
          </a:prstGeom>
          <a:noFill/>
          <a:ln>
            <a:noFill/>
          </a:ln>
        </p:spPr>
      </p:cxnSp>
      <p:cxnSp>
        <p:nvCxnSpPr>
          <p:cNvPr id="1234" name="Google Shape;1234;p111"/>
          <p:cNvCxnSpPr/>
          <p:nvPr/>
        </p:nvCxnSpPr>
        <p:spPr>
          <a:xfrm>
            <a:off x="3581400" y="838200"/>
            <a:ext cx="0" cy="152400"/>
          </a:xfrm>
          <a:prstGeom prst="straightConnector1">
            <a:avLst/>
          </a:prstGeom>
          <a:noFill/>
          <a:ln w="9525" cap="flat" cmpd="sng">
            <a:solidFill>
              <a:schemeClr val="dk1"/>
            </a:solidFill>
            <a:prstDash val="solid"/>
            <a:round/>
            <a:headEnd type="none" w="sm" len="sm"/>
            <a:tailEnd type="none" w="sm" len="sm"/>
          </a:ln>
        </p:spPr>
      </p:cxnSp>
      <p:cxnSp>
        <p:nvCxnSpPr>
          <p:cNvPr id="1235" name="Google Shape;1235;p111"/>
          <p:cNvCxnSpPr/>
          <p:nvPr/>
        </p:nvCxnSpPr>
        <p:spPr>
          <a:xfrm>
            <a:off x="3352800" y="838200"/>
            <a:ext cx="228600" cy="152400"/>
          </a:xfrm>
          <a:prstGeom prst="straightConnector1">
            <a:avLst/>
          </a:prstGeom>
          <a:noFill/>
          <a:ln w="9525" cap="flat" cmpd="sng">
            <a:solidFill>
              <a:schemeClr val="dk1"/>
            </a:solidFill>
            <a:prstDash val="solid"/>
            <a:round/>
            <a:headEnd type="none" w="sm" len="sm"/>
            <a:tailEnd type="none" w="sm" len="sm"/>
          </a:ln>
        </p:spPr>
      </p:cxnSp>
      <p:cxnSp>
        <p:nvCxnSpPr>
          <p:cNvPr id="1236" name="Google Shape;1236;p111"/>
          <p:cNvCxnSpPr/>
          <p:nvPr/>
        </p:nvCxnSpPr>
        <p:spPr>
          <a:xfrm>
            <a:off x="3352800" y="914400"/>
            <a:ext cx="228600" cy="228600"/>
          </a:xfrm>
          <a:prstGeom prst="straightConnector1">
            <a:avLst/>
          </a:prstGeom>
          <a:noFill/>
          <a:ln>
            <a:noFill/>
          </a:ln>
        </p:spPr>
      </p:cxnSp>
      <p:cxnSp>
        <p:nvCxnSpPr>
          <p:cNvPr id="1237" name="Google Shape;1237;p111"/>
          <p:cNvCxnSpPr/>
          <p:nvPr/>
        </p:nvCxnSpPr>
        <p:spPr>
          <a:xfrm flipH="1">
            <a:off x="3322638" y="848278"/>
            <a:ext cx="228600" cy="152400"/>
          </a:xfrm>
          <a:prstGeom prst="straightConnector1">
            <a:avLst/>
          </a:prstGeom>
          <a:noFill/>
          <a:ln w="9525" cap="flat" cmpd="sng">
            <a:solidFill>
              <a:schemeClr val="dk1"/>
            </a:solidFill>
            <a:prstDash val="solid"/>
            <a:round/>
            <a:headEnd type="none" w="sm" len="sm"/>
            <a:tailEnd type="none" w="sm" len="sm"/>
          </a:ln>
        </p:spPr>
      </p:cxnSp>
      <p:cxnSp>
        <p:nvCxnSpPr>
          <p:cNvPr id="1238" name="Google Shape;1238;p111"/>
          <p:cNvCxnSpPr/>
          <p:nvPr/>
        </p:nvCxnSpPr>
        <p:spPr>
          <a:xfrm>
            <a:off x="5029200" y="838200"/>
            <a:ext cx="0" cy="152400"/>
          </a:xfrm>
          <a:prstGeom prst="straightConnector1">
            <a:avLst/>
          </a:prstGeom>
          <a:noFill/>
          <a:ln w="9525" cap="flat" cmpd="sng">
            <a:solidFill>
              <a:schemeClr val="dk1"/>
            </a:solidFill>
            <a:prstDash val="solid"/>
            <a:round/>
            <a:headEnd type="none" w="sm" len="sm"/>
            <a:tailEnd type="none" w="sm" len="sm"/>
          </a:ln>
        </p:spPr>
      </p:cxnSp>
      <p:cxnSp>
        <p:nvCxnSpPr>
          <p:cNvPr id="1239" name="Google Shape;1239;p111"/>
          <p:cNvCxnSpPr/>
          <p:nvPr/>
        </p:nvCxnSpPr>
        <p:spPr>
          <a:xfrm>
            <a:off x="5410200" y="838200"/>
            <a:ext cx="0" cy="152400"/>
          </a:xfrm>
          <a:prstGeom prst="straightConnector1">
            <a:avLst/>
          </a:prstGeom>
          <a:noFill/>
          <a:ln w="9525" cap="flat" cmpd="sng">
            <a:solidFill>
              <a:schemeClr val="dk1"/>
            </a:solidFill>
            <a:prstDash val="solid"/>
            <a:round/>
            <a:headEnd type="none" w="sm" len="sm"/>
            <a:tailEnd type="none" w="sm" len="sm"/>
          </a:ln>
        </p:spPr>
      </p:cxnSp>
      <p:cxnSp>
        <p:nvCxnSpPr>
          <p:cNvPr id="1240" name="Google Shape;1240;p111"/>
          <p:cNvCxnSpPr/>
          <p:nvPr/>
        </p:nvCxnSpPr>
        <p:spPr>
          <a:xfrm>
            <a:off x="5029200" y="838200"/>
            <a:ext cx="381000" cy="152400"/>
          </a:xfrm>
          <a:prstGeom prst="straightConnector1">
            <a:avLst/>
          </a:prstGeom>
          <a:noFill/>
          <a:ln w="9525" cap="flat" cmpd="sng">
            <a:solidFill>
              <a:schemeClr val="dk1"/>
            </a:solidFill>
            <a:prstDash val="solid"/>
            <a:round/>
            <a:headEnd type="none" w="sm" len="sm"/>
            <a:tailEnd type="none" w="sm" len="sm"/>
          </a:ln>
        </p:spPr>
      </p:cxnSp>
      <p:cxnSp>
        <p:nvCxnSpPr>
          <p:cNvPr id="1241" name="Google Shape;1241;p111"/>
          <p:cNvCxnSpPr/>
          <p:nvPr/>
        </p:nvCxnSpPr>
        <p:spPr>
          <a:xfrm flipH="1">
            <a:off x="5029200" y="838200"/>
            <a:ext cx="381000" cy="152400"/>
          </a:xfrm>
          <a:prstGeom prst="straightConnector1">
            <a:avLst/>
          </a:prstGeom>
          <a:noFill/>
          <a:ln w="9525" cap="flat" cmpd="sng">
            <a:solidFill>
              <a:schemeClr val="dk1"/>
            </a:solidFill>
            <a:prstDash val="solid"/>
            <a:round/>
            <a:headEnd type="none" w="sm" len="sm"/>
            <a:tailEnd type="none" w="sm" len="sm"/>
          </a:ln>
        </p:spPr>
      </p:cxnSp>
      <p:sp>
        <p:nvSpPr>
          <p:cNvPr id="1242" name="Google Shape;1242;p111"/>
          <p:cNvSpPr txBox="1"/>
          <p:nvPr/>
        </p:nvSpPr>
        <p:spPr>
          <a:xfrm>
            <a:off x="2574926" y="1028701"/>
            <a:ext cx="6735763" cy="366713"/>
          </a:xfrm>
          <a:prstGeom prst="rect">
            <a:avLst/>
          </a:prstGeom>
          <a:noFill/>
          <a:ln>
            <a:noFill/>
          </a:ln>
        </p:spPr>
        <p:txBody>
          <a:bodyPr spcFirstLastPara="1" wrap="square" lIns="91425" tIns="45700" rIns="91425" bIns="45700" anchor="t" anchorCtr="0">
            <a:spAutoFit/>
          </a:bodyPr>
          <a:lstStyle/>
          <a:p>
            <a:r>
              <a:rPr lang="en-US" dirty="0" err="1">
                <a:solidFill>
                  <a:schemeClr val="dk1"/>
                </a:solidFill>
                <a:latin typeface="Times New Roman"/>
                <a:ea typeface="Times New Roman"/>
                <a:cs typeface="Times New Roman"/>
                <a:sym typeface="Times New Roman"/>
              </a:rPr>
              <a:t>Cname</a:t>
            </a:r>
            <a:r>
              <a:rPr lang="en-US" dirty="0">
                <a:solidFill>
                  <a:schemeClr val="dk1"/>
                </a:solidFill>
                <a:latin typeface="Times New Roman"/>
                <a:ea typeface="Times New Roman"/>
                <a:cs typeface="Times New Roman"/>
                <a:sym typeface="Times New Roman"/>
              </a:rPr>
              <a:t>=</a:t>
            </a:r>
            <a:r>
              <a:rPr lang="en-US" dirty="0" err="1">
                <a:solidFill>
                  <a:schemeClr val="dk1"/>
                </a:solidFill>
                <a:latin typeface="Times New Roman"/>
                <a:ea typeface="Times New Roman"/>
                <a:cs typeface="Times New Roman"/>
                <a:sym typeface="Times New Roman"/>
              </a:rPr>
              <a:t>company.cname</a:t>
            </a:r>
            <a:r>
              <a:rPr lang="en-US" dirty="0">
                <a:solidFill>
                  <a:schemeClr val="dk1"/>
                </a:solidFill>
                <a:latin typeface="Times New Roman"/>
                <a:ea typeface="Times New Roman"/>
                <a:cs typeface="Times New Roman"/>
                <a:sym typeface="Times New Roman"/>
              </a:rPr>
              <a:t> &amp; </a:t>
            </a:r>
            <a:r>
              <a:rPr lang="en-US" dirty="0" err="1">
                <a:solidFill>
                  <a:schemeClr val="dk1"/>
                </a:solidFill>
                <a:latin typeface="Times New Roman"/>
                <a:ea typeface="Times New Roman"/>
                <a:cs typeface="Times New Roman"/>
                <a:sym typeface="Times New Roman"/>
              </a:rPr>
              <a:t>ename</a:t>
            </a:r>
            <a:r>
              <a:rPr lang="en-US" dirty="0">
                <a:solidFill>
                  <a:schemeClr val="dk1"/>
                </a:solidFill>
                <a:latin typeface="Times New Roman"/>
                <a:ea typeface="Times New Roman"/>
                <a:cs typeface="Times New Roman"/>
                <a:sym typeface="Times New Roman"/>
              </a:rPr>
              <a:t>=</a:t>
            </a:r>
            <a:r>
              <a:rPr lang="en-US" dirty="0" err="1">
                <a:solidFill>
                  <a:schemeClr val="dk1"/>
                </a:solidFill>
                <a:latin typeface="Times New Roman"/>
                <a:ea typeface="Times New Roman"/>
                <a:cs typeface="Times New Roman"/>
                <a:sym typeface="Times New Roman"/>
              </a:rPr>
              <a:t>employee.ename</a:t>
            </a:r>
            <a:r>
              <a:rPr lang="en-US" dirty="0">
                <a:solidFill>
                  <a:schemeClr val="dk1"/>
                </a:solidFill>
                <a:latin typeface="Times New Roman"/>
                <a:ea typeface="Times New Roman"/>
                <a:cs typeface="Times New Roman"/>
                <a:sym typeface="Times New Roman"/>
              </a:rPr>
              <a:t> &amp; city=</a:t>
            </a:r>
            <a:r>
              <a:rPr lang="en-US" dirty="0" err="1">
                <a:solidFill>
                  <a:schemeClr val="dk1"/>
                </a:solidFill>
                <a:latin typeface="Times New Roman"/>
                <a:ea typeface="Times New Roman"/>
                <a:cs typeface="Times New Roman"/>
                <a:sym typeface="Times New Roman"/>
              </a:rPr>
              <a:t>works.city</a:t>
            </a:r>
            <a:endParaRPr dirty="0">
              <a:solidFill>
                <a:schemeClr val="dk1"/>
              </a:solidFill>
              <a:latin typeface="Times New Roman"/>
              <a:ea typeface="Times New Roman"/>
              <a:cs typeface="Times New Roman"/>
              <a:sym typeface="Times New Roma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25"/>
                                        </p:tgtEl>
                                        <p:attrNameLst>
                                          <p:attrName>style.visibility</p:attrName>
                                        </p:attrNameLst>
                                      </p:cBhvr>
                                      <p:to>
                                        <p:strVal val="visible"/>
                                      </p:to>
                                    </p:set>
                                    <p:animEffect transition="in" filter="fade">
                                      <p:cBhvr>
                                        <p:cTn id="7" dur="500"/>
                                        <p:tgtEl>
                                          <p:spTgt spid="1225"/>
                                        </p:tgtEl>
                                      </p:cBhvr>
                                    </p:animEffect>
                                  </p:childTnLst>
                                </p:cTn>
                              </p:par>
                              <p:par>
                                <p:cTn id="8" presetID="10" presetClass="entr" presetSubtype="0" fill="hold" nodeType="withEffect">
                                  <p:stCondLst>
                                    <p:cond delay="0"/>
                                  </p:stCondLst>
                                  <p:childTnLst>
                                    <p:set>
                                      <p:cBhvr>
                                        <p:cTn id="9" dur="1" fill="hold">
                                          <p:stCondLst>
                                            <p:cond delay="0"/>
                                          </p:stCondLst>
                                        </p:cTn>
                                        <p:tgtEl>
                                          <p:spTgt spid="1231"/>
                                        </p:tgtEl>
                                        <p:attrNameLst>
                                          <p:attrName>style.visibility</p:attrName>
                                        </p:attrNameLst>
                                      </p:cBhvr>
                                      <p:to>
                                        <p:strVal val="visible"/>
                                      </p:to>
                                    </p:set>
                                    <p:animEffect transition="in" filter="fade">
                                      <p:cBhvr>
                                        <p:cTn id="10" dur="500"/>
                                        <p:tgtEl>
                                          <p:spTgt spid="1231"/>
                                        </p:tgtEl>
                                      </p:cBhvr>
                                    </p:animEffect>
                                  </p:childTnLst>
                                </p:cTn>
                              </p:par>
                              <p:par>
                                <p:cTn id="11" presetID="10" presetClass="entr" presetSubtype="0" fill="hold" nodeType="withEffect">
                                  <p:stCondLst>
                                    <p:cond delay="0"/>
                                  </p:stCondLst>
                                  <p:childTnLst>
                                    <p:set>
                                      <p:cBhvr>
                                        <p:cTn id="12" dur="1" fill="hold">
                                          <p:stCondLst>
                                            <p:cond delay="0"/>
                                          </p:stCondLst>
                                        </p:cTn>
                                        <p:tgtEl>
                                          <p:spTgt spid="1232"/>
                                        </p:tgtEl>
                                        <p:attrNameLst>
                                          <p:attrName>style.visibility</p:attrName>
                                        </p:attrNameLst>
                                      </p:cBhvr>
                                      <p:to>
                                        <p:strVal val="visible"/>
                                      </p:to>
                                    </p:set>
                                    <p:animEffect transition="in" filter="fade">
                                      <p:cBhvr>
                                        <p:cTn id="13" dur="500"/>
                                        <p:tgtEl>
                                          <p:spTgt spid="1232"/>
                                        </p:tgtEl>
                                      </p:cBhvr>
                                    </p:animEffect>
                                  </p:childTnLst>
                                </p:cTn>
                              </p:par>
                              <p:par>
                                <p:cTn id="14" presetID="10" presetClass="entr" presetSubtype="0" fill="hold" nodeType="withEffect">
                                  <p:stCondLst>
                                    <p:cond delay="0"/>
                                  </p:stCondLst>
                                  <p:childTnLst>
                                    <p:set>
                                      <p:cBhvr>
                                        <p:cTn id="15" dur="1" fill="hold">
                                          <p:stCondLst>
                                            <p:cond delay="0"/>
                                          </p:stCondLst>
                                        </p:cTn>
                                        <p:tgtEl>
                                          <p:spTgt spid="1233"/>
                                        </p:tgtEl>
                                        <p:attrNameLst>
                                          <p:attrName>style.visibility</p:attrName>
                                        </p:attrNameLst>
                                      </p:cBhvr>
                                      <p:to>
                                        <p:strVal val="visible"/>
                                      </p:to>
                                    </p:set>
                                    <p:animEffect transition="in" filter="fade">
                                      <p:cBhvr>
                                        <p:cTn id="16" dur="500"/>
                                        <p:tgtEl>
                                          <p:spTgt spid="1233"/>
                                        </p:tgtEl>
                                      </p:cBhvr>
                                    </p:animEffect>
                                  </p:childTnLst>
                                </p:cTn>
                              </p:par>
                              <p:par>
                                <p:cTn id="17" presetID="10" presetClass="entr" presetSubtype="0" fill="hold" nodeType="withEffect">
                                  <p:stCondLst>
                                    <p:cond delay="0"/>
                                  </p:stCondLst>
                                  <p:childTnLst>
                                    <p:set>
                                      <p:cBhvr>
                                        <p:cTn id="18" dur="1" fill="hold">
                                          <p:stCondLst>
                                            <p:cond delay="0"/>
                                          </p:stCondLst>
                                        </p:cTn>
                                        <p:tgtEl>
                                          <p:spTgt spid="1234"/>
                                        </p:tgtEl>
                                        <p:attrNameLst>
                                          <p:attrName>style.visibility</p:attrName>
                                        </p:attrNameLst>
                                      </p:cBhvr>
                                      <p:to>
                                        <p:strVal val="visible"/>
                                      </p:to>
                                    </p:set>
                                    <p:animEffect transition="in" filter="fade">
                                      <p:cBhvr>
                                        <p:cTn id="19" dur="500"/>
                                        <p:tgtEl>
                                          <p:spTgt spid="1234"/>
                                        </p:tgtEl>
                                      </p:cBhvr>
                                    </p:animEffect>
                                  </p:childTnLst>
                                </p:cTn>
                              </p:par>
                              <p:par>
                                <p:cTn id="20" presetID="10" presetClass="entr" presetSubtype="0" fill="hold" nodeType="withEffect">
                                  <p:stCondLst>
                                    <p:cond delay="0"/>
                                  </p:stCondLst>
                                  <p:childTnLst>
                                    <p:set>
                                      <p:cBhvr>
                                        <p:cTn id="21" dur="1" fill="hold">
                                          <p:stCondLst>
                                            <p:cond delay="0"/>
                                          </p:stCondLst>
                                        </p:cTn>
                                        <p:tgtEl>
                                          <p:spTgt spid="1235"/>
                                        </p:tgtEl>
                                        <p:attrNameLst>
                                          <p:attrName>style.visibility</p:attrName>
                                        </p:attrNameLst>
                                      </p:cBhvr>
                                      <p:to>
                                        <p:strVal val="visible"/>
                                      </p:to>
                                    </p:set>
                                    <p:animEffect transition="in" filter="fade">
                                      <p:cBhvr>
                                        <p:cTn id="22" dur="500"/>
                                        <p:tgtEl>
                                          <p:spTgt spid="1235"/>
                                        </p:tgtEl>
                                      </p:cBhvr>
                                    </p:animEffect>
                                  </p:childTnLst>
                                </p:cTn>
                              </p:par>
                              <p:par>
                                <p:cTn id="23" presetID="10" presetClass="entr" presetSubtype="0" fill="hold" nodeType="withEffect">
                                  <p:stCondLst>
                                    <p:cond delay="0"/>
                                  </p:stCondLst>
                                  <p:childTnLst>
                                    <p:set>
                                      <p:cBhvr>
                                        <p:cTn id="24" dur="1" fill="hold">
                                          <p:stCondLst>
                                            <p:cond delay="0"/>
                                          </p:stCondLst>
                                        </p:cTn>
                                        <p:tgtEl>
                                          <p:spTgt spid="1236"/>
                                        </p:tgtEl>
                                        <p:attrNameLst>
                                          <p:attrName>style.visibility</p:attrName>
                                        </p:attrNameLst>
                                      </p:cBhvr>
                                      <p:to>
                                        <p:strVal val="visible"/>
                                      </p:to>
                                    </p:set>
                                    <p:animEffect transition="in" filter="fade">
                                      <p:cBhvr>
                                        <p:cTn id="25" dur="500"/>
                                        <p:tgtEl>
                                          <p:spTgt spid="1236"/>
                                        </p:tgtEl>
                                      </p:cBhvr>
                                    </p:animEffect>
                                  </p:childTnLst>
                                </p:cTn>
                              </p:par>
                              <p:par>
                                <p:cTn id="26" presetID="10" presetClass="entr" presetSubtype="0" fill="hold" nodeType="withEffect">
                                  <p:stCondLst>
                                    <p:cond delay="0"/>
                                  </p:stCondLst>
                                  <p:childTnLst>
                                    <p:set>
                                      <p:cBhvr>
                                        <p:cTn id="27" dur="1" fill="hold">
                                          <p:stCondLst>
                                            <p:cond delay="0"/>
                                          </p:stCondLst>
                                        </p:cTn>
                                        <p:tgtEl>
                                          <p:spTgt spid="1237"/>
                                        </p:tgtEl>
                                        <p:attrNameLst>
                                          <p:attrName>style.visibility</p:attrName>
                                        </p:attrNameLst>
                                      </p:cBhvr>
                                      <p:to>
                                        <p:strVal val="visible"/>
                                      </p:to>
                                    </p:set>
                                    <p:animEffect transition="in" filter="fade">
                                      <p:cBhvr>
                                        <p:cTn id="28" dur="500"/>
                                        <p:tgtEl>
                                          <p:spTgt spid="1237"/>
                                        </p:tgtEl>
                                      </p:cBhvr>
                                    </p:animEffect>
                                  </p:childTnLst>
                                </p:cTn>
                              </p:par>
                              <p:par>
                                <p:cTn id="29" presetID="10" presetClass="entr" presetSubtype="0" fill="hold" nodeType="withEffect">
                                  <p:stCondLst>
                                    <p:cond delay="0"/>
                                  </p:stCondLst>
                                  <p:childTnLst>
                                    <p:set>
                                      <p:cBhvr>
                                        <p:cTn id="30" dur="1" fill="hold">
                                          <p:stCondLst>
                                            <p:cond delay="0"/>
                                          </p:stCondLst>
                                        </p:cTn>
                                        <p:tgtEl>
                                          <p:spTgt spid="1238"/>
                                        </p:tgtEl>
                                        <p:attrNameLst>
                                          <p:attrName>style.visibility</p:attrName>
                                        </p:attrNameLst>
                                      </p:cBhvr>
                                      <p:to>
                                        <p:strVal val="visible"/>
                                      </p:to>
                                    </p:set>
                                    <p:animEffect transition="in" filter="fade">
                                      <p:cBhvr>
                                        <p:cTn id="31" dur="500"/>
                                        <p:tgtEl>
                                          <p:spTgt spid="1238"/>
                                        </p:tgtEl>
                                      </p:cBhvr>
                                    </p:animEffect>
                                  </p:childTnLst>
                                </p:cTn>
                              </p:par>
                              <p:par>
                                <p:cTn id="32" presetID="10" presetClass="entr" presetSubtype="0" fill="hold" nodeType="withEffect">
                                  <p:stCondLst>
                                    <p:cond delay="0"/>
                                  </p:stCondLst>
                                  <p:childTnLst>
                                    <p:set>
                                      <p:cBhvr>
                                        <p:cTn id="33" dur="1" fill="hold">
                                          <p:stCondLst>
                                            <p:cond delay="0"/>
                                          </p:stCondLst>
                                        </p:cTn>
                                        <p:tgtEl>
                                          <p:spTgt spid="1239"/>
                                        </p:tgtEl>
                                        <p:attrNameLst>
                                          <p:attrName>style.visibility</p:attrName>
                                        </p:attrNameLst>
                                      </p:cBhvr>
                                      <p:to>
                                        <p:strVal val="visible"/>
                                      </p:to>
                                    </p:set>
                                    <p:animEffect transition="in" filter="fade">
                                      <p:cBhvr>
                                        <p:cTn id="34" dur="500"/>
                                        <p:tgtEl>
                                          <p:spTgt spid="1239"/>
                                        </p:tgtEl>
                                      </p:cBhvr>
                                    </p:animEffect>
                                  </p:childTnLst>
                                </p:cTn>
                              </p:par>
                              <p:par>
                                <p:cTn id="35" presetID="10" presetClass="entr" presetSubtype="0" fill="hold" nodeType="withEffect">
                                  <p:stCondLst>
                                    <p:cond delay="0"/>
                                  </p:stCondLst>
                                  <p:childTnLst>
                                    <p:set>
                                      <p:cBhvr>
                                        <p:cTn id="36" dur="1" fill="hold">
                                          <p:stCondLst>
                                            <p:cond delay="0"/>
                                          </p:stCondLst>
                                        </p:cTn>
                                        <p:tgtEl>
                                          <p:spTgt spid="1240"/>
                                        </p:tgtEl>
                                        <p:attrNameLst>
                                          <p:attrName>style.visibility</p:attrName>
                                        </p:attrNameLst>
                                      </p:cBhvr>
                                      <p:to>
                                        <p:strVal val="visible"/>
                                      </p:to>
                                    </p:set>
                                    <p:animEffect transition="in" filter="fade">
                                      <p:cBhvr>
                                        <p:cTn id="37" dur="500"/>
                                        <p:tgtEl>
                                          <p:spTgt spid="1240"/>
                                        </p:tgtEl>
                                      </p:cBhvr>
                                    </p:animEffect>
                                  </p:childTnLst>
                                </p:cTn>
                              </p:par>
                              <p:par>
                                <p:cTn id="38" presetID="10" presetClass="entr" presetSubtype="0" fill="hold" nodeType="withEffect">
                                  <p:stCondLst>
                                    <p:cond delay="0"/>
                                  </p:stCondLst>
                                  <p:childTnLst>
                                    <p:set>
                                      <p:cBhvr>
                                        <p:cTn id="39" dur="1" fill="hold">
                                          <p:stCondLst>
                                            <p:cond delay="0"/>
                                          </p:stCondLst>
                                        </p:cTn>
                                        <p:tgtEl>
                                          <p:spTgt spid="1241"/>
                                        </p:tgtEl>
                                        <p:attrNameLst>
                                          <p:attrName>style.visibility</p:attrName>
                                        </p:attrNameLst>
                                      </p:cBhvr>
                                      <p:to>
                                        <p:strVal val="visible"/>
                                      </p:to>
                                    </p:set>
                                    <p:animEffect transition="in" filter="fade">
                                      <p:cBhvr>
                                        <p:cTn id="40" dur="500"/>
                                        <p:tgtEl>
                                          <p:spTgt spid="1241"/>
                                        </p:tgtEl>
                                      </p:cBhvr>
                                    </p:animEffect>
                                  </p:childTnLst>
                                </p:cTn>
                              </p:par>
                              <p:par>
                                <p:cTn id="41" presetID="10" presetClass="entr" presetSubtype="0" fill="hold" nodeType="withEffect">
                                  <p:stCondLst>
                                    <p:cond delay="0"/>
                                  </p:stCondLst>
                                  <p:childTnLst>
                                    <p:set>
                                      <p:cBhvr>
                                        <p:cTn id="42" dur="1" fill="hold">
                                          <p:stCondLst>
                                            <p:cond delay="0"/>
                                          </p:stCondLst>
                                        </p:cTn>
                                        <p:tgtEl>
                                          <p:spTgt spid="1242"/>
                                        </p:tgtEl>
                                        <p:attrNameLst>
                                          <p:attrName>style.visibility</p:attrName>
                                        </p:attrNameLst>
                                      </p:cBhvr>
                                      <p:to>
                                        <p:strVal val="visible"/>
                                      </p:to>
                                    </p:set>
                                    <p:animEffect transition="in" filter="fade">
                                      <p:cBhvr>
                                        <p:cTn id="43" dur="500"/>
                                        <p:tgtEl>
                                          <p:spTgt spid="12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D59265-63E1-23F3-484A-420ED3289263}"/>
              </a:ext>
            </a:extLst>
          </p:cNvPr>
          <p:cNvSpPr>
            <a:spLocks noGrp="1"/>
          </p:cNvSpPr>
          <p:nvPr>
            <p:ph type="title"/>
          </p:nvPr>
        </p:nvSpPr>
        <p:spPr/>
        <p:txBody>
          <a:bodyPr/>
          <a:lstStyle/>
          <a:p>
            <a:r>
              <a:rPr lang="en-US" b="1" i="0" dirty="0">
                <a:solidFill>
                  <a:srgbClr val="0D0D0D"/>
                </a:solidFill>
                <a:effectLst/>
                <a:latin typeface="Söhne"/>
              </a:rPr>
              <a:t>Introduction to Database Triggers</a:t>
            </a:r>
            <a:br>
              <a:rPr lang="en-US" b="0" i="0" dirty="0">
                <a:solidFill>
                  <a:srgbClr val="0D0D0D"/>
                </a:solidFill>
                <a:effectLst/>
                <a:latin typeface="Söhne"/>
              </a:rPr>
            </a:br>
            <a:endParaRPr lang="en-US" dirty="0"/>
          </a:p>
        </p:txBody>
      </p:sp>
      <p:sp>
        <p:nvSpPr>
          <p:cNvPr id="3" name="Text Placeholder 2">
            <a:extLst>
              <a:ext uri="{FF2B5EF4-FFF2-40B4-BE49-F238E27FC236}">
                <a16:creationId xmlns:a16="http://schemas.microsoft.com/office/drawing/2014/main" id="{EA545D28-81BD-379E-6C1B-A34AABFF9831}"/>
              </a:ext>
            </a:extLst>
          </p:cNvPr>
          <p:cNvSpPr>
            <a:spLocks noGrp="1"/>
          </p:cNvSpPr>
          <p:nvPr>
            <p:ph type="body" idx="1"/>
          </p:nvPr>
        </p:nvSpPr>
        <p:spPr/>
        <p:txBody>
          <a:bodyPr/>
          <a:lstStyle/>
          <a:p>
            <a:pPr marL="114300" indent="0">
              <a:buNone/>
            </a:pPr>
            <a:r>
              <a:rPr lang="en-US" b="1" i="0" dirty="0">
                <a:solidFill>
                  <a:srgbClr val="0D0D0D"/>
                </a:solidFill>
                <a:effectLst/>
                <a:latin typeface="Söhne"/>
              </a:rPr>
              <a:t>Triggers in Databases</a:t>
            </a:r>
            <a:endParaRPr lang="en-US" b="0" i="0" dirty="0">
              <a:solidFill>
                <a:srgbClr val="0D0D0D"/>
              </a:solidFill>
              <a:effectLst/>
              <a:latin typeface="Söhne"/>
            </a:endParaRPr>
          </a:p>
          <a:p>
            <a:pPr algn="l">
              <a:buFont typeface="Arial" panose="020B0604020202020204" pitchFamily="34" charset="0"/>
              <a:buChar char="•"/>
            </a:pPr>
            <a:r>
              <a:rPr lang="en-US" b="0" i="0" dirty="0">
                <a:solidFill>
                  <a:srgbClr val="0D0D0D"/>
                </a:solidFill>
                <a:effectLst/>
                <a:latin typeface="Söhne"/>
              </a:rPr>
              <a:t>Triggers are special types of stored procedures in a database management system (DBMS).</a:t>
            </a:r>
          </a:p>
          <a:p>
            <a:pPr algn="l">
              <a:buFont typeface="Arial" panose="020B0604020202020204" pitchFamily="34" charset="0"/>
              <a:buChar char="•"/>
            </a:pPr>
            <a:r>
              <a:rPr lang="en-US" b="0" i="0" dirty="0">
                <a:solidFill>
                  <a:srgbClr val="0D0D0D"/>
                </a:solidFill>
                <a:effectLst/>
                <a:latin typeface="Söhne"/>
              </a:rPr>
              <a:t>They are automatically executed or fired in response to specified events or conditions occurring in the database.</a:t>
            </a:r>
          </a:p>
          <a:p>
            <a:pPr marL="114300" indent="0">
              <a:buNone/>
            </a:pPr>
            <a:endParaRPr lang="en-US" b="0" i="0" dirty="0">
              <a:solidFill>
                <a:srgbClr val="0D0D0D"/>
              </a:solidFill>
              <a:effectLst/>
              <a:latin typeface="Söhne"/>
            </a:endParaRPr>
          </a:p>
          <a:p>
            <a:endParaRPr lang="en-US" dirty="0"/>
          </a:p>
        </p:txBody>
      </p:sp>
    </p:spTree>
    <p:extLst>
      <p:ext uri="{BB962C8B-B14F-4D97-AF65-F5344CB8AC3E}">
        <p14:creationId xmlns:p14="http://schemas.microsoft.com/office/powerpoint/2010/main" val="874196757"/>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BB07E5-6FFD-FE90-EE94-DC1C8B4DF089}"/>
              </a:ext>
            </a:extLst>
          </p:cNvPr>
          <p:cNvSpPr>
            <a:spLocks noGrp="1"/>
          </p:cNvSpPr>
          <p:nvPr>
            <p:ph type="title"/>
          </p:nvPr>
        </p:nvSpPr>
        <p:spPr/>
        <p:txBody>
          <a:bodyPr/>
          <a:lstStyle/>
          <a:p>
            <a:r>
              <a:rPr lang="en-US" b="1" i="0" dirty="0">
                <a:solidFill>
                  <a:srgbClr val="0D0D0D"/>
                </a:solidFill>
                <a:effectLst/>
                <a:latin typeface="Söhne"/>
              </a:rPr>
              <a:t>Key Points:</a:t>
            </a:r>
            <a:br>
              <a:rPr lang="en-US" b="0" i="0" dirty="0">
                <a:solidFill>
                  <a:srgbClr val="0D0D0D"/>
                </a:solidFill>
                <a:effectLst/>
                <a:latin typeface="Söhne"/>
              </a:rPr>
            </a:br>
            <a:endParaRPr lang="en-US" dirty="0"/>
          </a:p>
        </p:txBody>
      </p:sp>
      <p:sp>
        <p:nvSpPr>
          <p:cNvPr id="3" name="Text Placeholder 2">
            <a:extLst>
              <a:ext uri="{FF2B5EF4-FFF2-40B4-BE49-F238E27FC236}">
                <a16:creationId xmlns:a16="http://schemas.microsoft.com/office/drawing/2014/main" id="{A13995D0-3DBE-F0F5-2592-D59BFC5F48A0}"/>
              </a:ext>
            </a:extLst>
          </p:cNvPr>
          <p:cNvSpPr>
            <a:spLocks noGrp="1"/>
          </p:cNvSpPr>
          <p:nvPr>
            <p:ph type="body" idx="1"/>
          </p:nvPr>
        </p:nvSpPr>
        <p:spPr/>
        <p:txBody>
          <a:bodyPr/>
          <a:lstStyle/>
          <a:p>
            <a:pPr algn="l">
              <a:buFont typeface="+mj-lt"/>
              <a:buAutoNum type="arabicPeriod"/>
            </a:pPr>
            <a:r>
              <a:rPr lang="en-US" b="1" i="0" dirty="0">
                <a:solidFill>
                  <a:srgbClr val="0D0D0D"/>
                </a:solidFill>
                <a:effectLst/>
                <a:latin typeface="Söhne"/>
              </a:rPr>
              <a:t>Automated Actions:</a:t>
            </a:r>
            <a:r>
              <a:rPr lang="en-US" b="0" i="0" dirty="0">
                <a:solidFill>
                  <a:srgbClr val="0D0D0D"/>
                </a:solidFill>
                <a:effectLst/>
                <a:latin typeface="Söhne"/>
              </a:rPr>
              <a:t> Triggers enable automatic execution of predefined actions when specific events occur in the database, such as INSERT, UPDATE, or DELETE operations on a table.</a:t>
            </a:r>
          </a:p>
          <a:p>
            <a:pPr algn="l">
              <a:buFont typeface="+mj-lt"/>
              <a:buAutoNum type="arabicPeriod"/>
            </a:pPr>
            <a:r>
              <a:rPr lang="en-US" b="1" i="0" dirty="0">
                <a:solidFill>
                  <a:srgbClr val="0D0D0D"/>
                </a:solidFill>
                <a:effectLst/>
                <a:latin typeface="Söhne"/>
              </a:rPr>
              <a:t>Event-Driven:</a:t>
            </a:r>
            <a:r>
              <a:rPr lang="en-US" b="0" i="0" dirty="0">
                <a:solidFill>
                  <a:srgbClr val="0D0D0D"/>
                </a:solidFill>
                <a:effectLst/>
                <a:latin typeface="Söhne"/>
              </a:rPr>
              <a:t> Triggers are event-driven, meaning they are activated by certain database events, such as data modification, schema changes, or user actions.</a:t>
            </a:r>
          </a:p>
          <a:p>
            <a:endParaRPr lang="en-US" dirty="0"/>
          </a:p>
        </p:txBody>
      </p:sp>
    </p:spTree>
    <p:extLst>
      <p:ext uri="{BB962C8B-B14F-4D97-AF65-F5344CB8AC3E}">
        <p14:creationId xmlns:p14="http://schemas.microsoft.com/office/powerpoint/2010/main" val="1572817377"/>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D4859-5F3A-76F0-B819-3333C7367C13}"/>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A4A453D6-8A19-FBBB-C55C-93ABC47CB44A}"/>
              </a:ext>
            </a:extLst>
          </p:cNvPr>
          <p:cNvSpPr>
            <a:spLocks noGrp="1"/>
          </p:cNvSpPr>
          <p:nvPr>
            <p:ph type="body" idx="1"/>
          </p:nvPr>
        </p:nvSpPr>
        <p:spPr/>
        <p:txBody>
          <a:bodyPr/>
          <a:lstStyle/>
          <a:p>
            <a:pPr algn="l">
              <a:buFont typeface="+mj-lt"/>
              <a:buAutoNum type="arabicPeriod"/>
            </a:pPr>
            <a:r>
              <a:rPr lang="en-US" b="1" i="0" dirty="0">
                <a:solidFill>
                  <a:srgbClr val="0D0D0D"/>
                </a:solidFill>
                <a:effectLst/>
                <a:latin typeface="Söhne"/>
              </a:rPr>
              <a:t>Enhancing Data Integrity and Consistency:</a:t>
            </a:r>
            <a:r>
              <a:rPr lang="en-US" b="0" i="0" dirty="0">
                <a:solidFill>
                  <a:srgbClr val="0D0D0D"/>
                </a:solidFill>
                <a:effectLst/>
                <a:latin typeface="Söhne"/>
              </a:rPr>
              <a:t> Triggers are commonly used to enforce data integrity constraints, maintain data consistency, and implement business rules within the database.</a:t>
            </a:r>
          </a:p>
          <a:p>
            <a:endParaRPr lang="en-US" dirty="0"/>
          </a:p>
        </p:txBody>
      </p:sp>
    </p:spTree>
    <p:extLst>
      <p:ext uri="{BB962C8B-B14F-4D97-AF65-F5344CB8AC3E}">
        <p14:creationId xmlns:p14="http://schemas.microsoft.com/office/powerpoint/2010/main" val="3403133247"/>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48362B-E386-5263-042C-6DED4258CE30}"/>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83638772-52DA-7637-CD21-CAD5491A4F55}"/>
              </a:ext>
            </a:extLst>
          </p:cNvPr>
          <p:cNvSpPr>
            <a:spLocks noGrp="1"/>
          </p:cNvSpPr>
          <p:nvPr>
            <p:ph type="body" idx="1"/>
          </p:nvPr>
        </p:nvSpPr>
        <p:spPr/>
        <p:txBody>
          <a:bodyPr/>
          <a:lstStyle/>
          <a:p>
            <a:r>
              <a:rPr lang="en-US" b="1" i="0" dirty="0">
                <a:solidFill>
                  <a:srgbClr val="0D0D0D"/>
                </a:solidFill>
                <a:effectLst/>
                <a:latin typeface="Söhne"/>
              </a:rPr>
              <a:t>Types of Triggers:</a:t>
            </a:r>
            <a:r>
              <a:rPr lang="en-US" b="0" i="0" dirty="0">
                <a:solidFill>
                  <a:srgbClr val="0D0D0D"/>
                </a:solidFill>
                <a:effectLst/>
                <a:latin typeface="Söhne"/>
              </a:rPr>
              <a:t> There are various types of triggers, including DML triggers (data manipulation language triggers) that respond to data manipulation operations, and DDL triggers (data definition language triggers) that respond to changes in the database schema.</a:t>
            </a:r>
          </a:p>
          <a:p>
            <a:endParaRPr lang="en-US" dirty="0"/>
          </a:p>
        </p:txBody>
      </p:sp>
    </p:spTree>
    <p:extLst>
      <p:ext uri="{BB962C8B-B14F-4D97-AF65-F5344CB8AC3E}">
        <p14:creationId xmlns:p14="http://schemas.microsoft.com/office/powerpoint/2010/main" val="1131046950"/>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B24E62-9D33-E3D8-AAA3-F8FE4CF44832}"/>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1846E32F-288F-568D-E4FD-5C23A96AE4AC}"/>
              </a:ext>
            </a:extLst>
          </p:cNvPr>
          <p:cNvSpPr>
            <a:spLocks noGrp="1"/>
          </p:cNvSpPr>
          <p:nvPr>
            <p:ph type="body" idx="1"/>
          </p:nvPr>
        </p:nvSpPr>
        <p:spPr/>
        <p:txBody>
          <a:bodyPr/>
          <a:lstStyle/>
          <a:p>
            <a:pPr marL="0">
              <a:lnSpc>
                <a:spcPct val="107000"/>
              </a:lnSpc>
              <a:spcBef>
                <a:spcPts val="0"/>
              </a:spcBef>
              <a:spcAft>
                <a:spcPts val="800"/>
              </a:spcAft>
            </a:pPr>
            <a:r>
              <a:rPr lang="en-US" sz="1800" kern="100" dirty="0">
                <a:latin typeface="Calibri" panose="020F0502020204030204" pitchFamily="34" charset="0"/>
                <a:ea typeface="Calibri" panose="020F0502020204030204" pitchFamily="34" charset="0"/>
                <a:cs typeface="Times New Roman" panose="02020603050405020304" pitchFamily="18" charset="0"/>
              </a:rPr>
              <a:t>CREATE TABLE </a:t>
            </a:r>
            <a:r>
              <a:rPr lang="en-US" sz="1800" kern="100" dirty="0" err="1">
                <a:latin typeface="Calibri" panose="020F0502020204030204" pitchFamily="34" charset="0"/>
                <a:ea typeface="Calibri" panose="020F0502020204030204" pitchFamily="34" charset="0"/>
                <a:cs typeface="Times New Roman" panose="02020603050405020304" pitchFamily="18" charset="0"/>
              </a:rPr>
              <a:t>main_table</a:t>
            </a:r>
            <a:r>
              <a:rPr lang="en-US" sz="1800" kern="100" dirty="0">
                <a:latin typeface="Calibri" panose="020F0502020204030204" pitchFamily="34" charset="0"/>
                <a:ea typeface="Calibri" panose="020F0502020204030204" pitchFamily="34" charset="0"/>
                <a:cs typeface="Times New Roman" panose="02020603050405020304" pitchFamily="18" charset="0"/>
              </a:rPr>
              <a:t> (</a:t>
            </a:r>
          </a:p>
          <a:p>
            <a:pPr marL="0">
              <a:lnSpc>
                <a:spcPct val="107000"/>
              </a:lnSpc>
              <a:spcBef>
                <a:spcPts val="0"/>
              </a:spcBef>
              <a:spcAft>
                <a:spcPts val="800"/>
              </a:spcAft>
            </a:pPr>
            <a:r>
              <a:rPr lang="en-US" sz="1800" kern="100" dirty="0">
                <a:latin typeface="Calibri" panose="020F0502020204030204" pitchFamily="34" charset="0"/>
                <a:ea typeface="Calibri" panose="020F0502020204030204" pitchFamily="34" charset="0"/>
                <a:cs typeface="Times New Roman" panose="02020603050405020304" pitchFamily="18" charset="0"/>
              </a:rPr>
              <a:t>    id INT PRIMARY KEY,</a:t>
            </a:r>
          </a:p>
          <a:p>
            <a:pPr marL="0">
              <a:lnSpc>
                <a:spcPct val="107000"/>
              </a:lnSpc>
              <a:spcBef>
                <a:spcPts val="0"/>
              </a:spcBef>
              <a:spcAft>
                <a:spcPts val="800"/>
              </a:spcAft>
            </a:pPr>
            <a:r>
              <a:rPr lang="en-US" sz="1800" kern="100" dirty="0">
                <a:latin typeface="Calibri" panose="020F0502020204030204" pitchFamily="34" charset="0"/>
                <a:ea typeface="Calibri" panose="020F0502020204030204" pitchFamily="34" charset="0"/>
                <a:cs typeface="Times New Roman" panose="02020603050405020304" pitchFamily="18" charset="0"/>
              </a:rPr>
              <a:t>    name VARCHAR(50),</a:t>
            </a:r>
          </a:p>
          <a:p>
            <a:pPr marL="0">
              <a:lnSpc>
                <a:spcPct val="107000"/>
              </a:lnSpc>
              <a:spcBef>
                <a:spcPts val="0"/>
              </a:spcBef>
              <a:spcAft>
                <a:spcPts val="800"/>
              </a:spcAft>
            </a:pPr>
            <a:r>
              <a:rPr lang="en-US" sz="1800" kern="100" dirty="0">
                <a:latin typeface="Calibri" panose="020F0502020204030204" pitchFamily="34" charset="0"/>
                <a:ea typeface="Calibri" panose="020F0502020204030204" pitchFamily="34" charset="0"/>
                <a:cs typeface="Times New Roman" panose="02020603050405020304" pitchFamily="18" charset="0"/>
              </a:rPr>
              <a:t>    age INT</a:t>
            </a:r>
          </a:p>
          <a:p>
            <a:pPr marL="0">
              <a:lnSpc>
                <a:spcPct val="107000"/>
              </a:lnSpc>
              <a:spcBef>
                <a:spcPts val="0"/>
              </a:spcBef>
              <a:spcAft>
                <a:spcPts val="800"/>
              </a:spcAft>
            </a:pPr>
            <a:r>
              <a:rPr lang="en-US" sz="1800" kern="100" dirty="0">
                <a:latin typeface="Calibri" panose="020F0502020204030204" pitchFamily="34" charset="0"/>
                <a:ea typeface="Calibri" panose="020F0502020204030204" pitchFamily="34" charset="0"/>
                <a:cs typeface="Times New Roman" panose="02020603050405020304" pitchFamily="18" charset="0"/>
              </a:rPr>
              <a:t>);</a:t>
            </a:r>
          </a:p>
          <a:p>
            <a:pPr marL="0">
              <a:lnSpc>
                <a:spcPct val="107000"/>
              </a:lnSpc>
              <a:spcBef>
                <a:spcPts val="0"/>
              </a:spcBef>
              <a:spcAft>
                <a:spcPts val="800"/>
              </a:spcAft>
            </a:pPr>
            <a:r>
              <a:rPr lang="en-US" sz="1800" kern="100" dirty="0">
                <a:latin typeface="Calibri" panose="020F0502020204030204" pitchFamily="34" charset="0"/>
                <a:ea typeface="Calibri" panose="020F0502020204030204" pitchFamily="34" charset="0"/>
                <a:cs typeface="Times New Roman" panose="02020603050405020304" pitchFamily="18" charset="0"/>
              </a:rPr>
              <a:t>CREATE TABLE </a:t>
            </a:r>
            <a:r>
              <a:rPr lang="en-US" sz="1800" kern="100" dirty="0" err="1">
                <a:latin typeface="Calibri" panose="020F0502020204030204" pitchFamily="34" charset="0"/>
                <a:ea typeface="Calibri" panose="020F0502020204030204" pitchFamily="34" charset="0"/>
                <a:cs typeface="Times New Roman" panose="02020603050405020304" pitchFamily="18" charset="0"/>
              </a:rPr>
              <a:t>log_table</a:t>
            </a:r>
            <a:r>
              <a:rPr lang="en-US" sz="1800" kern="100" dirty="0">
                <a:latin typeface="Calibri" panose="020F0502020204030204" pitchFamily="34" charset="0"/>
                <a:ea typeface="Calibri" panose="020F0502020204030204" pitchFamily="34" charset="0"/>
                <a:cs typeface="Times New Roman" panose="02020603050405020304" pitchFamily="18" charset="0"/>
              </a:rPr>
              <a:t> (</a:t>
            </a:r>
          </a:p>
          <a:p>
            <a:pPr marL="0">
              <a:lnSpc>
                <a:spcPct val="107000"/>
              </a:lnSpc>
              <a:spcBef>
                <a:spcPts val="0"/>
              </a:spcBef>
              <a:spcAft>
                <a:spcPts val="800"/>
              </a:spcAft>
            </a:pPr>
            <a:r>
              <a:rPr lang="en-US" sz="1800" kern="100" dirty="0">
                <a:latin typeface="Calibri" panose="020F0502020204030204" pitchFamily="34" charset="0"/>
                <a:ea typeface="Calibri" panose="020F0502020204030204" pitchFamily="34" charset="0"/>
                <a:cs typeface="Times New Roman" panose="02020603050405020304" pitchFamily="18" charset="0"/>
              </a:rPr>
              <a:t>    </a:t>
            </a:r>
            <a:r>
              <a:rPr lang="en-US" sz="1800" kern="100" dirty="0" err="1">
                <a:latin typeface="Calibri" panose="020F0502020204030204" pitchFamily="34" charset="0"/>
                <a:ea typeface="Calibri" panose="020F0502020204030204" pitchFamily="34" charset="0"/>
                <a:cs typeface="Times New Roman" panose="02020603050405020304" pitchFamily="18" charset="0"/>
              </a:rPr>
              <a:t>log_id</a:t>
            </a:r>
            <a:r>
              <a:rPr lang="en-US" sz="1800" kern="100" dirty="0">
                <a:latin typeface="Calibri" panose="020F0502020204030204" pitchFamily="34" charset="0"/>
                <a:ea typeface="Calibri" panose="020F0502020204030204" pitchFamily="34" charset="0"/>
                <a:cs typeface="Times New Roman" panose="02020603050405020304" pitchFamily="18" charset="0"/>
              </a:rPr>
              <a:t> INT PRIMARY KEY AUTO_INCREMENT,</a:t>
            </a:r>
          </a:p>
          <a:p>
            <a:pPr marL="0">
              <a:lnSpc>
                <a:spcPct val="107000"/>
              </a:lnSpc>
              <a:spcBef>
                <a:spcPts val="0"/>
              </a:spcBef>
              <a:spcAft>
                <a:spcPts val="800"/>
              </a:spcAft>
            </a:pPr>
            <a:r>
              <a:rPr lang="en-US" sz="1800" kern="100" dirty="0">
                <a:latin typeface="Calibri" panose="020F0502020204030204" pitchFamily="34" charset="0"/>
                <a:ea typeface="Calibri" panose="020F0502020204030204" pitchFamily="34" charset="0"/>
                <a:cs typeface="Times New Roman" panose="02020603050405020304" pitchFamily="18" charset="0"/>
              </a:rPr>
              <a:t>    action VARCHAR(50),</a:t>
            </a:r>
          </a:p>
          <a:p>
            <a:pPr marL="0">
              <a:lnSpc>
                <a:spcPct val="107000"/>
              </a:lnSpc>
              <a:spcBef>
                <a:spcPts val="0"/>
              </a:spcBef>
              <a:spcAft>
                <a:spcPts val="800"/>
              </a:spcAft>
            </a:pPr>
            <a:r>
              <a:rPr lang="en-US" sz="1800" kern="100" dirty="0">
                <a:latin typeface="Calibri" panose="020F0502020204030204" pitchFamily="34" charset="0"/>
                <a:ea typeface="Calibri" panose="020F0502020204030204" pitchFamily="34" charset="0"/>
                <a:cs typeface="Times New Roman" panose="02020603050405020304" pitchFamily="18" charset="0"/>
              </a:rPr>
              <a:t>    timestamp </a:t>
            </a:r>
            <a:r>
              <a:rPr lang="en-US" sz="1800" kern="100" dirty="0" err="1">
                <a:latin typeface="Calibri" panose="020F0502020204030204" pitchFamily="34" charset="0"/>
                <a:ea typeface="Calibri" panose="020F0502020204030204" pitchFamily="34" charset="0"/>
                <a:cs typeface="Times New Roman" panose="02020603050405020304" pitchFamily="18" charset="0"/>
              </a:rPr>
              <a:t>TIMESTAMP</a:t>
            </a:r>
            <a:r>
              <a:rPr lang="en-US" sz="1800" kern="100" dirty="0">
                <a:latin typeface="Calibri" panose="020F0502020204030204" pitchFamily="34" charset="0"/>
                <a:ea typeface="Calibri" panose="020F0502020204030204" pitchFamily="34" charset="0"/>
                <a:cs typeface="Times New Roman" panose="02020603050405020304" pitchFamily="18" charset="0"/>
              </a:rPr>
              <a:t> DEFAULT CURRENT_TIMESTAMP</a:t>
            </a:r>
          </a:p>
          <a:p>
            <a:pPr marL="0">
              <a:lnSpc>
                <a:spcPct val="107000"/>
              </a:lnSpc>
              <a:spcBef>
                <a:spcPts val="0"/>
              </a:spcBef>
              <a:spcAft>
                <a:spcPts val="800"/>
              </a:spcAft>
            </a:pPr>
            <a:r>
              <a:rPr lang="en-US" sz="1800" kern="100" dirty="0">
                <a:latin typeface="Calibri" panose="020F0502020204030204" pitchFamily="34" charset="0"/>
                <a:ea typeface="Calibri" panose="020F0502020204030204" pitchFamily="34" charset="0"/>
                <a:cs typeface="Times New Roman" panose="02020603050405020304" pitchFamily="18" charset="0"/>
              </a:rPr>
              <a:t>);</a:t>
            </a:r>
          </a:p>
          <a:p>
            <a:endParaRPr lang="en-US" dirty="0"/>
          </a:p>
        </p:txBody>
      </p:sp>
    </p:spTree>
    <p:extLst>
      <p:ext uri="{BB962C8B-B14F-4D97-AF65-F5344CB8AC3E}">
        <p14:creationId xmlns:p14="http://schemas.microsoft.com/office/powerpoint/2010/main" val="983205873"/>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2F1CDE-E1D4-A937-5059-12309B4EB032}"/>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42E3B019-6DA6-A084-493F-864CA097A005}"/>
              </a:ext>
            </a:extLst>
          </p:cNvPr>
          <p:cNvSpPr>
            <a:spLocks noGrp="1"/>
          </p:cNvSpPr>
          <p:nvPr>
            <p:ph type="body" idx="1"/>
          </p:nvPr>
        </p:nvSpPr>
        <p:spPr/>
        <p:txBody>
          <a:bodyPr/>
          <a:lstStyle/>
          <a:p>
            <a:pPr marL="0">
              <a:lnSpc>
                <a:spcPct val="107000"/>
              </a:lnSpc>
              <a:spcBef>
                <a:spcPts val="0"/>
              </a:spcBef>
              <a:spcAft>
                <a:spcPts val="800"/>
              </a:spcAft>
            </a:pPr>
            <a:r>
              <a:rPr lang="en-US" sz="1800" kern="100" dirty="0">
                <a:latin typeface="Calibri" panose="020F0502020204030204" pitchFamily="34" charset="0"/>
                <a:ea typeface="Calibri" panose="020F0502020204030204" pitchFamily="34" charset="0"/>
                <a:cs typeface="Times New Roman" panose="02020603050405020304" pitchFamily="18" charset="0"/>
              </a:rPr>
              <a:t>DELIMITER $$</a:t>
            </a:r>
          </a:p>
          <a:p>
            <a:pPr marL="0">
              <a:lnSpc>
                <a:spcPct val="107000"/>
              </a:lnSpc>
              <a:spcBef>
                <a:spcPts val="0"/>
              </a:spcBef>
              <a:spcAft>
                <a:spcPts val="800"/>
              </a:spcAft>
            </a:pPr>
            <a:r>
              <a:rPr lang="en-US" sz="1800" kern="100" dirty="0">
                <a:latin typeface="Calibri" panose="020F0502020204030204" pitchFamily="34" charset="0"/>
                <a:ea typeface="Calibri" panose="020F0502020204030204" pitchFamily="34" charset="0"/>
                <a:cs typeface="Times New Roman" panose="02020603050405020304" pitchFamily="18" charset="0"/>
              </a:rPr>
              <a:t>CREATE TRIGGER </a:t>
            </a:r>
            <a:r>
              <a:rPr lang="en-US" sz="1800" kern="100" dirty="0" err="1">
                <a:latin typeface="Calibri" panose="020F0502020204030204" pitchFamily="34" charset="0"/>
                <a:ea typeface="Calibri" panose="020F0502020204030204" pitchFamily="34" charset="0"/>
                <a:cs typeface="Times New Roman" panose="02020603050405020304" pitchFamily="18" charset="0"/>
              </a:rPr>
              <a:t>main_table_insert_trigger</a:t>
            </a:r>
            <a:r>
              <a:rPr lang="en-US" sz="1800" kern="100" dirty="0">
                <a:latin typeface="Calibri" panose="020F0502020204030204" pitchFamily="34" charset="0"/>
                <a:ea typeface="Calibri" panose="020F0502020204030204" pitchFamily="34" charset="0"/>
                <a:cs typeface="Times New Roman" panose="02020603050405020304" pitchFamily="18" charset="0"/>
              </a:rPr>
              <a:t> AFTER INSERT ON </a:t>
            </a:r>
            <a:r>
              <a:rPr lang="en-US" sz="1800" kern="100" dirty="0" err="1">
                <a:latin typeface="Calibri" panose="020F0502020204030204" pitchFamily="34" charset="0"/>
                <a:ea typeface="Calibri" panose="020F0502020204030204" pitchFamily="34" charset="0"/>
                <a:cs typeface="Times New Roman" panose="02020603050405020304" pitchFamily="18" charset="0"/>
              </a:rPr>
              <a:t>main_table</a:t>
            </a:r>
            <a:endParaRPr lang="en-US" sz="1800" kern="100" dirty="0">
              <a:latin typeface="Calibri" panose="020F0502020204030204" pitchFamily="34" charset="0"/>
              <a:ea typeface="Calibri" panose="020F0502020204030204" pitchFamily="34" charset="0"/>
              <a:cs typeface="Times New Roman" panose="02020603050405020304" pitchFamily="18" charset="0"/>
            </a:endParaRPr>
          </a:p>
          <a:p>
            <a:pPr marL="0">
              <a:lnSpc>
                <a:spcPct val="107000"/>
              </a:lnSpc>
              <a:spcBef>
                <a:spcPts val="0"/>
              </a:spcBef>
              <a:spcAft>
                <a:spcPts val="800"/>
              </a:spcAft>
            </a:pPr>
            <a:r>
              <a:rPr lang="en-US" sz="1800" kern="100" dirty="0">
                <a:latin typeface="Calibri" panose="020F0502020204030204" pitchFamily="34" charset="0"/>
                <a:ea typeface="Calibri" panose="020F0502020204030204" pitchFamily="34" charset="0"/>
                <a:cs typeface="Times New Roman" panose="02020603050405020304" pitchFamily="18" charset="0"/>
              </a:rPr>
              <a:t>FOR EACH ROW</a:t>
            </a:r>
          </a:p>
          <a:p>
            <a:pPr marL="0">
              <a:lnSpc>
                <a:spcPct val="107000"/>
              </a:lnSpc>
              <a:spcBef>
                <a:spcPts val="0"/>
              </a:spcBef>
              <a:spcAft>
                <a:spcPts val="800"/>
              </a:spcAft>
            </a:pPr>
            <a:r>
              <a:rPr lang="en-US" sz="1800" kern="100" dirty="0">
                <a:latin typeface="Calibri" panose="020F0502020204030204" pitchFamily="34" charset="0"/>
                <a:ea typeface="Calibri" panose="020F0502020204030204" pitchFamily="34" charset="0"/>
                <a:cs typeface="Times New Roman" panose="02020603050405020304" pitchFamily="18" charset="0"/>
              </a:rPr>
              <a:t>BEGIN</a:t>
            </a:r>
          </a:p>
          <a:p>
            <a:pPr marL="0">
              <a:lnSpc>
                <a:spcPct val="107000"/>
              </a:lnSpc>
              <a:spcBef>
                <a:spcPts val="0"/>
              </a:spcBef>
              <a:spcAft>
                <a:spcPts val="800"/>
              </a:spcAft>
            </a:pPr>
            <a:r>
              <a:rPr lang="en-US" sz="1800" kern="100" dirty="0">
                <a:latin typeface="Calibri" panose="020F0502020204030204" pitchFamily="34" charset="0"/>
                <a:ea typeface="Calibri" panose="020F0502020204030204" pitchFamily="34" charset="0"/>
                <a:cs typeface="Times New Roman" panose="02020603050405020304" pitchFamily="18" charset="0"/>
              </a:rPr>
              <a:t>       INSERT INTO </a:t>
            </a:r>
            <a:r>
              <a:rPr lang="en-US" sz="1800" kern="100" dirty="0" err="1">
                <a:latin typeface="Calibri" panose="020F0502020204030204" pitchFamily="34" charset="0"/>
                <a:ea typeface="Calibri" panose="020F0502020204030204" pitchFamily="34" charset="0"/>
                <a:cs typeface="Times New Roman" panose="02020603050405020304" pitchFamily="18" charset="0"/>
              </a:rPr>
              <a:t>log_table</a:t>
            </a:r>
            <a:r>
              <a:rPr lang="en-US" sz="1800" kern="100" dirty="0">
                <a:latin typeface="Calibri" panose="020F0502020204030204" pitchFamily="34" charset="0"/>
                <a:ea typeface="Calibri" panose="020F0502020204030204" pitchFamily="34" charset="0"/>
                <a:cs typeface="Times New Roman" panose="02020603050405020304" pitchFamily="18" charset="0"/>
              </a:rPr>
              <a:t> (action) VALUES ('New record inserted into </a:t>
            </a:r>
            <a:r>
              <a:rPr lang="en-US" sz="1800" kern="100" dirty="0" err="1">
                <a:latin typeface="Calibri" panose="020F0502020204030204" pitchFamily="34" charset="0"/>
                <a:ea typeface="Calibri" panose="020F0502020204030204" pitchFamily="34" charset="0"/>
                <a:cs typeface="Times New Roman" panose="02020603050405020304" pitchFamily="18" charset="0"/>
              </a:rPr>
              <a:t>main_table</a:t>
            </a:r>
            <a:r>
              <a:rPr lang="en-US" sz="1800" kern="100" dirty="0">
                <a:latin typeface="Calibri" panose="020F0502020204030204" pitchFamily="34" charset="0"/>
                <a:ea typeface="Calibri" panose="020F0502020204030204" pitchFamily="34" charset="0"/>
                <a:cs typeface="Times New Roman" panose="02020603050405020304" pitchFamily="18" charset="0"/>
              </a:rPr>
              <a:t>');</a:t>
            </a:r>
          </a:p>
          <a:p>
            <a:pPr marL="0">
              <a:lnSpc>
                <a:spcPct val="107000"/>
              </a:lnSpc>
              <a:spcBef>
                <a:spcPts val="0"/>
              </a:spcBef>
              <a:spcAft>
                <a:spcPts val="800"/>
              </a:spcAft>
            </a:pPr>
            <a:r>
              <a:rPr lang="en-US" sz="1800" kern="100" dirty="0">
                <a:latin typeface="Calibri" panose="020F0502020204030204" pitchFamily="34" charset="0"/>
                <a:ea typeface="Calibri" panose="020F0502020204030204" pitchFamily="34" charset="0"/>
                <a:cs typeface="Times New Roman" panose="02020603050405020304" pitchFamily="18" charset="0"/>
              </a:rPr>
              <a:t>END;</a:t>
            </a:r>
          </a:p>
          <a:p>
            <a:pPr marL="0">
              <a:lnSpc>
                <a:spcPct val="107000"/>
              </a:lnSpc>
              <a:spcBef>
                <a:spcPts val="0"/>
              </a:spcBef>
              <a:spcAft>
                <a:spcPts val="800"/>
              </a:spcAft>
            </a:pPr>
            <a:r>
              <a:rPr lang="en-US" sz="1800" kern="100" dirty="0">
                <a:latin typeface="Calibri" panose="020F0502020204030204" pitchFamily="34" charset="0"/>
                <a:ea typeface="Calibri" panose="020F0502020204030204" pitchFamily="34" charset="0"/>
                <a:cs typeface="Times New Roman" panose="02020603050405020304" pitchFamily="18" charset="0"/>
              </a:rPr>
              <a:t>$$</a:t>
            </a:r>
          </a:p>
          <a:p>
            <a:pPr marL="0">
              <a:lnSpc>
                <a:spcPct val="107000"/>
              </a:lnSpc>
              <a:spcBef>
                <a:spcPts val="0"/>
              </a:spcBef>
              <a:spcAft>
                <a:spcPts val="800"/>
              </a:spcAft>
            </a:pPr>
            <a:r>
              <a:rPr lang="en-US" sz="1800" kern="100" dirty="0">
                <a:latin typeface="Calibri" panose="020F0502020204030204" pitchFamily="34" charset="0"/>
                <a:ea typeface="Calibri" panose="020F0502020204030204" pitchFamily="34" charset="0"/>
                <a:cs typeface="Times New Roman" panose="02020603050405020304" pitchFamily="18" charset="0"/>
              </a:rPr>
              <a:t>DELIMITER ;</a:t>
            </a:r>
          </a:p>
          <a:p>
            <a:endParaRPr lang="en-US" dirty="0"/>
          </a:p>
        </p:txBody>
      </p:sp>
    </p:spTree>
    <p:extLst>
      <p:ext uri="{BB962C8B-B14F-4D97-AF65-F5344CB8AC3E}">
        <p14:creationId xmlns:p14="http://schemas.microsoft.com/office/powerpoint/2010/main" val="3139824738"/>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1D7F89-8DA6-C9B0-90AB-531A151F3AEA}"/>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E441F1E8-2A4C-90A2-6A57-5FAC177B83CB}"/>
              </a:ext>
            </a:extLst>
          </p:cNvPr>
          <p:cNvSpPr>
            <a:spLocks noGrp="1"/>
          </p:cNvSpPr>
          <p:nvPr>
            <p:ph type="body" idx="1"/>
          </p:nvPr>
        </p:nvSpPr>
        <p:spPr/>
        <p:txBody>
          <a:bodyPr/>
          <a:lstStyle/>
          <a:p>
            <a:pPr marL="0">
              <a:lnSpc>
                <a:spcPct val="107000"/>
              </a:lnSpc>
              <a:spcBef>
                <a:spcPts val="0"/>
              </a:spcBef>
              <a:spcAft>
                <a:spcPts val="800"/>
              </a:spcAft>
            </a:pPr>
            <a:r>
              <a:rPr lang="en-US" sz="1800" kern="100" dirty="0">
                <a:latin typeface="Calibri" panose="020F0502020204030204" pitchFamily="34" charset="0"/>
                <a:ea typeface="Calibri" panose="020F0502020204030204" pitchFamily="34" charset="0"/>
                <a:cs typeface="Times New Roman" panose="02020603050405020304" pitchFamily="18" charset="0"/>
              </a:rPr>
              <a:t>INSERT INTO </a:t>
            </a:r>
            <a:r>
              <a:rPr lang="en-US" sz="1800" kern="100" dirty="0" err="1">
                <a:latin typeface="Calibri" panose="020F0502020204030204" pitchFamily="34" charset="0"/>
                <a:ea typeface="Calibri" panose="020F0502020204030204" pitchFamily="34" charset="0"/>
                <a:cs typeface="Times New Roman" panose="02020603050405020304" pitchFamily="18" charset="0"/>
              </a:rPr>
              <a:t>main_table</a:t>
            </a:r>
            <a:r>
              <a:rPr lang="en-US" sz="1800" kern="100" dirty="0">
                <a:latin typeface="Calibri" panose="020F0502020204030204" pitchFamily="34" charset="0"/>
                <a:ea typeface="Calibri" panose="020F0502020204030204" pitchFamily="34" charset="0"/>
                <a:cs typeface="Times New Roman" panose="02020603050405020304" pitchFamily="18" charset="0"/>
              </a:rPr>
              <a:t> (id, name, age) VALUES (1, 'John', 30);</a:t>
            </a:r>
          </a:p>
          <a:p>
            <a:pPr marL="0">
              <a:lnSpc>
                <a:spcPct val="107000"/>
              </a:lnSpc>
              <a:spcBef>
                <a:spcPts val="0"/>
              </a:spcBef>
              <a:spcAft>
                <a:spcPts val="800"/>
              </a:spcAft>
            </a:pPr>
            <a:r>
              <a:rPr lang="en-US" sz="1800" kern="100" dirty="0">
                <a:latin typeface="Calibri" panose="020F0502020204030204" pitchFamily="34" charset="0"/>
                <a:ea typeface="Calibri" panose="020F0502020204030204" pitchFamily="34" charset="0"/>
                <a:cs typeface="Times New Roman" panose="02020603050405020304" pitchFamily="18" charset="0"/>
              </a:rPr>
              <a:t>SELECT * FROM </a:t>
            </a:r>
            <a:r>
              <a:rPr lang="en-US" sz="1800" kern="100" dirty="0" err="1">
                <a:latin typeface="Calibri" panose="020F0502020204030204" pitchFamily="34" charset="0"/>
                <a:ea typeface="Calibri" panose="020F0502020204030204" pitchFamily="34" charset="0"/>
                <a:cs typeface="Times New Roman" panose="02020603050405020304" pitchFamily="18" charset="0"/>
              </a:rPr>
              <a:t>log_table</a:t>
            </a:r>
            <a:r>
              <a:rPr lang="en-US" sz="1800" kern="100" dirty="0">
                <a:latin typeface="Calibri" panose="020F0502020204030204" pitchFamily="34" charset="0"/>
                <a:ea typeface="Calibri" panose="020F0502020204030204" pitchFamily="34" charset="0"/>
                <a:cs typeface="Times New Roman" panose="02020603050405020304" pitchFamily="18" charset="0"/>
              </a:rPr>
              <a:t>;</a:t>
            </a:r>
          </a:p>
          <a:p>
            <a:endParaRPr lang="en-US" dirty="0"/>
          </a:p>
        </p:txBody>
      </p:sp>
      <p:pic>
        <p:nvPicPr>
          <p:cNvPr id="5" name="Picture 4">
            <a:extLst>
              <a:ext uri="{FF2B5EF4-FFF2-40B4-BE49-F238E27FC236}">
                <a16:creationId xmlns:a16="http://schemas.microsoft.com/office/drawing/2014/main" id="{90CFC9DE-9B0F-63A9-AC0E-FD55296C008C}"/>
              </a:ext>
            </a:extLst>
          </p:cNvPr>
          <p:cNvPicPr>
            <a:picLocks noChangeAspect="1"/>
          </p:cNvPicPr>
          <p:nvPr/>
        </p:nvPicPr>
        <p:blipFill>
          <a:blip r:embed="rId2"/>
          <a:stretch>
            <a:fillRect/>
          </a:stretch>
        </p:blipFill>
        <p:spPr>
          <a:xfrm>
            <a:off x="2143125" y="2428875"/>
            <a:ext cx="7905750" cy="2000250"/>
          </a:xfrm>
          <a:prstGeom prst="rect">
            <a:avLst/>
          </a:prstGeom>
        </p:spPr>
      </p:pic>
    </p:spTree>
    <p:extLst>
      <p:ext uri="{BB962C8B-B14F-4D97-AF65-F5344CB8AC3E}">
        <p14:creationId xmlns:p14="http://schemas.microsoft.com/office/powerpoint/2010/main" val="895533166"/>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584E92-77A9-800D-B85F-AD4C61F96075}"/>
              </a:ext>
            </a:extLst>
          </p:cNvPr>
          <p:cNvSpPr>
            <a:spLocks noGrp="1"/>
          </p:cNvSpPr>
          <p:nvPr>
            <p:ph type="title"/>
          </p:nvPr>
        </p:nvSpPr>
        <p:spPr>
          <a:xfrm>
            <a:off x="1981200" y="274639"/>
            <a:ext cx="8229600" cy="721955"/>
          </a:xfrm>
        </p:spPr>
        <p:txBody>
          <a:bodyPr>
            <a:normAutofit fontScale="90000"/>
          </a:bodyPr>
          <a:lstStyle/>
          <a:p>
            <a:pPr algn="l"/>
            <a:br>
              <a:rPr lang="en-US" b="0" i="0" dirty="0">
                <a:solidFill>
                  <a:srgbClr val="0D0D0D"/>
                </a:solidFill>
                <a:effectLst/>
                <a:latin typeface="Söhne"/>
              </a:rPr>
            </a:br>
            <a:br>
              <a:rPr lang="en-US" b="0" i="0" dirty="0">
                <a:solidFill>
                  <a:srgbClr val="0D0D0D"/>
                </a:solidFill>
                <a:effectLst/>
                <a:latin typeface="Söhne"/>
              </a:rPr>
            </a:br>
            <a:br>
              <a:rPr lang="en-US" b="0" i="0" dirty="0">
                <a:solidFill>
                  <a:srgbClr val="0D0D0D"/>
                </a:solidFill>
                <a:effectLst/>
                <a:latin typeface="Söhne"/>
              </a:rPr>
            </a:br>
            <a:br>
              <a:rPr lang="en-US" b="0" i="0" dirty="0">
                <a:solidFill>
                  <a:srgbClr val="0D0D0D"/>
                </a:solidFill>
                <a:effectLst/>
                <a:latin typeface="Söhne"/>
              </a:rPr>
            </a:br>
            <a:br>
              <a:rPr lang="en-US" b="0" i="0" dirty="0">
                <a:solidFill>
                  <a:srgbClr val="0D0D0D"/>
                </a:solidFill>
                <a:effectLst/>
                <a:latin typeface="Söhne"/>
              </a:rPr>
            </a:br>
            <a:br>
              <a:rPr lang="en-US" b="0" i="0" dirty="0">
                <a:solidFill>
                  <a:srgbClr val="0D0D0D"/>
                </a:solidFill>
                <a:effectLst/>
                <a:latin typeface="Söhne"/>
              </a:rPr>
            </a:br>
            <a:br>
              <a:rPr lang="en-US" b="0" i="0" dirty="0">
                <a:solidFill>
                  <a:srgbClr val="0D0D0D"/>
                </a:solidFill>
                <a:effectLst/>
                <a:latin typeface="Söhne"/>
              </a:rPr>
            </a:br>
            <a:br>
              <a:rPr lang="en-US" b="0" i="0" dirty="0">
                <a:solidFill>
                  <a:srgbClr val="0D0D0D"/>
                </a:solidFill>
                <a:effectLst/>
                <a:latin typeface="Söhne"/>
              </a:rPr>
            </a:br>
            <a:r>
              <a:rPr lang="en-US" dirty="0">
                <a:solidFill>
                  <a:srgbClr val="0D0D0D"/>
                </a:solidFill>
                <a:latin typeface="Times New Roman" panose="02020603050405020304" pitchFamily="18" charset="0"/>
                <a:cs typeface="Times New Roman" panose="02020603050405020304" pitchFamily="18" charset="0"/>
              </a:rPr>
              <a:t>Purpose: Why are triggers used in databases?</a:t>
            </a:r>
            <a:br>
              <a:rPr lang="en-US" b="0" i="0" dirty="0">
                <a:solidFill>
                  <a:srgbClr val="0D0D0D"/>
                </a:solidFill>
                <a:effectLst/>
                <a:latin typeface="Söhne"/>
              </a:rPr>
            </a:br>
            <a:br>
              <a:rPr lang="en-US" b="0" i="0" dirty="0">
                <a:solidFill>
                  <a:srgbClr val="0D0D0D"/>
                </a:solidFill>
                <a:effectLst/>
                <a:latin typeface="Söhne"/>
              </a:rPr>
            </a:br>
            <a:r>
              <a:rPr lang="en-US" sz="1800" dirty="0">
                <a:solidFill>
                  <a:srgbClr val="0D0D0D"/>
                </a:solidFill>
                <a:latin typeface="Times New Roman" panose="02020603050405020304" pitchFamily="18" charset="0"/>
                <a:cs typeface="Times New Roman" panose="02020603050405020304" pitchFamily="18" charset="0"/>
              </a:rPr>
              <a:t>Maintaining Data Integrity: Triggers are often used to enforce referential integrity, ensuring that relationships between tables remain consistent. For example, a trigger can prevent the deletion of a parent record if it has associated child records, thus preserving data integrity.</a:t>
            </a:r>
            <a:br>
              <a:rPr lang="en-US" sz="1800" dirty="0">
                <a:solidFill>
                  <a:srgbClr val="0D0D0D"/>
                </a:solidFill>
                <a:latin typeface="Times New Roman" panose="02020603050405020304" pitchFamily="18" charset="0"/>
                <a:cs typeface="Times New Roman" panose="02020603050405020304" pitchFamily="18" charset="0"/>
              </a:rPr>
            </a:br>
            <a:r>
              <a:rPr lang="en-US" sz="1800" dirty="0">
                <a:solidFill>
                  <a:srgbClr val="0D0D0D"/>
                </a:solidFill>
                <a:latin typeface="Times New Roman" panose="02020603050405020304" pitchFamily="18" charset="0"/>
                <a:cs typeface="Times New Roman" panose="02020603050405020304" pitchFamily="18" charset="0"/>
              </a:rPr>
              <a:t>Automating Tasks: Triggers can automate tasks or actions based on certain events or conditions. For example, a trigger might send an email notification when a new record is inserted into a table, or update related records when a certain field is modified.</a:t>
            </a:r>
            <a:br>
              <a:rPr lang="en-US" sz="1800" dirty="0">
                <a:solidFill>
                  <a:srgbClr val="0D0D0D"/>
                </a:solidFill>
                <a:latin typeface="Times New Roman" panose="02020603050405020304" pitchFamily="18" charset="0"/>
                <a:cs typeface="Times New Roman" panose="02020603050405020304" pitchFamily="18" charset="0"/>
              </a:rPr>
            </a:br>
            <a:br>
              <a:rPr lang="en-US" sz="1800" dirty="0">
                <a:solidFill>
                  <a:srgbClr val="0D0D0D"/>
                </a:solidFill>
                <a:latin typeface="Times New Roman" panose="02020603050405020304" pitchFamily="18" charset="0"/>
                <a:cs typeface="Times New Roman" panose="02020603050405020304" pitchFamily="18" charset="0"/>
              </a:rPr>
            </a:br>
            <a:r>
              <a:rPr lang="en-US" sz="1800" dirty="0">
                <a:solidFill>
                  <a:srgbClr val="0D0D0D"/>
                </a:solidFill>
                <a:latin typeface="Times New Roman" panose="02020603050405020304" pitchFamily="18" charset="0"/>
                <a:cs typeface="Times New Roman" panose="02020603050405020304" pitchFamily="18" charset="0"/>
              </a:rPr>
              <a:t>Overall, triggers provide a powerful mechanism for enforcing data integrity, implementing complex business logic, automating tasks, and enhancing security within a database system.</a:t>
            </a: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03010848"/>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F3E06-702A-1ED4-5D82-E98042C9174A}"/>
              </a:ext>
            </a:extLst>
          </p:cNvPr>
          <p:cNvSpPr>
            <a:spLocks noGrp="1"/>
          </p:cNvSpPr>
          <p:nvPr>
            <p:ph type="title"/>
          </p:nvPr>
        </p:nvSpPr>
        <p:spPr>
          <a:xfrm>
            <a:off x="1981200" y="274638"/>
            <a:ext cx="8229600" cy="6300823"/>
          </a:xfrm>
        </p:spPr>
        <p:txBody>
          <a:bodyPr>
            <a:normAutofit fontScale="90000"/>
          </a:bodyPr>
          <a:lstStyle/>
          <a:p>
            <a:pPr algn="l"/>
            <a:br>
              <a:rPr lang="en-US" b="0" i="0" dirty="0">
                <a:solidFill>
                  <a:srgbClr val="0D0D0D"/>
                </a:solidFill>
                <a:effectLst/>
                <a:latin typeface="Söhne"/>
              </a:rPr>
            </a:br>
            <a:br>
              <a:rPr lang="en-US" b="0" i="0" dirty="0">
                <a:solidFill>
                  <a:srgbClr val="0D0D0D"/>
                </a:solidFill>
                <a:effectLst/>
                <a:latin typeface="Söhne"/>
              </a:rPr>
            </a:br>
            <a:br>
              <a:rPr lang="en-US" b="0" i="0" dirty="0">
                <a:solidFill>
                  <a:srgbClr val="0D0D0D"/>
                </a:solidFill>
                <a:effectLst/>
                <a:latin typeface="Söhne"/>
              </a:rPr>
            </a:br>
            <a:br>
              <a:rPr lang="en-US" b="0" i="0" dirty="0">
                <a:solidFill>
                  <a:srgbClr val="0D0D0D"/>
                </a:solidFill>
                <a:effectLst/>
                <a:latin typeface="Söhne"/>
              </a:rPr>
            </a:br>
            <a:r>
              <a:rPr lang="en-US" b="0" i="0" dirty="0">
                <a:solidFill>
                  <a:srgbClr val="0D0D0D"/>
                </a:solidFill>
                <a:effectLst/>
                <a:latin typeface="Times New Roman" panose="02020603050405020304" pitchFamily="18" charset="0"/>
                <a:cs typeface="Times New Roman" panose="02020603050405020304" pitchFamily="18" charset="0"/>
              </a:rPr>
              <a:t>Types of Triggers (e.g., DML triggers, DDL triggers)</a:t>
            </a:r>
            <a:br>
              <a:rPr lang="en-US" b="0" i="0" dirty="0">
                <a:solidFill>
                  <a:srgbClr val="0D0D0D"/>
                </a:solidFill>
                <a:effectLst/>
                <a:latin typeface="Times New Roman" panose="02020603050405020304" pitchFamily="18" charset="0"/>
                <a:cs typeface="Times New Roman" panose="02020603050405020304" pitchFamily="18" charset="0"/>
              </a:rPr>
            </a:br>
            <a:r>
              <a:rPr lang="en-US" sz="2000" b="1" dirty="0">
                <a:solidFill>
                  <a:srgbClr val="0D0D0D"/>
                </a:solidFill>
                <a:latin typeface="Times New Roman" panose="02020603050405020304" pitchFamily="18" charset="0"/>
                <a:cs typeface="Times New Roman" panose="02020603050405020304" pitchFamily="18" charset="0"/>
              </a:rPr>
              <a:t>DML Triggers (Data Manipulation Language Triggers)</a:t>
            </a:r>
            <a:r>
              <a:rPr lang="en-US" sz="2000" dirty="0">
                <a:solidFill>
                  <a:srgbClr val="0D0D0D"/>
                </a:solidFill>
                <a:latin typeface="Times New Roman" panose="02020603050405020304" pitchFamily="18" charset="0"/>
                <a:cs typeface="Times New Roman" panose="02020603050405020304" pitchFamily="18" charset="0"/>
              </a:rPr>
              <a:t>:</a:t>
            </a:r>
            <a:br>
              <a:rPr lang="en-US" sz="2000" dirty="0">
                <a:solidFill>
                  <a:srgbClr val="0D0D0D"/>
                </a:solidFill>
                <a:latin typeface="Times New Roman" panose="02020603050405020304" pitchFamily="18" charset="0"/>
                <a:cs typeface="Times New Roman" panose="02020603050405020304" pitchFamily="18" charset="0"/>
              </a:rPr>
            </a:br>
            <a:r>
              <a:rPr lang="en-US" sz="2000" b="1" dirty="0">
                <a:solidFill>
                  <a:srgbClr val="0D0D0D"/>
                </a:solidFill>
                <a:latin typeface="Times New Roman" panose="02020603050405020304" pitchFamily="18" charset="0"/>
                <a:cs typeface="Times New Roman" panose="02020603050405020304" pitchFamily="18" charset="0"/>
              </a:rPr>
              <a:t>INSERT Triggers</a:t>
            </a:r>
            <a:r>
              <a:rPr lang="en-US" sz="2000" dirty="0">
                <a:solidFill>
                  <a:srgbClr val="0D0D0D"/>
                </a:solidFill>
                <a:latin typeface="Times New Roman" panose="02020603050405020304" pitchFamily="18" charset="0"/>
                <a:cs typeface="Times New Roman" panose="02020603050405020304" pitchFamily="18" charset="0"/>
              </a:rPr>
              <a:t>: These triggers fire after an INSERT operation is performed on a table.</a:t>
            </a:r>
            <a:br>
              <a:rPr lang="en-US" sz="2000" dirty="0">
                <a:solidFill>
                  <a:srgbClr val="0D0D0D"/>
                </a:solidFill>
                <a:latin typeface="Times New Roman" panose="02020603050405020304" pitchFamily="18" charset="0"/>
                <a:cs typeface="Times New Roman" panose="02020603050405020304" pitchFamily="18" charset="0"/>
              </a:rPr>
            </a:br>
            <a:r>
              <a:rPr lang="en-US" sz="2000" b="1" dirty="0">
                <a:solidFill>
                  <a:srgbClr val="0D0D0D"/>
                </a:solidFill>
                <a:latin typeface="Times New Roman" panose="02020603050405020304" pitchFamily="18" charset="0"/>
                <a:cs typeface="Times New Roman" panose="02020603050405020304" pitchFamily="18" charset="0"/>
              </a:rPr>
              <a:t>UPDATE Triggers</a:t>
            </a:r>
            <a:r>
              <a:rPr lang="en-US" sz="2000" dirty="0">
                <a:solidFill>
                  <a:srgbClr val="0D0D0D"/>
                </a:solidFill>
                <a:latin typeface="Times New Roman" panose="02020603050405020304" pitchFamily="18" charset="0"/>
                <a:cs typeface="Times New Roman" panose="02020603050405020304" pitchFamily="18" charset="0"/>
              </a:rPr>
              <a:t>: These triggers fire after an UPDATE operation is performed on a table.</a:t>
            </a:r>
            <a:br>
              <a:rPr lang="en-US" sz="2000" dirty="0">
                <a:solidFill>
                  <a:srgbClr val="0D0D0D"/>
                </a:solidFill>
                <a:latin typeface="Times New Roman" panose="02020603050405020304" pitchFamily="18" charset="0"/>
                <a:cs typeface="Times New Roman" panose="02020603050405020304" pitchFamily="18" charset="0"/>
              </a:rPr>
            </a:br>
            <a:r>
              <a:rPr lang="en-US" sz="2000" b="1" dirty="0">
                <a:solidFill>
                  <a:srgbClr val="0D0D0D"/>
                </a:solidFill>
                <a:latin typeface="Times New Roman" panose="02020603050405020304" pitchFamily="18" charset="0"/>
                <a:cs typeface="Times New Roman" panose="02020603050405020304" pitchFamily="18" charset="0"/>
              </a:rPr>
              <a:t>DELETE Triggers</a:t>
            </a:r>
            <a:r>
              <a:rPr lang="en-US" sz="2000" dirty="0">
                <a:solidFill>
                  <a:srgbClr val="0D0D0D"/>
                </a:solidFill>
                <a:latin typeface="Times New Roman" panose="02020603050405020304" pitchFamily="18" charset="0"/>
                <a:cs typeface="Times New Roman" panose="02020603050405020304" pitchFamily="18" charset="0"/>
              </a:rPr>
              <a:t>: These triggers fire after a DELETE operation is performed on a table.</a:t>
            </a:r>
            <a:br>
              <a:rPr lang="en-US" sz="2000" dirty="0">
                <a:solidFill>
                  <a:srgbClr val="0D0D0D"/>
                </a:solidFill>
                <a:latin typeface="Times New Roman" panose="02020603050405020304" pitchFamily="18" charset="0"/>
                <a:cs typeface="Times New Roman" panose="02020603050405020304" pitchFamily="18" charset="0"/>
              </a:rPr>
            </a:br>
            <a:r>
              <a:rPr lang="en-US" sz="2000" b="1" dirty="0">
                <a:solidFill>
                  <a:srgbClr val="0D0D0D"/>
                </a:solidFill>
                <a:latin typeface="Times New Roman" panose="02020603050405020304" pitchFamily="18" charset="0"/>
                <a:cs typeface="Times New Roman" panose="02020603050405020304" pitchFamily="18" charset="0"/>
              </a:rPr>
              <a:t>DDL Triggers (Data Definition Language Triggers)</a:t>
            </a:r>
            <a:r>
              <a:rPr lang="en-US" sz="2000" dirty="0">
                <a:solidFill>
                  <a:srgbClr val="0D0D0D"/>
                </a:solidFill>
                <a:latin typeface="Times New Roman" panose="02020603050405020304" pitchFamily="18" charset="0"/>
                <a:cs typeface="Times New Roman" panose="02020603050405020304" pitchFamily="18" charset="0"/>
              </a:rPr>
              <a:t>:</a:t>
            </a:r>
            <a:br>
              <a:rPr lang="en-US" sz="2000" dirty="0">
                <a:solidFill>
                  <a:srgbClr val="0D0D0D"/>
                </a:solidFill>
                <a:latin typeface="Times New Roman" panose="02020603050405020304" pitchFamily="18" charset="0"/>
                <a:cs typeface="Times New Roman" panose="02020603050405020304" pitchFamily="18" charset="0"/>
              </a:rPr>
            </a:br>
            <a:r>
              <a:rPr lang="en-US" sz="2000" b="1" dirty="0">
                <a:solidFill>
                  <a:srgbClr val="0D0D0D"/>
                </a:solidFill>
                <a:latin typeface="Times New Roman" panose="02020603050405020304" pitchFamily="18" charset="0"/>
                <a:cs typeface="Times New Roman" panose="02020603050405020304" pitchFamily="18" charset="0"/>
              </a:rPr>
              <a:t>CREATE Triggers</a:t>
            </a:r>
            <a:r>
              <a:rPr lang="en-US" sz="2000" dirty="0">
                <a:solidFill>
                  <a:srgbClr val="0D0D0D"/>
                </a:solidFill>
                <a:latin typeface="Times New Roman" panose="02020603050405020304" pitchFamily="18" charset="0"/>
                <a:cs typeface="Times New Roman" panose="02020603050405020304" pitchFamily="18" charset="0"/>
              </a:rPr>
              <a:t>: These triggers fire after a CREATE operation is performed, such as creating a table, view, or index.</a:t>
            </a:r>
            <a:br>
              <a:rPr lang="en-US" sz="2000" dirty="0">
                <a:solidFill>
                  <a:srgbClr val="0D0D0D"/>
                </a:solidFill>
                <a:latin typeface="Times New Roman" panose="02020603050405020304" pitchFamily="18" charset="0"/>
                <a:cs typeface="Times New Roman" panose="02020603050405020304" pitchFamily="18" charset="0"/>
              </a:rPr>
            </a:br>
            <a:r>
              <a:rPr lang="en-US" sz="2000" b="1" dirty="0">
                <a:solidFill>
                  <a:srgbClr val="0D0D0D"/>
                </a:solidFill>
                <a:latin typeface="Times New Roman" panose="02020603050405020304" pitchFamily="18" charset="0"/>
                <a:cs typeface="Times New Roman" panose="02020603050405020304" pitchFamily="18" charset="0"/>
              </a:rPr>
              <a:t>ALTER Triggers</a:t>
            </a:r>
            <a:r>
              <a:rPr lang="en-US" sz="2000" dirty="0">
                <a:solidFill>
                  <a:srgbClr val="0D0D0D"/>
                </a:solidFill>
                <a:latin typeface="Times New Roman" panose="02020603050405020304" pitchFamily="18" charset="0"/>
                <a:cs typeface="Times New Roman" panose="02020603050405020304" pitchFamily="18" charset="0"/>
              </a:rPr>
              <a:t>: These triggers fire after an ALTER operation is performed, such as altering the structure of a table or view.</a:t>
            </a:r>
            <a:br>
              <a:rPr lang="en-US" sz="2000" dirty="0">
                <a:solidFill>
                  <a:srgbClr val="0D0D0D"/>
                </a:solidFill>
                <a:latin typeface="Times New Roman" panose="02020603050405020304" pitchFamily="18" charset="0"/>
                <a:cs typeface="Times New Roman" panose="02020603050405020304" pitchFamily="18" charset="0"/>
              </a:rPr>
            </a:br>
            <a:r>
              <a:rPr lang="en-US" sz="2000" b="1" dirty="0">
                <a:solidFill>
                  <a:srgbClr val="0D0D0D"/>
                </a:solidFill>
                <a:latin typeface="Times New Roman" panose="02020603050405020304" pitchFamily="18" charset="0"/>
                <a:cs typeface="Times New Roman" panose="02020603050405020304" pitchFamily="18" charset="0"/>
              </a:rPr>
              <a:t>DROP Triggers</a:t>
            </a:r>
            <a:r>
              <a:rPr lang="en-US" sz="2000" dirty="0">
                <a:solidFill>
                  <a:srgbClr val="0D0D0D"/>
                </a:solidFill>
                <a:latin typeface="Times New Roman" panose="02020603050405020304" pitchFamily="18" charset="0"/>
                <a:cs typeface="Times New Roman" panose="02020603050405020304" pitchFamily="18" charset="0"/>
              </a:rPr>
              <a:t>: These triggers fire after a DROP operation is performed, such as dropping a table, view, or index.</a:t>
            </a:r>
            <a:br>
              <a:rPr lang="en-US" sz="2000" dirty="0">
                <a:solidFill>
                  <a:srgbClr val="0D0D0D"/>
                </a:solidFill>
                <a:latin typeface="Söhne"/>
              </a:rPr>
            </a:br>
            <a:br>
              <a:rPr lang="en-US" b="0" i="0" dirty="0">
                <a:solidFill>
                  <a:srgbClr val="0D0D0D"/>
                </a:solidFill>
                <a:effectLst/>
                <a:latin typeface="Söhne"/>
              </a:rPr>
            </a:br>
            <a:br>
              <a:rPr lang="en-US" b="0" i="0" dirty="0">
                <a:solidFill>
                  <a:srgbClr val="0D0D0D"/>
                </a:solidFill>
                <a:effectLst/>
                <a:latin typeface="Söhne"/>
              </a:rPr>
            </a:br>
            <a:br>
              <a:rPr lang="en-US" b="0" i="0" dirty="0">
                <a:solidFill>
                  <a:srgbClr val="0D0D0D"/>
                </a:solidFill>
                <a:effectLst/>
                <a:latin typeface="Söhne"/>
              </a:rPr>
            </a:br>
            <a:endParaRPr lang="en-US" dirty="0"/>
          </a:p>
        </p:txBody>
      </p:sp>
    </p:spTree>
    <p:extLst>
      <p:ext uri="{BB962C8B-B14F-4D97-AF65-F5344CB8AC3E}">
        <p14:creationId xmlns:p14="http://schemas.microsoft.com/office/powerpoint/2010/main" val="349818311"/>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276CA9-D5AD-99AD-E742-C45E5356345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C11F09A-07B3-9D27-20E0-39F0D6BF8EBC}"/>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707539795"/>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E3AA69-8E04-C0CA-B010-F19C5F02A05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7138997-1A8D-EED9-67E9-2CC8169BF927}"/>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30339099"/>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C502B-33EE-7D84-6770-E655AE57D3F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550E169-9BE4-F767-35AE-F46252D4F35C}"/>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717310257"/>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85C05F-5D1B-8195-F3B9-17B7B3BB9F4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3AEA321-25B9-E9F8-3911-916680D6D868}"/>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478246227"/>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58D1E-F9E1-3CFB-999B-D70FC279784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929B650-C651-4881-1CAC-BE077B35AD51}"/>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6748481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154</TotalTime>
  <Words>11400</Words>
  <Application>Microsoft Office PowerPoint</Application>
  <PresentationFormat>Widescreen</PresentationFormat>
  <Paragraphs>1879</Paragraphs>
  <Slides>144</Slides>
  <Notes>105</Notes>
  <HiddenSlides>0</HiddenSlides>
  <MMClips>0</MMClips>
  <ScaleCrop>false</ScaleCrop>
  <HeadingPairs>
    <vt:vector size="8" baseType="variant">
      <vt:variant>
        <vt:lpstr>Fonts Used</vt:lpstr>
      </vt:variant>
      <vt:variant>
        <vt:i4>12</vt:i4>
      </vt:variant>
      <vt:variant>
        <vt:lpstr>Theme</vt:lpstr>
      </vt:variant>
      <vt:variant>
        <vt:i4>1</vt:i4>
      </vt:variant>
      <vt:variant>
        <vt:lpstr>Embedded OLE Servers</vt:lpstr>
      </vt:variant>
      <vt:variant>
        <vt:i4>2</vt:i4>
      </vt:variant>
      <vt:variant>
        <vt:lpstr>Slide Titles</vt:lpstr>
      </vt:variant>
      <vt:variant>
        <vt:i4>144</vt:i4>
      </vt:variant>
    </vt:vector>
  </HeadingPairs>
  <TitlesOfParts>
    <vt:vector size="159" baseType="lpstr">
      <vt:lpstr>Arial</vt:lpstr>
      <vt:lpstr>Book Antiqua</vt:lpstr>
      <vt:lpstr>Calibri</vt:lpstr>
      <vt:lpstr>Calibri Light</vt:lpstr>
      <vt:lpstr>Helvetica</vt:lpstr>
      <vt:lpstr>Helvetica Neue</vt:lpstr>
      <vt:lpstr>Lucida Sans</vt:lpstr>
      <vt:lpstr>Monotype Sorts</vt:lpstr>
      <vt:lpstr>Noto Sans Symbols</vt:lpstr>
      <vt:lpstr>Söhne</vt:lpstr>
      <vt:lpstr>Symbol</vt:lpstr>
      <vt:lpstr>Times New Roman</vt:lpstr>
      <vt:lpstr>Office Theme</vt:lpstr>
      <vt:lpstr>Equation</vt:lpstr>
      <vt:lpstr>Microsoft Word 97 - 2003 Document</vt:lpstr>
      <vt:lpstr>Course Code: CS3CO39  Course Name: Database Management System </vt:lpstr>
      <vt:lpstr>Unit-2 </vt:lpstr>
      <vt:lpstr>  Relational Model</vt:lpstr>
      <vt:lpstr>Basic Structure</vt:lpstr>
      <vt:lpstr>Attribute Types</vt:lpstr>
      <vt:lpstr>Relation Schema</vt:lpstr>
      <vt:lpstr>Relation Instance</vt:lpstr>
      <vt:lpstr>Database</vt:lpstr>
      <vt:lpstr>Query Languages</vt:lpstr>
      <vt:lpstr>What is “algebra”</vt:lpstr>
      <vt:lpstr>Basic Relational Algebra Operations</vt:lpstr>
      <vt:lpstr>Select Operation</vt:lpstr>
      <vt:lpstr>Select Operation – Example</vt:lpstr>
      <vt:lpstr>Project Operation</vt:lpstr>
      <vt:lpstr>Project Operation – Example</vt:lpstr>
      <vt:lpstr>Union Operation</vt:lpstr>
      <vt:lpstr>Union Operation</vt:lpstr>
      <vt:lpstr>Union Operation – Example</vt:lpstr>
      <vt:lpstr>Set Difference Operation</vt:lpstr>
      <vt:lpstr>Set Difference Operation – Example</vt:lpstr>
      <vt:lpstr>Cartesian-Product Operation</vt:lpstr>
      <vt:lpstr>Cartesian-Product Operation-Example</vt:lpstr>
      <vt:lpstr>Composition of Operations</vt:lpstr>
      <vt:lpstr>Rename Operation</vt:lpstr>
      <vt:lpstr>Banking Example</vt:lpstr>
      <vt:lpstr>What is “algebra”</vt:lpstr>
      <vt:lpstr>The Relational Algebra.........</vt:lpstr>
      <vt:lpstr>Fundamental Operations</vt:lpstr>
      <vt:lpstr>For example: LOAN Relation</vt:lpstr>
      <vt:lpstr>1. Select Operation</vt:lpstr>
      <vt:lpstr>Select Operation........</vt:lpstr>
      <vt:lpstr>Select Operation – Example</vt:lpstr>
      <vt:lpstr>2. Project Operation</vt:lpstr>
      <vt:lpstr>PowerPoint Presentation</vt:lpstr>
      <vt:lpstr>Project Operation..........</vt:lpstr>
      <vt:lpstr>Project Operation – Example</vt:lpstr>
      <vt:lpstr>Composition of Relational Operations</vt:lpstr>
      <vt:lpstr>Composition of Operations...</vt:lpstr>
      <vt:lpstr>3. Union Operation</vt:lpstr>
      <vt:lpstr>PowerPoint Presentation</vt:lpstr>
      <vt:lpstr>Union Operation – Example</vt:lpstr>
      <vt:lpstr>Union Operation......</vt:lpstr>
      <vt:lpstr>4. Set Difference Operation</vt:lpstr>
      <vt:lpstr>Set Difference Operation – Example</vt:lpstr>
      <vt:lpstr>Set Difference Operation...</vt:lpstr>
      <vt:lpstr>5. Cartesian-Product Operation</vt:lpstr>
      <vt:lpstr>Cartesian-Product Operation....</vt:lpstr>
      <vt:lpstr>Cartesian-Product Operation-Example</vt:lpstr>
      <vt:lpstr>Cartesian-Product Operation Example 2....</vt:lpstr>
      <vt:lpstr>Result of borrower × loan</vt:lpstr>
      <vt:lpstr>PowerPoint Presentation</vt:lpstr>
      <vt:lpstr>PowerPoint Presentation</vt:lpstr>
      <vt:lpstr>6. Rename Operation</vt:lpstr>
      <vt:lpstr>Example</vt:lpstr>
      <vt:lpstr>Additional Operations</vt:lpstr>
      <vt:lpstr>1. Set-Intersection Operation</vt:lpstr>
      <vt:lpstr>Set-Intersection Operation - Example</vt:lpstr>
      <vt:lpstr>2. Join Operation</vt:lpstr>
      <vt:lpstr>Natural-Join Operation</vt:lpstr>
      <vt:lpstr>Natural-Join Operation.....</vt:lpstr>
      <vt:lpstr>Natural Join Operation – Example</vt:lpstr>
      <vt:lpstr>Natural Join Example2.....</vt:lpstr>
      <vt:lpstr>Natural-Join Operation......</vt:lpstr>
      <vt:lpstr>Natural-Join Operation....</vt:lpstr>
      <vt:lpstr>Example</vt:lpstr>
      <vt:lpstr>Example</vt:lpstr>
      <vt:lpstr>Other Types of Joins</vt:lpstr>
      <vt:lpstr>“Theta” Join Example</vt:lpstr>
      <vt:lpstr>3. Division Operation</vt:lpstr>
      <vt:lpstr>Division Operation – Example</vt:lpstr>
      <vt:lpstr>Another Division Example</vt:lpstr>
      <vt:lpstr>Division Operation</vt:lpstr>
      <vt:lpstr>PowerPoint Presentation</vt:lpstr>
      <vt:lpstr>1. Generalized Projection</vt:lpstr>
      <vt:lpstr>Generalized Projection.....</vt:lpstr>
      <vt:lpstr>Generalized Projection.....</vt:lpstr>
      <vt:lpstr>2. Aggregate Functions</vt:lpstr>
      <vt:lpstr>Aggregate Functions</vt:lpstr>
      <vt:lpstr>Aggregate Functions</vt:lpstr>
      <vt:lpstr>Aggregate Functions and Operations</vt:lpstr>
      <vt:lpstr>Aggregate Operation – Example</vt:lpstr>
      <vt:lpstr>Aggregate Operation – Example</vt:lpstr>
      <vt:lpstr>Aggregate Functions.. </vt:lpstr>
      <vt:lpstr>Outer Join</vt:lpstr>
      <vt:lpstr>Outer Join.....</vt:lpstr>
      <vt:lpstr>Outer Join....</vt:lpstr>
      <vt:lpstr>Outer Join....</vt:lpstr>
      <vt:lpstr>Outer Join....</vt:lpstr>
      <vt:lpstr>Left Outer Join</vt:lpstr>
      <vt:lpstr>Left Outer Join Example2...</vt:lpstr>
      <vt:lpstr>Right Outer Join</vt:lpstr>
      <vt:lpstr>Right Outer Join, Full Outer Join</vt:lpstr>
      <vt:lpstr>Full Outer Join</vt:lpstr>
      <vt:lpstr>Full Outer Join Example2  ...</vt:lpstr>
      <vt:lpstr>Null Values</vt:lpstr>
      <vt:lpstr>Null Values</vt:lpstr>
      <vt:lpstr>Relational Calculus</vt:lpstr>
      <vt:lpstr>Relational Calculus</vt:lpstr>
      <vt:lpstr>Relational Calculus.....</vt:lpstr>
      <vt:lpstr>PowerPoint Presentation</vt:lpstr>
      <vt:lpstr>Types of Relational calculus: </vt:lpstr>
      <vt:lpstr>1. Tuple Relational Calculus (TRC)</vt:lpstr>
      <vt:lpstr>Tuple Relational Calculus (TRC)...</vt:lpstr>
      <vt:lpstr>PowerPoint Presentation</vt:lpstr>
      <vt:lpstr> Expression and Formula in TRC </vt:lpstr>
      <vt:lpstr>PowerPoint Presentation</vt:lpstr>
      <vt:lpstr> An Example</vt:lpstr>
      <vt:lpstr> More Examples</vt:lpstr>
      <vt:lpstr>. Domain Relational Calculus (DRC)</vt:lpstr>
      <vt:lpstr>PowerPoint Presentation</vt:lpstr>
      <vt:lpstr>PowerPoint Presentation</vt:lpstr>
      <vt:lpstr>Queries on DRC Consider the following relational schema:</vt:lpstr>
      <vt:lpstr>PowerPoint Presentation</vt:lpstr>
      <vt:lpstr>PowerPoint Presentation</vt:lpstr>
      <vt:lpstr>Modification of the Database</vt:lpstr>
      <vt:lpstr>Deletion</vt:lpstr>
      <vt:lpstr>Deletion Examples</vt:lpstr>
      <vt:lpstr>Insertion</vt:lpstr>
      <vt:lpstr>Insertion Examples</vt:lpstr>
      <vt:lpstr>Updating</vt:lpstr>
      <vt:lpstr>Update Examples</vt:lpstr>
      <vt:lpstr>Example Queries</vt:lpstr>
      <vt:lpstr>Example Queries</vt:lpstr>
      <vt:lpstr>Example Queries</vt:lpstr>
      <vt:lpstr>Example Queries</vt:lpstr>
      <vt:lpstr>Exercises</vt:lpstr>
      <vt:lpstr>Find names of employees that live in the same city and the same street as their managers</vt:lpstr>
      <vt:lpstr>Find Employees that make more than their managers  </vt:lpstr>
      <vt:lpstr>Find all employees who make more money than any other employee  </vt:lpstr>
      <vt:lpstr>Find all employees that live in the same city as their company  </vt:lpstr>
      <vt:lpstr>Introduction to Database Triggers </vt:lpstr>
      <vt:lpstr>Key Points: </vt:lpstr>
      <vt:lpstr>PowerPoint Presentation</vt:lpstr>
      <vt:lpstr>PowerPoint Presentation</vt:lpstr>
      <vt:lpstr>PowerPoint Presentation</vt:lpstr>
      <vt:lpstr>PowerPoint Presentation</vt:lpstr>
      <vt:lpstr>PowerPoint Presentation</vt:lpstr>
      <vt:lpstr>        Purpose: Why are triggers used in databases?  Maintaining Data Integrity: Triggers are often used to enforce referential integrity, ensuring that relationships between tables remain consistent. For example, a trigger can prevent the deletion of a parent record if it has associated child records, thus preserving data integrity. Automating Tasks: Triggers can automate tasks or actions based on certain events or conditions. For example, a trigger might send an email notification when a new record is inserted into a table, or update related records when a certain field is modified.  Overall, triggers provide a powerful mechanism for enforcing data integrity, implementing complex business logic, automating tasks, and enhancing security within a database system.</vt:lpstr>
      <vt:lpstr>    Types of Triggers (e.g., DML triggers, DDL triggers) DML Triggers (Data Manipulation Language Triggers): INSERT Triggers: These triggers fire after an INSERT operation is performed on a table. UPDATE Triggers: These triggers fire after an UPDATE operation is performed on a table. DELETE Triggers: These triggers fire after a DELETE operation is performed on a table. DDL Triggers (Data Definition Language Triggers): CREATE Triggers: These triggers fire after a CREATE operation is performed, such as creating a table, view, or index. ALTER Triggers: These triggers fire after an ALTER operation is performed, such as altering the structure of a table or view. DROP Triggers: These triggers fire after a DROP operation is performed, such as dropping a table, view, or index.    </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Code: CS3CO39  Course Name: Database Management System</dc:title>
  <dc:creator>Aayush Jindal</dc:creator>
  <cp:lastModifiedBy>Aayush Jindal</cp:lastModifiedBy>
  <cp:revision>12</cp:revision>
  <dcterms:created xsi:type="dcterms:W3CDTF">2024-01-11T05:38:02Z</dcterms:created>
  <dcterms:modified xsi:type="dcterms:W3CDTF">2024-02-27T03:20:17Z</dcterms:modified>
</cp:coreProperties>
</file>