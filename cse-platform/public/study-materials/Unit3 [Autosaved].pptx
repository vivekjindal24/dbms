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6" r:id="rId2"/>
    <p:sldId id="262" r:id="rId3"/>
    <p:sldId id="258" r:id="rId4"/>
    <p:sldId id="259" r:id="rId5"/>
    <p:sldId id="260" r:id="rId6"/>
    <p:sldId id="261" r:id="rId7"/>
    <p:sldId id="312" r:id="rId8"/>
    <p:sldId id="263" r:id="rId9"/>
    <p:sldId id="264" r:id="rId10"/>
    <p:sldId id="265" r:id="rId11"/>
    <p:sldId id="266" r:id="rId12"/>
    <p:sldId id="267" r:id="rId13"/>
    <p:sldId id="268" r:id="rId14"/>
    <p:sldId id="269" r:id="rId15"/>
    <p:sldId id="270" r:id="rId16"/>
    <p:sldId id="271" r:id="rId17"/>
    <p:sldId id="272" r:id="rId18"/>
    <p:sldId id="273" r:id="rId19"/>
    <p:sldId id="324" r:id="rId20"/>
    <p:sldId id="274" r:id="rId21"/>
    <p:sldId id="275" r:id="rId22"/>
    <p:sldId id="325" r:id="rId23"/>
    <p:sldId id="326"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313" r:id="rId39"/>
    <p:sldId id="314" r:id="rId40"/>
    <p:sldId id="315" r:id="rId41"/>
    <p:sldId id="316" r:id="rId42"/>
    <p:sldId id="317" r:id="rId43"/>
    <p:sldId id="318" r:id="rId44"/>
    <p:sldId id="319" r:id="rId45"/>
    <p:sldId id="320" r:id="rId46"/>
    <p:sldId id="321" r:id="rId47"/>
    <p:sldId id="322" r:id="rId48"/>
    <p:sldId id="323" r:id="rId49"/>
    <p:sldId id="301" r:id="rId50"/>
    <p:sldId id="302" r:id="rId51"/>
    <p:sldId id="328" r:id="rId52"/>
    <p:sldId id="329" r:id="rId53"/>
    <p:sldId id="330" r:id="rId54"/>
    <p:sldId id="331" r:id="rId55"/>
    <p:sldId id="332" r:id="rId56"/>
    <p:sldId id="333" r:id="rId57"/>
    <p:sldId id="334" r:id="rId58"/>
    <p:sldId id="335" r:id="rId59"/>
    <p:sldId id="336" r:id="rId60"/>
    <p:sldId id="337" r:id="rId61"/>
    <p:sldId id="338" r:id="rId62"/>
    <p:sldId id="339"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0" autoAdjust="0"/>
    <p:restoredTop sz="94660"/>
  </p:normalViewPr>
  <p:slideViewPr>
    <p:cSldViewPr snapToGrid="0">
      <p:cViewPr varScale="1">
        <p:scale>
          <a:sx n="78" d="100"/>
          <a:sy n="78" d="100"/>
        </p:scale>
        <p:origin x="2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CB994A-1A01-4D60-AEF4-66C13A955C65}" type="datetimeFigureOut">
              <a:rPr lang="en-US" smtClean="0"/>
              <a:t>4/3/2025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CE34A4-E6C5-4225-B0A4-648B36211E60}" type="slidenum">
              <a:rPr lang="en-US" smtClean="0"/>
              <a:t>‹#›</a:t>
            </a:fld>
            <a:endParaRPr lang="en-US"/>
          </a:p>
        </p:txBody>
      </p:sp>
    </p:spTree>
    <p:extLst>
      <p:ext uri="{BB962C8B-B14F-4D97-AF65-F5344CB8AC3E}">
        <p14:creationId xmlns:p14="http://schemas.microsoft.com/office/powerpoint/2010/main" val="28894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24518-273A-D339-2DE6-C874F5AB6D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683616-E6C3-E934-576A-D27149E321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EAF0AA4-D8F1-9E32-3DC9-9CD546F95ED6}"/>
              </a:ext>
            </a:extLst>
          </p:cNvPr>
          <p:cNvSpPr>
            <a:spLocks noGrp="1"/>
          </p:cNvSpPr>
          <p:nvPr>
            <p:ph type="dt" sz="half" idx="10"/>
          </p:nvPr>
        </p:nvSpPr>
        <p:spPr/>
        <p:txBody>
          <a:bodyPr/>
          <a:lstStyle/>
          <a:p>
            <a:fld id="{7F79B398-F8A7-4298-B988-E725DF5AFFB9}" type="datetimeFigureOut">
              <a:rPr lang="en-US" smtClean="0"/>
              <a:t>4/3/2025</a:t>
            </a:fld>
            <a:endParaRPr lang="en-US"/>
          </a:p>
        </p:txBody>
      </p:sp>
      <p:sp>
        <p:nvSpPr>
          <p:cNvPr id="5" name="Footer Placeholder 4">
            <a:extLst>
              <a:ext uri="{FF2B5EF4-FFF2-40B4-BE49-F238E27FC236}">
                <a16:creationId xmlns:a16="http://schemas.microsoft.com/office/drawing/2014/main" id="{0FB396A0-1930-16E9-6A68-619EEB5244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EDCD8F-E681-9317-0C22-979814CD5B20}"/>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3844179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A8BB3-587C-8153-5727-E3B71E7373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6F674F-40F1-81F6-82A0-EE4B172CF3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824451-3CE1-920E-C29E-232F5EDE95F8}"/>
              </a:ext>
            </a:extLst>
          </p:cNvPr>
          <p:cNvSpPr>
            <a:spLocks noGrp="1"/>
          </p:cNvSpPr>
          <p:nvPr>
            <p:ph type="dt" sz="half" idx="10"/>
          </p:nvPr>
        </p:nvSpPr>
        <p:spPr/>
        <p:txBody>
          <a:bodyPr/>
          <a:lstStyle/>
          <a:p>
            <a:fld id="{7F79B398-F8A7-4298-B988-E725DF5AFFB9}" type="datetimeFigureOut">
              <a:rPr lang="en-US" smtClean="0"/>
              <a:t>4/3/2025</a:t>
            </a:fld>
            <a:endParaRPr lang="en-US"/>
          </a:p>
        </p:txBody>
      </p:sp>
      <p:sp>
        <p:nvSpPr>
          <p:cNvPr id="5" name="Footer Placeholder 4">
            <a:extLst>
              <a:ext uri="{FF2B5EF4-FFF2-40B4-BE49-F238E27FC236}">
                <a16:creationId xmlns:a16="http://schemas.microsoft.com/office/drawing/2014/main" id="{E1F374AA-34FE-B2DA-5A56-A9B12B4B66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34A9A-C5B2-ACB1-9AA2-41DCF98FEF13}"/>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807753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2AF05-57E3-B879-6271-478566F559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3D9B230-2D49-F825-574F-D89DD84AF7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6EC556-08C0-2C24-0D6B-4AD7F83E1C70}"/>
              </a:ext>
            </a:extLst>
          </p:cNvPr>
          <p:cNvSpPr>
            <a:spLocks noGrp="1"/>
          </p:cNvSpPr>
          <p:nvPr>
            <p:ph type="dt" sz="half" idx="10"/>
          </p:nvPr>
        </p:nvSpPr>
        <p:spPr/>
        <p:txBody>
          <a:bodyPr/>
          <a:lstStyle/>
          <a:p>
            <a:fld id="{7F79B398-F8A7-4298-B988-E725DF5AFFB9}" type="datetimeFigureOut">
              <a:rPr lang="en-US" smtClean="0"/>
              <a:t>4/3/2025</a:t>
            </a:fld>
            <a:endParaRPr lang="en-US"/>
          </a:p>
        </p:txBody>
      </p:sp>
      <p:sp>
        <p:nvSpPr>
          <p:cNvPr id="5" name="Footer Placeholder 4">
            <a:extLst>
              <a:ext uri="{FF2B5EF4-FFF2-40B4-BE49-F238E27FC236}">
                <a16:creationId xmlns:a16="http://schemas.microsoft.com/office/drawing/2014/main" id="{8DD85801-5904-7DCD-1CD1-72D14ACF48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3F5DA4-5187-542A-79F0-1F96AF09E49B}"/>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36131078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F5CC8-C0B6-C410-7E84-D29065FEA3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66769C-832B-B49E-8597-8902555BCA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9E60C5-80ED-506D-B6C0-B63E4FB4A4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6699D9A-44F1-1EBE-8397-A93206BF34A9}"/>
              </a:ext>
            </a:extLst>
          </p:cNvPr>
          <p:cNvSpPr>
            <a:spLocks noGrp="1"/>
          </p:cNvSpPr>
          <p:nvPr>
            <p:ph type="dt" sz="half" idx="10"/>
          </p:nvPr>
        </p:nvSpPr>
        <p:spPr/>
        <p:txBody>
          <a:bodyPr/>
          <a:lstStyle/>
          <a:p>
            <a:fld id="{7F79B398-F8A7-4298-B988-E725DF5AFFB9}" type="datetimeFigureOut">
              <a:rPr lang="en-US" smtClean="0"/>
              <a:t>4/3/2025</a:t>
            </a:fld>
            <a:endParaRPr lang="en-US"/>
          </a:p>
        </p:txBody>
      </p:sp>
      <p:sp>
        <p:nvSpPr>
          <p:cNvPr id="6" name="Footer Placeholder 5">
            <a:extLst>
              <a:ext uri="{FF2B5EF4-FFF2-40B4-BE49-F238E27FC236}">
                <a16:creationId xmlns:a16="http://schemas.microsoft.com/office/drawing/2014/main" id="{367D5374-91E7-E206-EC56-0B96F1C696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91E34C-A30E-EEF2-F73C-5DE82E2B49E6}"/>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1027869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A3AD6-C5C8-9E28-4193-D8840F5506A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840FB0-DD42-CF0E-8DEA-926DA2E645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603151-5307-36E0-E8F3-C72A04D3B5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095541-D98B-03C5-8DCA-9699EE552E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813B1B-5161-7A9B-857D-4353C8046E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058A41C-426C-3463-3959-5A32D200C13E}"/>
              </a:ext>
            </a:extLst>
          </p:cNvPr>
          <p:cNvSpPr>
            <a:spLocks noGrp="1"/>
          </p:cNvSpPr>
          <p:nvPr>
            <p:ph type="dt" sz="half" idx="10"/>
          </p:nvPr>
        </p:nvSpPr>
        <p:spPr/>
        <p:txBody>
          <a:bodyPr/>
          <a:lstStyle/>
          <a:p>
            <a:fld id="{7F79B398-F8A7-4298-B988-E725DF5AFFB9}" type="datetimeFigureOut">
              <a:rPr lang="en-US" smtClean="0"/>
              <a:t>4/3/2025</a:t>
            </a:fld>
            <a:endParaRPr lang="en-US"/>
          </a:p>
        </p:txBody>
      </p:sp>
      <p:sp>
        <p:nvSpPr>
          <p:cNvPr id="8" name="Footer Placeholder 7">
            <a:extLst>
              <a:ext uri="{FF2B5EF4-FFF2-40B4-BE49-F238E27FC236}">
                <a16:creationId xmlns:a16="http://schemas.microsoft.com/office/drawing/2014/main" id="{0658EAC7-7A4C-375C-5342-BECC46DF88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62AEC6-55D5-6C01-6F5D-653777FACFBA}"/>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3376872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E70A8-1AB3-43E3-7730-85AFFF034E1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7398A5A-9B6E-802F-7437-3B3CDB58E510}"/>
              </a:ext>
            </a:extLst>
          </p:cNvPr>
          <p:cNvSpPr>
            <a:spLocks noGrp="1"/>
          </p:cNvSpPr>
          <p:nvPr>
            <p:ph type="dt" sz="half" idx="10"/>
          </p:nvPr>
        </p:nvSpPr>
        <p:spPr/>
        <p:txBody>
          <a:bodyPr/>
          <a:lstStyle/>
          <a:p>
            <a:fld id="{7F79B398-F8A7-4298-B988-E725DF5AFFB9}" type="datetimeFigureOut">
              <a:rPr lang="en-US" smtClean="0"/>
              <a:t>4/3/2025</a:t>
            </a:fld>
            <a:endParaRPr lang="en-US"/>
          </a:p>
        </p:txBody>
      </p:sp>
      <p:sp>
        <p:nvSpPr>
          <p:cNvPr id="4" name="Footer Placeholder 3">
            <a:extLst>
              <a:ext uri="{FF2B5EF4-FFF2-40B4-BE49-F238E27FC236}">
                <a16:creationId xmlns:a16="http://schemas.microsoft.com/office/drawing/2014/main" id="{6E10FECE-23E9-F8FC-DC9A-4D9D7162B3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401324-CD8E-5EC4-A744-425698346CA0}"/>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2568377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5BCEA1-EB4A-20B6-8D4A-970F1A27C021}"/>
              </a:ext>
            </a:extLst>
          </p:cNvPr>
          <p:cNvSpPr>
            <a:spLocks noGrp="1"/>
          </p:cNvSpPr>
          <p:nvPr>
            <p:ph type="dt" sz="half" idx="10"/>
          </p:nvPr>
        </p:nvSpPr>
        <p:spPr/>
        <p:txBody>
          <a:bodyPr/>
          <a:lstStyle/>
          <a:p>
            <a:fld id="{7F79B398-F8A7-4298-B988-E725DF5AFFB9}" type="datetimeFigureOut">
              <a:rPr lang="en-US" smtClean="0"/>
              <a:t>4/3/2025</a:t>
            </a:fld>
            <a:endParaRPr lang="en-US"/>
          </a:p>
        </p:txBody>
      </p:sp>
      <p:sp>
        <p:nvSpPr>
          <p:cNvPr id="3" name="Footer Placeholder 2">
            <a:extLst>
              <a:ext uri="{FF2B5EF4-FFF2-40B4-BE49-F238E27FC236}">
                <a16:creationId xmlns:a16="http://schemas.microsoft.com/office/drawing/2014/main" id="{ECF8FE1A-E10B-0203-262C-49FD8130FB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FDB4DE-5428-6C42-FF02-CE856E1A390C}"/>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2085135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523E8-9A60-AF3E-7B27-0DEAF66154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C15685F-21F6-CF43-178F-DF3F51490C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C62EF1-F48B-92BC-091D-10788370AB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9D21B6-656F-71E9-6CD9-D283AEAE3B73}"/>
              </a:ext>
            </a:extLst>
          </p:cNvPr>
          <p:cNvSpPr>
            <a:spLocks noGrp="1"/>
          </p:cNvSpPr>
          <p:nvPr>
            <p:ph type="dt" sz="half" idx="10"/>
          </p:nvPr>
        </p:nvSpPr>
        <p:spPr/>
        <p:txBody>
          <a:bodyPr/>
          <a:lstStyle/>
          <a:p>
            <a:fld id="{7F79B398-F8A7-4298-B988-E725DF5AFFB9}" type="datetimeFigureOut">
              <a:rPr lang="en-US" smtClean="0"/>
              <a:t>4/3/2025</a:t>
            </a:fld>
            <a:endParaRPr lang="en-US"/>
          </a:p>
        </p:txBody>
      </p:sp>
      <p:sp>
        <p:nvSpPr>
          <p:cNvPr id="6" name="Footer Placeholder 5">
            <a:extLst>
              <a:ext uri="{FF2B5EF4-FFF2-40B4-BE49-F238E27FC236}">
                <a16:creationId xmlns:a16="http://schemas.microsoft.com/office/drawing/2014/main" id="{E4199327-11FF-E1EA-17AB-2AB0752BFC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EE707C-B6B6-AFAE-D013-A8E64D4383AF}"/>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4216641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6534F-6488-A0EC-BCB2-B1375692E7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4AE65F-3823-CDFF-1099-04299F240C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70D88B8-98B8-7E0D-19E4-63E5C05201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A2C7DD-9E5F-52D2-87E0-13864FCDE95A}"/>
              </a:ext>
            </a:extLst>
          </p:cNvPr>
          <p:cNvSpPr>
            <a:spLocks noGrp="1"/>
          </p:cNvSpPr>
          <p:nvPr>
            <p:ph type="dt" sz="half" idx="10"/>
          </p:nvPr>
        </p:nvSpPr>
        <p:spPr/>
        <p:txBody>
          <a:bodyPr/>
          <a:lstStyle/>
          <a:p>
            <a:fld id="{7F79B398-F8A7-4298-B988-E725DF5AFFB9}" type="datetimeFigureOut">
              <a:rPr lang="en-US" smtClean="0"/>
              <a:t>4/3/2025</a:t>
            </a:fld>
            <a:endParaRPr lang="en-US"/>
          </a:p>
        </p:txBody>
      </p:sp>
      <p:sp>
        <p:nvSpPr>
          <p:cNvPr id="6" name="Footer Placeholder 5">
            <a:extLst>
              <a:ext uri="{FF2B5EF4-FFF2-40B4-BE49-F238E27FC236}">
                <a16:creationId xmlns:a16="http://schemas.microsoft.com/office/drawing/2014/main" id="{1DA5A718-F91A-47BB-A5D3-CBF89BE8F9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55577A-12A3-0098-9A5B-8E1AAC609948}"/>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670783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264AD-5BDD-3D31-06AA-6D221FC26A4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0FF561-40DA-6F9B-80EE-5B48C16218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8F0176-4C69-D048-7892-653728E67E7F}"/>
              </a:ext>
            </a:extLst>
          </p:cNvPr>
          <p:cNvSpPr>
            <a:spLocks noGrp="1"/>
          </p:cNvSpPr>
          <p:nvPr>
            <p:ph type="dt" sz="half" idx="10"/>
          </p:nvPr>
        </p:nvSpPr>
        <p:spPr/>
        <p:txBody>
          <a:bodyPr/>
          <a:lstStyle/>
          <a:p>
            <a:fld id="{7F79B398-F8A7-4298-B988-E725DF5AFFB9}" type="datetimeFigureOut">
              <a:rPr lang="en-US" smtClean="0"/>
              <a:t>4/3/2025</a:t>
            </a:fld>
            <a:endParaRPr lang="en-US"/>
          </a:p>
        </p:txBody>
      </p:sp>
      <p:sp>
        <p:nvSpPr>
          <p:cNvPr id="5" name="Footer Placeholder 4">
            <a:extLst>
              <a:ext uri="{FF2B5EF4-FFF2-40B4-BE49-F238E27FC236}">
                <a16:creationId xmlns:a16="http://schemas.microsoft.com/office/drawing/2014/main" id="{099EDEDD-10AD-8C62-78AD-10692184CB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121766-3DE8-9797-7472-E8E4F1295763}"/>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1996581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3E44FC-2D48-A0D9-6E74-1A2CCDF911A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29E33D5-97EC-C03D-7560-5A3C6C32C3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E95F8-2826-7CFA-2618-543DCD0C9FBF}"/>
              </a:ext>
            </a:extLst>
          </p:cNvPr>
          <p:cNvSpPr>
            <a:spLocks noGrp="1"/>
          </p:cNvSpPr>
          <p:nvPr>
            <p:ph type="dt" sz="half" idx="10"/>
          </p:nvPr>
        </p:nvSpPr>
        <p:spPr/>
        <p:txBody>
          <a:bodyPr/>
          <a:lstStyle/>
          <a:p>
            <a:fld id="{7F79B398-F8A7-4298-B988-E725DF5AFFB9}" type="datetimeFigureOut">
              <a:rPr lang="en-US" smtClean="0"/>
              <a:t>4/3/2025</a:t>
            </a:fld>
            <a:endParaRPr lang="en-US"/>
          </a:p>
        </p:txBody>
      </p:sp>
      <p:sp>
        <p:nvSpPr>
          <p:cNvPr id="5" name="Footer Placeholder 4">
            <a:extLst>
              <a:ext uri="{FF2B5EF4-FFF2-40B4-BE49-F238E27FC236}">
                <a16:creationId xmlns:a16="http://schemas.microsoft.com/office/drawing/2014/main" id="{4F608033-542B-D2CF-2FC2-28153BEF5B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ADFE01-52F0-5E4A-FCF0-6B67F7920793}"/>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1916786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B44813-A230-BFFC-AD63-C2760CDFB8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6F1074-FA5A-F22A-250B-DEFD70B0C1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9AFA96-F659-CBAB-22E6-1A5616278C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79B398-F8A7-4298-B988-E725DF5AFFB9}" type="datetimeFigureOut">
              <a:rPr lang="en-US" smtClean="0"/>
              <a:t>4/3/2025</a:t>
            </a:fld>
            <a:endParaRPr lang="en-US"/>
          </a:p>
        </p:txBody>
      </p:sp>
      <p:sp>
        <p:nvSpPr>
          <p:cNvPr id="5" name="Footer Placeholder 4">
            <a:extLst>
              <a:ext uri="{FF2B5EF4-FFF2-40B4-BE49-F238E27FC236}">
                <a16:creationId xmlns:a16="http://schemas.microsoft.com/office/drawing/2014/main" id="{977CCD87-7BDE-5D9C-EDC6-21BEB9D0E9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FB8E5D0-A5F3-4849-122C-39F92CAB92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0B328A-63D2-4322-B205-6DE7E58DE922}" type="slidenum">
              <a:rPr lang="en-US" smtClean="0"/>
              <a:t>‹#›</a:t>
            </a:fld>
            <a:endParaRPr lang="en-US"/>
          </a:p>
        </p:txBody>
      </p:sp>
    </p:spTree>
    <p:extLst>
      <p:ext uri="{BB962C8B-B14F-4D97-AF65-F5344CB8AC3E}">
        <p14:creationId xmlns:p14="http://schemas.microsoft.com/office/powerpoint/2010/main" val="1362258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50.jp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558FE94C-E5C1-CD6B-6091-87485E7F9AC4}"/>
              </a:ext>
            </a:extLst>
          </p:cNvPr>
          <p:cNvSpPr>
            <a:spLocks noGrp="1"/>
          </p:cNvSpPr>
          <p:nvPr>
            <p:ph type="ctrTitle"/>
          </p:nvPr>
        </p:nvSpPr>
        <p:spPr>
          <a:xfrm>
            <a:off x="838201" y="3998018"/>
            <a:ext cx="3981854" cy="2216513"/>
          </a:xfrm>
        </p:spPr>
        <p:txBody>
          <a:bodyPr vert="horz" lIns="91440" tIns="45720" rIns="91440" bIns="45720" rtlCol="0" anchor="ctr">
            <a:normAutofit/>
          </a:bodyPr>
          <a:lstStyle/>
          <a:p>
            <a:pPr algn="l"/>
            <a:r>
              <a:rPr lang="en-US" sz="3100" kern="1200">
                <a:solidFill>
                  <a:schemeClr val="tx1"/>
                </a:solidFill>
                <a:latin typeface="+mj-lt"/>
                <a:ea typeface="+mj-ea"/>
                <a:cs typeface="+mj-cs"/>
              </a:rPr>
              <a:t>Course Code: CS3CO39 </a:t>
            </a:r>
            <a:br>
              <a:rPr lang="en-US" sz="3100" kern="1200">
                <a:solidFill>
                  <a:schemeClr val="tx1"/>
                </a:solidFill>
                <a:latin typeface="+mj-lt"/>
                <a:ea typeface="+mj-ea"/>
                <a:cs typeface="+mj-cs"/>
              </a:rPr>
            </a:br>
            <a:r>
              <a:rPr lang="en-US" sz="3100" kern="1200">
                <a:solidFill>
                  <a:schemeClr val="tx1"/>
                </a:solidFill>
                <a:latin typeface="+mj-lt"/>
                <a:ea typeface="+mj-ea"/>
                <a:cs typeface="+mj-cs"/>
              </a:rPr>
              <a:t>Course Name: Database Management System</a:t>
            </a:r>
            <a:br>
              <a:rPr lang="en-US" sz="3100" kern="1200">
                <a:solidFill>
                  <a:schemeClr val="tx1"/>
                </a:solidFill>
                <a:latin typeface="+mj-lt"/>
                <a:ea typeface="+mj-ea"/>
                <a:cs typeface="+mj-cs"/>
              </a:rPr>
            </a:br>
            <a:endParaRPr lang="en-US" sz="3100" kern="1200">
              <a:solidFill>
                <a:schemeClr val="tx1"/>
              </a:solidFill>
              <a:latin typeface="+mj-lt"/>
              <a:ea typeface="+mj-ea"/>
              <a:cs typeface="+mj-cs"/>
            </a:endParaRPr>
          </a:p>
        </p:txBody>
      </p:sp>
      <p:sp>
        <p:nvSpPr>
          <p:cNvPr id="33" name="Arc 32">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4" name="image1.png">
            <a:extLst>
              <a:ext uri="{FF2B5EF4-FFF2-40B4-BE49-F238E27FC236}">
                <a16:creationId xmlns:a16="http://schemas.microsoft.com/office/drawing/2014/main" id="{06DEDAB6-AD6B-82C1-2790-FA9F090429B2}"/>
              </a:ext>
            </a:extLst>
          </p:cNvPr>
          <p:cNvPicPr>
            <a:picLocks noChangeAspect="1"/>
          </p:cNvPicPr>
          <p:nvPr/>
        </p:nvPicPr>
        <p:blipFill>
          <a:blip r:embed="rId2" cstate="print"/>
          <a:stretch>
            <a:fillRect/>
          </a:stretch>
        </p:blipFill>
        <p:spPr>
          <a:xfrm>
            <a:off x="659914" y="715496"/>
            <a:ext cx="10872172" cy="2935487"/>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3" name="Subtitle 2">
            <a:extLst>
              <a:ext uri="{FF2B5EF4-FFF2-40B4-BE49-F238E27FC236}">
                <a16:creationId xmlns:a16="http://schemas.microsoft.com/office/drawing/2014/main" id="{8DDB46C1-5CF4-E91D-782D-F6A0E0927947}"/>
              </a:ext>
            </a:extLst>
          </p:cNvPr>
          <p:cNvSpPr>
            <a:spLocks noGrp="1"/>
          </p:cNvSpPr>
          <p:nvPr>
            <p:ph type="subTitle" idx="1"/>
          </p:nvPr>
        </p:nvSpPr>
        <p:spPr>
          <a:xfrm>
            <a:off x="4970835" y="3998019"/>
            <a:ext cx="6382966" cy="2216512"/>
          </a:xfrm>
        </p:spPr>
        <p:txBody>
          <a:bodyPr vert="horz" lIns="91440" tIns="45720" rIns="91440" bIns="45720" rtlCol="0">
            <a:normAutofit/>
          </a:bodyPr>
          <a:lstStyle/>
          <a:p>
            <a:pPr indent="-228600" algn="l">
              <a:buFont typeface="Arial" panose="020B0604020202020204" pitchFamily="34" charset="0"/>
              <a:buChar char="•"/>
            </a:pPr>
            <a:endParaRPr lang="en-US" sz="1300"/>
          </a:p>
          <a:p>
            <a:pPr indent="-228600" algn="l">
              <a:buFont typeface="Arial" panose="020B0604020202020204" pitchFamily="34" charset="0"/>
              <a:buChar char="•"/>
            </a:pPr>
            <a:r>
              <a:rPr lang="en-US" sz="1300"/>
              <a:t>Text Books:</a:t>
            </a:r>
          </a:p>
          <a:p>
            <a:pPr indent="-228600" algn="l">
              <a:buFont typeface="Arial" panose="020B0604020202020204" pitchFamily="34" charset="0"/>
              <a:buChar char="•"/>
            </a:pPr>
            <a:r>
              <a:rPr lang="en-US" sz="1300"/>
              <a:t> F.R. Mcfadden, J. Hoffer, M.Prescott, Modern Database Management, Addison Wesley.</a:t>
            </a:r>
          </a:p>
          <a:p>
            <a:pPr indent="-228600" algn="l">
              <a:buFont typeface="Arial" panose="020B0604020202020204" pitchFamily="34" charset="0"/>
              <a:buChar char="•"/>
            </a:pPr>
            <a:r>
              <a:rPr lang="en-US" sz="1300"/>
              <a:t>Elmasri, Navathe, Fundamentals of Database System, Pearson Education Asia.</a:t>
            </a:r>
          </a:p>
          <a:p>
            <a:pPr indent="-228600" algn="l">
              <a:buFont typeface="Arial" panose="020B0604020202020204" pitchFamily="34" charset="0"/>
              <a:buChar char="•"/>
            </a:pPr>
            <a:r>
              <a:rPr lang="en-US" sz="1300"/>
              <a:t>Reference Books:</a:t>
            </a:r>
          </a:p>
          <a:p>
            <a:pPr indent="-228600" algn="l">
              <a:buFont typeface="Arial" panose="020B0604020202020204" pitchFamily="34" charset="0"/>
              <a:buChar char="•"/>
            </a:pPr>
            <a:r>
              <a:rPr lang="en-US" sz="1300"/>
              <a:t>C.J. Date, An Introduction to Database Systems, Pearson Education Asia.</a:t>
            </a:r>
          </a:p>
          <a:p>
            <a:pPr indent="-228600" algn="l">
              <a:buFont typeface="Arial" panose="020B0604020202020204" pitchFamily="34" charset="0"/>
              <a:buChar char="•"/>
            </a:pPr>
            <a:r>
              <a:rPr lang="en-US" sz="1300"/>
              <a:t>Henry F Korth, Abraham Silbershatz, Database System Concepts, Mc Graw Hill.</a:t>
            </a:r>
          </a:p>
          <a:p>
            <a:pPr indent="-228600" algn="l">
              <a:buFont typeface="Arial" panose="020B0604020202020204" pitchFamily="34" charset="0"/>
              <a:buChar char="•"/>
            </a:pPr>
            <a:endParaRPr lang="en-US" sz="1300"/>
          </a:p>
        </p:txBody>
      </p:sp>
    </p:spTree>
    <p:extLst>
      <p:ext uri="{BB962C8B-B14F-4D97-AF65-F5344CB8AC3E}">
        <p14:creationId xmlns:p14="http://schemas.microsoft.com/office/powerpoint/2010/main" val="4132005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7024687B-3153-123C-0A8C-D7D007FAF1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18" name="Rectangle 17">
              <a:extLst>
                <a:ext uri="{FF2B5EF4-FFF2-40B4-BE49-F238E27FC236}">
                  <a16:creationId xmlns:a16="http://schemas.microsoft.com/office/drawing/2014/main" id="{8D6305F5-7509-0BF5-12D3-30451FCD7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71C5C7A-6D55-5B27-646E-39C962693C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3B3B1F4-948C-963C-E6EA-60CF7FBFA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8579D29E-5EF3-C351-C594-10A544EF16A8}"/>
              </a:ext>
            </a:extLst>
          </p:cNvPr>
          <p:cNvSpPr>
            <a:spLocks noGrp="1"/>
          </p:cNvSpPr>
          <p:nvPr>
            <p:ph type="title"/>
          </p:nvPr>
        </p:nvSpPr>
        <p:spPr>
          <a:xfrm>
            <a:off x="876691" y="301843"/>
            <a:ext cx="10477109" cy="1003532"/>
          </a:xfrm>
        </p:spPr>
        <p:txBody>
          <a:bodyPr anchor="ctr">
            <a:normAutofit/>
          </a:bodyPr>
          <a:lstStyle/>
          <a:p>
            <a:r>
              <a:rPr lang="en-US" sz="3200" b="1" dirty="0">
                <a:solidFill>
                  <a:srgbClr val="FFFFFF"/>
                </a:solidFill>
                <a:effectLst/>
                <a:latin typeface="Times New Roman" panose="02020603050405020304" pitchFamily="18" charset="0"/>
                <a:ea typeface="Times New Roman" panose="02020603050405020304" pitchFamily="18" charset="0"/>
              </a:rPr>
              <a:t>Unit-3</a:t>
            </a:r>
            <a:br>
              <a:rPr lang="en-US" sz="3200" dirty="0">
                <a:solidFill>
                  <a:srgbClr val="FFFFFF"/>
                </a:solidFill>
                <a:effectLst/>
                <a:latin typeface="Times New Roman" panose="02020603050405020304" pitchFamily="18" charset="0"/>
                <a:ea typeface="Times New Roman" panose="02020603050405020304" pitchFamily="18" charset="0"/>
              </a:rPr>
            </a:br>
            <a:endParaRPr lang="en-US" sz="3200" dirty="0">
              <a:solidFill>
                <a:srgbClr val="FFFFFF"/>
              </a:solidFill>
            </a:endParaRPr>
          </a:p>
        </p:txBody>
      </p:sp>
      <p:sp>
        <p:nvSpPr>
          <p:cNvPr id="3" name="Content Placeholder 2">
            <a:extLst>
              <a:ext uri="{FF2B5EF4-FFF2-40B4-BE49-F238E27FC236}">
                <a16:creationId xmlns:a16="http://schemas.microsoft.com/office/drawing/2014/main" id="{1B05C76A-DCDA-E0E7-95B8-271415393825}"/>
              </a:ext>
            </a:extLst>
          </p:cNvPr>
          <p:cNvSpPr>
            <a:spLocks noGrp="1"/>
          </p:cNvSpPr>
          <p:nvPr>
            <p:ph idx="1"/>
          </p:nvPr>
        </p:nvSpPr>
        <p:spPr>
          <a:xfrm>
            <a:off x="876301" y="1815081"/>
            <a:ext cx="5638799" cy="4267311"/>
          </a:xfrm>
        </p:spPr>
        <p:txBody>
          <a:bodyPr>
            <a:normAutofit/>
          </a:bodyPr>
          <a:lstStyle/>
          <a:p>
            <a:pPr marL="201295" marR="579755">
              <a:spcBef>
                <a:spcPts val="0"/>
              </a:spcBef>
              <a:spcAft>
                <a:spcPts val="0"/>
              </a:spcAft>
            </a:pPr>
            <a:endParaRPr lang="en-US" sz="1700" dirty="0">
              <a:effectLst/>
              <a:latin typeface="Times New Roman" panose="02020603050405020304" pitchFamily="18" charset="0"/>
              <a:ea typeface="Times New Roman" panose="02020603050405020304" pitchFamily="18" charset="0"/>
            </a:endParaRPr>
          </a:p>
          <a:p>
            <a:pPr marL="201295" marR="582295" algn="just">
              <a:spcBef>
                <a:spcPts val="0"/>
              </a:spcBef>
              <a:spcAft>
                <a:spcPts val="0"/>
              </a:spcAft>
            </a:pPr>
            <a:r>
              <a:rPr lang="en-US" sz="1800" dirty="0">
                <a:effectLst/>
                <a:latin typeface="Times New Roman" panose="02020603050405020304" pitchFamily="18" charset="0"/>
                <a:ea typeface="Times New Roman" panose="02020603050405020304" pitchFamily="18" charset="0"/>
              </a:rPr>
              <a:t>Database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Design: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Design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Guidelines</a:t>
            </a:r>
            <a:r>
              <a:rPr lang="en-US" sz="1800" spc="5" dirty="0">
                <a:effectLst/>
                <a:latin typeface="Times New Roman" panose="02020603050405020304" pitchFamily="18" charset="0"/>
                <a:ea typeface="Times New Roman" panose="02020603050405020304" pitchFamily="18" charset="0"/>
              </a:rPr>
              <a:t> </a:t>
            </a:r>
          </a:p>
          <a:p>
            <a:pPr marL="201295" marR="582295" algn="just">
              <a:spcBef>
                <a:spcPts val="0"/>
              </a:spcBef>
              <a:spcAft>
                <a:spcPts val="0"/>
              </a:spcAft>
            </a:pPr>
            <a:r>
              <a:rPr lang="en-US" sz="1800" dirty="0">
                <a:effectLst/>
                <a:latin typeface="Times New Roman" panose="02020603050405020304" pitchFamily="18" charset="0"/>
                <a:ea typeface="Times New Roman" panose="02020603050405020304" pitchFamily="18" charset="0"/>
              </a:rPr>
              <a:t>Key</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concepts,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Relational</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Database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Design</a:t>
            </a:r>
          </a:p>
          <a:p>
            <a:pPr marL="201295" marR="582295" algn="just">
              <a:spcBef>
                <a:spcPts val="0"/>
              </a:spcBef>
              <a:spcAft>
                <a:spcPts val="0"/>
              </a:spcAft>
            </a:pPr>
            <a:r>
              <a:rPr lang="en-US" sz="1800" dirty="0">
                <a:effectLst/>
                <a:latin typeface="Times New Roman" panose="02020603050405020304" pitchFamily="18" charset="0"/>
                <a:ea typeface="Times New Roman" panose="02020603050405020304" pitchFamily="18" charset="0"/>
              </a:rPr>
              <a:t>Integrity</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Constraints, Domain Constraints</a:t>
            </a:r>
          </a:p>
          <a:p>
            <a:pPr marL="201295" marR="582295" algn="just">
              <a:spcBef>
                <a:spcPts val="0"/>
              </a:spcBef>
              <a:spcAft>
                <a:spcPts val="0"/>
              </a:spcAft>
            </a:pPr>
            <a:r>
              <a:rPr lang="en-US" sz="1800" dirty="0">
                <a:effectLst/>
                <a:latin typeface="Times New Roman" panose="02020603050405020304" pitchFamily="18" charset="0"/>
                <a:ea typeface="Times New Roman" panose="02020603050405020304" pitchFamily="18" charset="0"/>
              </a:rPr>
              <a:t>Referential Integrity</a:t>
            </a:r>
          </a:p>
          <a:p>
            <a:pPr marL="201295" marR="582295" algn="just">
              <a:spcBef>
                <a:spcPts val="0"/>
              </a:spcBef>
              <a:spcAft>
                <a:spcPts val="0"/>
              </a:spcAft>
            </a:pPr>
            <a:r>
              <a:rPr lang="en-US" sz="1800" dirty="0">
                <a:effectLst/>
                <a:latin typeface="Times New Roman" panose="02020603050405020304" pitchFamily="18" charset="0"/>
                <a:ea typeface="Times New Roman" panose="02020603050405020304" pitchFamily="18" charset="0"/>
              </a:rPr>
              <a:t>Functional Dependency </a:t>
            </a:r>
          </a:p>
          <a:p>
            <a:pPr marL="201295" marR="582295" algn="just">
              <a:spcBef>
                <a:spcPts val="0"/>
              </a:spcBef>
              <a:spcAft>
                <a:spcPts val="0"/>
              </a:spcAft>
            </a:pPr>
            <a:r>
              <a:rPr lang="en-US" sz="1800" dirty="0">
                <a:latin typeface="Times New Roman" panose="02020603050405020304" pitchFamily="18" charset="0"/>
                <a:ea typeface="Times New Roman" panose="02020603050405020304" pitchFamily="18" charset="0"/>
              </a:rPr>
              <a:t>D</a:t>
            </a:r>
            <a:r>
              <a:rPr lang="en-US" sz="1800" dirty="0">
                <a:effectLst/>
                <a:latin typeface="Times New Roman" panose="02020603050405020304" pitchFamily="18" charset="0"/>
                <a:ea typeface="Times New Roman" panose="02020603050405020304" pitchFamily="18" charset="0"/>
              </a:rPr>
              <a:t>ecomposition</a:t>
            </a:r>
            <a:endParaRPr lang="en-US" sz="1800" spc="5" dirty="0">
              <a:effectLst/>
              <a:latin typeface="Times New Roman" panose="02020603050405020304" pitchFamily="18" charset="0"/>
              <a:ea typeface="Times New Roman" panose="02020603050405020304" pitchFamily="18" charset="0"/>
            </a:endParaRPr>
          </a:p>
          <a:p>
            <a:pPr marL="201295" marR="582295" algn="just">
              <a:spcBef>
                <a:spcPts val="0"/>
              </a:spcBef>
              <a:spcAft>
                <a:spcPts val="0"/>
              </a:spcAft>
            </a:pPr>
            <a:r>
              <a:rPr lang="en-US" sz="1800" dirty="0">
                <a:effectLst/>
                <a:latin typeface="Times New Roman" panose="02020603050405020304" pitchFamily="18" charset="0"/>
                <a:ea typeface="Times New Roman" panose="02020603050405020304" pitchFamily="18" charset="0"/>
              </a:rPr>
              <a:t>Normalization Using Functional Dependencies: </a:t>
            </a:r>
          </a:p>
          <a:p>
            <a:pPr marL="201295" marR="582295" algn="just">
              <a:spcBef>
                <a:spcPts val="0"/>
              </a:spcBef>
              <a:spcAft>
                <a:spcPts val="0"/>
              </a:spcAft>
            </a:pPr>
            <a:r>
              <a:rPr lang="en-US" sz="1800" dirty="0">
                <a:effectLst/>
                <a:latin typeface="Times New Roman" panose="02020603050405020304" pitchFamily="18" charset="0"/>
                <a:ea typeface="Times New Roman" panose="02020603050405020304" pitchFamily="18" charset="0"/>
              </a:rPr>
              <a:t>Normal Forms, First, Second and Third Normal</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Forms</a:t>
            </a:r>
          </a:p>
          <a:p>
            <a:pPr marL="201295" marR="582295" algn="just">
              <a:spcBef>
                <a:spcPts val="0"/>
              </a:spcBef>
              <a:spcAft>
                <a:spcPts val="0"/>
              </a:spcAft>
            </a:pPr>
            <a:r>
              <a:rPr lang="en-US" sz="1800" dirty="0">
                <a:effectLst/>
                <a:latin typeface="Times New Roman" panose="02020603050405020304" pitchFamily="18" charset="0"/>
                <a:ea typeface="Times New Roman" panose="02020603050405020304" pitchFamily="18" charset="0"/>
              </a:rPr>
              <a:t>Boyce Codd Normal Form</a:t>
            </a:r>
          </a:p>
          <a:p>
            <a:pPr marL="201295" marR="582295" algn="just">
              <a:spcBef>
                <a:spcPts val="0"/>
              </a:spcBef>
              <a:spcAft>
                <a:spcPts val="0"/>
              </a:spcAft>
            </a:pPr>
            <a:r>
              <a:rPr lang="en-US" sz="1800" dirty="0">
                <a:effectLst/>
                <a:latin typeface="Times New Roman" panose="02020603050405020304" pitchFamily="18" charset="0"/>
                <a:ea typeface="Times New Roman" panose="02020603050405020304" pitchFamily="18" charset="0"/>
              </a:rPr>
              <a:t>Multivalued Dependencies and Forth Normal Form </a:t>
            </a:r>
          </a:p>
          <a:p>
            <a:pPr marL="201295" marR="582295" algn="just">
              <a:spcBef>
                <a:spcPts val="0"/>
              </a:spcBef>
              <a:spcAft>
                <a:spcPts val="0"/>
              </a:spcAft>
            </a:pPr>
            <a:r>
              <a:rPr lang="en-US" sz="1800" dirty="0">
                <a:effectLst/>
                <a:latin typeface="Times New Roman" panose="02020603050405020304" pitchFamily="18" charset="0"/>
                <a:ea typeface="Times New Roman" panose="02020603050405020304" pitchFamily="18" charset="0"/>
              </a:rPr>
              <a:t>Join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Dependencies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Fifth</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Normal Form,</a:t>
            </a:r>
          </a:p>
          <a:p>
            <a:pPr marL="201295" marR="582295" algn="just">
              <a:spcBef>
                <a:spcPts val="0"/>
              </a:spcBef>
              <a:spcAft>
                <a:spcPts val="0"/>
              </a:spcAft>
            </a:pPr>
            <a:r>
              <a:rPr lang="en-US" sz="1800" dirty="0">
                <a:effectLst/>
                <a:latin typeface="Times New Roman" panose="02020603050405020304" pitchFamily="18" charset="0"/>
                <a:ea typeface="Times New Roman" panose="02020603050405020304" pitchFamily="18" charset="0"/>
              </a:rPr>
              <a:t>Decomposition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 2NF, 3NF</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 BCNF.</a:t>
            </a:r>
          </a:p>
          <a:p>
            <a:endParaRPr lang="en-US" sz="1700" dirty="0"/>
          </a:p>
        </p:txBody>
      </p:sp>
      <p:graphicFrame>
        <p:nvGraphicFramePr>
          <p:cNvPr id="5" name="Table 4">
            <a:extLst>
              <a:ext uri="{FF2B5EF4-FFF2-40B4-BE49-F238E27FC236}">
                <a16:creationId xmlns:a16="http://schemas.microsoft.com/office/drawing/2014/main" id="{F77B8FF4-85CF-08CE-6A10-AA9320F09F43}"/>
              </a:ext>
            </a:extLst>
          </p:cNvPr>
          <p:cNvGraphicFramePr>
            <a:graphicFrameLocks noGrp="1"/>
          </p:cNvGraphicFramePr>
          <p:nvPr>
            <p:extLst>
              <p:ext uri="{D42A27DB-BD31-4B8C-83A1-F6EECF244321}">
                <p14:modId xmlns:p14="http://schemas.microsoft.com/office/powerpoint/2010/main" val="3240959282"/>
              </p:ext>
            </p:extLst>
          </p:nvPr>
        </p:nvGraphicFramePr>
        <p:xfrm>
          <a:off x="6784258" y="3061699"/>
          <a:ext cx="5277603" cy="2332233"/>
        </p:xfrm>
        <a:graphic>
          <a:graphicData uri="http://schemas.openxmlformats.org/drawingml/2006/table">
            <a:tbl>
              <a:tblPr firstRow="1" firstCol="1" lastRow="1" lastCol="1" bandRow="1" bandCol="1">
                <a:solidFill>
                  <a:schemeClr val="bg1">
                    <a:lumMod val="95000"/>
                  </a:schemeClr>
                </a:solidFill>
              </a:tblPr>
              <a:tblGrid>
                <a:gridCol w="952751">
                  <a:extLst>
                    <a:ext uri="{9D8B030D-6E8A-4147-A177-3AD203B41FA5}">
                      <a16:colId xmlns:a16="http://schemas.microsoft.com/office/drawing/2014/main" val="3061052767"/>
                    </a:ext>
                  </a:extLst>
                </a:gridCol>
                <a:gridCol w="4324852">
                  <a:extLst>
                    <a:ext uri="{9D8B030D-6E8A-4147-A177-3AD203B41FA5}">
                      <a16:colId xmlns:a16="http://schemas.microsoft.com/office/drawing/2014/main" val="2943072356"/>
                    </a:ext>
                  </a:extLst>
                </a:gridCol>
              </a:tblGrid>
              <a:tr h="2332233">
                <a:tc>
                  <a:txBody>
                    <a:bodyPr/>
                    <a:lstStyle/>
                    <a:p>
                      <a:pPr marL="0" marR="54864" algn="r" fontAlgn="t">
                        <a:lnSpc>
                          <a:spcPts val="1325"/>
                        </a:lnSpc>
                        <a:spcBef>
                          <a:spcPts val="0"/>
                        </a:spcBef>
                        <a:spcAft>
                          <a:spcPts val="0"/>
                        </a:spcAft>
                      </a:pPr>
                      <a:r>
                        <a:rPr lang="en-US" sz="2200" b="0" i="0" u="none" strike="noStrike" cap="none"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CO3</a:t>
                      </a:r>
                      <a:endParaRPr lang="en-US" sz="2200" b="0" i="0" u="none" strike="noStrike" cap="none" spc="0" dirty="0">
                        <a:solidFill>
                          <a:schemeClr val="bg1"/>
                        </a:solidFill>
                        <a:effectLst/>
                        <a:latin typeface="Arial" panose="020B0604020202020204" pitchFamily="34" charset="0"/>
                      </a:endParaRPr>
                    </a:p>
                  </a:txBody>
                  <a:tcPr marL="15215" marR="15215" marT="123079" marB="0" anchor="ctr">
                    <a:lnL w="12700" cmpd="sng">
                      <a:noFill/>
                    </a:lnL>
                    <a:lnR w="12700" cmpd="sng">
                      <a:noFill/>
                    </a:lnR>
                    <a:lnT w="19050" cap="flat" cmpd="sng" algn="ctr">
                      <a:noFill/>
                      <a:prstDash val="solid"/>
                    </a:lnT>
                    <a:lnB w="38100" cmpd="sng">
                      <a:noFill/>
                    </a:lnB>
                    <a:solidFill>
                      <a:schemeClr val="accent2"/>
                    </a:solidFill>
                  </a:tcPr>
                </a:tc>
                <a:tc>
                  <a:txBody>
                    <a:bodyPr/>
                    <a:lstStyle/>
                    <a:p>
                      <a:pPr marL="58420" marR="125095">
                        <a:spcBef>
                          <a:spcPts val="275"/>
                        </a:spcBef>
                        <a:spcAft>
                          <a:spcPts val="0"/>
                        </a:spcAft>
                      </a:pP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Be</a:t>
                      </a:r>
                      <a:r>
                        <a:rPr lang="en-US" sz="2200" spc="2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able</a:t>
                      </a:r>
                      <a:r>
                        <a:rPr lang="en-US" sz="2200" spc="3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2200" spc="3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model</a:t>
                      </a:r>
                      <a:r>
                        <a:rPr lang="en-US" sz="2200" spc="4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an</a:t>
                      </a:r>
                      <a:r>
                        <a:rPr lang="en-US" sz="2200" spc="4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application’s</a:t>
                      </a:r>
                      <a:r>
                        <a:rPr lang="en-US" sz="2200" spc="2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data</a:t>
                      </a:r>
                      <a:r>
                        <a:rPr lang="en-US" sz="2200" spc="4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requirements</a:t>
                      </a:r>
                      <a:r>
                        <a:rPr lang="en-US" sz="2200" spc="3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using</a:t>
                      </a:r>
                      <a:r>
                        <a:rPr lang="en-US" sz="2200" spc="3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conceptual</a:t>
                      </a:r>
                      <a:r>
                        <a:rPr lang="en-US" sz="2200" spc="2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modelling</a:t>
                      </a:r>
                      <a:r>
                        <a:rPr lang="en-US" sz="2200" spc="3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tools</a:t>
                      </a:r>
                      <a:r>
                        <a:rPr lang="en-US" sz="2200" spc="3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like</a:t>
                      </a:r>
                      <a:r>
                        <a:rPr lang="en-US" sz="2200" spc="3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ER</a:t>
                      </a:r>
                      <a:r>
                        <a:rPr lang="en-US" sz="2200" spc="-28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diagrams</a:t>
                      </a:r>
                      <a:r>
                        <a:rPr lang="en-US" sz="2200"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and design database</a:t>
                      </a:r>
                      <a:r>
                        <a:rPr lang="en-US" sz="2200"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schemas based on the</a:t>
                      </a:r>
                      <a:r>
                        <a:rPr lang="en-US" sz="22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conceptual model.</a:t>
                      </a:r>
                    </a:p>
                  </a:txBody>
                  <a:tcPr marL="0" marR="0" marT="0" marB="0" anchor="ctr">
                    <a:lnL w="12700" cmpd="sng">
                      <a:noFill/>
                    </a:lnL>
                    <a:lnR w="12700" cmpd="sng">
                      <a:noFill/>
                    </a:lnR>
                    <a:lnT w="19050" cap="flat" cmpd="sng" algn="ctr">
                      <a:noFill/>
                      <a:prstDash val="solid"/>
                    </a:lnT>
                    <a:lnB w="38100" cmpd="sng">
                      <a:noFill/>
                    </a:lnB>
                    <a:solidFill>
                      <a:schemeClr val="accent2"/>
                    </a:solidFill>
                  </a:tcPr>
                </a:tc>
                <a:extLst>
                  <a:ext uri="{0D108BD9-81ED-4DB2-BD59-A6C34878D82A}">
                    <a16:rowId xmlns:a16="http://schemas.microsoft.com/office/drawing/2014/main" val="1342026641"/>
                  </a:ext>
                </a:extLst>
              </a:tr>
            </a:tbl>
          </a:graphicData>
        </a:graphic>
      </p:graphicFrame>
    </p:spTree>
    <p:extLst>
      <p:ext uri="{BB962C8B-B14F-4D97-AF65-F5344CB8AC3E}">
        <p14:creationId xmlns:p14="http://schemas.microsoft.com/office/powerpoint/2010/main" val="728579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dbms-unit-2-3-638.jpg"/>
          <p:cNvPicPr>
            <a:picLocks noChangeAspect="1"/>
          </p:cNvPicPr>
          <p:nvPr/>
        </p:nvPicPr>
        <p:blipFill>
          <a:blip r:embed="rId2"/>
          <a:stretch>
            <a:fillRect/>
          </a:stretch>
        </p:blipFill>
        <p:spPr>
          <a:xfrm>
            <a:off x="0" y="0"/>
            <a:ext cx="11774184"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4-dbms-unit-2-4-638.jpg"/>
          <p:cNvPicPr>
            <a:picLocks noChangeAspect="1"/>
          </p:cNvPicPr>
          <p:nvPr/>
        </p:nvPicPr>
        <p:blipFill>
          <a:blip r:embed="rId2"/>
          <a:stretch>
            <a:fillRect/>
          </a:stretch>
        </p:blipFill>
        <p:spPr>
          <a:xfrm>
            <a:off x="-71919" y="0"/>
            <a:ext cx="12263919"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5-dbms-unit-2-5-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6-dbms-unit-2-6-638.jpg"/>
          <p:cNvPicPr>
            <a:picLocks noChangeAspect="1"/>
          </p:cNvPicPr>
          <p:nvPr/>
        </p:nvPicPr>
        <p:blipFill>
          <a:blip r:embed="rId2"/>
          <a:stretch>
            <a:fillRect/>
          </a:stretch>
        </p:blipFill>
        <p:spPr>
          <a:xfrm>
            <a:off x="0" y="74128"/>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7-dbms-unit-2-7-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8-dbms-unit-2-8-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9-dbms-unit-2-9-638.jpg"/>
          <p:cNvPicPr>
            <a:picLocks noChangeAspect="1"/>
          </p:cNvPicPr>
          <p:nvPr/>
        </p:nvPicPr>
        <p:blipFill>
          <a:blip r:embed="rId2"/>
          <a:stretch>
            <a:fillRect/>
          </a:stretch>
        </p:blipFill>
        <p:spPr>
          <a:xfrm>
            <a:off x="0" y="0"/>
            <a:ext cx="12192000" cy="699377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dbms-unit-2-10-638.jpg"/>
          <p:cNvPicPr>
            <a:picLocks noChangeAspect="1"/>
          </p:cNvPicPr>
          <p:nvPr/>
        </p:nvPicPr>
        <p:blipFill>
          <a:blip r:embed="rId2"/>
          <a:stretch>
            <a:fillRect/>
          </a:stretch>
        </p:blipFill>
        <p:spPr>
          <a:xfrm>
            <a:off x="0" y="-102742"/>
            <a:ext cx="12192000" cy="704514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1-dbms-unit-2-11-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2-dbms-unit-2-12-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3-dbms-unit-2-13-638.jpg"/>
          <p:cNvPicPr>
            <a:picLocks noChangeAspect="1"/>
          </p:cNvPicPr>
          <p:nvPr/>
        </p:nvPicPr>
        <p:blipFill>
          <a:blip r:embed="rId2"/>
          <a:stretch>
            <a:fillRect/>
          </a:stretch>
        </p:blipFill>
        <p:spPr>
          <a:xfrm>
            <a:off x="424665" y="0"/>
            <a:ext cx="11370068"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4-dbms-unit-2-14-638.jpg"/>
          <p:cNvPicPr>
            <a:picLocks noChangeAspect="1"/>
          </p:cNvPicPr>
          <p:nvPr/>
        </p:nvPicPr>
        <p:blipFill>
          <a:blip r:embed="rId2"/>
          <a:stretch>
            <a:fillRect/>
          </a:stretch>
        </p:blipFill>
        <p:spPr>
          <a:xfrm>
            <a:off x="215757" y="104950"/>
            <a:ext cx="11620072" cy="635749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5-dbms-unit-2-15-638.jpg"/>
          <p:cNvPicPr>
            <a:picLocks noChangeAspect="1"/>
          </p:cNvPicPr>
          <p:nvPr/>
        </p:nvPicPr>
        <p:blipFill>
          <a:blip r:embed="rId2"/>
          <a:stretch>
            <a:fillRect/>
          </a:stretch>
        </p:blipFill>
        <p:spPr>
          <a:xfrm>
            <a:off x="472611" y="104950"/>
            <a:ext cx="11363217" cy="636776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6-dbms-unit-2-16-638.jpg"/>
          <p:cNvPicPr>
            <a:picLocks noChangeAspect="1"/>
          </p:cNvPicPr>
          <p:nvPr/>
        </p:nvPicPr>
        <p:blipFill>
          <a:blip r:embed="rId2"/>
          <a:stretch>
            <a:fillRect/>
          </a:stretch>
        </p:blipFill>
        <p:spPr>
          <a:xfrm>
            <a:off x="606175" y="0"/>
            <a:ext cx="9989906"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7-dbms-unit-2-17-638.jpg"/>
          <p:cNvPicPr>
            <a:picLocks noChangeAspect="1"/>
          </p:cNvPicPr>
          <p:nvPr/>
        </p:nvPicPr>
        <p:blipFill>
          <a:blip r:embed="rId2"/>
          <a:stretch>
            <a:fillRect/>
          </a:stretch>
        </p:blipFill>
        <p:spPr>
          <a:xfrm>
            <a:off x="339047" y="0"/>
            <a:ext cx="11691991"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8-dbms-unit-2-18-638.jp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5DEDCB-7903-7379-98D0-411F32BE3F1B}"/>
              </a:ext>
            </a:extLst>
          </p:cNvPr>
          <p:cNvPicPr>
            <a:picLocks noChangeAspect="1"/>
          </p:cNvPicPr>
          <p:nvPr/>
        </p:nvPicPr>
        <p:blipFill>
          <a:blip r:embed="rId2"/>
          <a:stretch>
            <a:fillRect/>
          </a:stretch>
        </p:blipFill>
        <p:spPr>
          <a:xfrm>
            <a:off x="341368" y="122623"/>
            <a:ext cx="11696367" cy="3503171"/>
          </a:xfrm>
          <a:prstGeom prst="rect">
            <a:avLst/>
          </a:prstGeom>
        </p:spPr>
      </p:pic>
      <p:sp>
        <p:nvSpPr>
          <p:cNvPr id="4" name="TextBox 3">
            <a:extLst>
              <a:ext uri="{FF2B5EF4-FFF2-40B4-BE49-F238E27FC236}">
                <a16:creationId xmlns:a16="http://schemas.microsoft.com/office/drawing/2014/main" id="{D4F7728F-A3CA-4EF9-F042-1AEDCDD2EE4A}"/>
              </a:ext>
            </a:extLst>
          </p:cNvPr>
          <p:cNvSpPr txBox="1"/>
          <p:nvPr/>
        </p:nvSpPr>
        <p:spPr>
          <a:xfrm>
            <a:off x="198783" y="3625794"/>
            <a:ext cx="11696367" cy="2585323"/>
          </a:xfrm>
          <a:prstGeom prst="rect">
            <a:avLst/>
          </a:prstGeom>
          <a:noFill/>
        </p:spPr>
        <p:txBody>
          <a:bodyPr wrap="square">
            <a:spAutoFit/>
          </a:bodyPr>
          <a:lstStyle/>
          <a:p>
            <a:pPr algn="just"/>
            <a:r>
              <a:rPr lang="en-US" b="0" i="0" dirty="0" err="1">
                <a:solidFill>
                  <a:srgbClr val="610B4B"/>
                </a:solidFill>
                <a:effectLst/>
                <a:latin typeface="erdana"/>
              </a:rPr>
              <a:t>Updation</a:t>
            </a:r>
            <a:r>
              <a:rPr lang="en-US" b="0" i="0" dirty="0">
                <a:solidFill>
                  <a:srgbClr val="610B4B"/>
                </a:solidFill>
                <a:effectLst/>
                <a:latin typeface="erdana"/>
              </a:rPr>
              <a:t> / Update Anomaly</a:t>
            </a:r>
          </a:p>
          <a:p>
            <a:pPr algn="just"/>
            <a:r>
              <a:rPr lang="en-US" b="0" i="0" dirty="0">
                <a:solidFill>
                  <a:srgbClr val="333333"/>
                </a:solidFill>
                <a:effectLst/>
                <a:latin typeface="inter-regular"/>
              </a:rPr>
              <a:t>In the above table, if Shivani changes her branch from Computer Science to Electronics, then we will have to update all the rows. If we miss any row, then Shivani will have more than one branch, which will create the update anomaly in the table.</a:t>
            </a:r>
          </a:p>
          <a:p>
            <a:pPr algn="just"/>
            <a:r>
              <a:rPr lang="en-US" b="0" i="0" dirty="0">
                <a:solidFill>
                  <a:srgbClr val="610B4B"/>
                </a:solidFill>
                <a:effectLst/>
                <a:latin typeface="erdana"/>
              </a:rPr>
              <a:t>Insertion Anomaly</a:t>
            </a:r>
          </a:p>
          <a:p>
            <a:pPr algn="just"/>
            <a:r>
              <a:rPr lang="en-US" b="0" i="0" dirty="0">
                <a:solidFill>
                  <a:srgbClr val="333333"/>
                </a:solidFill>
                <a:effectLst/>
                <a:latin typeface="inter-regular"/>
              </a:rPr>
              <a:t>If we add a new row for student Ankit who is not a part of any club, we cannot insert the row into the table as we cannot insert null in the column of </a:t>
            </a:r>
            <a:r>
              <a:rPr lang="en-US" b="0" i="0" dirty="0" err="1">
                <a:solidFill>
                  <a:srgbClr val="333333"/>
                </a:solidFill>
                <a:effectLst/>
                <a:latin typeface="inter-regular"/>
              </a:rPr>
              <a:t>stu_club</a:t>
            </a:r>
            <a:r>
              <a:rPr lang="en-US" b="0" i="0" dirty="0">
                <a:solidFill>
                  <a:srgbClr val="333333"/>
                </a:solidFill>
                <a:effectLst/>
                <a:latin typeface="inter-regular"/>
              </a:rPr>
              <a:t>. This is called insertion anomaly.</a:t>
            </a:r>
          </a:p>
          <a:p>
            <a:pPr algn="just"/>
            <a:r>
              <a:rPr lang="en-US" b="0" i="0" dirty="0">
                <a:solidFill>
                  <a:srgbClr val="610B4B"/>
                </a:solidFill>
                <a:effectLst/>
                <a:latin typeface="erdana"/>
              </a:rPr>
              <a:t>Deletion Anomaly</a:t>
            </a:r>
          </a:p>
          <a:p>
            <a:pPr algn="just"/>
            <a:r>
              <a:rPr lang="en-US" b="0" i="0" dirty="0">
                <a:solidFill>
                  <a:srgbClr val="333333"/>
                </a:solidFill>
                <a:effectLst/>
                <a:latin typeface="inter-regular"/>
              </a:rPr>
              <a:t>If we remove the photography club from the college, then we will have to delete its row from the table. But it will also delete the table of Gopal and his details. So, this is called deletion anomaly and it will make the database inconsistent.</a:t>
            </a:r>
          </a:p>
        </p:txBody>
      </p:sp>
    </p:spTree>
    <p:extLst>
      <p:ext uri="{BB962C8B-B14F-4D97-AF65-F5344CB8AC3E}">
        <p14:creationId xmlns:p14="http://schemas.microsoft.com/office/powerpoint/2010/main" val="908271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9-dbms-unit-2-19-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0-dbms-unit-2-20-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CC0119-2A74-0E4E-61F8-C4B7F103E27D}"/>
              </a:ext>
            </a:extLst>
          </p:cNvPr>
          <p:cNvPicPr>
            <a:picLocks noChangeAspect="1"/>
          </p:cNvPicPr>
          <p:nvPr/>
        </p:nvPicPr>
        <p:blipFill>
          <a:blip r:embed="rId2"/>
          <a:stretch>
            <a:fillRect/>
          </a:stretch>
        </p:blipFill>
        <p:spPr>
          <a:xfrm>
            <a:off x="138747" y="78423"/>
            <a:ext cx="5439093" cy="2827338"/>
          </a:xfrm>
          <a:prstGeom prst="rect">
            <a:avLst/>
          </a:prstGeom>
        </p:spPr>
      </p:pic>
      <p:pic>
        <p:nvPicPr>
          <p:cNvPr id="5" name="Picture 4">
            <a:extLst>
              <a:ext uri="{FF2B5EF4-FFF2-40B4-BE49-F238E27FC236}">
                <a16:creationId xmlns:a16="http://schemas.microsoft.com/office/drawing/2014/main" id="{34606649-A839-4388-22A5-A0CB1820D2AF}"/>
              </a:ext>
            </a:extLst>
          </p:cNvPr>
          <p:cNvPicPr>
            <a:picLocks noChangeAspect="1"/>
          </p:cNvPicPr>
          <p:nvPr/>
        </p:nvPicPr>
        <p:blipFill>
          <a:blip r:embed="rId3"/>
          <a:stretch>
            <a:fillRect/>
          </a:stretch>
        </p:blipFill>
        <p:spPr>
          <a:xfrm>
            <a:off x="5577840" y="252412"/>
            <a:ext cx="6614160" cy="6353175"/>
          </a:xfrm>
          <a:prstGeom prst="rect">
            <a:avLst/>
          </a:prstGeom>
        </p:spPr>
      </p:pic>
      <p:pic>
        <p:nvPicPr>
          <p:cNvPr id="7" name="Picture 6">
            <a:extLst>
              <a:ext uri="{FF2B5EF4-FFF2-40B4-BE49-F238E27FC236}">
                <a16:creationId xmlns:a16="http://schemas.microsoft.com/office/drawing/2014/main" id="{0C512F00-F635-16AE-04FA-F3C2E2E4F728}"/>
              </a:ext>
            </a:extLst>
          </p:cNvPr>
          <p:cNvPicPr>
            <a:picLocks noChangeAspect="1"/>
          </p:cNvPicPr>
          <p:nvPr/>
        </p:nvPicPr>
        <p:blipFill>
          <a:blip r:embed="rId4"/>
          <a:stretch>
            <a:fillRect/>
          </a:stretch>
        </p:blipFill>
        <p:spPr>
          <a:xfrm>
            <a:off x="1" y="2816542"/>
            <a:ext cx="5577840" cy="3963034"/>
          </a:xfrm>
          <a:prstGeom prst="rect">
            <a:avLst/>
          </a:prstGeom>
        </p:spPr>
      </p:pic>
    </p:spTree>
    <p:extLst>
      <p:ext uri="{BB962C8B-B14F-4D97-AF65-F5344CB8AC3E}">
        <p14:creationId xmlns:p14="http://schemas.microsoft.com/office/powerpoint/2010/main" val="41016317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70342A-FA40-C15D-8EEC-A2BC0732EE31}"/>
              </a:ext>
            </a:extLst>
          </p:cNvPr>
          <p:cNvSpPr txBox="1"/>
          <p:nvPr/>
        </p:nvSpPr>
        <p:spPr>
          <a:xfrm>
            <a:off x="3047338" y="1441853"/>
            <a:ext cx="6094674" cy="3970318"/>
          </a:xfrm>
          <a:prstGeom prst="rect">
            <a:avLst/>
          </a:prstGeom>
          <a:noFill/>
        </p:spPr>
        <p:txBody>
          <a:bodyPr wrap="square">
            <a:spAutoFit/>
          </a:bodyPr>
          <a:lstStyle/>
          <a:p>
            <a:pPr algn="just"/>
            <a:r>
              <a:rPr lang="en-US" b="0" i="0" dirty="0">
                <a:solidFill>
                  <a:srgbClr val="610B4B"/>
                </a:solidFill>
                <a:effectLst/>
                <a:latin typeface="erdana"/>
              </a:rPr>
              <a:t>Dependency Preserving</a:t>
            </a:r>
          </a:p>
          <a:p>
            <a:pPr algn="just">
              <a:buFont typeface="Arial" panose="020B0604020202020204" pitchFamily="34" charset="0"/>
              <a:buChar char="•"/>
            </a:pPr>
            <a:r>
              <a:rPr lang="en-US" b="0" i="0" dirty="0">
                <a:solidFill>
                  <a:srgbClr val="000000"/>
                </a:solidFill>
                <a:effectLst/>
                <a:latin typeface="inter-regular"/>
              </a:rPr>
              <a:t>It is an important constraint of the database.</a:t>
            </a:r>
          </a:p>
          <a:p>
            <a:pPr algn="just">
              <a:buFont typeface="Arial" panose="020B0604020202020204" pitchFamily="34" charset="0"/>
              <a:buChar char="•"/>
            </a:pPr>
            <a:r>
              <a:rPr lang="en-US" b="0" i="0" dirty="0">
                <a:solidFill>
                  <a:srgbClr val="000000"/>
                </a:solidFill>
                <a:effectLst/>
                <a:latin typeface="inter-regular"/>
              </a:rPr>
              <a:t>In the dependency preservation, at least one decomposed table must satisfy every dependency.</a:t>
            </a:r>
          </a:p>
          <a:p>
            <a:pPr algn="just">
              <a:buFont typeface="Arial" panose="020B0604020202020204" pitchFamily="34" charset="0"/>
              <a:buChar char="•"/>
            </a:pPr>
            <a:r>
              <a:rPr lang="en-US" b="0" i="0" dirty="0">
                <a:solidFill>
                  <a:srgbClr val="000000"/>
                </a:solidFill>
                <a:effectLst/>
                <a:latin typeface="inter-regular"/>
              </a:rPr>
              <a:t>If a relation R is decomposed into relation R1 and R2, then the dependencies of R either must be a part of R1 or R2 or must be derivable from the combination of functional dependencies of R1 and R2.</a:t>
            </a:r>
          </a:p>
          <a:p>
            <a:pPr algn="just">
              <a:buFont typeface="Arial" panose="020B0604020202020204" pitchFamily="34" charset="0"/>
              <a:buChar char="•"/>
            </a:pPr>
            <a:r>
              <a:rPr lang="en-US" b="0" i="0" dirty="0">
                <a:solidFill>
                  <a:srgbClr val="000000"/>
                </a:solidFill>
                <a:effectLst/>
                <a:latin typeface="inter-regular"/>
              </a:rPr>
              <a:t>For example, suppose there is a relation R (A, B, C, D) with functional dependency set (A-&gt;BC). The relational R is decomposed into R1(ABC) and R2(AD) which is dependency preserving because FD A-&gt;BC is a part of relation R1(ABC).</a:t>
            </a:r>
          </a:p>
          <a:p>
            <a:br>
              <a:rPr lang="en-US" dirty="0"/>
            </a:br>
            <a:endParaRPr lang="en-US" dirty="0"/>
          </a:p>
        </p:txBody>
      </p:sp>
    </p:spTree>
    <p:extLst>
      <p:ext uri="{BB962C8B-B14F-4D97-AF65-F5344CB8AC3E}">
        <p14:creationId xmlns:p14="http://schemas.microsoft.com/office/powerpoint/2010/main" val="8000282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1-dbms-unit-2-21-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2-dbms-unit-2-22-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3-dbms-unit-2-23-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4-dbms-unit-2-24-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5-dbms-unit-2-25-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6-dbms-unit-2-26-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7-dbms-unit-2-27-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8-dbms-unit-2-28-638.jpg"/>
          <p:cNvPicPr>
            <a:picLocks noChangeAspect="1"/>
          </p:cNvPicPr>
          <p:nvPr/>
        </p:nvPicPr>
        <p:blipFill>
          <a:blip r:embed="rId2"/>
          <a:stretch>
            <a:fillRect/>
          </a:stretch>
        </p:blipFill>
        <p:spPr>
          <a:xfrm>
            <a:off x="0" y="-131355"/>
            <a:ext cx="12192000"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9-dbms-unit-2-29-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0-dbms-unit-2-30-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1-dbms-unit-2-31-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2-dbms-unit-2-32-638.jp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3-dbms-unit-2-33-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4-dbms-unit-2-34-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5-dbms-unit-2-35-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6-dbms-unit-2-36-638.jpg"/>
          <p:cNvPicPr>
            <a:picLocks noChangeAspect="1"/>
          </p:cNvPicPr>
          <p:nvPr/>
        </p:nvPicPr>
        <p:blipFill>
          <a:blip r:embed="rId2"/>
          <a:stretch>
            <a:fillRect/>
          </a:stretch>
        </p:blipFill>
        <p:spPr>
          <a:xfrm>
            <a:off x="0" y="-67387"/>
            <a:ext cx="12192000"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7-dbms-unit-2-37-638.jpg"/>
          <p:cNvPicPr>
            <a:picLocks noChangeAspect="1"/>
          </p:cNvPicPr>
          <p:nvPr/>
        </p:nvPicPr>
        <p:blipFill>
          <a:blip r:embed="rId2"/>
          <a:stretch>
            <a:fillRect/>
          </a:stretch>
        </p:blipFill>
        <p:spPr>
          <a:xfrm>
            <a:off x="111318" y="0"/>
            <a:ext cx="12141641"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8-dbms-unit-2-38-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9-dbms-unit-2-39-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40-dbms-unit-2-40-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41-dbms-unit-2-41-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42-dbms-unit-2-42-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43-dbms-unit-2-43-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44-dbms-unit-2-44-638.jpg"/>
          <p:cNvPicPr>
            <a:picLocks noChangeAspect="1"/>
          </p:cNvPicPr>
          <p:nvPr/>
        </p:nvPicPr>
        <p:blipFill>
          <a:blip r:embed="rId2"/>
          <a:stretch>
            <a:fillRect/>
          </a:stretch>
        </p:blipFill>
        <p:spPr>
          <a:xfrm>
            <a:off x="1524000" y="854964"/>
            <a:ext cx="9144000"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45-dbms-unit-2-45-638.jpg"/>
          <p:cNvPicPr>
            <a:picLocks noChangeAspect="1"/>
          </p:cNvPicPr>
          <p:nvPr/>
        </p:nvPicPr>
        <p:blipFill>
          <a:blip r:embed="rId2"/>
          <a:stretch>
            <a:fillRect/>
          </a:stretch>
        </p:blipFill>
        <p:spPr>
          <a:xfrm>
            <a:off x="1524000" y="0"/>
            <a:ext cx="9144000"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46-dbms-unit-2-46-638.jp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47-dbms-unit-2-47-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64862-2CDE-773B-E996-88A5C5B4E652}"/>
              </a:ext>
            </a:extLst>
          </p:cNvPr>
          <p:cNvSpPr>
            <a:spLocks noGrp="1"/>
          </p:cNvSpPr>
          <p:nvPr>
            <p:ph type="title"/>
          </p:nvPr>
        </p:nvSpPr>
        <p:spPr>
          <a:xfrm>
            <a:off x="901810" y="365125"/>
            <a:ext cx="10515600" cy="1325563"/>
          </a:xfrm>
        </p:spPr>
        <p:txBody>
          <a:bodyPr/>
          <a:lstStyle/>
          <a:p>
            <a:r>
              <a:rPr lang="en-US" b="1" i="0" dirty="0">
                <a:solidFill>
                  <a:srgbClr val="333333"/>
                </a:solidFill>
                <a:effectLst/>
                <a:latin typeface="inter-bold"/>
              </a:rPr>
              <a:t>Question on Second Normal Form (2NF):</a:t>
            </a:r>
            <a:br>
              <a:rPr lang="en-US" b="0" i="0" dirty="0">
                <a:solidFill>
                  <a:srgbClr val="333333"/>
                </a:solidFill>
                <a:effectLst/>
                <a:latin typeface="inter-regular"/>
              </a:rPr>
            </a:br>
            <a:endParaRPr lang="en-US" dirty="0"/>
          </a:p>
        </p:txBody>
      </p:sp>
      <p:sp>
        <p:nvSpPr>
          <p:cNvPr id="3" name="Content Placeholder 2">
            <a:extLst>
              <a:ext uri="{FF2B5EF4-FFF2-40B4-BE49-F238E27FC236}">
                <a16:creationId xmlns:a16="http://schemas.microsoft.com/office/drawing/2014/main" id="{728AD7B2-EC43-B21F-D745-84DD49F462D9}"/>
              </a:ext>
            </a:extLst>
          </p:cNvPr>
          <p:cNvSpPr>
            <a:spLocks noGrp="1"/>
          </p:cNvSpPr>
          <p:nvPr>
            <p:ph idx="1"/>
          </p:nvPr>
        </p:nvSpPr>
        <p:spPr/>
        <p:txBody>
          <a:bodyPr/>
          <a:lstStyle/>
          <a:p>
            <a:pPr algn="just"/>
            <a:r>
              <a:rPr lang="en-US" b="1" i="0" dirty="0">
                <a:solidFill>
                  <a:srgbClr val="333333"/>
                </a:solidFill>
                <a:effectLst/>
                <a:latin typeface="inter-bold"/>
              </a:rPr>
              <a:t>1. Given a relation R( A, B, C, D) and Functional Dependency set FD = { AB → CD, B → C }, determine whether the given R is in 2NF? If not convert it into 2 NF.</a:t>
            </a:r>
            <a:endParaRPr lang="en-US" b="0" i="0" dirty="0">
              <a:solidFill>
                <a:srgbClr val="333333"/>
              </a:solidFill>
              <a:effectLst/>
              <a:latin typeface="inter-regular"/>
            </a:endParaRPr>
          </a:p>
          <a:p>
            <a:pPr algn="just"/>
            <a:r>
              <a:rPr lang="en-US" b="1" i="0" dirty="0">
                <a:solidFill>
                  <a:srgbClr val="333333"/>
                </a:solidFill>
                <a:effectLst/>
                <a:latin typeface="inter-bold"/>
              </a:rPr>
              <a:t>Solution</a:t>
            </a:r>
            <a:r>
              <a:rPr lang="en-US" b="0" i="0" dirty="0">
                <a:solidFill>
                  <a:srgbClr val="333333"/>
                </a:solidFill>
                <a:effectLst/>
                <a:latin typeface="inter-regular"/>
              </a:rPr>
              <a:t>: Let us construct an arrow diagram on R using FD to calculate the candidate key.</a:t>
            </a:r>
          </a:p>
          <a:p>
            <a:pPr algn="just"/>
            <a:endParaRPr lang="en-US" b="0" i="0" dirty="0">
              <a:solidFill>
                <a:srgbClr val="333333"/>
              </a:solidFill>
              <a:effectLst/>
              <a:latin typeface="inter-regular"/>
            </a:endParaRPr>
          </a:p>
          <a:p>
            <a:endParaRPr lang="en-US" dirty="0"/>
          </a:p>
        </p:txBody>
      </p:sp>
      <p:pic>
        <p:nvPicPr>
          <p:cNvPr id="5" name="Picture 4">
            <a:extLst>
              <a:ext uri="{FF2B5EF4-FFF2-40B4-BE49-F238E27FC236}">
                <a16:creationId xmlns:a16="http://schemas.microsoft.com/office/drawing/2014/main" id="{152A2202-68F2-1585-DD91-B568F1B1B7CD}"/>
              </a:ext>
            </a:extLst>
          </p:cNvPr>
          <p:cNvPicPr>
            <a:picLocks noChangeAspect="1"/>
          </p:cNvPicPr>
          <p:nvPr/>
        </p:nvPicPr>
        <p:blipFill>
          <a:blip r:embed="rId2"/>
          <a:stretch>
            <a:fillRect/>
          </a:stretch>
        </p:blipFill>
        <p:spPr>
          <a:xfrm>
            <a:off x="4043680" y="3769360"/>
            <a:ext cx="6400799" cy="2407603"/>
          </a:xfrm>
          <a:prstGeom prst="rect">
            <a:avLst/>
          </a:prstGeom>
        </p:spPr>
      </p:pic>
    </p:spTree>
    <p:extLst>
      <p:ext uri="{BB962C8B-B14F-4D97-AF65-F5344CB8AC3E}">
        <p14:creationId xmlns:p14="http://schemas.microsoft.com/office/powerpoint/2010/main" val="25023206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FF8E1-6AA2-0BA5-DE4D-31A95351269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07E5DEA-C822-40AE-40E1-01558C78009A}"/>
              </a:ext>
            </a:extLst>
          </p:cNvPr>
          <p:cNvSpPr>
            <a:spLocks noGrp="1"/>
          </p:cNvSpPr>
          <p:nvPr>
            <p:ph idx="1"/>
          </p:nvPr>
        </p:nvSpPr>
        <p:spPr/>
        <p:txBody>
          <a:bodyPr/>
          <a:lstStyle/>
          <a:p>
            <a:r>
              <a:rPr lang="en-US" b="0" i="0" dirty="0">
                <a:solidFill>
                  <a:srgbClr val="333333"/>
                </a:solidFill>
                <a:effectLst/>
                <a:latin typeface="inter-regular"/>
              </a:rPr>
              <a:t>From above arrow diagram on R, we can see that an attributes AB is not determined by any of the given FD, hence AB will be the integral part of the Candidate key, i.e. no matter what will be the candidate key, and how many will be the candidate key, but all will have AB compulsory attribute.</a:t>
            </a:r>
          </a:p>
          <a:p>
            <a:endParaRPr lang="en-US" dirty="0">
              <a:solidFill>
                <a:srgbClr val="333333"/>
              </a:solidFill>
              <a:latin typeface="inter-regular"/>
            </a:endParaRPr>
          </a:p>
          <a:p>
            <a:endParaRPr lang="en-US" dirty="0"/>
          </a:p>
        </p:txBody>
      </p:sp>
    </p:spTree>
    <p:extLst>
      <p:ext uri="{BB962C8B-B14F-4D97-AF65-F5344CB8AC3E}">
        <p14:creationId xmlns:p14="http://schemas.microsoft.com/office/powerpoint/2010/main" val="35651062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4C8FB-E012-272A-F575-B795590998B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4AB3FC4-9A42-BA17-7215-AAB820B9783E}"/>
              </a:ext>
            </a:extLst>
          </p:cNvPr>
          <p:cNvSpPr>
            <a:spLocks noGrp="1"/>
          </p:cNvSpPr>
          <p:nvPr>
            <p:ph idx="1"/>
          </p:nvPr>
        </p:nvSpPr>
        <p:spPr/>
        <p:txBody>
          <a:bodyPr>
            <a:normAutofit lnSpcReduction="10000"/>
          </a:bodyPr>
          <a:lstStyle/>
          <a:p>
            <a:pPr algn="just"/>
            <a:r>
              <a:rPr lang="en-US" b="1" i="0" dirty="0">
                <a:solidFill>
                  <a:srgbClr val="333333"/>
                </a:solidFill>
                <a:effectLst/>
                <a:latin typeface="inter-bold"/>
              </a:rPr>
              <a:t>Let us calculate the closure of AB</a:t>
            </a:r>
            <a:endParaRPr lang="en-US" b="0" i="0" dirty="0">
              <a:solidFill>
                <a:srgbClr val="333333"/>
              </a:solidFill>
              <a:effectLst/>
              <a:latin typeface="inter-regular"/>
            </a:endParaRPr>
          </a:p>
          <a:p>
            <a:pPr algn="just"/>
            <a:r>
              <a:rPr lang="en-US" b="0" i="0" dirty="0">
                <a:solidFill>
                  <a:srgbClr val="333333"/>
                </a:solidFill>
                <a:effectLst/>
                <a:latin typeface="inter-regular"/>
              </a:rPr>
              <a:t>AB + = ABCD </a:t>
            </a:r>
          </a:p>
          <a:p>
            <a:pPr algn="just"/>
            <a:r>
              <a:rPr lang="en-US" b="0" i="0" dirty="0">
                <a:solidFill>
                  <a:srgbClr val="333333"/>
                </a:solidFill>
                <a:effectLst/>
                <a:latin typeface="inter-regular"/>
              </a:rPr>
              <a:t>Since the closure of AB contains all the attributes of R, hence </a:t>
            </a:r>
            <a:r>
              <a:rPr lang="en-US" b="1" i="0" dirty="0">
                <a:solidFill>
                  <a:srgbClr val="333333"/>
                </a:solidFill>
                <a:effectLst/>
                <a:latin typeface="inter-bold"/>
              </a:rPr>
              <a:t>AB is Candidate Key</a:t>
            </a:r>
            <a:endParaRPr lang="en-US" b="0" i="0" dirty="0">
              <a:solidFill>
                <a:srgbClr val="333333"/>
              </a:solidFill>
              <a:effectLst/>
              <a:latin typeface="inter-regular"/>
            </a:endParaRPr>
          </a:p>
          <a:p>
            <a:pPr algn="just"/>
            <a:r>
              <a:rPr lang="en-US" b="0" i="0" dirty="0">
                <a:solidFill>
                  <a:srgbClr val="333333"/>
                </a:solidFill>
                <a:effectLst/>
                <a:latin typeface="inter-regular"/>
              </a:rPr>
              <a:t>From the definition of Candidate Key(</a:t>
            </a:r>
            <a:r>
              <a:rPr lang="en-US" b="1" i="0" dirty="0">
                <a:solidFill>
                  <a:srgbClr val="333333"/>
                </a:solidFill>
                <a:effectLst/>
                <a:latin typeface="inter-bold"/>
              </a:rPr>
              <a:t>Candidate Key is a Super Key whose no proper subset is a Super key</a:t>
            </a:r>
            <a:r>
              <a:rPr lang="en-US" b="0" i="0" dirty="0">
                <a:solidFill>
                  <a:srgbClr val="333333"/>
                </a:solidFill>
                <a:effectLst/>
                <a:latin typeface="inter-regular"/>
              </a:rPr>
              <a:t>)</a:t>
            </a:r>
          </a:p>
          <a:p>
            <a:pPr algn="just"/>
            <a:r>
              <a:rPr lang="en-US" b="0" i="0" dirty="0">
                <a:solidFill>
                  <a:srgbClr val="333333"/>
                </a:solidFill>
                <a:effectLst/>
                <a:latin typeface="inter-regular"/>
              </a:rPr>
              <a:t>Since all key will have AB as an integral part, and we have proved that AB is Candidate Key, Therefore, any superset of AB will be Super Key but not Candidate key.</a:t>
            </a:r>
          </a:p>
          <a:p>
            <a:pPr algn="just"/>
            <a:r>
              <a:rPr lang="en-US" b="0" i="0" dirty="0">
                <a:solidFill>
                  <a:srgbClr val="333333"/>
                </a:solidFill>
                <a:effectLst/>
                <a:latin typeface="inter-regular"/>
              </a:rPr>
              <a:t>Hence there will be only </a:t>
            </a:r>
            <a:r>
              <a:rPr lang="en-US" b="1" i="0" dirty="0">
                <a:solidFill>
                  <a:srgbClr val="333333"/>
                </a:solidFill>
                <a:effectLst/>
                <a:latin typeface="inter-bold"/>
              </a:rPr>
              <a:t>one candidate key AB</a:t>
            </a:r>
            <a:endParaRPr lang="en-US" b="0" i="0" dirty="0">
              <a:solidFill>
                <a:srgbClr val="333333"/>
              </a:solidFill>
              <a:effectLst/>
              <a:latin typeface="inter-regular"/>
            </a:endParaRPr>
          </a:p>
          <a:p>
            <a:endParaRPr lang="en-US" dirty="0"/>
          </a:p>
        </p:txBody>
      </p:sp>
    </p:spTree>
    <p:extLst>
      <p:ext uri="{BB962C8B-B14F-4D97-AF65-F5344CB8AC3E}">
        <p14:creationId xmlns:p14="http://schemas.microsoft.com/office/powerpoint/2010/main" val="2831890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693EB-4D33-C9E6-8752-E09E1C4FDA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8541D84-05CE-C621-3410-ECC91E28189F}"/>
              </a:ext>
            </a:extLst>
          </p:cNvPr>
          <p:cNvSpPr>
            <a:spLocks noGrp="1"/>
          </p:cNvSpPr>
          <p:nvPr>
            <p:ph idx="1"/>
          </p:nvPr>
        </p:nvSpPr>
        <p:spPr/>
        <p:txBody>
          <a:bodyPr>
            <a:normAutofit fontScale="85000" lnSpcReduction="20000"/>
          </a:bodyPr>
          <a:lstStyle/>
          <a:p>
            <a:pPr marL="0" indent="0" algn="just">
              <a:buNone/>
            </a:pPr>
            <a:r>
              <a:rPr lang="en-US" b="1" i="0" dirty="0">
                <a:solidFill>
                  <a:srgbClr val="333333"/>
                </a:solidFill>
                <a:effectLst/>
                <a:latin typeface="inter-bold"/>
              </a:rPr>
              <a:t>Definition of 2NF:</a:t>
            </a:r>
            <a:r>
              <a:rPr lang="en-US" b="0" i="0" dirty="0">
                <a:solidFill>
                  <a:srgbClr val="333333"/>
                </a:solidFill>
                <a:effectLst/>
                <a:latin typeface="inter-regular"/>
              </a:rPr>
              <a:t> No non-prime attribute should be partially dependent on Candidate Key</a:t>
            </a:r>
          </a:p>
          <a:p>
            <a:pPr algn="just"/>
            <a:r>
              <a:rPr lang="en-US" b="0" i="0" dirty="0">
                <a:solidFill>
                  <a:srgbClr val="333333"/>
                </a:solidFill>
                <a:effectLst/>
                <a:latin typeface="inter-regular"/>
              </a:rPr>
              <a:t>Since R has 4 attributes: - A, B, C, D, and Candidate Key is AB, Therefore, prime attributes (part of candidate key) are A and B while a non-prime attribute are C and D</a:t>
            </a:r>
          </a:p>
          <a:p>
            <a:pPr algn="just"/>
            <a:r>
              <a:rPr lang="en-US" b="0" i="0" dirty="0">
                <a:solidFill>
                  <a:srgbClr val="333333"/>
                </a:solidFill>
                <a:effectLst/>
                <a:latin typeface="inter-regular"/>
              </a:rPr>
              <a:t>a) FD: </a:t>
            </a:r>
            <a:r>
              <a:rPr lang="en-US" b="1" i="0" dirty="0">
                <a:solidFill>
                  <a:srgbClr val="333333"/>
                </a:solidFill>
                <a:effectLst/>
                <a:latin typeface="inter-bold"/>
              </a:rPr>
              <a:t>AB → CD</a:t>
            </a:r>
            <a:r>
              <a:rPr lang="en-US" b="0" i="0" dirty="0">
                <a:solidFill>
                  <a:srgbClr val="333333"/>
                </a:solidFill>
                <a:effectLst/>
                <a:latin typeface="inter-regular"/>
              </a:rPr>
              <a:t> satisfies the definition of 2NF, that non-prime attribute(C and D) are fully dependent on candidate key AB</a:t>
            </a:r>
          </a:p>
          <a:p>
            <a:pPr algn="just"/>
            <a:r>
              <a:rPr lang="en-US" b="0" i="0" dirty="0">
                <a:solidFill>
                  <a:srgbClr val="333333"/>
                </a:solidFill>
                <a:effectLst/>
                <a:latin typeface="inter-regular"/>
              </a:rPr>
              <a:t>b) FD: </a:t>
            </a:r>
            <a:r>
              <a:rPr lang="en-US" b="1" i="0" dirty="0">
                <a:solidFill>
                  <a:srgbClr val="333333"/>
                </a:solidFill>
                <a:effectLst/>
                <a:latin typeface="inter-bold"/>
              </a:rPr>
              <a:t>B → C</a:t>
            </a:r>
            <a:r>
              <a:rPr lang="en-US" b="0" i="0" dirty="0">
                <a:solidFill>
                  <a:srgbClr val="333333"/>
                </a:solidFill>
                <a:effectLst/>
                <a:latin typeface="inter-regular"/>
              </a:rPr>
              <a:t> does not satisfy the definition of 2NF, as a non-prime attribute(C) is partially dependent on candidate key AB( i.e. key should not be broken at any cost)</a:t>
            </a:r>
          </a:p>
          <a:p>
            <a:pPr algn="just"/>
            <a:r>
              <a:rPr lang="en-US" b="1" i="0" dirty="0">
                <a:solidFill>
                  <a:srgbClr val="333333"/>
                </a:solidFill>
                <a:effectLst/>
                <a:latin typeface="inter-bold"/>
              </a:rPr>
              <a:t>As FD B → C, the above table R( A, B, C, D) is not in 2NF</a:t>
            </a:r>
            <a:endParaRPr lang="en-US" b="0" i="0" dirty="0">
              <a:solidFill>
                <a:srgbClr val="333333"/>
              </a:solidFill>
              <a:effectLst/>
              <a:latin typeface="inter-regular"/>
            </a:endParaRPr>
          </a:p>
          <a:p>
            <a:pPr algn="just"/>
            <a:r>
              <a:rPr lang="en-US" b="1" i="0" dirty="0">
                <a:solidFill>
                  <a:srgbClr val="333333"/>
                </a:solidFill>
                <a:effectLst/>
                <a:latin typeface="inter-bold"/>
              </a:rPr>
              <a:t>Convert the table R(A, B, C, D) in 2NF:</a:t>
            </a:r>
            <a:endParaRPr lang="en-US" b="0" i="0" dirty="0">
              <a:solidFill>
                <a:srgbClr val="333333"/>
              </a:solidFill>
              <a:effectLst/>
              <a:latin typeface="inter-regular"/>
            </a:endParaRPr>
          </a:p>
          <a:p>
            <a:pPr algn="just"/>
            <a:r>
              <a:rPr lang="en-US" b="0" i="0" dirty="0">
                <a:solidFill>
                  <a:srgbClr val="333333"/>
                </a:solidFill>
                <a:effectLst/>
                <a:latin typeface="inter-regular"/>
              </a:rPr>
              <a:t>Since </a:t>
            </a:r>
            <a:r>
              <a:rPr lang="en-US" b="1" i="0" dirty="0">
                <a:solidFill>
                  <a:srgbClr val="333333"/>
                </a:solidFill>
                <a:effectLst/>
                <a:latin typeface="inter-bold"/>
              </a:rPr>
              <a:t>FD: B → C,</a:t>
            </a:r>
            <a:r>
              <a:rPr lang="en-US" b="0" i="0" dirty="0">
                <a:solidFill>
                  <a:srgbClr val="333333"/>
                </a:solidFill>
                <a:effectLst/>
                <a:latin typeface="inter-regular"/>
              </a:rPr>
              <a:t> our table was not in 2NF, let's decompose the table</a:t>
            </a:r>
          </a:p>
          <a:p>
            <a:endParaRPr lang="en-US" dirty="0"/>
          </a:p>
        </p:txBody>
      </p:sp>
    </p:spTree>
    <p:extLst>
      <p:ext uri="{BB962C8B-B14F-4D97-AF65-F5344CB8AC3E}">
        <p14:creationId xmlns:p14="http://schemas.microsoft.com/office/powerpoint/2010/main" val="42786271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185C3-F6B3-D0A2-0B33-E8DB622E68E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020B92C-6E1C-494F-D73A-3B57E5BC014F}"/>
              </a:ext>
            </a:extLst>
          </p:cNvPr>
          <p:cNvSpPr>
            <a:spLocks noGrp="1"/>
          </p:cNvSpPr>
          <p:nvPr>
            <p:ph idx="1"/>
          </p:nvPr>
        </p:nvSpPr>
        <p:spPr/>
        <p:txBody>
          <a:bodyPr/>
          <a:lstStyle/>
          <a:p>
            <a:pPr marL="0" indent="0" algn="just">
              <a:buNone/>
            </a:pPr>
            <a:endParaRPr lang="en-US" b="0" i="0" dirty="0">
              <a:solidFill>
                <a:srgbClr val="333333"/>
              </a:solidFill>
              <a:effectLst/>
              <a:latin typeface="inter-regular"/>
            </a:endParaRPr>
          </a:p>
          <a:p>
            <a:pPr algn="just"/>
            <a:r>
              <a:rPr lang="en-US" b="0" i="0" dirty="0">
                <a:solidFill>
                  <a:srgbClr val="333333"/>
                </a:solidFill>
                <a:effectLst/>
                <a:latin typeface="inter-regular"/>
              </a:rPr>
              <a:t>Since the key is AB, and from FD AB → CD, we can create R2(A, B, C, D) but this will again have a problem of partial dependency B → C, hence R2(A, B, D).</a:t>
            </a:r>
          </a:p>
          <a:p>
            <a:pPr algn="just"/>
            <a:r>
              <a:rPr lang="en-US" b="0" i="0" dirty="0">
                <a:solidFill>
                  <a:srgbClr val="333333"/>
                </a:solidFill>
                <a:effectLst/>
                <a:latin typeface="inter-regular"/>
              </a:rPr>
              <a:t>Finally, the decomposed table which is in 2NF</a:t>
            </a:r>
          </a:p>
          <a:p>
            <a:pPr marL="0" indent="0" algn="just">
              <a:buNone/>
            </a:pPr>
            <a:r>
              <a:rPr lang="pt-BR" b="0" i="0" dirty="0">
                <a:solidFill>
                  <a:srgbClr val="333333"/>
                </a:solidFill>
                <a:effectLst/>
                <a:latin typeface="inter-regular"/>
              </a:rPr>
              <a:t>a) R1( B, C)</a:t>
            </a:r>
          </a:p>
          <a:p>
            <a:pPr marL="0" indent="0" algn="just">
              <a:buNone/>
            </a:pPr>
            <a:r>
              <a:rPr lang="pt-BR" b="0" i="0" dirty="0">
                <a:solidFill>
                  <a:srgbClr val="333333"/>
                </a:solidFill>
                <a:effectLst/>
                <a:latin typeface="inter-regular"/>
              </a:rPr>
              <a:t>b) R2(A, B, D)</a:t>
            </a:r>
          </a:p>
          <a:p>
            <a:endParaRPr lang="en-US" dirty="0"/>
          </a:p>
        </p:txBody>
      </p:sp>
    </p:spTree>
    <p:extLst>
      <p:ext uri="{BB962C8B-B14F-4D97-AF65-F5344CB8AC3E}">
        <p14:creationId xmlns:p14="http://schemas.microsoft.com/office/powerpoint/2010/main" val="24228900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B827A-A6F1-921E-1D76-7793727AFDF1}"/>
              </a:ext>
            </a:extLst>
          </p:cNvPr>
          <p:cNvSpPr>
            <a:spLocks noGrp="1"/>
          </p:cNvSpPr>
          <p:nvPr>
            <p:ph type="title"/>
          </p:nvPr>
        </p:nvSpPr>
        <p:spPr/>
        <p:txBody>
          <a:bodyPr/>
          <a:lstStyle/>
          <a:p>
            <a:r>
              <a:rPr lang="en-US" b="1" i="0" dirty="0">
                <a:solidFill>
                  <a:srgbClr val="333333"/>
                </a:solidFill>
                <a:effectLst/>
                <a:latin typeface="inter-bold"/>
              </a:rPr>
              <a:t>Question on Third Normal Form (3NF):</a:t>
            </a:r>
            <a:endParaRPr lang="en-US" dirty="0"/>
          </a:p>
        </p:txBody>
      </p:sp>
      <p:sp>
        <p:nvSpPr>
          <p:cNvPr id="3" name="Content Placeholder 2">
            <a:extLst>
              <a:ext uri="{FF2B5EF4-FFF2-40B4-BE49-F238E27FC236}">
                <a16:creationId xmlns:a16="http://schemas.microsoft.com/office/drawing/2014/main" id="{E58940AD-D4B0-F8EB-DB1A-C020793962CF}"/>
              </a:ext>
            </a:extLst>
          </p:cNvPr>
          <p:cNvSpPr>
            <a:spLocks noGrp="1"/>
          </p:cNvSpPr>
          <p:nvPr>
            <p:ph idx="1"/>
          </p:nvPr>
        </p:nvSpPr>
        <p:spPr/>
        <p:txBody>
          <a:bodyPr>
            <a:normAutofit lnSpcReduction="10000"/>
          </a:bodyPr>
          <a:lstStyle/>
          <a:p>
            <a:pPr algn="just"/>
            <a:r>
              <a:rPr lang="en-US" b="1" i="0" dirty="0">
                <a:solidFill>
                  <a:srgbClr val="333333"/>
                </a:solidFill>
                <a:effectLst/>
                <a:latin typeface="inter-bold"/>
              </a:rPr>
              <a:t>Definition 1:</a:t>
            </a:r>
            <a:r>
              <a:rPr lang="en-US" b="0" i="0" dirty="0">
                <a:solidFill>
                  <a:srgbClr val="333333"/>
                </a:solidFill>
                <a:effectLst/>
                <a:latin typeface="inter-regular"/>
              </a:rPr>
              <a:t> A relational schema R is said to be in 3NF, First, it should be in 2NF and, no non-prime attribute should be transitively dependent on the Key of the table.</a:t>
            </a:r>
          </a:p>
          <a:p>
            <a:pPr algn="just"/>
            <a:r>
              <a:rPr lang="en-US" b="0" i="0" dirty="0">
                <a:solidFill>
                  <a:srgbClr val="333333"/>
                </a:solidFill>
                <a:effectLst/>
                <a:latin typeface="inter-regular"/>
              </a:rPr>
              <a:t>If X → Y and Y → Z exist then X → Z also exists which is a transitive dependency, and it should not hold.</a:t>
            </a:r>
          </a:p>
          <a:p>
            <a:pPr algn="just"/>
            <a:r>
              <a:rPr lang="en-US" b="1" i="0" dirty="0">
                <a:solidFill>
                  <a:srgbClr val="333333"/>
                </a:solidFill>
                <a:effectLst/>
                <a:latin typeface="inter-bold"/>
              </a:rPr>
              <a:t>Definition 2:</a:t>
            </a:r>
            <a:r>
              <a:rPr lang="en-US" b="0" i="0" dirty="0">
                <a:solidFill>
                  <a:srgbClr val="333333"/>
                </a:solidFill>
                <a:effectLst/>
                <a:latin typeface="inter-regular"/>
              </a:rPr>
              <a:t> First it should be in 2NF and if there exists a non-trivial dependency between two sets of attributes X and Y such that X → Y (i.e., Y is not a subset of X) then</a:t>
            </a:r>
          </a:p>
          <a:p>
            <a:pPr algn="just">
              <a:buFont typeface="+mj-lt"/>
              <a:buAutoNum type="arabicPeriod"/>
            </a:pPr>
            <a:r>
              <a:rPr lang="en-US" b="0" i="0" dirty="0">
                <a:solidFill>
                  <a:srgbClr val="000000"/>
                </a:solidFill>
                <a:effectLst/>
                <a:latin typeface="inter-regular"/>
              </a:rPr>
              <a:t>Either X is Super Key</a:t>
            </a:r>
          </a:p>
          <a:p>
            <a:pPr algn="just">
              <a:buFont typeface="+mj-lt"/>
              <a:buAutoNum type="arabicPeriod"/>
            </a:pPr>
            <a:r>
              <a:rPr lang="en-US" b="0" i="0" dirty="0">
                <a:solidFill>
                  <a:srgbClr val="000000"/>
                </a:solidFill>
                <a:effectLst/>
                <a:latin typeface="inter-regular"/>
              </a:rPr>
              <a:t>Or Y is a prime attribute.</a:t>
            </a:r>
          </a:p>
          <a:p>
            <a:pPr lvl="2" algn="just"/>
            <a:endParaRPr lang="en-US" b="0" i="0" dirty="0">
              <a:solidFill>
                <a:srgbClr val="333333"/>
              </a:solidFill>
              <a:effectLst/>
              <a:latin typeface="inter-regular"/>
            </a:endParaRPr>
          </a:p>
          <a:p>
            <a:endParaRPr lang="en-US" dirty="0"/>
          </a:p>
        </p:txBody>
      </p:sp>
    </p:spTree>
    <p:extLst>
      <p:ext uri="{BB962C8B-B14F-4D97-AF65-F5344CB8AC3E}">
        <p14:creationId xmlns:p14="http://schemas.microsoft.com/office/powerpoint/2010/main" val="3329280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CE18B-54A1-562C-D24E-70F8107724F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B6767DE-DAB9-D43E-3E0F-8F58BFECC32F}"/>
              </a:ext>
            </a:extLst>
          </p:cNvPr>
          <p:cNvSpPr>
            <a:spLocks noGrp="1"/>
          </p:cNvSpPr>
          <p:nvPr>
            <p:ph idx="1"/>
          </p:nvPr>
        </p:nvSpPr>
        <p:spPr/>
        <p:txBody>
          <a:bodyPr/>
          <a:lstStyle/>
          <a:p>
            <a:pPr algn="just"/>
            <a:r>
              <a:rPr lang="en-US" b="1" i="0" dirty="0">
                <a:solidFill>
                  <a:srgbClr val="333333"/>
                </a:solidFill>
                <a:effectLst/>
                <a:latin typeface="inter-bold"/>
              </a:rPr>
              <a:t>Question 1:</a:t>
            </a:r>
            <a:r>
              <a:rPr lang="en-US" b="0" i="0" dirty="0">
                <a:solidFill>
                  <a:srgbClr val="333333"/>
                </a:solidFill>
                <a:effectLst/>
                <a:latin typeface="inter-regular"/>
              </a:rPr>
              <a:t> Given a relation R( X, Y, Z) and Functional Dependency set FD = { X → Y and Y → Z }, determine whether the given R is in 3NF? If not convert it into 3 NF.</a:t>
            </a:r>
          </a:p>
          <a:p>
            <a:pPr algn="just"/>
            <a:r>
              <a:rPr lang="en-US" b="1" i="0" dirty="0">
                <a:solidFill>
                  <a:srgbClr val="333333"/>
                </a:solidFill>
                <a:effectLst/>
                <a:latin typeface="inter-bold"/>
              </a:rPr>
              <a:t>Solution:</a:t>
            </a:r>
            <a:r>
              <a:rPr lang="en-US" b="0" i="0" dirty="0">
                <a:solidFill>
                  <a:srgbClr val="333333"/>
                </a:solidFill>
                <a:effectLst/>
                <a:latin typeface="inter-regular"/>
              </a:rPr>
              <a:t> Let us construct an arrow diagram on R using FD to calculate the candidate key.</a:t>
            </a:r>
          </a:p>
          <a:p>
            <a:endParaRPr lang="en-US" dirty="0"/>
          </a:p>
        </p:txBody>
      </p:sp>
      <p:pic>
        <p:nvPicPr>
          <p:cNvPr id="5" name="Picture 4">
            <a:extLst>
              <a:ext uri="{FF2B5EF4-FFF2-40B4-BE49-F238E27FC236}">
                <a16:creationId xmlns:a16="http://schemas.microsoft.com/office/drawing/2014/main" id="{FB2E4A40-0261-24AA-F927-93F0688A489C}"/>
              </a:ext>
            </a:extLst>
          </p:cNvPr>
          <p:cNvPicPr>
            <a:picLocks noChangeAspect="1"/>
          </p:cNvPicPr>
          <p:nvPr/>
        </p:nvPicPr>
        <p:blipFill>
          <a:blip r:embed="rId2"/>
          <a:stretch>
            <a:fillRect/>
          </a:stretch>
        </p:blipFill>
        <p:spPr>
          <a:xfrm>
            <a:off x="3827559" y="4125236"/>
            <a:ext cx="2819400" cy="1485900"/>
          </a:xfrm>
          <a:prstGeom prst="rect">
            <a:avLst/>
          </a:prstGeom>
        </p:spPr>
      </p:pic>
    </p:spTree>
    <p:extLst>
      <p:ext uri="{BB962C8B-B14F-4D97-AF65-F5344CB8AC3E}">
        <p14:creationId xmlns:p14="http://schemas.microsoft.com/office/powerpoint/2010/main" val="38925738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C907B-550F-53F4-6308-19A1FEE23E7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C940A24-B439-6273-7179-27AF76E777A6}"/>
              </a:ext>
            </a:extLst>
          </p:cNvPr>
          <p:cNvSpPr>
            <a:spLocks noGrp="1"/>
          </p:cNvSpPr>
          <p:nvPr>
            <p:ph idx="1"/>
          </p:nvPr>
        </p:nvSpPr>
        <p:spPr/>
        <p:txBody>
          <a:bodyPr/>
          <a:lstStyle/>
          <a:p>
            <a:pPr algn="just"/>
            <a:r>
              <a:rPr lang="en-US" b="0" i="0" dirty="0">
                <a:solidFill>
                  <a:srgbClr val="333333"/>
                </a:solidFill>
                <a:effectLst/>
                <a:latin typeface="inter-regular"/>
              </a:rPr>
              <a:t>From above arrow diagram on R, we can see that an attribute X is not determined by any of the given FD, hence X will be the integral part of the Candidate key, i.e. no matter what will be the candidate key, and how many will be the candidate key, but all will have X compulsory attribute.</a:t>
            </a:r>
          </a:p>
          <a:p>
            <a:pPr algn="just"/>
            <a:r>
              <a:rPr lang="en-US" b="1" i="0" dirty="0">
                <a:solidFill>
                  <a:srgbClr val="333333"/>
                </a:solidFill>
                <a:effectLst/>
                <a:latin typeface="inter-bold"/>
              </a:rPr>
              <a:t>Let us calculate the closure of X</a:t>
            </a:r>
            <a:endParaRPr lang="en-US" b="0" i="0" dirty="0">
              <a:solidFill>
                <a:srgbClr val="333333"/>
              </a:solidFill>
              <a:effectLst/>
              <a:latin typeface="inter-regular"/>
            </a:endParaRPr>
          </a:p>
          <a:p>
            <a:pPr algn="just"/>
            <a:r>
              <a:rPr lang="en-US" b="0" i="0" dirty="0">
                <a:solidFill>
                  <a:srgbClr val="333333"/>
                </a:solidFill>
                <a:effectLst/>
                <a:latin typeface="inter-regular"/>
              </a:rPr>
              <a:t>X + = XYZ (from the closure method we studied earlier)</a:t>
            </a:r>
          </a:p>
          <a:p>
            <a:pPr algn="just"/>
            <a:r>
              <a:rPr lang="en-US" b="0" i="0" dirty="0">
                <a:solidFill>
                  <a:srgbClr val="333333"/>
                </a:solidFill>
                <a:effectLst/>
                <a:latin typeface="inter-regular"/>
              </a:rPr>
              <a:t>Since the closure of X contains all the attributes of R, hence </a:t>
            </a:r>
            <a:r>
              <a:rPr lang="en-US" b="1" i="0" dirty="0">
                <a:solidFill>
                  <a:srgbClr val="333333"/>
                </a:solidFill>
                <a:effectLst/>
                <a:latin typeface="inter-bold"/>
              </a:rPr>
              <a:t>X is Candidate Key</a:t>
            </a:r>
            <a:endParaRPr lang="en-US" b="0" i="0" dirty="0">
              <a:solidFill>
                <a:srgbClr val="333333"/>
              </a:solidFill>
              <a:effectLst/>
              <a:latin typeface="inter-regular"/>
            </a:endParaRPr>
          </a:p>
          <a:p>
            <a:endParaRPr lang="en-US" dirty="0"/>
          </a:p>
        </p:txBody>
      </p:sp>
    </p:spTree>
    <p:extLst>
      <p:ext uri="{BB962C8B-B14F-4D97-AF65-F5344CB8AC3E}">
        <p14:creationId xmlns:p14="http://schemas.microsoft.com/office/powerpoint/2010/main" val="18472072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C6750-D046-7745-AF00-339D66E1FA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3F5E2E2-7879-9622-7DE8-051144DE2DE7}"/>
              </a:ext>
            </a:extLst>
          </p:cNvPr>
          <p:cNvSpPr>
            <a:spLocks noGrp="1"/>
          </p:cNvSpPr>
          <p:nvPr>
            <p:ph idx="1"/>
          </p:nvPr>
        </p:nvSpPr>
        <p:spPr/>
        <p:txBody>
          <a:bodyPr>
            <a:normAutofit fontScale="77500" lnSpcReduction="20000"/>
          </a:bodyPr>
          <a:lstStyle/>
          <a:p>
            <a:pPr algn="just"/>
            <a:r>
              <a:rPr lang="en-US" b="0" i="0" dirty="0">
                <a:solidFill>
                  <a:srgbClr val="333333"/>
                </a:solidFill>
                <a:effectLst/>
                <a:latin typeface="inter-regular"/>
              </a:rPr>
              <a:t>From the definition of Candidate Key (</a:t>
            </a:r>
            <a:r>
              <a:rPr lang="en-US" b="1" i="0" dirty="0">
                <a:solidFill>
                  <a:srgbClr val="333333"/>
                </a:solidFill>
                <a:effectLst/>
                <a:latin typeface="inter-bold"/>
              </a:rPr>
              <a:t>Candidate Key is a Super Key whose no proper subset is a Super key</a:t>
            </a:r>
            <a:r>
              <a:rPr lang="en-US" b="0" i="0" dirty="0">
                <a:solidFill>
                  <a:srgbClr val="333333"/>
                </a:solidFill>
                <a:effectLst/>
                <a:latin typeface="inter-regular"/>
              </a:rPr>
              <a:t>)</a:t>
            </a:r>
          </a:p>
          <a:p>
            <a:pPr algn="just"/>
            <a:r>
              <a:rPr lang="en-US" b="0" i="0" dirty="0">
                <a:solidFill>
                  <a:srgbClr val="333333"/>
                </a:solidFill>
                <a:effectLst/>
                <a:latin typeface="inter-regular"/>
              </a:rPr>
              <a:t>Since all key will have X as an integral part, and we have proved that X is Candidate Key, Therefore, any superset of X will be Super Key but not the Candidate key.</a:t>
            </a:r>
          </a:p>
          <a:p>
            <a:pPr algn="just"/>
            <a:r>
              <a:rPr lang="en-US" b="0" i="0" dirty="0">
                <a:solidFill>
                  <a:srgbClr val="333333"/>
                </a:solidFill>
                <a:effectLst/>
                <a:latin typeface="inter-regular"/>
              </a:rPr>
              <a:t>Hence there will be only </a:t>
            </a:r>
            <a:r>
              <a:rPr lang="en-US" b="1" i="0" dirty="0">
                <a:solidFill>
                  <a:srgbClr val="333333"/>
                </a:solidFill>
                <a:effectLst/>
                <a:latin typeface="inter-bold"/>
              </a:rPr>
              <a:t>one candidate key X</a:t>
            </a:r>
            <a:endParaRPr lang="en-US" b="0" i="0" dirty="0">
              <a:solidFill>
                <a:srgbClr val="333333"/>
              </a:solidFill>
              <a:effectLst/>
              <a:latin typeface="inter-regular"/>
            </a:endParaRPr>
          </a:p>
          <a:p>
            <a:pPr algn="just"/>
            <a:r>
              <a:rPr lang="en-US" b="1" i="0" dirty="0">
                <a:solidFill>
                  <a:srgbClr val="333333"/>
                </a:solidFill>
                <a:effectLst/>
                <a:latin typeface="inter-bold"/>
              </a:rPr>
              <a:t>Definition of 3NF:</a:t>
            </a:r>
            <a:r>
              <a:rPr lang="en-US" b="0" i="0" dirty="0">
                <a:solidFill>
                  <a:srgbClr val="333333"/>
                </a:solidFill>
                <a:effectLst/>
                <a:latin typeface="inter-regular"/>
              </a:rPr>
              <a:t> A relational schema R is said to be in 3NF, First, it should be in 2NF and, no non-prime attribute should be transitively dependent on the Key of the table.</a:t>
            </a:r>
          </a:p>
          <a:p>
            <a:pPr algn="just"/>
            <a:r>
              <a:rPr lang="en-US" b="0" i="0" dirty="0">
                <a:solidFill>
                  <a:srgbClr val="333333"/>
                </a:solidFill>
                <a:effectLst/>
                <a:latin typeface="inter-regular"/>
              </a:rPr>
              <a:t>If X → Y and Y → Z exist then X → Z also exists which is a transitive dependency, and it should not hold.</a:t>
            </a:r>
          </a:p>
          <a:p>
            <a:pPr algn="just"/>
            <a:r>
              <a:rPr lang="en-US" b="0" i="0" dirty="0">
                <a:solidFill>
                  <a:srgbClr val="333333"/>
                </a:solidFill>
                <a:effectLst/>
                <a:latin typeface="inter-regular"/>
              </a:rPr>
              <a:t>Since R has 3 attributes: - X, Y, Z, and Candidate Key is X, Therefore, prime attribute (part of candidate key) is X while a non-prime attribute are Y and Z</a:t>
            </a:r>
          </a:p>
          <a:p>
            <a:pPr algn="just"/>
            <a:r>
              <a:rPr lang="en-US" b="0" i="0" dirty="0">
                <a:solidFill>
                  <a:srgbClr val="333333"/>
                </a:solidFill>
                <a:effectLst/>
                <a:latin typeface="inter-regular"/>
              </a:rPr>
              <a:t>Given FD are X → Y and Y → Z</a:t>
            </a:r>
          </a:p>
          <a:p>
            <a:endParaRPr lang="en-US" dirty="0"/>
          </a:p>
        </p:txBody>
      </p:sp>
    </p:spTree>
    <p:extLst>
      <p:ext uri="{BB962C8B-B14F-4D97-AF65-F5344CB8AC3E}">
        <p14:creationId xmlns:p14="http://schemas.microsoft.com/office/powerpoint/2010/main" val="30846771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D0784-ACBB-F823-A82A-592C386B2B2F}"/>
              </a:ext>
            </a:extLst>
          </p:cNvPr>
          <p:cNvSpPr>
            <a:spLocks noGrp="1"/>
          </p:cNvSpPr>
          <p:nvPr>
            <p:ph type="title"/>
          </p:nvPr>
        </p:nvSpPr>
        <p:spPr>
          <a:xfrm>
            <a:off x="838200" y="365125"/>
            <a:ext cx="10515600" cy="390249"/>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C7059231-14EC-15F8-7943-0E41101632D6}"/>
              </a:ext>
            </a:extLst>
          </p:cNvPr>
          <p:cNvSpPr>
            <a:spLocks noGrp="1"/>
          </p:cNvSpPr>
          <p:nvPr>
            <p:ph idx="1"/>
          </p:nvPr>
        </p:nvSpPr>
        <p:spPr>
          <a:xfrm>
            <a:off x="838200" y="914400"/>
            <a:ext cx="10515600" cy="5262563"/>
          </a:xfrm>
        </p:spPr>
        <p:txBody>
          <a:bodyPr/>
          <a:lstStyle/>
          <a:p>
            <a:pPr algn="just"/>
            <a:r>
              <a:rPr lang="en-US" b="0" i="0" dirty="0">
                <a:solidFill>
                  <a:srgbClr val="333333"/>
                </a:solidFill>
                <a:effectLst/>
                <a:latin typeface="inter-regular"/>
              </a:rPr>
              <a:t>So, we can write X → Z (which is a transitive dependency)</a:t>
            </a:r>
          </a:p>
          <a:p>
            <a:pPr algn="just"/>
            <a:r>
              <a:rPr lang="en-US" b="0" i="0" dirty="0">
                <a:solidFill>
                  <a:srgbClr val="333333"/>
                </a:solidFill>
                <a:effectLst/>
                <a:latin typeface="inter-regular"/>
              </a:rPr>
              <a:t>In above </a:t>
            </a:r>
            <a:r>
              <a:rPr lang="en-US" b="1" i="0" dirty="0">
                <a:solidFill>
                  <a:srgbClr val="333333"/>
                </a:solidFill>
                <a:effectLst/>
                <a:latin typeface="inter-bold"/>
              </a:rPr>
              <a:t>FD X → Z</a:t>
            </a:r>
            <a:r>
              <a:rPr lang="en-US" b="0" i="0" dirty="0">
                <a:solidFill>
                  <a:srgbClr val="333333"/>
                </a:solidFill>
                <a:effectLst/>
                <a:latin typeface="inter-regular"/>
              </a:rPr>
              <a:t>, a non-prime attribute( Z) is transitively depending on the key of the table( X ) hence as per the definition of 3NF it is not in 3 NF, </a:t>
            </a:r>
            <a:r>
              <a:rPr lang="en-US" b="1" i="0" dirty="0">
                <a:solidFill>
                  <a:srgbClr val="333333"/>
                </a:solidFill>
                <a:effectLst/>
                <a:latin typeface="inter-bold"/>
              </a:rPr>
              <a:t>because no non-prime attribute should be transitively dependent on the key of the table.</a:t>
            </a:r>
            <a:endParaRPr lang="en-US" b="0" i="0" dirty="0">
              <a:solidFill>
                <a:srgbClr val="333333"/>
              </a:solidFill>
              <a:effectLst/>
              <a:latin typeface="inter-regular"/>
            </a:endParaRPr>
          </a:p>
          <a:p>
            <a:r>
              <a:rPr lang="en-US" b="1" i="0" dirty="0">
                <a:solidFill>
                  <a:srgbClr val="333333"/>
                </a:solidFill>
                <a:effectLst/>
                <a:latin typeface="inter-bold"/>
              </a:rPr>
              <a:t>Now check the above table is in 2 NF.</a:t>
            </a:r>
            <a:endParaRPr lang="en-US" dirty="0"/>
          </a:p>
        </p:txBody>
      </p:sp>
    </p:spTree>
    <p:extLst>
      <p:ext uri="{BB962C8B-B14F-4D97-AF65-F5344CB8AC3E}">
        <p14:creationId xmlns:p14="http://schemas.microsoft.com/office/powerpoint/2010/main" val="10521458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64900-16D0-F759-3649-9D6937079909}"/>
              </a:ext>
            </a:extLst>
          </p:cNvPr>
          <p:cNvSpPr>
            <a:spLocks noGrp="1"/>
          </p:cNvSpPr>
          <p:nvPr>
            <p:ph type="title"/>
          </p:nvPr>
        </p:nvSpPr>
        <p:spPr>
          <a:xfrm>
            <a:off x="838200" y="365126"/>
            <a:ext cx="10515600" cy="422054"/>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E0FCB611-838E-5A9C-DA10-FB772DA3D309}"/>
              </a:ext>
            </a:extLst>
          </p:cNvPr>
          <p:cNvSpPr>
            <a:spLocks noGrp="1"/>
          </p:cNvSpPr>
          <p:nvPr>
            <p:ph idx="1"/>
          </p:nvPr>
        </p:nvSpPr>
        <p:spPr>
          <a:xfrm>
            <a:off x="838200" y="1001864"/>
            <a:ext cx="10515600" cy="5175099"/>
          </a:xfrm>
        </p:spPr>
        <p:txBody>
          <a:bodyPr>
            <a:normAutofit lnSpcReduction="10000"/>
          </a:bodyPr>
          <a:lstStyle/>
          <a:p>
            <a:pPr>
              <a:buFont typeface="+mj-lt"/>
              <a:buAutoNum type="arabicPeriod"/>
            </a:pPr>
            <a:r>
              <a:rPr lang="en-US" dirty="0">
                <a:solidFill>
                  <a:srgbClr val="000000"/>
                </a:solidFill>
                <a:effectLst/>
              </a:rPr>
              <a:t>FD: X → Y is in 2NF ( as Key is not breaking and its Fully functional dependent )</a:t>
            </a:r>
          </a:p>
          <a:p>
            <a:pPr>
              <a:buFont typeface="+mj-lt"/>
              <a:buAutoNum type="arabicPeriod"/>
            </a:pPr>
            <a:r>
              <a:rPr lang="en-US" dirty="0">
                <a:solidFill>
                  <a:srgbClr val="000000"/>
                </a:solidFill>
                <a:effectLst/>
              </a:rPr>
              <a:t>FD: Y → Z is also in 2NF( as it does not violate the definition of 2NF)</a:t>
            </a:r>
          </a:p>
          <a:p>
            <a:r>
              <a:rPr lang="en-US" b="1" dirty="0">
                <a:effectLst/>
                <a:latin typeface="inter-bold"/>
              </a:rPr>
              <a:t>Hence above table R( X, Y, Z ) is in 2NF but not in 3NF.</a:t>
            </a:r>
            <a:endParaRPr lang="en-US" dirty="0"/>
          </a:p>
          <a:p>
            <a:r>
              <a:rPr lang="en-US" b="1" dirty="0">
                <a:effectLst/>
                <a:latin typeface="inter-bold"/>
              </a:rPr>
              <a:t>We can also prove the same from Definition 2:</a:t>
            </a:r>
            <a:r>
              <a:rPr lang="en-US" dirty="0"/>
              <a:t> First, it should be in 2NF and if there exists a non-trivial dependency between two sets of attributes X and Y such that X → Y (i.e., Y is not a subset of X) then</a:t>
            </a:r>
          </a:p>
          <a:p>
            <a:pPr>
              <a:buFont typeface="+mj-lt"/>
              <a:buAutoNum type="arabicPeriod"/>
            </a:pPr>
            <a:r>
              <a:rPr lang="en-US" dirty="0">
                <a:solidFill>
                  <a:srgbClr val="000000"/>
                </a:solidFill>
                <a:effectLst/>
              </a:rPr>
              <a:t>Either X is Super Key</a:t>
            </a:r>
          </a:p>
          <a:p>
            <a:pPr>
              <a:buFont typeface="+mj-lt"/>
              <a:buAutoNum type="arabicPeriod"/>
            </a:pPr>
            <a:r>
              <a:rPr lang="en-US" dirty="0">
                <a:solidFill>
                  <a:srgbClr val="000000"/>
                </a:solidFill>
                <a:effectLst/>
              </a:rPr>
              <a:t>Or Y is a prime attribute.</a:t>
            </a:r>
          </a:p>
          <a:p>
            <a:r>
              <a:rPr lang="en-US" b="1" i="0" dirty="0">
                <a:solidFill>
                  <a:srgbClr val="333333"/>
                </a:solidFill>
                <a:effectLst/>
                <a:latin typeface="inter-bold"/>
              </a:rPr>
              <a:t>Since we have just proved that above table R is in 2 NF. Let's check it for 3NF using definition 2.</a:t>
            </a:r>
            <a:br>
              <a:rPr lang="en-US" b="0" i="0" dirty="0">
                <a:solidFill>
                  <a:srgbClr val="333333"/>
                </a:solidFill>
                <a:effectLst/>
                <a:latin typeface="inter-regular"/>
              </a:rPr>
            </a:br>
            <a:endParaRPr lang="en-US" dirty="0"/>
          </a:p>
        </p:txBody>
      </p:sp>
    </p:spTree>
    <p:extLst>
      <p:ext uri="{BB962C8B-B14F-4D97-AF65-F5344CB8AC3E}">
        <p14:creationId xmlns:p14="http://schemas.microsoft.com/office/powerpoint/2010/main" val="39944149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947EA-55CC-0A14-E63F-45BDE7E4035E}"/>
              </a:ext>
            </a:extLst>
          </p:cNvPr>
          <p:cNvSpPr>
            <a:spLocks noGrp="1"/>
          </p:cNvSpPr>
          <p:nvPr>
            <p:ph type="title"/>
          </p:nvPr>
        </p:nvSpPr>
        <p:spPr>
          <a:xfrm>
            <a:off x="838200" y="365125"/>
            <a:ext cx="10515600" cy="231223"/>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AB536ED6-5BE6-D98B-F724-A125A8FE038E}"/>
              </a:ext>
            </a:extLst>
          </p:cNvPr>
          <p:cNvSpPr>
            <a:spLocks noGrp="1"/>
          </p:cNvSpPr>
          <p:nvPr>
            <p:ph idx="1"/>
          </p:nvPr>
        </p:nvSpPr>
        <p:spPr>
          <a:xfrm>
            <a:off x="838200" y="747423"/>
            <a:ext cx="10515600" cy="5429539"/>
          </a:xfrm>
        </p:spPr>
        <p:txBody>
          <a:bodyPr>
            <a:normAutofit lnSpcReduction="10000"/>
          </a:bodyPr>
          <a:lstStyle/>
          <a:p>
            <a:pPr algn="just">
              <a:buFont typeface="+mj-lt"/>
              <a:buAutoNum type="arabicPeriod"/>
            </a:pPr>
            <a:r>
              <a:rPr lang="en-US" b="0" i="0" dirty="0">
                <a:solidFill>
                  <a:srgbClr val="000000"/>
                </a:solidFill>
                <a:effectLst/>
                <a:latin typeface="inter-regular"/>
              </a:rPr>
              <a:t>FD: X → Y is in 3NF (as X is a super Key)</a:t>
            </a:r>
          </a:p>
          <a:p>
            <a:pPr algn="just">
              <a:buFont typeface="+mj-lt"/>
              <a:buAutoNum type="arabicPeriod"/>
            </a:pPr>
            <a:r>
              <a:rPr lang="en-US" b="0" i="0" dirty="0">
                <a:solidFill>
                  <a:srgbClr val="000000"/>
                </a:solidFill>
                <a:effectLst/>
                <a:latin typeface="inter-regular"/>
              </a:rPr>
              <a:t>FD: Y → Z is not in 3NF (as neither Y is Key nor Z is a prime attribute)</a:t>
            </a:r>
          </a:p>
          <a:p>
            <a:pPr algn="just"/>
            <a:r>
              <a:rPr lang="en-US" b="0" i="0" dirty="0">
                <a:solidFill>
                  <a:srgbClr val="333333"/>
                </a:solidFill>
                <a:effectLst/>
                <a:latin typeface="inter-regular"/>
              </a:rPr>
              <a:t>Hence because of Y → Z using definition 2 of 3NF, we can say that above table R is not in 3NF.</a:t>
            </a:r>
          </a:p>
          <a:p>
            <a:pPr algn="just"/>
            <a:r>
              <a:rPr lang="en-US" b="1" i="0" dirty="0">
                <a:solidFill>
                  <a:srgbClr val="333333"/>
                </a:solidFill>
                <a:effectLst/>
                <a:latin typeface="inter-bold"/>
              </a:rPr>
              <a:t>Convert the table R( X, Y, Z) into 3NF:</a:t>
            </a:r>
            <a:endParaRPr lang="en-US" b="0" i="0" dirty="0">
              <a:solidFill>
                <a:srgbClr val="333333"/>
              </a:solidFill>
              <a:effectLst/>
              <a:latin typeface="inter-regular"/>
            </a:endParaRPr>
          </a:p>
          <a:p>
            <a:pPr algn="just"/>
            <a:r>
              <a:rPr lang="en-US" b="0" i="0" dirty="0">
                <a:solidFill>
                  <a:srgbClr val="333333"/>
                </a:solidFill>
                <a:effectLst/>
                <a:latin typeface="inter-regular"/>
              </a:rPr>
              <a:t>Since due to FD: Y → Z, our table was not in 3NF, let's decompose the table</a:t>
            </a:r>
          </a:p>
          <a:p>
            <a:pPr algn="just"/>
            <a:r>
              <a:rPr lang="en-US" b="0" i="0" dirty="0">
                <a:solidFill>
                  <a:srgbClr val="333333"/>
                </a:solidFill>
                <a:effectLst/>
                <a:latin typeface="inter-regular"/>
              </a:rPr>
              <a:t>FD: Y → Z was creating issue, hence one table R1(Y, Z)</a:t>
            </a:r>
          </a:p>
          <a:p>
            <a:pPr algn="just"/>
            <a:r>
              <a:rPr lang="en-US" b="0" i="0" dirty="0">
                <a:solidFill>
                  <a:srgbClr val="333333"/>
                </a:solidFill>
                <a:effectLst/>
                <a:latin typeface="inter-regular"/>
              </a:rPr>
              <a:t>Create one Table for key X, R2(X, Y), since X → Y</a:t>
            </a:r>
          </a:p>
          <a:p>
            <a:pPr algn="just"/>
            <a:r>
              <a:rPr lang="en-US" b="0" i="0" dirty="0">
                <a:solidFill>
                  <a:srgbClr val="333333"/>
                </a:solidFill>
                <a:effectLst/>
                <a:latin typeface="inter-regular"/>
              </a:rPr>
              <a:t>Hence decomposed tables which are in 3NF are:</a:t>
            </a:r>
          </a:p>
          <a:p>
            <a:pPr algn="just"/>
            <a:r>
              <a:rPr lang="es-ES" b="1" i="0" dirty="0">
                <a:solidFill>
                  <a:srgbClr val="333333"/>
                </a:solidFill>
                <a:effectLst/>
                <a:latin typeface="inter-bold"/>
              </a:rPr>
              <a:t>R1(X, Y)</a:t>
            </a:r>
            <a:endParaRPr lang="es-ES" b="0" i="0" dirty="0">
              <a:solidFill>
                <a:srgbClr val="333333"/>
              </a:solidFill>
              <a:effectLst/>
              <a:latin typeface="inter-regular"/>
            </a:endParaRPr>
          </a:p>
          <a:p>
            <a:pPr algn="just"/>
            <a:r>
              <a:rPr lang="es-ES" b="1" i="0" dirty="0">
                <a:solidFill>
                  <a:srgbClr val="333333"/>
                </a:solidFill>
                <a:effectLst/>
                <a:latin typeface="inter-bold"/>
              </a:rPr>
              <a:t>R2(Y, Z)</a:t>
            </a:r>
            <a:endParaRPr lang="es-ES" b="0" i="0" dirty="0">
              <a:solidFill>
                <a:srgbClr val="333333"/>
              </a:solidFill>
              <a:effectLst/>
              <a:latin typeface="inter-regular"/>
            </a:endParaRPr>
          </a:p>
          <a:p>
            <a:pPr algn="just"/>
            <a:endParaRPr lang="en-US" b="0" i="0" dirty="0">
              <a:solidFill>
                <a:srgbClr val="333333"/>
              </a:solidFill>
              <a:effectLst/>
              <a:latin typeface="inter-regular"/>
            </a:endParaRPr>
          </a:p>
          <a:p>
            <a:endParaRPr lang="en-US" dirty="0"/>
          </a:p>
        </p:txBody>
      </p:sp>
    </p:spTree>
    <p:extLst>
      <p:ext uri="{BB962C8B-B14F-4D97-AF65-F5344CB8AC3E}">
        <p14:creationId xmlns:p14="http://schemas.microsoft.com/office/powerpoint/2010/main" val="9413930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733</TotalTime>
  <Words>1804</Words>
  <Application>Microsoft Office PowerPoint</Application>
  <PresentationFormat>Widescreen</PresentationFormat>
  <Paragraphs>97</Paragraphs>
  <Slides>62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62</vt:i4>
      </vt:variant>
    </vt:vector>
  </HeadingPairs>
  <TitlesOfParts>
    <vt:vector size="70" baseType="lpstr">
      <vt:lpstr>Arial</vt:lpstr>
      <vt:lpstr>Calibri</vt:lpstr>
      <vt:lpstr>Calibri Light</vt:lpstr>
      <vt:lpstr>erdana</vt:lpstr>
      <vt:lpstr>inter-bold</vt:lpstr>
      <vt:lpstr>inter-regular</vt:lpstr>
      <vt:lpstr>Times New Roman</vt:lpstr>
      <vt:lpstr>Office Theme</vt:lpstr>
      <vt:lpstr>Course Code: CS3CO39  Course Name: Database Management System </vt:lpstr>
      <vt:lpstr>Unit-3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 on Second Normal Form (2NF): </vt:lpstr>
      <vt:lpstr>PowerPoint Presentation</vt:lpstr>
      <vt:lpstr>PowerPoint Presentation</vt:lpstr>
      <vt:lpstr>PowerPoint Presentation</vt:lpstr>
      <vt:lpstr>PowerPoint Presentation</vt:lpstr>
      <vt:lpstr>Question on Third Normal Form (3NF):</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Code: CS3CO39  Course Name: Database Management System</dc:title>
  <dc:creator>Aayush Jindal</dc:creator>
  <cp:lastModifiedBy>Aayush Jindal</cp:lastModifiedBy>
  <cp:revision>15</cp:revision>
  <dcterms:created xsi:type="dcterms:W3CDTF">2024-01-11T05:38:02Z</dcterms:created>
  <dcterms:modified xsi:type="dcterms:W3CDTF">2025-04-03T04:22:29Z</dcterms:modified>
</cp:coreProperties>
</file>